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6"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7"/>
    <p:sldId id="271" r:id="rId18"/>
    <p:sldId id="272" r:id="rId19"/>
    <p:sldId id="273" r:id="rId20"/>
    <p:sldId id="274" r:id="rId21"/>
    <p:sldId id="275" r:id="rId22"/>
    <p:sldId id="276" r:id="rId23"/>
    <p:sldId id="277" r:id="rId24"/>
    <p:sldId id="278" r:id="rId25"/>
    <p:sldId id="338" r:id="rId26"/>
    <p:sldId id="337" r:id="rId27"/>
    <p:sldId id="33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335" r:id="rId45"/>
    <p:sldId id="296" r:id="rId46"/>
    <p:sldId id="297" r:id="rId47"/>
    <p:sldId id="336"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8" Type="http://schemas.openxmlformats.org/officeDocument/2006/relationships/tableStyles" Target="tableStyles.xml"/><Relationship Id="rId87" Type="http://schemas.openxmlformats.org/officeDocument/2006/relationships/viewProps" Target="viewProps.xml"/><Relationship Id="rId86" Type="http://schemas.openxmlformats.org/officeDocument/2006/relationships/presProps" Target="presProps.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6.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notesMaster" Target="notesMasters/notesMaster1.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jpeg"/><Relationship Id="rId1" Type="http://schemas.openxmlformats.org/officeDocument/2006/relationships/image" Target="../media/image3.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image" Target="../media/image9.jpe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jpe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jpe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jpe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jpe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jpe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jpe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jpeg"/></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jpe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jpeg"/></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jpeg"/></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jpeg"/></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jpe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1.jpeg"/><Relationship Id="rId1" Type="http://schemas.openxmlformats.org/officeDocument/2006/relationships/image" Target="../media/image30.jpeg"/></Relationships>
</file>

<file path=ppt/slides/_rels/slide7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3.jpeg"/><Relationship Id="rId1" Type="http://schemas.openxmlformats.org/officeDocument/2006/relationships/image" Target="../media/image32.jpe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4.jpeg"/></Relationships>
</file>

<file path=ppt/slides/_rels/slide7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6.jpeg"/><Relationship Id="rId1" Type="http://schemas.openxmlformats.org/officeDocument/2006/relationships/image" Target="../media/image35.jpeg"/></Relationships>
</file>

<file path=ppt/slides/_rels/slide7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8.jpeg"/><Relationship Id="rId1" Type="http://schemas.openxmlformats.org/officeDocument/2006/relationships/image" Target="../media/image37.jpe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9.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noAutofit/>
          </a:bodyPr>
          <a:p>
            <a:r>
              <a:rPr lang="en-US" sz="5400"/>
              <a:t>Transaction Processing and</a:t>
            </a:r>
            <a:br>
              <a:rPr lang="en-US" sz="5400"/>
            </a:br>
            <a:r>
              <a:rPr lang="en-US" sz="5400"/>
              <a:t>Error Recovery</a:t>
            </a:r>
            <a:endParaRPr lang="en-US" sz="5400"/>
          </a:p>
        </p:txBody>
      </p:sp>
      <p:sp>
        <p:nvSpPr>
          <p:cNvPr id="3" name="Subtitle 2"/>
          <p:cNvSpPr>
            <a:spLocks noGrp="1"/>
          </p:cNvSpPr>
          <p:nvPr>
            <p:ph type="subTitle" idx="1"/>
          </p:nvPr>
        </p:nvSpPr>
        <p:spPr/>
        <p:txBody>
          <a:bodyPr/>
          <a:p>
            <a:r>
              <a:rPr lang="en-US"/>
              <a:t>Unit - 4</a:t>
            </a:r>
            <a:endParaRPr lang="en-US"/>
          </a:p>
          <a:p>
            <a:r>
              <a:rPr lang="en-US"/>
              <a:t> </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Transaction Concept</a:t>
            </a:r>
            <a:endParaRPr lang="en-US"/>
          </a:p>
        </p:txBody>
      </p:sp>
      <p:sp>
        <p:nvSpPr>
          <p:cNvPr id="3" name="Content Placeholder 2"/>
          <p:cNvSpPr>
            <a:spLocks noGrp="1"/>
          </p:cNvSpPr>
          <p:nvPr>
            <p:ph idx="1"/>
          </p:nvPr>
        </p:nvSpPr>
        <p:spPr/>
        <p:txBody>
          <a:bodyPr/>
          <a:p>
            <a:pPr marL="342900" indent="-342900" algn="just">
              <a:spcBef>
                <a:spcPct val="20000"/>
              </a:spcBef>
              <a:buFont typeface="Wingdings" panose="05000000000000000000" pitchFamily="2" charset="2"/>
              <a:buChar char="Ø"/>
              <a:defRPr/>
            </a:pPr>
            <a:r>
              <a:rPr lang="en-US" b="1" kern="0" dirty="0" smtClean="0">
                <a:latin typeface="Times New Roman" panose="02020603050405020304" pitchFamily="18" charset="0"/>
                <a:cs typeface="Times New Roman" panose="02020603050405020304" pitchFamily="18" charset="0"/>
                <a:sym typeface="+mn-ea"/>
              </a:rPr>
              <a:t>A transaction is a unit of program execution that accesses and possibly updates various data items.</a:t>
            </a:r>
            <a:endParaRPr lang="en-US" b="1"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sym typeface="+mn-ea"/>
              </a:rPr>
              <a:t>A transaction is a logical unit of work that contains one or more SQL statements. The effects of all the SQL statements in a transaction can be either all committed or all rolled back.</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sym typeface="+mn-ea"/>
              </a:rPr>
              <a:t>A transaction that changes the contents of the database must alter the database from one consistent database state to another.</a:t>
            </a:r>
            <a:endParaRPr lang="en-US" kern="0" dirty="0" smtClean="0">
              <a:latin typeface="Times New Roman" panose="02020603050405020304" pitchFamily="18" charset="0"/>
              <a:cs typeface="Times New Roman" panose="02020603050405020304" pitchFamily="18" charset="0"/>
            </a:endParaRPr>
          </a:p>
          <a:p>
            <a:endParaRPr lang="en-US"/>
          </a:p>
        </p:txBody>
      </p:sp>
      <p:sp>
        <p:nvSpPr>
          <p:cNvPr id="8" name="object 14"/>
          <p:cNvSpPr/>
          <p:nvPr/>
        </p:nvSpPr>
        <p:spPr>
          <a:xfrm>
            <a:off x="3300832" y="4752980"/>
            <a:ext cx="6029880" cy="1826482"/>
          </a:xfrm>
          <a:prstGeom prst="rect">
            <a:avLst/>
          </a:prstGeom>
          <a:blipFill>
            <a:blip r:embed="rId1" cstate="print"/>
            <a:stretch>
              <a:fillRect/>
            </a:stretch>
          </a:blipFill>
        </p:spPr>
        <p:txBody>
          <a:bodyPr wrap="square" lIns="0" tIns="0" rIns="0" bIns="0" rtlCol="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Transaction Concept</a:t>
            </a:r>
            <a:endParaRPr lang="en-US"/>
          </a:p>
        </p:txBody>
      </p:sp>
      <p:sp>
        <p:nvSpPr>
          <p:cNvPr id="3" name="Content Placeholder 2"/>
          <p:cNvSpPr>
            <a:spLocks noGrp="1"/>
          </p:cNvSpPr>
          <p:nvPr>
            <p:ph idx="1"/>
          </p:nvPr>
        </p:nvSpPr>
        <p:spPr/>
        <p:txBody>
          <a:bodyPr>
            <a:normAutofit fontScale="60000"/>
          </a:bodyPr>
          <a:p>
            <a:pPr algn="just"/>
            <a:r>
              <a:rPr sz="2800" dirty="0">
                <a:latin typeface="Times New Roman" panose="02020603050405020304" pitchFamily="18" charset="0"/>
                <a:cs typeface="Times New Roman" panose="02020603050405020304" pitchFamily="18" charset="0"/>
                <a:sym typeface="+mn-ea"/>
              </a:rPr>
              <a:t>A </a:t>
            </a:r>
            <a:r>
              <a:rPr sz="2800" b="1" dirty="0">
                <a:solidFill>
                  <a:srgbClr val="000099"/>
                </a:solidFill>
                <a:latin typeface="Times New Roman" panose="02020603050405020304" pitchFamily="18" charset="0"/>
                <a:cs typeface="Times New Roman" panose="02020603050405020304" pitchFamily="18" charset="0"/>
                <a:sym typeface="+mn-ea"/>
              </a:rPr>
              <a:t>transaction</a:t>
            </a:r>
            <a:r>
              <a:rPr sz="2800" i="1" dirty="0">
                <a:latin typeface="Times New Roman" panose="02020603050405020304" pitchFamily="18" charset="0"/>
                <a:cs typeface="Times New Roman" panose="02020603050405020304" pitchFamily="18" charset="0"/>
                <a:sym typeface="+mn-ea"/>
              </a:rPr>
              <a:t> </a:t>
            </a:r>
            <a:r>
              <a:rPr sz="2800" dirty="0">
                <a:latin typeface="Times New Roman" panose="02020603050405020304" pitchFamily="18" charset="0"/>
                <a:cs typeface="Times New Roman" panose="02020603050405020304" pitchFamily="18" charset="0"/>
                <a:sym typeface="+mn-ea"/>
              </a:rPr>
              <a:t>is a </a:t>
            </a:r>
            <a:r>
              <a:rPr sz="2800" i="1" dirty="0">
                <a:latin typeface="Times New Roman" panose="02020603050405020304" pitchFamily="18" charset="0"/>
                <a:cs typeface="Times New Roman" panose="02020603050405020304" pitchFamily="18" charset="0"/>
                <a:sym typeface="+mn-ea"/>
              </a:rPr>
              <a:t>unit </a:t>
            </a:r>
            <a:r>
              <a:rPr sz="2800" dirty="0">
                <a:latin typeface="Times New Roman" panose="02020603050405020304" pitchFamily="18" charset="0"/>
                <a:cs typeface="Times New Roman" panose="02020603050405020304" pitchFamily="18" charset="0"/>
                <a:sym typeface="+mn-ea"/>
              </a:rPr>
              <a:t>of program execution that accesses and  possibly updates various data items.</a:t>
            </a:r>
            <a:endParaRPr sz="2800" dirty="0">
              <a:latin typeface="Times New Roman" panose="02020603050405020304" pitchFamily="18" charset="0"/>
              <a:cs typeface="Times New Roman" panose="02020603050405020304" pitchFamily="18" charset="0"/>
            </a:endParaRPr>
          </a:p>
          <a:p>
            <a:pPr algn="just"/>
            <a:r>
              <a:rPr sz="2800" dirty="0">
                <a:latin typeface="Times New Roman" panose="02020603050405020304" pitchFamily="18" charset="0"/>
                <a:cs typeface="Times New Roman" panose="02020603050405020304" pitchFamily="18" charset="0"/>
                <a:sym typeface="+mn-ea"/>
              </a:rPr>
              <a:t>E.g., transaction to transfer $50 from account A to account B:</a:t>
            </a:r>
            <a:endParaRPr sz="2800" dirty="0">
              <a:latin typeface="Times New Roman" panose="02020603050405020304" pitchFamily="18" charset="0"/>
              <a:cs typeface="Times New Roman" panose="02020603050405020304" pitchFamily="18" charset="0"/>
            </a:endParaRPr>
          </a:p>
          <a:p>
            <a:pPr lvl="1" algn="just">
              <a:buNone/>
            </a:pPr>
            <a:r>
              <a:rPr sz="2800" dirty="0">
                <a:latin typeface="Times New Roman" panose="02020603050405020304" pitchFamily="18" charset="0"/>
                <a:cs typeface="Times New Roman" panose="02020603050405020304" pitchFamily="18" charset="0"/>
                <a:sym typeface="+mn-ea"/>
              </a:rPr>
              <a:t>1.	</a:t>
            </a:r>
            <a:r>
              <a:rPr sz="2800" b="1" dirty="0">
                <a:latin typeface="Times New Roman" panose="02020603050405020304" pitchFamily="18" charset="0"/>
                <a:cs typeface="Times New Roman" panose="02020603050405020304" pitchFamily="18" charset="0"/>
                <a:sym typeface="+mn-ea"/>
              </a:rPr>
              <a:t>read</a:t>
            </a:r>
            <a:r>
              <a:rPr sz="2800" dirty="0">
                <a:latin typeface="Times New Roman" panose="02020603050405020304" pitchFamily="18" charset="0"/>
                <a:cs typeface="Times New Roman" panose="02020603050405020304" pitchFamily="18" charset="0"/>
                <a:sym typeface="+mn-ea"/>
              </a:rPr>
              <a:t>(</a:t>
            </a:r>
            <a:r>
              <a:rPr sz="2800" i="1" dirty="0">
                <a:latin typeface="Times New Roman" panose="02020603050405020304" pitchFamily="18" charset="0"/>
                <a:cs typeface="Times New Roman" panose="02020603050405020304" pitchFamily="18" charset="0"/>
                <a:sym typeface="+mn-ea"/>
              </a:rPr>
              <a:t>A</a:t>
            </a:r>
            <a:r>
              <a:rPr sz="2800" dirty="0">
                <a:latin typeface="Times New Roman" panose="02020603050405020304" pitchFamily="18" charset="0"/>
                <a:cs typeface="Times New Roman" panose="02020603050405020304" pitchFamily="18" charset="0"/>
                <a:sym typeface="+mn-ea"/>
              </a:rPr>
              <a:t>)</a:t>
            </a:r>
            <a:endParaRPr sz="2800" dirty="0">
              <a:latin typeface="Times New Roman" panose="02020603050405020304" pitchFamily="18" charset="0"/>
              <a:cs typeface="Times New Roman" panose="02020603050405020304" pitchFamily="18" charset="0"/>
            </a:endParaRPr>
          </a:p>
          <a:p>
            <a:pPr lvl="1" algn="just">
              <a:buNone/>
            </a:pPr>
            <a:r>
              <a:rPr sz="2800" dirty="0">
                <a:latin typeface="Times New Roman" panose="02020603050405020304" pitchFamily="18" charset="0"/>
                <a:cs typeface="Times New Roman" panose="02020603050405020304" pitchFamily="18" charset="0"/>
                <a:sym typeface="+mn-ea"/>
              </a:rPr>
              <a:t>2.	</a:t>
            </a:r>
            <a:r>
              <a:rPr sz="2800" i="1" dirty="0">
                <a:latin typeface="Times New Roman" panose="02020603050405020304" pitchFamily="18" charset="0"/>
                <a:cs typeface="Times New Roman" panose="02020603050405020304" pitchFamily="18" charset="0"/>
                <a:sym typeface="+mn-ea"/>
              </a:rPr>
              <a:t>A</a:t>
            </a:r>
            <a:r>
              <a:rPr sz="2800" dirty="0">
                <a:latin typeface="Times New Roman" panose="02020603050405020304" pitchFamily="18" charset="0"/>
                <a:cs typeface="Times New Roman" panose="02020603050405020304" pitchFamily="18" charset="0"/>
                <a:sym typeface="+mn-ea"/>
              </a:rPr>
              <a:t> := </a:t>
            </a:r>
            <a:r>
              <a:rPr sz="2800" i="1" dirty="0">
                <a:latin typeface="Times New Roman" panose="02020603050405020304" pitchFamily="18" charset="0"/>
                <a:cs typeface="Times New Roman" panose="02020603050405020304" pitchFamily="18" charset="0"/>
                <a:sym typeface="+mn-ea"/>
              </a:rPr>
              <a:t>A – </a:t>
            </a:r>
            <a:r>
              <a:rPr sz="2800" dirty="0">
                <a:latin typeface="Times New Roman" panose="02020603050405020304" pitchFamily="18" charset="0"/>
                <a:cs typeface="Times New Roman" panose="02020603050405020304" pitchFamily="18" charset="0"/>
                <a:sym typeface="+mn-ea"/>
              </a:rPr>
              <a:t>50</a:t>
            </a:r>
            <a:endParaRPr sz="2800" dirty="0">
              <a:latin typeface="Times New Roman" panose="02020603050405020304" pitchFamily="18" charset="0"/>
              <a:cs typeface="Times New Roman" panose="02020603050405020304" pitchFamily="18" charset="0"/>
            </a:endParaRPr>
          </a:p>
          <a:p>
            <a:pPr lvl="1" algn="just">
              <a:buNone/>
            </a:pPr>
            <a:r>
              <a:rPr sz="2800" dirty="0">
                <a:latin typeface="Times New Roman" panose="02020603050405020304" pitchFamily="18" charset="0"/>
                <a:cs typeface="Times New Roman" panose="02020603050405020304" pitchFamily="18" charset="0"/>
                <a:sym typeface="+mn-ea"/>
              </a:rPr>
              <a:t>3.	</a:t>
            </a:r>
            <a:r>
              <a:rPr sz="2800" b="1" dirty="0">
                <a:latin typeface="Times New Roman" panose="02020603050405020304" pitchFamily="18" charset="0"/>
                <a:cs typeface="Times New Roman" panose="02020603050405020304" pitchFamily="18" charset="0"/>
                <a:sym typeface="+mn-ea"/>
              </a:rPr>
              <a:t>write</a:t>
            </a:r>
            <a:r>
              <a:rPr sz="2800" dirty="0">
                <a:latin typeface="Times New Roman" panose="02020603050405020304" pitchFamily="18" charset="0"/>
                <a:cs typeface="Times New Roman" panose="02020603050405020304" pitchFamily="18" charset="0"/>
                <a:sym typeface="+mn-ea"/>
              </a:rPr>
              <a:t>(</a:t>
            </a:r>
            <a:r>
              <a:rPr sz="2800" i="1" dirty="0">
                <a:latin typeface="Times New Roman" panose="02020603050405020304" pitchFamily="18" charset="0"/>
                <a:cs typeface="Times New Roman" panose="02020603050405020304" pitchFamily="18" charset="0"/>
                <a:sym typeface="+mn-ea"/>
              </a:rPr>
              <a:t>A</a:t>
            </a:r>
            <a:r>
              <a:rPr sz="2800" dirty="0">
                <a:latin typeface="Times New Roman" panose="02020603050405020304" pitchFamily="18" charset="0"/>
                <a:cs typeface="Times New Roman" panose="02020603050405020304" pitchFamily="18" charset="0"/>
                <a:sym typeface="+mn-ea"/>
              </a:rPr>
              <a:t>)</a:t>
            </a:r>
            <a:endParaRPr sz="2800" dirty="0">
              <a:latin typeface="Times New Roman" panose="02020603050405020304" pitchFamily="18" charset="0"/>
              <a:cs typeface="Times New Roman" panose="02020603050405020304" pitchFamily="18" charset="0"/>
            </a:endParaRPr>
          </a:p>
          <a:p>
            <a:pPr lvl="1" algn="just">
              <a:buNone/>
            </a:pPr>
            <a:r>
              <a:rPr sz="2800" dirty="0">
                <a:latin typeface="Times New Roman" panose="02020603050405020304" pitchFamily="18" charset="0"/>
                <a:cs typeface="Times New Roman" panose="02020603050405020304" pitchFamily="18" charset="0"/>
                <a:sym typeface="+mn-ea"/>
              </a:rPr>
              <a:t>4.	</a:t>
            </a:r>
            <a:r>
              <a:rPr sz="2800" b="1" dirty="0">
                <a:latin typeface="Times New Roman" panose="02020603050405020304" pitchFamily="18" charset="0"/>
                <a:cs typeface="Times New Roman" panose="02020603050405020304" pitchFamily="18" charset="0"/>
                <a:sym typeface="+mn-ea"/>
              </a:rPr>
              <a:t>read</a:t>
            </a:r>
            <a:r>
              <a:rPr sz="2800" dirty="0">
                <a:latin typeface="Times New Roman" panose="02020603050405020304" pitchFamily="18" charset="0"/>
                <a:cs typeface="Times New Roman" panose="02020603050405020304" pitchFamily="18" charset="0"/>
                <a:sym typeface="+mn-ea"/>
              </a:rPr>
              <a:t>(</a:t>
            </a:r>
            <a:r>
              <a:rPr sz="2800" i="1" dirty="0">
                <a:latin typeface="Times New Roman" panose="02020603050405020304" pitchFamily="18" charset="0"/>
                <a:cs typeface="Times New Roman" panose="02020603050405020304" pitchFamily="18" charset="0"/>
                <a:sym typeface="+mn-ea"/>
              </a:rPr>
              <a:t>B</a:t>
            </a:r>
            <a:r>
              <a:rPr sz="2800" dirty="0">
                <a:latin typeface="Times New Roman" panose="02020603050405020304" pitchFamily="18" charset="0"/>
                <a:cs typeface="Times New Roman" panose="02020603050405020304" pitchFamily="18" charset="0"/>
                <a:sym typeface="+mn-ea"/>
              </a:rPr>
              <a:t>)</a:t>
            </a:r>
            <a:endParaRPr sz="2800" dirty="0">
              <a:latin typeface="Times New Roman" panose="02020603050405020304" pitchFamily="18" charset="0"/>
              <a:cs typeface="Times New Roman" panose="02020603050405020304" pitchFamily="18" charset="0"/>
            </a:endParaRPr>
          </a:p>
          <a:p>
            <a:pPr lvl="1" algn="just">
              <a:buNone/>
            </a:pPr>
            <a:r>
              <a:rPr sz="2800" dirty="0">
                <a:latin typeface="Times New Roman" panose="02020603050405020304" pitchFamily="18" charset="0"/>
                <a:cs typeface="Times New Roman" panose="02020603050405020304" pitchFamily="18" charset="0"/>
                <a:sym typeface="+mn-ea"/>
              </a:rPr>
              <a:t>5.	</a:t>
            </a:r>
            <a:r>
              <a:rPr sz="2800" i="1" dirty="0">
                <a:latin typeface="Times New Roman" panose="02020603050405020304" pitchFamily="18" charset="0"/>
                <a:cs typeface="Times New Roman" panose="02020603050405020304" pitchFamily="18" charset="0"/>
                <a:sym typeface="+mn-ea"/>
              </a:rPr>
              <a:t>B</a:t>
            </a:r>
            <a:r>
              <a:rPr sz="2800" dirty="0">
                <a:latin typeface="Times New Roman" panose="02020603050405020304" pitchFamily="18" charset="0"/>
                <a:cs typeface="Times New Roman" panose="02020603050405020304" pitchFamily="18" charset="0"/>
                <a:sym typeface="+mn-ea"/>
              </a:rPr>
              <a:t> := </a:t>
            </a:r>
            <a:r>
              <a:rPr sz="2800" i="1" dirty="0">
                <a:latin typeface="Times New Roman" panose="02020603050405020304" pitchFamily="18" charset="0"/>
                <a:cs typeface="Times New Roman" panose="02020603050405020304" pitchFamily="18" charset="0"/>
                <a:sym typeface="+mn-ea"/>
              </a:rPr>
              <a:t>B + </a:t>
            </a:r>
            <a:r>
              <a:rPr sz="2800" dirty="0">
                <a:latin typeface="Times New Roman" panose="02020603050405020304" pitchFamily="18" charset="0"/>
                <a:cs typeface="Times New Roman" panose="02020603050405020304" pitchFamily="18" charset="0"/>
                <a:sym typeface="+mn-ea"/>
              </a:rPr>
              <a:t>50</a:t>
            </a:r>
            <a:endParaRPr sz="2800" dirty="0">
              <a:latin typeface="Times New Roman" panose="02020603050405020304" pitchFamily="18" charset="0"/>
              <a:cs typeface="Times New Roman" panose="02020603050405020304" pitchFamily="18" charset="0"/>
            </a:endParaRPr>
          </a:p>
          <a:p>
            <a:pPr lvl="1" algn="just">
              <a:buNone/>
            </a:pPr>
            <a:r>
              <a:rPr sz="2800" dirty="0">
                <a:latin typeface="Times New Roman" panose="02020603050405020304" pitchFamily="18" charset="0"/>
                <a:cs typeface="Times New Roman" panose="02020603050405020304" pitchFamily="18" charset="0"/>
                <a:sym typeface="+mn-ea"/>
              </a:rPr>
              <a:t>6.	</a:t>
            </a:r>
            <a:r>
              <a:rPr sz="2800" b="1" dirty="0">
                <a:latin typeface="Times New Roman" panose="02020603050405020304" pitchFamily="18" charset="0"/>
                <a:cs typeface="Times New Roman" panose="02020603050405020304" pitchFamily="18" charset="0"/>
                <a:sym typeface="+mn-ea"/>
              </a:rPr>
              <a:t>write</a:t>
            </a:r>
            <a:r>
              <a:rPr sz="2800" dirty="0">
                <a:latin typeface="Times New Roman" panose="02020603050405020304" pitchFamily="18" charset="0"/>
                <a:cs typeface="Times New Roman" panose="02020603050405020304" pitchFamily="18" charset="0"/>
                <a:sym typeface="+mn-ea"/>
              </a:rPr>
              <a:t>(</a:t>
            </a:r>
            <a:r>
              <a:rPr sz="2800" i="1" dirty="0">
                <a:latin typeface="Times New Roman" panose="02020603050405020304" pitchFamily="18" charset="0"/>
                <a:cs typeface="Times New Roman" panose="02020603050405020304" pitchFamily="18" charset="0"/>
                <a:sym typeface="+mn-ea"/>
              </a:rPr>
              <a:t>B)</a:t>
            </a:r>
            <a:endParaRPr sz="2800" i="1" dirty="0">
              <a:latin typeface="Times New Roman" panose="02020603050405020304" pitchFamily="18" charset="0"/>
              <a:cs typeface="Times New Roman" panose="02020603050405020304" pitchFamily="18" charset="0"/>
            </a:endParaRPr>
          </a:p>
          <a:p>
            <a:pPr lvl="1" algn="just">
              <a:buNone/>
            </a:pPr>
            <a:endParaRPr sz="2800" dirty="0">
              <a:latin typeface="Times New Roman" panose="02020603050405020304" pitchFamily="18" charset="0"/>
              <a:cs typeface="Times New Roman" panose="02020603050405020304" pitchFamily="18" charset="0"/>
            </a:endParaRPr>
          </a:p>
          <a:p>
            <a:pPr algn="just"/>
            <a:r>
              <a:rPr sz="2800" b="1" dirty="0">
                <a:latin typeface="Times New Roman" panose="02020603050405020304" pitchFamily="18" charset="0"/>
                <a:cs typeface="Times New Roman" panose="02020603050405020304" pitchFamily="18" charset="0"/>
                <a:sym typeface="+mn-ea"/>
              </a:rPr>
              <a:t>Two main issues to deal with:</a:t>
            </a:r>
            <a:endParaRPr sz="2800" b="1" dirty="0">
              <a:latin typeface="Times New Roman" panose="02020603050405020304" pitchFamily="18" charset="0"/>
              <a:cs typeface="Times New Roman" panose="02020603050405020304" pitchFamily="18" charset="0"/>
            </a:endParaRPr>
          </a:p>
          <a:p>
            <a:pPr lvl="1" algn="just"/>
            <a:r>
              <a:rPr sz="2800" dirty="0">
                <a:latin typeface="Times New Roman" panose="02020603050405020304" pitchFamily="18" charset="0"/>
                <a:cs typeface="Times New Roman" panose="02020603050405020304" pitchFamily="18" charset="0"/>
                <a:sym typeface="+mn-ea"/>
              </a:rPr>
              <a:t>Failures of various kinds, such as hardware failures and system crashes</a:t>
            </a:r>
            <a:endParaRPr sz="2800" dirty="0">
              <a:latin typeface="Times New Roman" panose="02020603050405020304" pitchFamily="18" charset="0"/>
              <a:cs typeface="Times New Roman" panose="02020603050405020304" pitchFamily="18" charset="0"/>
            </a:endParaRPr>
          </a:p>
          <a:p>
            <a:pPr lvl="1" algn="just"/>
            <a:r>
              <a:rPr sz="2800" dirty="0">
                <a:latin typeface="Times New Roman" panose="02020603050405020304" pitchFamily="18" charset="0"/>
                <a:cs typeface="Times New Roman" panose="02020603050405020304" pitchFamily="18" charset="0"/>
                <a:sym typeface="+mn-ea"/>
              </a:rPr>
              <a:t>Concurrent execution of multiple transactions</a:t>
            </a:r>
            <a:endParaRPr sz="2800" dirty="0">
              <a:latin typeface="Times New Roman" panose="02020603050405020304" pitchFamily="18" charset="0"/>
              <a:cs typeface="Times New Roman" panose="02020603050405020304" pitchFamily="18" charset="0"/>
            </a:endParaRPr>
          </a:p>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kumimoji="1" lang="en-US" b="1" kern="0" noProof="0" dirty="0" smtClean="0">
                <a:ln>
                  <a:noFill/>
                </a:ln>
                <a:effectLst>
                  <a:outerShdw blurRad="38100" dist="38100" dir="2700000" algn="tl">
                    <a:srgbClr val="DDDDDD"/>
                  </a:outerShdw>
                </a:effectLst>
                <a:uLnTx/>
                <a:uFillTx/>
                <a:latin typeface="Times New Roman" panose="02020603050405020304" pitchFamily="18" charset="0"/>
                <a:cs typeface="Times New Roman" panose="02020603050405020304" pitchFamily="18" charset="0"/>
                <a:sym typeface="+mn-ea"/>
              </a:rPr>
              <a:t>Required  Properties of a Transaction</a:t>
            </a:r>
            <a:endParaRPr lang="en-US"/>
          </a:p>
        </p:txBody>
      </p:sp>
      <p:sp>
        <p:nvSpPr>
          <p:cNvPr id="3" name="Content Placeholder 2"/>
          <p:cNvSpPr>
            <a:spLocks noGrp="1"/>
          </p:cNvSpPr>
          <p:nvPr>
            <p:ph idx="1"/>
          </p:nvPr>
        </p:nvSpPr>
        <p:spPr/>
        <p:txBody>
          <a:bodyPr>
            <a:normAutofit fontScale="50000"/>
          </a:bodyPr>
          <a:p>
            <a:pPr algn="just"/>
            <a:r>
              <a:rPr sz="2800" dirty="0">
                <a:latin typeface="Times New Roman" panose="02020603050405020304" pitchFamily="18" charset="0"/>
                <a:cs typeface="Times New Roman" panose="02020603050405020304" pitchFamily="18" charset="0"/>
                <a:sym typeface="+mn-ea"/>
              </a:rPr>
              <a:t>Consider a transaction to transfer $50 from account A to account B:</a:t>
            </a:r>
            <a:endParaRPr sz="2800" dirty="0">
              <a:latin typeface="Times New Roman" panose="02020603050405020304" pitchFamily="18" charset="0"/>
              <a:cs typeface="Times New Roman" panose="02020603050405020304" pitchFamily="18" charset="0"/>
            </a:endParaRPr>
          </a:p>
          <a:p>
            <a:pPr lvl="1" algn="just">
              <a:buNone/>
            </a:pPr>
            <a:r>
              <a:rPr sz="2800" dirty="0">
                <a:latin typeface="Times New Roman" panose="02020603050405020304" pitchFamily="18" charset="0"/>
                <a:cs typeface="Times New Roman" panose="02020603050405020304" pitchFamily="18" charset="0"/>
                <a:sym typeface="+mn-ea"/>
              </a:rPr>
              <a:t>1.	</a:t>
            </a:r>
            <a:r>
              <a:rPr sz="2800" b="1" dirty="0">
                <a:latin typeface="Times New Roman" panose="02020603050405020304" pitchFamily="18" charset="0"/>
                <a:cs typeface="Times New Roman" panose="02020603050405020304" pitchFamily="18" charset="0"/>
                <a:sym typeface="+mn-ea"/>
              </a:rPr>
              <a:t>read</a:t>
            </a:r>
            <a:r>
              <a:rPr sz="2800" dirty="0">
                <a:latin typeface="Times New Roman" panose="02020603050405020304" pitchFamily="18" charset="0"/>
                <a:cs typeface="Times New Roman" panose="02020603050405020304" pitchFamily="18" charset="0"/>
                <a:sym typeface="+mn-ea"/>
              </a:rPr>
              <a:t>(</a:t>
            </a:r>
            <a:r>
              <a:rPr sz="2800" i="1" dirty="0">
                <a:latin typeface="Times New Roman" panose="02020603050405020304" pitchFamily="18" charset="0"/>
                <a:cs typeface="Times New Roman" panose="02020603050405020304" pitchFamily="18" charset="0"/>
                <a:sym typeface="+mn-ea"/>
              </a:rPr>
              <a:t>A</a:t>
            </a:r>
            <a:r>
              <a:rPr sz="2800" dirty="0">
                <a:latin typeface="Times New Roman" panose="02020603050405020304" pitchFamily="18" charset="0"/>
                <a:cs typeface="Times New Roman" panose="02020603050405020304" pitchFamily="18" charset="0"/>
                <a:sym typeface="+mn-ea"/>
              </a:rPr>
              <a:t>)</a:t>
            </a:r>
            <a:endParaRPr sz="2800" dirty="0">
              <a:latin typeface="Times New Roman" panose="02020603050405020304" pitchFamily="18" charset="0"/>
              <a:cs typeface="Times New Roman" panose="02020603050405020304" pitchFamily="18" charset="0"/>
            </a:endParaRPr>
          </a:p>
          <a:p>
            <a:pPr lvl="1" algn="just">
              <a:buNone/>
            </a:pPr>
            <a:r>
              <a:rPr sz="2800" dirty="0">
                <a:latin typeface="Times New Roman" panose="02020603050405020304" pitchFamily="18" charset="0"/>
                <a:cs typeface="Times New Roman" panose="02020603050405020304" pitchFamily="18" charset="0"/>
                <a:sym typeface="+mn-ea"/>
              </a:rPr>
              <a:t>2.	</a:t>
            </a:r>
            <a:r>
              <a:rPr sz="2800" i="1" dirty="0">
                <a:latin typeface="Times New Roman" panose="02020603050405020304" pitchFamily="18" charset="0"/>
                <a:cs typeface="Times New Roman" panose="02020603050405020304" pitchFamily="18" charset="0"/>
                <a:sym typeface="+mn-ea"/>
              </a:rPr>
              <a:t>A</a:t>
            </a:r>
            <a:r>
              <a:rPr sz="2800" dirty="0">
                <a:latin typeface="Times New Roman" panose="02020603050405020304" pitchFamily="18" charset="0"/>
                <a:cs typeface="Times New Roman" panose="02020603050405020304" pitchFamily="18" charset="0"/>
                <a:sym typeface="+mn-ea"/>
              </a:rPr>
              <a:t> := </a:t>
            </a:r>
            <a:r>
              <a:rPr sz="2800" i="1" dirty="0">
                <a:latin typeface="Times New Roman" panose="02020603050405020304" pitchFamily="18" charset="0"/>
                <a:cs typeface="Times New Roman" panose="02020603050405020304" pitchFamily="18" charset="0"/>
                <a:sym typeface="+mn-ea"/>
              </a:rPr>
              <a:t>A – </a:t>
            </a:r>
            <a:r>
              <a:rPr sz="2800" dirty="0">
                <a:latin typeface="Times New Roman" panose="02020603050405020304" pitchFamily="18" charset="0"/>
                <a:cs typeface="Times New Roman" panose="02020603050405020304" pitchFamily="18" charset="0"/>
                <a:sym typeface="+mn-ea"/>
              </a:rPr>
              <a:t>50</a:t>
            </a:r>
            <a:endParaRPr sz="2800" dirty="0">
              <a:latin typeface="Times New Roman" panose="02020603050405020304" pitchFamily="18" charset="0"/>
              <a:cs typeface="Times New Roman" panose="02020603050405020304" pitchFamily="18" charset="0"/>
            </a:endParaRPr>
          </a:p>
          <a:p>
            <a:pPr lvl="1" algn="just">
              <a:buNone/>
            </a:pPr>
            <a:r>
              <a:rPr sz="2800" dirty="0">
                <a:latin typeface="Times New Roman" panose="02020603050405020304" pitchFamily="18" charset="0"/>
                <a:cs typeface="Times New Roman" panose="02020603050405020304" pitchFamily="18" charset="0"/>
                <a:sym typeface="+mn-ea"/>
              </a:rPr>
              <a:t>3.	</a:t>
            </a:r>
            <a:r>
              <a:rPr sz="2800" b="1" dirty="0">
                <a:latin typeface="Times New Roman" panose="02020603050405020304" pitchFamily="18" charset="0"/>
                <a:cs typeface="Times New Roman" panose="02020603050405020304" pitchFamily="18" charset="0"/>
                <a:sym typeface="+mn-ea"/>
              </a:rPr>
              <a:t>write</a:t>
            </a:r>
            <a:r>
              <a:rPr sz="2800" dirty="0">
                <a:latin typeface="Times New Roman" panose="02020603050405020304" pitchFamily="18" charset="0"/>
                <a:cs typeface="Times New Roman" panose="02020603050405020304" pitchFamily="18" charset="0"/>
                <a:sym typeface="+mn-ea"/>
              </a:rPr>
              <a:t>(</a:t>
            </a:r>
            <a:r>
              <a:rPr sz="2800" i="1" dirty="0">
                <a:latin typeface="Times New Roman" panose="02020603050405020304" pitchFamily="18" charset="0"/>
                <a:cs typeface="Times New Roman" panose="02020603050405020304" pitchFamily="18" charset="0"/>
                <a:sym typeface="+mn-ea"/>
              </a:rPr>
              <a:t>A</a:t>
            </a:r>
            <a:r>
              <a:rPr sz="2800" dirty="0">
                <a:latin typeface="Times New Roman" panose="02020603050405020304" pitchFamily="18" charset="0"/>
                <a:cs typeface="Times New Roman" panose="02020603050405020304" pitchFamily="18" charset="0"/>
                <a:sym typeface="+mn-ea"/>
              </a:rPr>
              <a:t>)</a:t>
            </a:r>
            <a:endParaRPr sz="2800" dirty="0">
              <a:latin typeface="Times New Roman" panose="02020603050405020304" pitchFamily="18" charset="0"/>
              <a:cs typeface="Times New Roman" panose="02020603050405020304" pitchFamily="18" charset="0"/>
            </a:endParaRPr>
          </a:p>
          <a:p>
            <a:pPr lvl="1" algn="just">
              <a:buNone/>
            </a:pPr>
            <a:r>
              <a:rPr sz="2800" dirty="0">
                <a:latin typeface="Times New Roman" panose="02020603050405020304" pitchFamily="18" charset="0"/>
                <a:cs typeface="Times New Roman" panose="02020603050405020304" pitchFamily="18" charset="0"/>
                <a:sym typeface="+mn-ea"/>
              </a:rPr>
              <a:t>4.	</a:t>
            </a:r>
            <a:r>
              <a:rPr sz="2800" b="1" dirty="0">
                <a:latin typeface="Times New Roman" panose="02020603050405020304" pitchFamily="18" charset="0"/>
                <a:cs typeface="Times New Roman" panose="02020603050405020304" pitchFamily="18" charset="0"/>
                <a:sym typeface="+mn-ea"/>
              </a:rPr>
              <a:t>read</a:t>
            </a:r>
            <a:r>
              <a:rPr sz="2800" dirty="0">
                <a:latin typeface="Times New Roman" panose="02020603050405020304" pitchFamily="18" charset="0"/>
                <a:cs typeface="Times New Roman" panose="02020603050405020304" pitchFamily="18" charset="0"/>
                <a:sym typeface="+mn-ea"/>
              </a:rPr>
              <a:t>(</a:t>
            </a:r>
            <a:r>
              <a:rPr sz="2800" i="1" dirty="0">
                <a:latin typeface="Times New Roman" panose="02020603050405020304" pitchFamily="18" charset="0"/>
                <a:cs typeface="Times New Roman" panose="02020603050405020304" pitchFamily="18" charset="0"/>
                <a:sym typeface="+mn-ea"/>
              </a:rPr>
              <a:t>B</a:t>
            </a:r>
            <a:r>
              <a:rPr sz="2800" dirty="0">
                <a:latin typeface="Times New Roman" panose="02020603050405020304" pitchFamily="18" charset="0"/>
                <a:cs typeface="Times New Roman" panose="02020603050405020304" pitchFamily="18" charset="0"/>
                <a:sym typeface="+mn-ea"/>
              </a:rPr>
              <a:t>)</a:t>
            </a:r>
            <a:endParaRPr sz="2800" dirty="0">
              <a:latin typeface="Times New Roman" panose="02020603050405020304" pitchFamily="18" charset="0"/>
              <a:cs typeface="Times New Roman" panose="02020603050405020304" pitchFamily="18" charset="0"/>
            </a:endParaRPr>
          </a:p>
          <a:p>
            <a:pPr lvl="1" algn="just">
              <a:buNone/>
            </a:pPr>
            <a:r>
              <a:rPr sz="2800" dirty="0">
                <a:latin typeface="Times New Roman" panose="02020603050405020304" pitchFamily="18" charset="0"/>
                <a:cs typeface="Times New Roman" panose="02020603050405020304" pitchFamily="18" charset="0"/>
                <a:sym typeface="+mn-ea"/>
              </a:rPr>
              <a:t>5.	</a:t>
            </a:r>
            <a:r>
              <a:rPr sz="2800" i="1" dirty="0">
                <a:latin typeface="Times New Roman" panose="02020603050405020304" pitchFamily="18" charset="0"/>
                <a:cs typeface="Times New Roman" panose="02020603050405020304" pitchFamily="18" charset="0"/>
                <a:sym typeface="+mn-ea"/>
              </a:rPr>
              <a:t>B</a:t>
            </a:r>
            <a:r>
              <a:rPr sz="2800" dirty="0">
                <a:latin typeface="Times New Roman" panose="02020603050405020304" pitchFamily="18" charset="0"/>
                <a:cs typeface="Times New Roman" panose="02020603050405020304" pitchFamily="18" charset="0"/>
                <a:sym typeface="+mn-ea"/>
              </a:rPr>
              <a:t> := </a:t>
            </a:r>
            <a:r>
              <a:rPr sz="2800" i="1" dirty="0">
                <a:latin typeface="Times New Roman" panose="02020603050405020304" pitchFamily="18" charset="0"/>
                <a:cs typeface="Times New Roman" panose="02020603050405020304" pitchFamily="18" charset="0"/>
                <a:sym typeface="+mn-ea"/>
              </a:rPr>
              <a:t>B + </a:t>
            </a:r>
            <a:r>
              <a:rPr sz="2800" dirty="0">
                <a:latin typeface="Times New Roman" panose="02020603050405020304" pitchFamily="18" charset="0"/>
                <a:cs typeface="Times New Roman" panose="02020603050405020304" pitchFamily="18" charset="0"/>
                <a:sym typeface="+mn-ea"/>
              </a:rPr>
              <a:t>50</a:t>
            </a:r>
            <a:endParaRPr sz="2800" dirty="0">
              <a:latin typeface="Times New Roman" panose="02020603050405020304" pitchFamily="18" charset="0"/>
              <a:cs typeface="Times New Roman" panose="02020603050405020304" pitchFamily="18" charset="0"/>
            </a:endParaRPr>
          </a:p>
          <a:p>
            <a:pPr lvl="1" algn="just">
              <a:buNone/>
            </a:pPr>
            <a:r>
              <a:rPr sz="2800" dirty="0">
                <a:latin typeface="Times New Roman" panose="02020603050405020304" pitchFamily="18" charset="0"/>
                <a:cs typeface="Times New Roman" panose="02020603050405020304" pitchFamily="18" charset="0"/>
                <a:sym typeface="+mn-ea"/>
              </a:rPr>
              <a:t>6.	</a:t>
            </a:r>
            <a:r>
              <a:rPr sz="2800" b="1" dirty="0">
                <a:latin typeface="Times New Roman" panose="02020603050405020304" pitchFamily="18" charset="0"/>
                <a:cs typeface="Times New Roman" panose="02020603050405020304" pitchFamily="18" charset="0"/>
                <a:sym typeface="+mn-ea"/>
              </a:rPr>
              <a:t>write</a:t>
            </a:r>
            <a:r>
              <a:rPr sz="2800" dirty="0">
                <a:latin typeface="Times New Roman" panose="02020603050405020304" pitchFamily="18" charset="0"/>
                <a:cs typeface="Times New Roman" panose="02020603050405020304" pitchFamily="18" charset="0"/>
                <a:sym typeface="+mn-ea"/>
              </a:rPr>
              <a:t>(</a:t>
            </a:r>
            <a:r>
              <a:rPr sz="2800" i="1" dirty="0">
                <a:latin typeface="Times New Roman" panose="02020603050405020304" pitchFamily="18" charset="0"/>
                <a:cs typeface="Times New Roman" panose="02020603050405020304" pitchFamily="18" charset="0"/>
                <a:sym typeface="+mn-ea"/>
              </a:rPr>
              <a:t>B)</a:t>
            </a:r>
            <a:endParaRPr sz="2800" i="1" dirty="0">
              <a:latin typeface="Times New Roman" panose="02020603050405020304" pitchFamily="18" charset="0"/>
              <a:cs typeface="Times New Roman" panose="02020603050405020304" pitchFamily="18" charset="0"/>
            </a:endParaRPr>
          </a:p>
          <a:p>
            <a:pPr algn="just"/>
            <a:r>
              <a:rPr sz="2800" b="1" dirty="0">
                <a:solidFill>
                  <a:srgbClr val="000099"/>
                </a:solidFill>
                <a:latin typeface="Times New Roman" panose="02020603050405020304" pitchFamily="18" charset="0"/>
                <a:cs typeface="Times New Roman" panose="02020603050405020304" pitchFamily="18" charset="0"/>
                <a:sym typeface="+mn-ea"/>
              </a:rPr>
              <a:t>Atomicity requirement</a:t>
            </a:r>
            <a:r>
              <a:rPr sz="2800" dirty="0">
                <a:latin typeface="Times New Roman" panose="02020603050405020304" pitchFamily="18" charset="0"/>
                <a:cs typeface="Times New Roman" panose="02020603050405020304" pitchFamily="18" charset="0"/>
                <a:sym typeface="+mn-ea"/>
              </a:rPr>
              <a:t> </a:t>
            </a:r>
            <a:endParaRPr sz="2800" dirty="0">
              <a:latin typeface="Times New Roman" panose="02020603050405020304" pitchFamily="18" charset="0"/>
              <a:cs typeface="Times New Roman" panose="02020603050405020304" pitchFamily="18" charset="0"/>
            </a:endParaRPr>
          </a:p>
          <a:p>
            <a:pPr lvl="1" algn="just"/>
            <a:r>
              <a:rPr sz="2800" dirty="0">
                <a:latin typeface="Times New Roman" panose="02020603050405020304" pitchFamily="18" charset="0"/>
                <a:cs typeface="Times New Roman" panose="02020603050405020304" pitchFamily="18" charset="0"/>
                <a:sym typeface="+mn-ea"/>
              </a:rPr>
              <a:t>If the transaction fails after step 3 and before step 6, money will be “lost” leading to an inconsistent database state</a:t>
            </a:r>
            <a:endParaRPr sz="2800" dirty="0">
              <a:latin typeface="Times New Roman" panose="02020603050405020304" pitchFamily="18" charset="0"/>
              <a:cs typeface="Times New Roman" panose="02020603050405020304" pitchFamily="18" charset="0"/>
            </a:endParaRPr>
          </a:p>
          <a:p>
            <a:pPr lvl="2" algn="just"/>
            <a:r>
              <a:rPr sz="2800" dirty="0">
                <a:latin typeface="Times New Roman" panose="02020603050405020304" pitchFamily="18" charset="0"/>
                <a:cs typeface="Times New Roman" panose="02020603050405020304" pitchFamily="18" charset="0"/>
                <a:sym typeface="+mn-ea"/>
              </a:rPr>
              <a:t>Failure could be due to software or hardware</a:t>
            </a:r>
            <a:endParaRPr sz="2800" dirty="0">
              <a:latin typeface="Times New Roman" panose="02020603050405020304" pitchFamily="18" charset="0"/>
              <a:cs typeface="Times New Roman" panose="02020603050405020304" pitchFamily="18" charset="0"/>
            </a:endParaRPr>
          </a:p>
          <a:p>
            <a:pPr lvl="1" algn="just"/>
            <a:r>
              <a:rPr sz="2800" dirty="0">
                <a:latin typeface="Times New Roman" panose="02020603050405020304" pitchFamily="18" charset="0"/>
                <a:cs typeface="Times New Roman" panose="02020603050405020304" pitchFamily="18" charset="0"/>
                <a:sym typeface="+mn-ea"/>
              </a:rPr>
              <a:t>The system should ensure that updates of a partially executed transaction are not reflected in the database</a:t>
            </a:r>
            <a:endParaRPr sz="2800" dirty="0">
              <a:latin typeface="Times New Roman" panose="02020603050405020304" pitchFamily="18" charset="0"/>
              <a:cs typeface="Times New Roman" panose="02020603050405020304" pitchFamily="18" charset="0"/>
            </a:endParaRPr>
          </a:p>
          <a:p>
            <a:pPr algn="just"/>
            <a:r>
              <a:rPr sz="2800" b="1" dirty="0">
                <a:solidFill>
                  <a:srgbClr val="000099"/>
                </a:solidFill>
                <a:latin typeface="Times New Roman" panose="02020603050405020304" pitchFamily="18" charset="0"/>
                <a:cs typeface="Times New Roman" panose="02020603050405020304" pitchFamily="18" charset="0"/>
                <a:sym typeface="+mn-ea"/>
              </a:rPr>
              <a:t>Durability requirement</a:t>
            </a:r>
            <a:r>
              <a:rPr sz="2800" dirty="0">
                <a:latin typeface="Times New Roman" panose="02020603050405020304" pitchFamily="18" charset="0"/>
                <a:cs typeface="Times New Roman" panose="02020603050405020304" pitchFamily="18" charset="0"/>
                <a:sym typeface="+mn-ea"/>
              </a:rPr>
              <a:t> — once the user has been notified that the transaction has completed (i.e., the transfer of the $50 has taken place), the updates to the database by the transaction must persist even if there are software or hardware failures.</a:t>
            </a:r>
            <a:endParaRPr sz="2800" dirty="0">
              <a:latin typeface="Times New Roman" panose="02020603050405020304" pitchFamily="18" charset="0"/>
              <a:cs typeface="Times New Roman" panose="02020603050405020304" pitchFamily="18" charset="0"/>
            </a:endParaRPr>
          </a:p>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kumimoji="1" lang="en-US" b="1" kern="0" noProof="0" dirty="0" smtClean="0">
                <a:ln>
                  <a:noFill/>
                </a:ln>
                <a:effectLst>
                  <a:outerShdw blurRad="38100" dist="38100" dir="2700000" algn="tl">
                    <a:srgbClr val="DDDDDD"/>
                  </a:outerShdw>
                </a:effectLst>
                <a:uLnTx/>
                <a:uFillTx/>
                <a:latin typeface="Times New Roman" panose="02020603050405020304" pitchFamily="18" charset="0"/>
                <a:cs typeface="Times New Roman" panose="02020603050405020304" pitchFamily="18" charset="0"/>
                <a:sym typeface="+mn-ea"/>
              </a:rPr>
              <a:t>Required  Properties of a Transaction(contd..)</a:t>
            </a:r>
            <a:endParaRPr lang="en-US"/>
          </a:p>
        </p:txBody>
      </p:sp>
      <p:sp>
        <p:nvSpPr>
          <p:cNvPr id="3" name="Content Placeholder 2"/>
          <p:cNvSpPr>
            <a:spLocks noGrp="1"/>
          </p:cNvSpPr>
          <p:nvPr>
            <p:ph idx="1"/>
          </p:nvPr>
        </p:nvSpPr>
        <p:spPr/>
        <p:txBody>
          <a:bodyPr>
            <a:normAutofit fontScale="90000" lnSpcReduction="20000"/>
          </a:bodyPr>
          <a:p>
            <a:pPr algn="just"/>
            <a:r>
              <a:rPr sz="2800" b="1" dirty="0">
                <a:solidFill>
                  <a:srgbClr val="000099"/>
                </a:solidFill>
                <a:latin typeface="Times New Roman" panose="02020603050405020304" pitchFamily="18" charset="0"/>
                <a:cs typeface="Times New Roman" panose="02020603050405020304" pitchFamily="18" charset="0"/>
                <a:sym typeface="+mn-ea"/>
              </a:rPr>
              <a:t>Consistency requirement</a:t>
            </a:r>
            <a:r>
              <a:rPr sz="2800" dirty="0">
                <a:latin typeface="Times New Roman" panose="02020603050405020304" pitchFamily="18" charset="0"/>
                <a:cs typeface="Times New Roman" panose="02020603050405020304" pitchFamily="18" charset="0"/>
                <a:sym typeface="+mn-ea"/>
              </a:rPr>
              <a:t> in above example:</a:t>
            </a:r>
            <a:endParaRPr sz="2800" dirty="0">
              <a:latin typeface="Times New Roman" panose="02020603050405020304" pitchFamily="18" charset="0"/>
              <a:cs typeface="Times New Roman" panose="02020603050405020304" pitchFamily="18" charset="0"/>
            </a:endParaRPr>
          </a:p>
          <a:p>
            <a:pPr lvl="1" algn="just"/>
            <a:r>
              <a:rPr sz="2800" dirty="0">
                <a:latin typeface="Times New Roman" panose="02020603050405020304" pitchFamily="18" charset="0"/>
                <a:cs typeface="Times New Roman" panose="02020603050405020304" pitchFamily="18" charset="0"/>
                <a:sym typeface="+mn-ea"/>
              </a:rPr>
              <a:t> The sum of A and B is unchanged by the execution of the transaction</a:t>
            </a:r>
            <a:endParaRPr sz="2800" dirty="0">
              <a:latin typeface="Times New Roman" panose="02020603050405020304" pitchFamily="18" charset="0"/>
              <a:cs typeface="Times New Roman" panose="02020603050405020304" pitchFamily="18" charset="0"/>
            </a:endParaRPr>
          </a:p>
          <a:p>
            <a:pPr algn="just"/>
            <a:r>
              <a:rPr sz="2800" dirty="0">
                <a:latin typeface="Times New Roman" panose="02020603050405020304" pitchFamily="18" charset="0"/>
                <a:cs typeface="Times New Roman" panose="02020603050405020304" pitchFamily="18" charset="0"/>
                <a:sym typeface="+mn-ea"/>
              </a:rPr>
              <a:t>In general, consistency requirements include </a:t>
            </a:r>
            <a:endParaRPr sz="2800" dirty="0">
              <a:latin typeface="Times New Roman" panose="02020603050405020304" pitchFamily="18" charset="0"/>
              <a:cs typeface="Times New Roman" panose="02020603050405020304" pitchFamily="18" charset="0"/>
            </a:endParaRPr>
          </a:p>
          <a:p>
            <a:pPr lvl="2" algn="just"/>
            <a:r>
              <a:rPr sz="2800" dirty="0">
                <a:latin typeface="Times New Roman" panose="02020603050405020304" pitchFamily="18" charset="0"/>
                <a:cs typeface="Times New Roman" panose="02020603050405020304" pitchFamily="18" charset="0"/>
                <a:sym typeface="+mn-ea"/>
              </a:rPr>
              <a:t>Explicitly specified integrity constraints such as primary keys and foreign keys</a:t>
            </a:r>
            <a:endParaRPr sz="2800" dirty="0">
              <a:latin typeface="Times New Roman" panose="02020603050405020304" pitchFamily="18" charset="0"/>
              <a:cs typeface="Times New Roman" panose="02020603050405020304" pitchFamily="18" charset="0"/>
            </a:endParaRPr>
          </a:p>
          <a:p>
            <a:pPr lvl="2" algn="just"/>
            <a:r>
              <a:rPr sz="2800" dirty="0">
                <a:latin typeface="Times New Roman" panose="02020603050405020304" pitchFamily="18" charset="0"/>
                <a:cs typeface="Times New Roman" panose="02020603050405020304" pitchFamily="18" charset="0"/>
                <a:sym typeface="+mn-ea"/>
              </a:rPr>
              <a:t>Implicit integrity constraints</a:t>
            </a:r>
            <a:endParaRPr sz="2800" dirty="0">
              <a:latin typeface="Times New Roman" panose="02020603050405020304" pitchFamily="18" charset="0"/>
              <a:cs typeface="Times New Roman" panose="02020603050405020304" pitchFamily="18" charset="0"/>
            </a:endParaRPr>
          </a:p>
          <a:p>
            <a:pPr lvl="3" algn="just"/>
            <a:r>
              <a:rPr sz="2800" dirty="0">
                <a:latin typeface="Times New Roman" panose="02020603050405020304" pitchFamily="18" charset="0"/>
                <a:cs typeface="Times New Roman" panose="02020603050405020304" pitchFamily="18" charset="0"/>
                <a:sym typeface="+mn-ea"/>
              </a:rPr>
              <a:t>e.g., sum of balances of all accounts, minus sum of loan amounts must equal value of cash-in-hand</a:t>
            </a:r>
            <a:endParaRPr sz="2800" dirty="0">
              <a:latin typeface="Times New Roman" panose="02020603050405020304" pitchFamily="18" charset="0"/>
              <a:cs typeface="Times New Roman" panose="02020603050405020304" pitchFamily="18" charset="0"/>
            </a:endParaRPr>
          </a:p>
          <a:p>
            <a:pPr algn="just"/>
            <a:r>
              <a:rPr sz="2800" dirty="0">
                <a:latin typeface="Times New Roman" panose="02020603050405020304" pitchFamily="18" charset="0"/>
                <a:cs typeface="Times New Roman" panose="02020603050405020304" pitchFamily="18" charset="0"/>
                <a:sym typeface="+mn-ea"/>
              </a:rPr>
              <a:t>A transaction, when starting to execute,  must see a consistent database.</a:t>
            </a:r>
            <a:endParaRPr sz="2800" dirty="0">
              <a:latin typeface="Times New Roman" panose="02020603050405020304" pitchFamily="18" charset="0"/>
              <a:cs typeface="Times New Roman" panose="02020603050405020304" pitchFamily="18" charset="0"/>
            </a:endParaRPr>
          </a:p>
          <a:p>
            <a:pPr algn="just"/>
            <a:r>
              <a:rPr sz="2800" dirty="0">
                <a:latin typeface="Times New Roman" panose="02020603050405020304" pitchFamily="18" charset="0"/>
                <a:cs typeface="Times New Roman" panose="02020603050405020304" pitchFamily="18" charset="0"/>
                <a:sym typeface="+mn-ea"/>
              </a:rPr>
              <a:t>During transaction execution the database may be temporarily inconsistent.</a:t>
            </a:r>
            <a:endParaRPr sz="2800" dirty="0">
              <a:latin typeface="Times New Roman" panose="02020603050405020304" pitchFamily="18" charset="0"/>
              <a:cs typeface="Times New Roman" panose="02020603050405020304" pitchFamily="18" charset="0"/>
            </a:endParaRPr>
          </a:p>
          <a:p>
            <a:pPr algn="just"/>
            <a:r>
              <a:rPr sz="2800" dirty="0">
                <a:latin typeface="Times New Roman" panose="02020603050405020304" pitchFamily="18" charset="0"/>
                <a:cs typeface="Times New Roman" panose="02020603050405020304" pitchFamily="18" charset="0"/>
                <a:sym typeface="+mn-ea"/>
              </a:rPr>
              <a:t>When the transaction completes successfully the database must be consistent</a:t>
            </a:r>
            <a:endParaRPr sz="2800" dirty="0">
              <a:latin typeface="Times New Roman" panose="02020603050405020304" pitchFamily="18" charset="0"/>
              <a:cs typeface="Times New Roman" panose="02020603050405020304" pitchFamily="18" charset="0"/>
            </a:endParaRPr>
          </a:p>
          <a:p>
            <a:pPr lvl="1" algn="just"/>
            <a:r>
              <a:rPr sz="2800" dirty="0">
                <a:latin typeface="Times New Roman" panose="02020603050405020304" pitchFamily="18" charset="0"/>
                <a:cs typeface="Times New Roman" panose="02020603050405020304" pitchFamily="18" charset="0"/>
                <a:sym typeface="+mn-ea"/>
              </a:rPr>
              <a:t>Erroneous transaction logic can lead to inconsistency</a:t>
            </a:r>
            <a:endParaRPr sz="2800" dirty="0">
              <a:latin typeface="Times New Roman" panose="02020603050405020304" pitchFamily="18" charset="0"/>
              <a:cs typeface="Times New Roman" panose="02020603050405020304" pitchFamily="18" charset="0"/>
            </a:endParaRPr>
          </a:p>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kumimoji="1" lang="en-US" b="1" kern="0" noProof="0" dirty="0" smtClean="0">
                <a:ln>
                  <a:noFill/>
                </a:ln>
                <a:effectLst>
                  <a:outerShdw blurRad="38100" dist="38100" dir="2700000" algn="tl">
                    <a:srgbClr val="DDDDDD"/>
                  </a:outerShdw>
                </a:effectLst>
                <a:uLnTx/>
                <a:uFillTx/>
                <a:latin typeface="Times New Roman" panose="02020603050405020304" pitchFamily="18" charset="0"/>
                <a:cs typeface="Times New Roman" panose="02020603050405020304" pitchFamily="18" charset="0"/>
                <a:sym typeface="+mn-ea"/>
              </a:rPr>
              <a:t>Required  Properties of a Transaction(contd..)</a:t>
            </a:r>
            <a:endParaRPr lang="en-US"/>
          </a:p>
        </p:txBody>
      </p:sp>
      <p:sp>
        <p:nvSpPr>
          <p:cNvPr id="3" name="Content Placeholder 2"/>
          <p:cNvSpPr>
            <a:spLocks noGrp="1"/>
          </p:cNvSpPr>
          <p:nvPr>
            <p:ph idx="1"/>
          </p:nvPr>
        </p:nvSpPr>
        <p:spPr/>
        <p:txBody>
          <a:bodyPr>
            <a:normAutofit fontScale="50000"/>
          </a:bodyPr>
          <a:p>
            <a:pPr algn="l"/>
            <a:r>
              <a:rPr sz="2800" b="1" dirty="0">
                <a:solidFill>
                  <a:srgbClr val="000099"/>
                </a:solidFill>
                <a:latin typeface="Times New Roman" panose="02020603050405020304" pitchFamily="18" charset="0"/>
                <a:cs typeface="Times New Roman" panose="02020603050405020304" pitchFamily="18" charset="0"/>
                <a:sym typeface="+mn-ea"/>
              </a:rPr>
              <a:t>Isolation requirement</a:t>
            </a:r>
            <a:r>
              <a:rPr sz="2800" dirty="0">
                <a:latin typeface="Times New Roman" panose="02020603050405020304" pitchFamily="18" charset="0"/>
                <a:cs typeface="Times New Roman" panose="02020603050405020304" pitchFamily="18" charset="0"/>
                <a:sym typeface="+mn-ea"/>
              </a:rPr>
              <a:t> — if between steps 3 and 6 (of the fund transfer transaction) , another transaction </a:t>
            </a:r>
            <a:r>
              <a:rPr sz="2800" b="1" dirty="0">
                <a:latin typeface="Times New Roman" panose="02020603050405020304" pitchFamily="18" charset="0"/>
                <a:cs typeface="Times New Roman" panose="02020603050405020304" pitchFamily="18" charset="0"/>
                <a:sym typeface="+mn-ea"/>
              </a:rPr>
              <a:t>T2</a:t>
            </a:r>
            <a:r>
              <a:rPr sz="2800" dirty="0">
                <a:latin typeface="Times New Roman" panose="02020603050405020304" pitchFamily="18" charset="0"/>
                <a:cs typeface="Times New Roman" panose="02020603050405020304" pitchFamily="18" charset="0"/>
                <a:sym typeface="+mn-ea"/>
              </a:rPr>
              <a:t> is allowed to access the partially updated database, it will see an inconsistent database (the sum  </a:t>
            </a:r>
            <a:r>
              <a:rPr sz="2800" i="1" dirty="0">
                <a:latin typeface="Times New Roman" panose="02020603050405020304" pitchFamily="18" charset="0"/>
                <a:cs typeface="Times New Roman" panose="02020603050405020304" pitchFamily="18" charset="0"/>
                <a:sym typeface="+mn-ea"/>
              </a:rPr>
              <a:t>A + B</a:t>
            </a:r>
            <a:r>
              <a:rPr sz="2800" dirty="0">
                <a:latin typeface="Times New Roman" panose="02020603050405020304" pitchFamily="18" charset="0"/>
                <a:cs typeface="Times New Roman" panose="02020603050405020304" pitchFamily="18" charset="0"/>
                <a:sym typeface="+mn-ea"/>
              </a:rPr>
              <a:t> will be less than it should be).</a:t>
            </a:r>
            <a:br>
              <a:rPr sz="2800" dirty="0">
                <a:latin typeface="Times New Roman" panose="02020603050405020304" pitchFamily="18" charset="0"/>
                <a:cs typeface="Times New Roman" panose="02020603050405020304" pitchFamily="18" charset="0"/>
                <a:sym typeface="+mn-ea"/>
              </a:rPr>
            </a:br>
            <a:endParaRPr sz="2800" dirty="0">
              <a:latin typeface="Times New Roman" panose="02020603050405020304" pitchFamily="18" charset="0"/>
              <a:cs typeface="Times New Roman" panose="02020603050405020304" pitchFamily="18" charset="0"/>
            </a:endParaRPr>
          </a:p>
          <a:p>
            <a:pPr algn="l">
              <a:buNone/>
            </a:pPr>
            <a:r>
              <a:rPr sz="2800" dirty="0">
                <a:latin typeface="Times New Roman" panose="02020603050405020304" pitchFamily="18" charset="0"/>
                <a:cs typeface="Times New Roman" panose="02020603050405020304" pitchFamily="18" charset="0"/>
                <a:sym typeface="+mn-ea"/>
              </a:rPr>
              <a:t>               </a:t>
            </a:r>
            <a:r>
              <a:rPr sz="2800" b="1" dirty="0">
                <a:latin typeface="Times New Roman" panose="02020603050405020304" pitchFamily="18" charset="0"/>
                <a:cs typeface="Times New Roman" panose="02020603050405020304" pitchFamily="18" charset="0"/>
                <a:sym typeface="+mn-ea"/>
              </a:rPr>
              <a:t>T1                                        T2</a:t>
            </a:r>
            <a:endParaRPr sz="2800" b="1" dirty="0">
              <a:latin typeface="Times New Roman" panose="02020603050405020304" pitchFamily="18" charset="0"/>
              <a:cs typeface="Times New Roman" panose="02020603050405020304" pitchFamily="18" charset="0"/>
            </a:endParaRPr>
          </a:p>
          <a:p>
            <a:pPr lvl="1" algn="l">
              <a:buNone/>
            </a:pPr>
            <a:r>
              <a:rPr sz="2800" dirty="0">
                <a:latin typeface="Times New Roman" panose="02020603050405020304" pitchFamily="18" charset="0"/>
                <a:cs typeface="Times New Roman" panose="02020603050405020304" pitchFamily="18" charset="0"/>
                <a:sym typeface="+mn-ea"/>
              </a:rPr>
              <a:t>1.	</a:t>
            </a:r>
            <a:r>
              <a:rPr sz="2800" b="1" dirty="0">
                <a:latin typeface="Times New Roman" panose="02020603050405020304" pitchFamily="18" charset="0"/>
                <a:cs typeface="Times New Roman" panose="02020603050405020304" pitchFamily="18" charset="0"/>
                <a:sym typeface="+mn-ea"/>
              </a:rPr>
              <a:t>read</a:t>
            </a:r>
            <a:r>
              <a:rPr sz="2800" dirty="0">
                <a:latin typeface="Times New Roman" panose="02020603050405020304" pitchFamily="18" charset="0"/>
                <a:cs typeface="Times New Roman" panose="02020603050405020304" pitchFamily="18" charset="0"/>
                <a:sym typeface="+mn-ea"/>
              </a:rPr>
              <a:t>(</a:t>
            </a:r>
            <a:r>
              <a:rPr sz="2800" i="1" dirty="0">
                <a:latin typeface="Times New Roman" panose="02020603050405020304" pitchFamily="18" charset="0"/>
                <a:cs typeface="Times New Roman" panose="02020603050405020304" pitchFamily="18" charset="0"/>
                <a:sym typeface="+mn-ea"/>
              </a:rPr>
              <a:t>A</a:t>
            </a:r>
            <a:r>
              <a:rPr sz="2800" dirty="0">
                <a:latin typeface="Times New Roman" panose="02020603050405020304" pitchFamily="18" charset="0"/>
                <a:cs typeface="Times New Roman" panose="02020603050405020304" pitchFamily="18" charset="0"/>
                <a:sym typeface="+mn-ea"/>
              </a:rPr>
              <a:t>)</a:t>
            </a:r>
            <a:endParaRPr sz="2800" dirty="0">
              <a:latin typeface="Times New Roman" panose="02020603050405020304" pitchFamily="18" charset="0"/>
              <a:cs typeface="Times New Roman" panose="02020603050405020304" pitchFamily="18" charset="0"/>
            </a:endParaRPr>
          </a:p>
          <a:p>
            <a:pPr lvl="1" algn="l">
              <a:buNone/>
            </a:pPr>
            <a:r>
              <a:rPr sz="2800" dirty="0">
                <a:latin typeface="Times New Roman" panose="02020603050405020304" pitchFamily="18" charset="0"/>
                <a:cs typeface="Times New Roman" panose="02020603050405020304" pitchFamily="18" charset="0"/>
                <a:sym typeface="+mn-ea"/>
              </a:rPr>
              <a:t>2.	</a:t>
            </a:r>
            <a:r>
              <a:rPr sz="2800" i="1" dirty="0">
                <a:latin typeface="Times New Roman" panose="02020603050405020304" pitchFamily="18" charset="0"/>
                <a:cs typeface="Times New Roman" panose="02020603050405020304" pitchFamily="18" charset="0"/>
                <a:sym typeface="+mn-ea"/>
              </a:rPr>
              <a:t>A</a:t>
            </a:r>
            <a:r>
              <a:rPr sz="2800" dirty="0">
                <a:latin typeface="Times New Roman" panose="02020603050405020304" pitchFamily="18" charset="0"/>
                <a:cs typeface="Times New Roman" panose="02020603050405020304" pitchFamily="18" charset="0"/>
                <a:sym typeface="+mn-ea"/>
              </a:rPr>
              <a:t> := </a:t>
            </a:r>
            <a:r>
              <a:rPr sz="2800" i="1" dirty="0">
                <a:latin typeface="Times New Roman" panose="02020603050405020304" pitchFamily="18" charset="0"/>
                <a:cs typeface="Times New Roman" panose="02020603050405020304" pitchFamily="18" charset="0"/>
                <a:sym typeface="+mn-ea"/>
              </a:rPr>
              <a:t>A – </a:t>
            </a:r>
            <a:r>
              <a:rPr sz="2800" dirty="0">
                <a:latin typeface="Times New Roman" panose="02020603050405020304" pitchFamily="18" charset="0"/>
                <a:cs typeface="Times New Roman" panose="02020603050405020304" pitchFamily="18" charset="0"/>
                <a:sym typeface="+mn-ea"/>
              </a:rPr>
              <a:t>50</a:t>
            </a:r>
            <a:endParaRPr sz="2800" dirty="0">
              <a:latin typeface="Times New Roman" panose="02020603050405020304" pitchFamily="18" charset="0"/>
              <a:cs typeface="Times New Roman" panose="02020603050405020304" pitchFamily="18" charset="0"/>
            </a:endParaRPr>
          </a:p>
          <a:p>
            <a:pPr lvl="1" algn="l">
              <a:buNone/>
            </a:pPr>
            <a:r>
              <a:rPr sz="2800" dirty="0">
                <a:latin typeface="Times New Roman" panose="02020603050405020304" pitchFamily="18" charset="0"/>
                <a:cs typeface="Times New Roman" panose="02020603050405020304" pitchFamily="18" charset="0"/>
                <a:sym typeface="+mn-ea"/>
              </a:rPr>
              <a:t>3.	</a:t>
            </a:r>
            <a:r>
              <a:rPr sz="2800" b="1" dirty="0">
                <a:latin typeface="Times New Roman" panose="02020603050405020304" pitchFamily="18" charset="0"/>
                <a:cs typeface="Times New Roman" panose="02020603050405020304" pitchFamily="18" charset="0"/>
                <a:sym typeface="+mn-ea"/>
              </a:rPr>
              <a:t>write</a:t>
            </a:r>
            <a:r>
              <a:rPr sz="2800" dirty="0">
                <a:latin typeface="Times New Roman" panose="02020603050405020304" pitchFamily="18" charset="0"/>
                <a:cs typeface="Times New Roman" panose="02020603050405020304" pitchFamily="18" charset="0"/>
                <a:sym typeface="+mn-ea"/>
              </a:rPr>
              <a:t>(</a:t>
            </a:r>
            <a:r>
              <a:rPr sz="2800" i="1" dirty="0">
                <a:latin typeface="Times New Roman" panose="02020603050405020304" pitchFamily="18" charset="0"/>
                <a:cs typeface="Times New Roman" panose="02020603050405020304" pitchFamily="18" charset="0"/>
                <a:sym typeface="+mn-ea"/>
              </a:rPr>
              <a:t>A</a:t>
            </a:r>
            <a:r>
              <a:rPr sz="2800" dirty="0">
                <a:latin typeface="Times New Roman" panose="02020603050405020304" pitchFamily="18" charset="0"/>
                <a:cs typeface="Times New Roman" panose="02020603050405020304" pitchFamily="18" charset="0"/>
                <a:sym typeface="+mn-ea"/>
              </a:rPr>
              <a:t>)</a:t>
            </a:r>
            <a:br>
              <a:rPr sz="2800" dirty="0">
                <a:latin typeface="Times New Roman" panose="02020603050405020304" pitchFamily="18" charset="0"/>
                <a:cs typeface="Times New Roman" panose="02020603050405020304" pitchFamily="18" charset="0"/>
                <a:sym typeface="+mn-ea"/>
              </a:rPr>
            </a:br>
            <a:r>
              <a:rPr sz="2800" dirty="0">
                <a:latin typeface="Times New Roman" panose="02020603050405020304" pitchFamily="18" charset="0"/>
                <a:cs typeface="Times New Roman" panose="02020603050405020304" pitchFamily="18" charset="0"/>
                <a:sym typeface="+mn-ea"/>
              </a:rPr>
              <a:t>                                      read(A), read(B), print(A+B)</a:t>
            </a:r>
            <a:endParaRPr sz="2800" dirty="0">
              <a:latin typeface="Times New Roman" panose="02020603050405020304" pitchFamily="18" charset="0"/>
              <a:cs typeface="Times New Roman" panose="02020603050405020304" pitchFamily="18" charset="0"/>
            </a:endParaRPr>
          </a:p>
          <a:p>
            <a:pPr lvl="1" algn="l">
              <a:buNone/>
            </a:pPr>
            <a:r>
              <a:rPr sz="2800" dirty="0">
                <a:latin typeface="Times New Roman" panose="02020603050405020304" pitchFamily="18" charset="0"/>
                <a:cs typeface="Times New Roman" panose="02020603050405020304" pitchFamily="18" charset="0"/>
                <a:sym typeface="+mn-ea"/>
              </a:rPr>
              <a:t>4.	</a:t>
            </a:r>
            <a:r>
              <a:rPr sz="2800" b="1" dirty="0">
                <a:latin typeface="Times New Roman" panose="02020603050405020304" pitchFamily="18" charset="0"/>
                <a:cs typeface="Times New Roman" panose="02020603050405020304" pitchFamily="18" charset="0"/>
                <a:sym typeface="+mn-ea"/>
              </a:rPr>
              <a:t>read</a:t>
            </a:r>
            <a:r>
              <a:rPr sz="2800" dirty="0">
                <a:latin typeface="Times New Roman" panose="02020603050405020304" pitchFamily="18" charset="0"/>
                <a:cs typeface="Times New Roman" panose="02020603050405020304" pitchFamily="18" charset="0"/>
                <a:sym typeface="+mn-ea"/>
              </a:rPr>
              <a:t>(</a:t>
            </a:r>
            <a:r>
              <a:rPr sz="2800" i="1" dirty="0">
                <a:latin typeface="Times New Roman" panose="02020603050405020304" pitchFamily="18" charset="0"/>
                <a:cs typeface="Times New Roman" panose="02020603050405020304" pitchFamily="18" charset="0"/>
                <a:sym typeface="+mn-ea"/>
              </a:rPr>
              <a:t>B</a:t>
            </a:r>
            <a:r>
              <a:rPr sz="2800" dirty="0">
                <a:latin typeface="Times New Roman" panose="02020603050405020304" pitchFamily="18" charset="0"/>
                <a:cs typeface="Times New Roman" panose="02020603050405020304" pitchFamily="18" charset="0"/>
                <a:sym typeface="+mn-ea"/>
              </a:rPr>
              <a:t>)</a:t>
            </a:r>
            <a:endParaRPr sz="2800" dirty="0">
              <a:latin typeface="Times New Roman" panose="02020603050405020304" pitchFamily="18" charset="0"/>
              <a:cs typeface="Times New Roman" panose="02020603050405020304" pitchFamily="18" charset="0"/>
            </a:endParaRPr>
          </a:p>
          <a:p>
            <a:pPr lvl="1" algn="l">
              <a:buNone/>
            </a:pPr>
            <a:r>
              <a:rPr sz="2800" dirty="0">
                <a:latin typeface="Times New Roman" panose="02020603050405020304" pitchFamily="18" charset="0"/>
                <a:cs typeface="Times New Roman" panose="02020603050405020304" pitchFamily="18" charset="0"/>
                <a:sym typeface="+mn-ea"/>
              </a:rPr>
              <a:t>5.	</a:t>
            </a:r>
            <a:r>
              <a:rPr sz="2800" i="1" dirty="0">
                <a:latin typeface="Times New Roman" panose="02020603050405020304" pitchFamily="18" charset="0"/>
                <a:cs typeface="Times New Roman" panose="02020603050405020304" pitchFamily="18" charset="0"/>
                <a:sym typeface="+mn-ea"/>
              </a:rPr>
              <a:t>B</a:t>
            </a:r>
            <a:r>
              <a:rPr sz="2800" dirty="0">
                <a:latin typeface="Times New Roman" panose="02020603050405020304" pitchFamily="18" charset="0"/>
                <a:cs typeface="Times New Roman" panose="02020603050405020304" pitchFamily="18" charset="0"/>
                <a:sym typeface="+mn-ea"/>
              </a:rPr>
              <a:t> := </a:t>
            </a:r>
            <a:r>
              <a:rPr sz="2800" i="1" dirty="0">
                <a:latin typeface="Times New Roman" panose="02020603050405020304" pitchFamily="18" charset="0"/>
                <a:cs typeface="Times New Roman" panose="02020603050405020304" pitchFamily="18" charset="0"/>
                <a:sym typeface="+mn-ea"/>
              </a:rPr>
              <a:t>B + </a:t>
            </a:r>
            <a:r>
              <a:rPr sz="2800" dirty="0">
                <a:latin typeface="Times New Roman" panose="02020603050405020304" pitchFamily="18" charset="0"/>
                <a:cs typeface="Times New Roman" panose="02020603050405020304" pitchFamily="18" charset="0"/>
                <a:sym typeface="+mn-ea"/>
              </a:rPr>
              <a:t>50</a:t>
            </a:r>
            <a:endParaRPr sz="2800" dirty="0">
              <a:latin typeface="Times New Roman" panose="02020603050405020304" pitchFamily="18" charset="0"/>
              <a:cs typeface="Times New Roman" panose="02020603050405020304" pitchFamily="18" charset="0"/>
            </a:endParaRPr>
          </a:p>
          <a:p>
            <a:pPr lvl="1" algn="l">
              <a:buNone/>
            </a:pPr>
            <a:r>
              <a:rPr sz="2800" dirty="0">
                <a:latin typeface="Times New Roman" panose="02020603050405020304" pitchFamily="18" charset="0"/>
                <a:cs typeface="Times New Roman" panose="02020603050405020304" pitchFamily="18" charset="0"/>
                <a:sym typeface="+mn-ea"/>
              </a:rPr>
              <a:t>6.	</a:t>
            </a:r>
            <a:r>
              <a:rPr sz="2800" b="1" dirty="0">
                <a:latin typeface="Times New Roman" panose="02020603050405020304" pitchFamily="18" charset="0"/>
                <a:cs typeface="Times New Roman" panose="02020603050405020304" pitchFamily="18" charset="0"/>
                <a:sym typeface="+mn-ea"/>
              </a:rPr>
              <a:t>write</a:t>
            </a:r>
            <a:r>
              <a:rPr sz="2800" dirty="0">
                <a:latin typeface="Times New Roman" panose="02020603050405020304" pitchFamily="18" charset="0"/>
                <a:cs typeface="Times New Roman" panose="02020603050405020304" pitchFamily="18" charset="0"/>
                <a:sym typeface="+mn-ea"/>
              </a:rPr>
              <a:t>(</a:t>
            </a:r>
            <a:r>
              <a:rPr sz="2800" i="1" dirty="0">
                <a:latin typeface="Times New Roman" panose="02020603050405020304" pitchFamily="18" charset="0"/>
                <a:cs typeface="Times New Roman" panose="02020603050405020304" pitchFamily="18" charset="0"/>
                <a:sym typeface="+mn-ea"/>
              </a:rPr>
              <a:t>B</a:t>
            </a:r>
            <a:endParaRPr sz="2800" dirty="0">
              <a:latin typeface="Times New Roman" panose="02020603050405020304" pitchFamily="18" charset="0"/>
              <a:cs typeface="Times New Roman" panose="02020603050405020304" pitchFamily="18" charset="0"/>
            </a:endParaRPr>
          </a:p>
          <a:p>
            <a:pPr algn="l"/>
            <a:r>
              <a:rPr sz="2800" dirty="0">
                <a:latin typeface="Times New Roman" panose="02020603050405020304" pitchFamily="18" charset="0"/>
                <a:cs typeface="Times New Roman" panose="02020603050405020304" pitchFamily="18" charset="0"/>
                <a:sym typeface="+mn-ea"/>
              </a:rPr>
              <a:t>Isolation can be ensured trivially by running transactions </a:t>
            </a:r>
            <a:r>
              <a:rPr sz="2800" b="1" dirty="0">
                <a:solidFill>
                  <a:srgbClr val="000099"/>
                </a:solidFill>
                <a:latin typeface="Times New Roman" panose="02020603050405020304" pitchFamily="18" charset="0"/>
                <a:cs typeface="Times New Roman" panose="02020603050405020304" pitchFamily="18" charset="0"/>
                <a:sym typeface="+mn-ea"/>
              </a:rPr>
              <a:t>serially</a:t>
            </a:r>
            <a:endParaRPr sz="2800" b="1" dirty="0">
              <a:solidFill>
                <a:srgbClr val="000099"/>
              </a:solidFill>
              <a:latin typeface="Times New Roman" panose="02020603050405020304" pitchFamily="18" charset="0"/>
              <a:cs typeface="Times New Roman" panose="02020603050405020304" pitchFamily="18" charset="0"/>
            </a:endParaRPr>
          </a:p>
          <a:p>
            <a:pPr lvl="1" algn="l"/>
            <a:r>
              <a:rPr sz="2800" dirty="0">
                <a:latin typeface="Times New Roman" panose="02020603050405020304" pitchFamily="18" charset="0"/>
                <a:cs typeface="Times New Roman" panose="02020603050405020304" pitchFamily="18" charset="0"/>
                <a:sym typeface="+mn-ea"/>
              </a:rPr>
              <a:t> That is, one after the other.   </a:t>
            </a:r>
            <a:endParaRPr sz="2800" dirty="0">
              <a:latin typeface="Times New Roman" panose="02020603050405020304" pitchFamily="18" charset="0"/>
              <a:cs typeface="Times New Roman" panose="02020603050405020304" pitchFamily="18" charset="0"/>
            </a:endParaRPr>
          </a:p>
          <a:p>
            <a:pPr algn="l"/>
            <a:r>
              <a:rPr sz="2800" dirty="0">
                <a:latin typeface="Times New Roman" panose="02020603050405020304" pitchFamily="18" charset="0"/>
                <a:cs typeface="Times New Roman" panose="02020603050405020304" pitchFamily="18" charset="0"/>
                <a:sym typeface="+mn-ea"/>
              </a:rPr>
              <a:t>However, executing multiple transactions concurrently has significant benefits, as we will see later.</a:t>
            </a:r>
            <a:endParaRPr sz="2800" dirty="0">
              <a:latin typeface="Times New Roman" panose="02020603050405020304" pitchFamily="18" charset="0"/>
              <a:cs typeface="Times New Roman" panose="02020603050405020304" pitchFamily="18" charset="0"/>
            </a:endParaRPr>
          </a:p>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ACID Properties</a:t>
            </a:r>
            <a:endParaRPr lang="en-US"/>
          </a:p>
        </p:txBody>
      </p:sp>
      <p:sp>
        <p:nvSpPr>
          <p:cNvPr id="3" name="Content Placeholder 2"/>
          <p:cNvSpPr>
            <a:spLocks noGrp="1"/>
          </p:cNvSpPr>
          <p:nvPr>
            <p:ph idx="1"/>
          </p:nvPr>
        </p:nvSpPr>
        <p:spPr>
          <a:xfrm>
            <a:off x="838200" y="1825625"/>
            <a:ext cx="10515600" cy="5032375"/>
          </a:xfrm>
        </p:spPr>
        <p:txBody>
          <a:bodyPr>
            <a:normAutofit fontScale="70000"/>
          </a:bodyPr>
          <a:p>
            <a:pPr marL="342900" indent="-342900" algn="just">
              <a:spcBef>
                <a:spcPct val="20000"/>
              </a:spcBef>
              <a:buFont typeface="Wingdings" panose="05000000000000000000" pitchFamily="2" charset="2"/>
              <a:buChar char="Ø"/>
              <a:defRPr/>
            </a:pPr>
            <a:r>
              <a:rPr lang="en-US" sz="2800" kern="0" dirty="0" smtClean="0">
                <a:latin typeface="Times New Roman" panose="02020603050405020304" pitchFamily="18" charset="0"/>
                <a:cs typeface="Times New Roman" panose="02020603050405020304" pitchFamily="18" charset="0"/>
                <a:sym typeface="+mn-ea"/>
              </a:rPr>
              <a:t>A transaction is a unit of program execution that accesses and possibly updates various data items.</a:t>
            </a:r>
            <a:endParaRPr lang="en-US" sz="2800"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pitchFamily="2" charset="2"/>
              <a:buChar char="ü"/>
              <a:defRPr/>
            </a:pPr>
            <a:r>
              <a:rPr lang="en-US" sz="2800" b="1" kern="0" dirty="0" smtClean="0">
                <a:latin typeface="Times New Roman" panose="02020603050405020304" pitchFamily="18" charset="0"/>
                <a:cs typeface="Times New Roman" panose="02020603050405020304" pitchFamily="18" charset="0"/>
                <a:sym typeface="+mn-ea"/>
              </a:rPr>
              <a:t>Atomicity:</a:t>
            </a:r>
            <a:r>
              <a:rPr lang="en-US" sz="2800" kern="0" dirty="0" smtClean="0">
                <a:latin typeface="Times New Roman" panose="02020603050405020304" pitchFamily="18" charset="0"/>
                <a:cs typeface="Times New Roman" panose="02020603050405020304" pitchFamily="18" charset="0"/>
                <a:sym typeface="+mn-ea"/>
              </a:rPr>
              <a:t> Either all operations of the transaction are reflected properly in the database, or none are. Atomicity requires that all operations of a transaction be completed; if not, the transaction is aborted by rolling back all the updates done during the transaction.</a:t>
            </a:r>
            <a:endParaRPr lang="en-US" sz="2800"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pitchFamily="2" charset="2"/>
              <a:buChar char="ü"/>
              <a:defRPr/>
            </a:pPr>
            <a:r>
              <a:rPr lang="en-US" sz="2800" b="1" kern="0" dirty="0" smtClean="0">
                <a:latin typeface="Times New Roman" panose="02020603050405020304" pitchFamily="18" charset="0"/>
                <a:cs typeface="Times New Roman" panose="02020603050405020304" pitchFamily="18" charset="0"/>
                <a:sym typeface="+mn-ea"/>
              </a:rPr>
              <a:t>Consistency: </a:t>
            </a:r>
            <a:r>
              <a:rPr lang="en-US" sz="2800" kern="0" dirty="0" smtClean="0">
                <a:latin typeface="Times New Roman" panose="02020603050405020304" pitchFamily="18" charset="0"/>
                <a:cs typeface="Times New Roman" panose="02020603050405020304" pitchFamily="18" charset="0"/>
                <a:sym typeface="+mn-ea"/>
              </a:rPr>
              <a:t>Consistency means execution of a transaction should preserve the consistency of the database, i.e. a transaction must transform the database from one consistent state to another consistent state.</a:t>
            </a:r>
            <a:endParaRPr lang="en-US" sz="2800"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pitchFamily="2" charset="2"/>
              <a:buChar char="ü"/>
              <a:defRPr/>
            </a:pPr>
            <a:r>
              <a:rPr lang="en-US" sz="2800" b="1" kern="0" dirty="0" smtClean="0">
                <a:latin typeface="Times New Roman" panose="02020603050405020304" pitchFamily="18" charset="0"/>
                <a:cs typeface="Times New Roman" panose="02020603050405020304" pitchFamily="18" charset="0"/>
                <a:sym typeface="+mn-ea"/>
              </a:rPr>
              <a:t>Isolation: </a:t>
            </a:r>
            <a:r>
              <a:rPr lang="en-US" sz="2800" kern="0" dirty="0" smtClean="0">
                <a:latin typeface="Times New Roman" panose="02020603050405020304" pitchFamily="18" charset="0"/>
                <a:cs typeface="Times New Roman" panose="02020603050405020304" pitchFamily="18" charset="0"/>
                <a:sym typeface="+mn-ea"/>
              </a:rPr>
              <a:t>Though multiple transactions may execute concurrently, the system guarantees that, for every pair of transactions Ti  and </a:t>
            </a:r>
            <a:r>
              <a:rPr lang="en-US" sz="2800" kern="0" dirty="0" err="1" smtClean="0">
                <a:latin typeface="Times New Roman" panose="02020603050405020304" pitchFamily="18" charset="0"/>
                <a:cs typeface="Times New Roman" panose="02020603050405020304" pitchFamily="18" charset="0"/>
                <a:sym typeface="+mn-ea"/>
              </a:rPr>
              <a:t>Tj</a:t>
            </a:r>
            <a:r>
              <a:rPr lang="en-US" sz="2800" kern="0" dirty="0" smtClean="0">
                <a:latin typeface="Times New Roman" panose="02020603050405020304" pitchFamily="18" charset="0"/>
                <a:cs typeface="Times New Roman" panose="02020603050405020304" pitchFamily="18" charset="0"/>
                <a:sym typeface="+mn-ea"/>
              </a:rPr>
              <a:t> , it appears to Ti  that either </a:t>
            </a:r>
            <a:r>
              <a:rPr lang="en-US" sz="2800" kern="0" dirty="0" err="1" smtClean="0">
                <a:latin typeface="Times New Roman" panose="02020603050405020304" pitchFamily="18" charset="0"/>
                <a:cs typeface="Times New Roman" panose="02020603050405020304" pitchFamily="18" charset="0"/>
                <a:sym typeface="+mn-ea"/>
              </a:rPr>
              <a:t>Tj</a:t>
            </a:r>
            <a:r>
              <a:rPr lang="en-US" sz="2800" kern="0" dirty="0" smtClean="0">
                <a:latin typeface="Times New Roman" panose="02020603050405020304" pitchFamily="18" charset="0"/>
                <a:cs typeface="Times New Roman" panose="02020603050405020304" pitchFamily="18" charset="0"/>
                <a:sym typeface="+mn-ea"/>
              </a:rPr>
              <a:t> finished execution before Ti  started or </a:t>
            </a:r>
            <a:r>
              <a:rPr lang="en-US" sz="2800" kern="0" dirty="0" err="1" smtClean="0">
                <a:latin typeface="Times New Roman" panose="02020603050405020304" pitchFamily="18" charset="0"/>
                <a:cs typeface="Times New Roman" panose="02020603050405020304" pitchFamily="18" charset="0"/>
                <a:sym typeface="+mn-ea"/>
              </a:rPr>
              <a:t>Tj</a:t>
            </a:r>
            <a:r>
              <a:rPr lang="en-US" sz="2800" kern="0" dirty="0" smtClean="0">
                <a:latin typeface="Times New Roman" panose="02020603050405020304" pitchFamily="18" charset="0"/>
                <a:cs typeface="Times New Roman" panose="02020603050405020304" pitchFamily="18" charset="0"/>
                <a:sym typeface="+mn-ea"/>
              </a:rPr>
              <a:t>  started execution after Ti  finished. Thus, each transaction is unaware of other transactions executing concurrently in the system.</a:t>
            </a:r>
            <a:endParaRPr lang="en-US" sz="2800"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pitchFamily="2" charset="2"/>
              <a:buChar char="ü"/>
              <a:defRPr/>
            </a:pPr>
            <a:r>
              <a:rPr lang="en-US" sz="2800" b="1" kern="0" dirty="0" smtClean="0">
                <a:latin typeface="Times New Roman" panose="02020603050405020304" pitchFamily="18" charset="0"/>
                <a:cs typeface="Times New Roman" panose="02020603050405020304" pitchFamily="18" charset="0"/>
                <a:sym typeface="+mn-ea"/>
              </a:rPr>
              <a:t>Durability:</a:t>
            </a:r>
            <a:r>
              <a:rPr lang="en-US" sz="2800" kern="0" dirty="0" smtClean="0">
                <a:latin typeface="Times New Roman" panose="02020603050405020304" pitchFamily="18" charset="0"/>
                <a:cs typeface="Times New Roman" panose="02020603050405020304" pitchFamily="18" charset="0"/>
                <a:sym typeface="+mn-ea"/>
              </a:rPr>
              <a:t> After a transaction completes successfully, the changes it has made to the database persist, even if there are system failures. Durability ensures that once transaction changes are done or committed, they can’t be undone or lost, even in the event of a system failure.</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Transaction States</a:t>
            </a:r>
            <a:endParaRPr lang="en-US"/>
          </a:p>
        </p:txBody>
      </p:sp>
      <p:sp>
        <p:nvSpPr>
          <p:cNvPr id="3" name="Content Placeholder 2"/>
          <p:cNvSpPr>
            <a:spLocks noGrp="1"/>
          </p:cNvSpPr>
          <p:nvPr>
            <p:ph idx="1"/>
          </p:nvPr>
        </p:nvSpPr>
        <p:spPr/>
        <p:txBody>
          <a:bodyPr>
            <a:normAutofit lnSpcReduction="20000"/>
          </a:bodyPr>
          <a:p>
            <a:pPr marL="342900" indent="-342900" algn="just">
              <a:spcBef>
                <a:spcPct val="20000"/>
              </a:spcBef>
              <a:buFont typeface="Wingdings" panose="05000000000000000000" pitchFamily="2" charset="2"/>
              <a:buChar char="Ø"/>
              <a:defRPr/>
            </a:pPr>
            <a:r>
              <a:rPr lang="en-US" b="1" kern="0" dirty="0" smtClean="0">
                <a:latin typeface="Times New Roman" panose="02020603050405020304" pitchFamily="18" charset="0"/>
                <a:cs typeface="Times New Roman" panose="02020603050405020304" pitchFamily="18" charset="0"/>
                <a:sym typeface="+mn-ea"/>
              </a:rPr>
              <a:t>Active state: </a:t>
            </a:r>
            <a:r>
              <a:rPr lang="en-US" kern="0" dirty="0" smtClean="0">
                <a:latin typeface="Times New Roman" panose="02020603050405020304" pitchFamily="18" charset="0"/>
                <a:cs typeface="Times New Roman" panose="02020603050405020304" pitchFamily="18" charset="0"/>
                <a:sym typeface="+mn-ea"/>
              </a:rPr>
              <a:t>This state is the initial state of a transaction. The transaction stays in this state while it is executing</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b="1" kern="0" dirty="0" smtClean="0">
                <a:latin typeface="Times New Roman" panose="02020603050405020304" pitchFamily="18" charset="0"/>
                <a:cs typeface="Times New Roman" panose="02020603050405020304" pitchFamily="18" charset="0"/>
                <a:sym typeface="+mn-ea"/>
              </a:rPr>
              <a:t>Partial Committed state: </a:t>
            </a:r>
            <a:r>
              <a:rPr lang="en-US" kern="0" dirty="0" smtClean="0">
                <a:latin typeface="Times New Roman" panose="02020603050405020304" pitchFamily="18" charset="0"/>
                <a:cs typeface="Times New Roman" panose="02020603050405020304" pitchFamily="18" charset="0"/>
                <a:sym typeface="+mn-ea"/>
              </a:rPr>
              <a:t>A transaction is partial committed after its final statement has been executed. A transaction enters this state immediately before the commit statement</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b="1" kern="0" dirty="0" smtClean="0">
                <a:latin typeface="Times New Roman" panose="02020603050405020304" pitchFamily="18" charset="0"/>
                <a:cs typeface="Times New Roman" panose="02020603050405020304" pitchFamily="18" charset="0"/>
                <a:sym typeface="+mn-ea"/>
              </a:rPr>
              <a:t>Failed state: </a:t>
            </a:r>
            <a:r>
              <a:rPr lang="en-US" kern="0" dirty="0" smtClean="0">
                <a:latin typeface="Times New Roman" panose="02020603050405020304" pitchFamily="18" charset="0"/>
                <a:cs typeface="Times New Roman" panose="02020603050405020304" pitchFamily="18" charset="0"/>
                <a:sym typeface="+mn-ea"/>
              </a:rPr>
              <a:t>A transaction enters the failed state after the discovery that normal execution can no longer proceed</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b="1" kern="0" dirty="0" smtClean="0">
                <a:latin typeface="Times New Roman" panose="02020603050405020304" pitchFamily="18" charset="0"/>
                <a:cs typeface="Times New Roman" panose="02020603050405020304" pitchFamily="18" charset="0"/>
                <a:sym typeface="+mn-ea"/>
              </a:rPr>
              <a:t>Aborted state: </a:t>
            </a:r>
            <a:r>
              <a:rPr lang="en-US" kern="0" dirty="0" smtClean="0">
                <a:latin typeface="Times New Roman" panose="02020603050405020304" pitchFamily="18" charset="0"/>
                <a:cs typeface="Times New Roman" panose="02020603050405020304" pitchFamily="18" charset="0"/>
                <a:sym typeface="+mn-ea"/>
              </a:rPr>
              <a:t>A transaction is aborted after it has been rolled back and the database is restored to its prior state before the transaction</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b="1" kern="0" dirty="0" smtClean="0">
                <a:latin typeface="Times New Roman" panose="02020603050405020304" pitchFamily="18" charset="0"/>
                <a:cs typeface="Times New Roman" panose="02020603050405020304" pitchFamily="18" charset="0"/>
                <a:sym typeface="+mn-ea"/>
              </a:rPr>
              <a:t>Committed state: </a:t>
            </a:r>
            <a:r>
              <a:rPr lang="en-US" kern="0" dirty="0" smtClean="0">
                <a:latin typeface="Times New Roman" panose="02020603050405020304" pitchFamily="18" charset="0"/>
                <a:cs typeface="Times New Roman" panose="02020603050405020304" pitchFamily="18" charset="0"/>
                <a:sym typeface="+mn-ea"/>
              </a:rPr>
              <a:t>Committed state occurs after successful completion of the transaction</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b="1" kern="0" dirty="0" smtClean="0">
                <a:latin typeface="Times New Roman" panose="02020603050405020304" pitchFamily="18" charset="0"/>
                <a:cs typeface="Times New Roman" panose="02020603050405020304" pitchFamily="18" charset="0"/>
                <a:sym typeface="+mn-ea"/>
              </a:rPr>
              <a:t>Terminate: </a:t>
            </a:r>
            <a:r>
              <a:rPr lang="en-US" kern="0" dirty="0" smtClean="0">
                <a:latin typeface="Times New Roman" panose="02020603050405020304" pitchFamily="18" charset="0"/>
                <a:cs typeface="Times New Roman" panose="02020603050405020304" pitchFamily="18" charset="0"/>
                <a:sym typeface="+mn-ea"/>
              </a:rPr>
              <a:t>Transaction is either committed or aborted</a:t>
            </a:r>
            <a:endParaRPr lang="en-US" kern="0" dirty="0" smtClean="0">
              <a:latin typeface="Times New Roman" panose="02020603050405020304" pitchFamily="18" charset="0"/>
              <a:cs typeface="Times New Roman" panose="02020603050405020304" pitchFamily="18" charset="0"/>
            </a:endParaRPr>
          </a:p>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Transaction States</a:t>
            </a:r>
            <a:endParaRPr lang="en-US"/>
          </a:p>
        </p:txBody>
      </p:sp>
      <p:sp>
        <p:nvSpPr>
          <p:cNvPr id="4" name="Content Placeholder 2"/>
          <p:cNvSpPr txBox="1"/>
          <p:nvPr/>
        </p:nvSpPr>
        <p:spPr bwMode="auto">
          <a:xfrm>
            <a:off x="1837346" y="4501205"/>
            <a:ext cx="7858180" cy="1857388"/>
          </a:xfrm>
          <a:prstGeom prst="rect">
            <a:avLst/>
          </a:prstGeom>
          <a:noFill/>
          <a:ln w="9525">
            <a:noFill/>
            <a:miter lim="800000"/>
          </a:ln>
        </p:spPr>
        <p:txBody>
          <a:bodyPr/>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rPr>
              <a:t>When a transaction enters the aborted state, the system has two options:</a:t>
            </a:r>
            <a:endParaRPr lang="en-US"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pitchFamily="2" charset="2"/>
              <a:buChar char="ü"/>
              <a:defRPr/>
            </a:pPr>
            <a:r>
              <a:rPr lang="en-US" b="1" kern="0" dirty="0" smtClean="0">
                <a:latin typeface="Times New Roman" panose="02020603050405020304" pitchFamily="18" charset="0"/>
                <a:cs typeface="Times New Roman" panose="02020603050405020304" pitchFamily="18" charset="0"/>
              </a:rPr>
              <a:t>Restart the transaction: </a:t>
            </a:r>
            <a:r>
              <a:rPr lang="en-US" kern="0" dirty="0" smtClean="0">
                <a:latin typeface="Times New Roman" panose="02020603050405020304" pitchFamily="18" charset="0"/>
                <a:cs typeface="Times New Roman" panose="02020603050405020304" pitchFamily="18" charset="0"/>
              </a:rPr>
              <a:t>If the transaction was aborted as a result of a hardware failure or some software error (other than logical error), it can be restarted</a:t>
            </a:r>
            <a:endParaRPr lang="en-US"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pitchFamily="2" charset="2"/>
              <a:buChar char="ü"/>
              <a:defRPr/>
            </a:pPr>
            <a:r>
              <a:rPr lang="en-US" b="1" kern="0" dirty="0" smtClean="0">
                <a:latin typeface="Times New Roman" panose="02020603050405020304" pitchFamily="18" charset="0"/>
                <a:cs typeface="Times New Roman" panose="02020603050405020304" pitchFamily="18" charset="0"/>
              </a:rPr>
              <a:t>Kill the transaction: </a:t>
            </a:r>
            <a:r>
              <a:rPr lang="en-US" kern="0" dirty="0" smtClean="0">
                <a:latin typeface="Times New Roman" panose="02020603050405020304" pitchFamily="18" charset="0"/>
                <a:cs typeface="Times New Roman" panose="02020603050405020304" pitchFamily="18" charset="0"/>
              </a:rPr>
              <a:t>If the application program that initiated the transaction has some logical error</a:t>
            </a:r>
            <a:endParaRPr lang="en-US"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pitchFamily="2" charset="2"/>
              <a:buChar char="ü"/>
              <a:defRPr/>
            </a:pP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p:txBody>
      </p:sp>
      <p:sp>
        <p:nvSpPr>
          <p:cNvPr id="8" name="object 9"/>
          <p:cNvSpPr/>
          <p:nvPr/>
        </p:nvSpPr>
        <p:spPr>
          <a:xfrm>
            <a:off x="2724758" y="1322905"/>
            <a:ext cx="5470570" cy="2892548"/>
          </a:xfrm>
          <a:prstGeom prst="rect">
            <a:avLst/>
          </a:prstGeom>
          <a:blipFill>
            <a:blip r:embed="rId1" cstate="print"/>
            <a:stretch>
              <a:fillRect/>
            </a:stretch>
          </a:blipFill>
        </p:spPr>
        <p:txBody>
          <a:bodyPr wrap="square" lIns="0" tIns="0" rIns="0" bIns="0" rtlCol="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Concurrent Execution</a:t>
            </a:r>
            <a:endParaRPr lang="en-US"/>
          </a:p>
        </p:txBody>
      </p:sp>
      <p:sp>
        <p:nvSpPr>
          <p:cNvPr id="4" name="Content Placeholder 2"/>
          <p:cNvSpPr txBox="1"/>
          <p:nvPr/>
        </p:nvSpPr>
        <p:spPr bwMode="auto">
          <a:xfrm>
            <a:off x="2004986" y="1306172"/>
            <a:ext cx="7858180" cy="5286412"/>
          </a:xfrm>
          <a:prstGeom prst="rect">
            <a:avLst/>
          </a:prstGeom>
          <a:noFill/>
          <a:ln w="9525">
            <a:noFill/>
            <a:miter lim="800000"/>
          </a:ln>
        </p:spPr>
        <p:txBody>
          <a:bodyPr/>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rPr>
              <a:t>Concurrent execution of transactions means executing more than one transaction at the same time.</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rPr>
              <a:t>In the serial execution, one transaction can start executing only after the completion of the previous.</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rPr>
              <a:t>The advantages of using concurrent execution of transactions are:</a:t>
            </a:r>
            <a:endParaRPr lang="en-US"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pitchFamily="2" charset="2"/>
              <a:buChar char="ü"/>
              <a:defRPr/>
            </a:pPr>
            <a:r>
              <a:rPr lang="en-US" kern="0" dirty="0" smtClean="0">
                <a:latin typeface="Times New Roman" panose="02020603050405020304" pitchFamily="18" charset="0"/>
                <a:cs typeface="Times New Roman" panose="02020603050405020304" pitchFamily="18" charset="0"/>
              </a:rPr>
              <a:t>Improved throughput and resource utilization.</a:t>
            </a:r>
            <a:endParaRPr lang="en-US"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pitchFamily="2" charset="2"/>
              <a:buChar char="ü"/>
              <a:defRPr/>
            </a:pPr>
            <a:r>
              <a:rPr lang="en-US" kern="0" dirty="0" smtClean="0">
                <a:latin typeface="Times New Roman" panose="02020603050405020304" pitchFamily="18" charset="0"/>
                <a:cs typeface="Times New Roman" panose="02020603050405020304" pitchFamily="18" charset="0"/>
              </a:rPr>
              <a:t>Reduced waiting time.</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rPr>
              <a:t>The database system must control the interaction among the concurrent transactions to prevent them from destroying the consistency of the database. It does this through a variety of mechanisms called </a:t>
            </a:r>
            <a:r>
              <a:rPr lang="en-US" kern="0" dirty="0" smtClean="0">
                <a:solidFill>
                  <a:srgbClr val="FF0000"/>
                </a:solidFill>
                <a:latin typeface="Times New Roman" panose="02020603050405020304" pitchFamily="18" charset="0"/>
                <a:cs typeface="Times New Roman" panose="02020603050405020304" pitchFamily="18" charset="0"/>
              </a:rPr>
              <a:t>concurrency control schemes.</a:t>
            </a:r>
            <a:endParaRPr lang="en-US" kern="0" dirty="0" smtClean="0">
              <a:solidFill>
                <a:srgbClr val="FF0000"/>
              </a:solidFill>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rPr>
              <a:t>T1  transfers $100 from account A to account B</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rPr>
              <a:t>T2  transfers 20% of balance from account A to account B</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p:txBody>
      </p:sp>
      <p:pic>
        <p:nvPicPr>
          <p:cNvPr id="1026" name="Picture 2" descr="C:\Users\nEW u\Desktop\11.jpg"/>
          <p:cNvPicPr>
            <a:picLocks noChangeAspect="1" noChangeArrowheads="1"/>
          </p:cNvPicPr>
          <p:nvPr/>
        </p:nvPicPr>
        <p:blipFill>
          <a:blip r:embed="rId1"/>
          <a:srcRect/>
          <a:stretch>
            <a:fillRect/>
          </a:stretch>
        </p:blipFill>
        <p:spPr bwMode="auto">
          <a:xfrm>
            <a:off x="3329593" y="4428178"/>
            <a:ext cx="1198906" cy="1644652"/>
          </a:xfrm>
          <a:prstGeom prst="rect">
            <a:avLst/>
          </a:prstGeom>
          <a:noFill/>
        </p:spPr>
      </p:pic>
      <p:pic>
        <p:nvPicPr>
          <p:cNvPr id="1027" name="Picture 3" descr="C:\Users\nEW u\Desktop\22.jpg"/>
          <p:cNvPicPr>
            <a:picLocks noChangeAspect="1" noChangeArrowheads="1"/>
          </p:cNvPicPr>
          <p:nvPr/>
        </p:nvPicPr>
        <p:blipFill>
          <a:blip r:embed="rId2"/>
          <a:srcRect/>
          <a:stretch>
            <a:fillRect/>
          </a:stretch>
        </p:blipFill>
        <p:spPr bwMode="auto">
          <a:xfrm>
            <a:off x="6039730" y="4406912"/>
            <a:ext cx="1180230" cy="1720852"/>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Schedule &amp; Serial Schedule</a:t>
            </a:r>
            <a:endParaRPr lang="en-US"/>
          </a:p>
        </p:txBody>
      </p:sp>
      <p:sp>
        <p:nvSpPr>
          <p:cNvPr id="3" name="Content Placeholder 2"/>
          <p:cNvSpPr>
            <a:spLocks noGrp="1"/>
          </p:cNvSpPr>
          <p:nvPr>
            <p:ph idx="1"/>
          </p:nvPr>
        </p:nvSpPr>
        <p:spPr/>
        <p:txBody>
          <a:bodyPr>
            <a:normAutofit fontScale="70000"/>
          </a:bodyPr>
          <a:p>
            <a:pPr marL="342900" indent="-342900" algn="just">
              <a:spcBef>
                <a:spcPct val="20000"/>
              </a:spcBef>
              <a:buFont typeface="Wingdings" panose="05000000000000000000" pitchFamily="2" charset="2"/>
              <a:buChar char="Ø"/>
              <a:defRPr/>
            </a:pPr>
            <a:r>
              <a:rPr lang="en-US" sz="2800" kern="0" dirty="0" smtClean="0">
                <a:latin typeface="Times New Roman" panose="02020603050405020304" pitchFamily="18" charset="0"/>
                <a:cs typeface="Times New Roman" panose="02020603050405020304" pitchFamily="18" charset="0"/>
                <a:sym typeface="+mn-ea"/>
              </a:rPr>
              <a:t>Concurrent execution of transactions means executing more than one transaction at the same time.</a:t>
            </a:r>
            <a:endParaRPr lang="en-US" sz="2800"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sz="2800" kern="0" dirty="0" smtClean="0">
                <a:latin typeface="Times New Roman" panose="02020603050405020304" pitchFamily="18" charset="0"/>
                <a:cs typeface="Times New Roman" panose="02020603050405020304" pitchFamily="18" charset="0"/>
                <a:sym typeface="+mn-ea"/>
              </a:rPr>
              <a:t>A </a:t>
            </a:r>
            <a:r>
              <a:rPr lang="en-US" sz="2800" b="1" kern="0" dirty="0" smtClean="0">
                <a:latin typeface="Times New Roman" panose="02020603050405020304" pitchFamily="18" charset="0"/>
                <a:cs typeface="Times New Roman" panose="02020603050405020304" pitchFamily="18" charset="0"/>
                <a:sym typeface="+mn-ea"/>
              </a:rPr>
              <a:t>schedule</a:t>
            </a:r>
            <a:r>
              <a:rPr lang="en-US" sz="2800" kern="0" dirty="0" smtClean="0">
                <a:latin typeface="Times New Roman" panose="02020603050405020304" pitchFamily="18" charset="0"/>
                <a:cs typeface="Times New Roman" panose="02020603050405020304" pitchFamily="18" charset="0"/>
                <a:sym typeface="+mn-ea"/>
              </a:rPr>
              <a:t> is a sequence that indicates the chronological order in which instructions of concurrent transactions are executed.</a:t>
            </a:r>
            <a:endParaRPr lang="en-US" sz="2800"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sz="2800" kern="0" dirty="0" smtClean="0">
                <a:latin typeface="Times New Roman" panose="02020603050405020304" pitchFamily="18" charset="0"/>
                <a:cs typeface="Times New Roman" panose="02020603050405020304" pitchFamily="18" charset="0"/>
                <a:sym typeface="+mn-ea"/>
              </a:rPr>
              <a:t>A schedule for a set of transactions must consist of all instructions of those transactions.</a:t>
            </a:r>
            <a:endParaRPr lang="en-US" sz="2800"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sz="2800" kern="0" dirty="0" smtClean="0">
                <a:latin typeface="Times New Roman" panose="02020603050405020304" pitchFamily="18" charset="0"/>
                <a:cs typeface="Times New Roman" panose="02020603050405020304" pitchFamily="18" charset="0"/>
                <a:sym typeface="+mn-ea"/>
              </a:rPr>
              <a:t>We must preserve the order in which the instructions appear in each individual transaction.</a:t>
            </a:r>
            <a:endParaRPr lang="en-US" sz="2800"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sz="2800" b="1" kern="0" dirty="0" smtClean="0">
                <a:latin typeface="Times New Roman" panose="02020603050405020304" pitchFamily="18" charset="0"/>
                <a:cs typeface="Times New Roman" panose="02020603050405020304" pitchFamily="18" charset="0"/>
                <a:sym typeface="+mn-ea"/>
              </a:rPr>
              <a:t>Serial Schedule: </a:t>
            </a:r>
            <a:endParaRPr lang="en-US" sz="2800" b="1"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pitchFamily="2" charset="2"/>
              <a:buChar char="ü"/>
              <a:defRPr/>
            </a:pPr>
            <a:r>
              <a:rPr lang="en-US" sz="2800" kern="0" dirty="0" smtClean="0">
                <a:latin typeface="Times New Roman" panose="02020603050405020304" pitchFamily="18" charset="0"/>
                <a:cs typeface="Times New Roman" panose="02020603050405020304" pitchFamily="18" charset="0"/>
                <a:sym typeface="+mn-ea"/>
              </a:rPr>
              <a:t>A serial schedule is a schedule where all the instructions belonging to each transaction appear together.</a:t>
            </a:r>
            <a:endParaRPr lang="en-US" sz="2800"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pitchFamily="2" charset="2"/>
              <a:buChar char="ü"/>
              <a:defRPr/>
            </a:pPr>
            <a:r>
              <a:rPr lang="en-US" sz="2800" kern="0" dirty="0" smtClean="0">
                <a:latin typeface="Times New Roman" panose="02020603050405020304" pitchFamily="18" charset="0"/>
                <a:cs typeface="Times New Roman" panose="02020603050405020304" pitchFamily="18" charset="0"/>
                <a:sym typeface="+mn-ea"/>
              </a:rPr>
              <a:t>There is no interleaving of transaction operations. A serial schedule has no concurrency and therefore it does not interleave the actions of different transactions.</a:t>
            </a:r>
            <a:endParaRPr lang="en-US" sz="2800"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pitchFamily="2" charset="2"/>
              <a:buChar char="ü"/>
              <a:defRPr/>
            </a:pPr>
            <a:r>
              <a:rPr lang="en-US" sz="2800" kern="0" dirty="0" smtClean="0">
                <a:latin typeface="Times New Roman" panose="02020603050405020304" pitchFamily="18" charset="0"/>
                <a:cs typeface="Times New Roman" panose="02020603050405020304" pitchFamily="18" charset="0"/>
                <a:sym typeface="+mn-ea"/>
              </a:rPr>
              <a:t>For n transactions, there are exactly n! different serial schedules possible.</a:t>
            </a:r>
            <a:endParaRPr lang="en-US" sz="2800" kern="0" dirty="0" smtClean="0">
              <a:latin typeface="Times New Roman" panose="02020603050405020304" pitchFamily="18" charset="0"/>
              <a:cs typeface="Times New Roman" panose="02020603050405020304" pitchFamily="18" charset="0"/>
            </a:endParaRPr>
          </a:p>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Serial Schedule…</a:t>
            </a:r>
            <a:endParaRPr lang="en-US"/>
          </a:p>
        </p:txBody>
      </p:sp>
      <p:graphicFrame>
        <p:nvGraphicFramePr>
          <p:cNvPr id="8" name="object 10"/>
          <p:cNvGraphicFramePr>
            <a:graphicFrameLocks noGrp="1"/>
          </p:cNvGraphicFramePr>
          <p:nvPr/>
        </p:nvGraphicFramePr>
        <p:xfrm>
          <a:off x="2561250" y="1529384"/>
          <a:ext cx="2928958" cy="3810000"/>
        </p:xfrm>
        <a:graphic>
          <a:graphicData uri="http://schemas.openxmlformats.org/drawingml/2006/table">
            <a:tbl>
              <a:tblPr firstRow="1" bandRow="1">
                <a:tableStyleId>{2D5ABB26-0587-4C30-8999-92F81FD0307C}</a:tableStyleId>
              </a:tblPr>
              <a:tblGrid>
                <a:gridCol w="1349327"/>
                <a:gridCol w="1579631"/>
              </a:tblGrid>
              <a:tr h="130467">
                <a:tc>
                  <a:txBody>
                    <a:bodyPr/>
                    <a:p>
                      <a:pPr marL="48260">
                        <a:lnSpc>
                          <a:spcPct val="100000"/>
                        </a:lnSpc>
                      </a:pPr>
                      <a:r>
                        <a:rPr sz="2400" i="1" baseline="9000" dirty="0">
                          <a:latin typeface="Times New Roman" panose="02020603050405020304" pitchFamily="18" charset="0"/>
                          <a:cs typeface="Times New Roman" panose="02020603050405020304" pitchFamily="18" charset="0"/>
                        </a:rPr>
                        <a:t>T</a:t>
                      </a:r>
                      <a:r>
                        <a:rPr sz="1400" dirty="0">
                          <a:latin typeface="Times New Roman" panose="02020603050405020304" pitchFamily="18" charset="0"/>
                          <a:cs typeface="Times New Roman" panose="02020603050405020304" pitchFamily="18" charset="0"/>
                        </a:rPr>
                        <a:t>1</a:t>
                      </a:r>
                      <a:endParaRPr sz="1400">
                        <a:latin typeface="Times New Roman" panose="02020603050405020304" pitchFamily="18" charset="0"/>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lnT w="3251">
                      <a:solidFill>
                        <a:srgbClr val="000000"/>
                      </a:solidFill>
                      <a:prstDash val="solid"/>
                    </a:lnT>
                    <a:lnB w="3251">
                      <a:solidFill>
                        <a:srgbClr val="000000"/>
                      </a:solidFill>
                      <a:prstDash val="solid"/>
                    </a:lnB>
                  </a:tcPr>
                </a:tc>
                <a:tc>
                  <a:txBody>
                    <a:bodyPr/>
                    <a:p>
                      <a:pPr marL="48260">
                        <a:lnSpc>
                          <a:spcPct val="100000"/>
                        </a:lnSpc>
                      </a:pPr>
                      <a:r>
                        <a:rPr sz="2400" i="1" baseline="9000" dirty="0">
                          <a:latin typeface="Times New Roman" panose="02020603050405020304" pitchFamily="18" charset="0"/>
                          <a:cs typeface="Times New Roman" panose="02020603050405020304" pitchFamily="18" charset="0"/>
                        </a:rPr>
                        <a:t>T</a:t>
                      </a:r>
                      <a:r>
                        <a:rPr sz="1400" dirty="0">
                          <a:latin typeface="Times New Roman" panose="02020603050405020304" pitchFamily="18" charset="0"/>
                          <a:cs typeface="Times New Roman" panose="02020603050405020304" pitchFamily="18" charset="0"/>
                        </a:rPr>
                        <a:t>2</a:t>
                      </a:r>
                      <a:endParaRPr sz="1400">
                        <a:latin typeface="Times New Roman" panose="02020603050405020304" pitchFamily="18" charset="0"/>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lnT w="3251">
                      <a:solidFill>
                        <a:srgbClr val="000000"/>
                      </a:solidFill>
                      <a:prstDash val="solid"/>
                    </a:lnT>
                    <a:lnB w="3251">
                      <a:solidFill>
                        <a:srgbClr val="000000"/>
                      </a:solidFill>
                      <a:prstDash val="solid"/>
                    </a:lnB>
                  </a:tcPr>
                </a:tc>
              </a:tr>
              <a:tr h="167743">
                <a:tc>
                  <a:txBody>
                    <a:bodyPr/>
                    <a:p>
                      <a:pPr marL="48260">
                        <a:lnSpc>
                          <a:spcPct val="100000"/>
                        </a:lnSpc>
                      </a:pPr>
                      <a:r>
                        <a:rPr sz="1800" dirty="0">
                          <a:latin typeface="Times New Roman" panose="02020603050405020304" pitchFamily="18" charset="0"/>
                          <a:cs typeface="Times New Roman" panose="02020603050405020304" pitchFamily="18" charset="0"/>
                        </a:rPr>
                        <a:t>Read(A);</a:t>
                      </a:r>
                      <a:endParaRPr sz="1800">
                        <a:latin typeface="Times New Roman" panose="02020603050405020304" pitchFamily="18" charset="0"/>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lnT w="3251">
                      <a:solidFill>
                        <a:srgbClr val="000000"/>
                      </a:solidFill>
                      <a:prstDash val="solid"/>
                    </a:lnT>
                  </a:tcPr>
                </a:tc>
                <a:tc rowSpan="6">
                  <a:txBody>
                    <a:bodyPr/>
                    <a:p>
                      <a:pPr marL="48260">
                        <a:lnSpc>
                          <a:spcPct val="100000"/>
                        </a:lnSpc>
                      </a:pPr>
                      <a:endParaRPr lang="en-US" sz="1800" dirty="0" smtClean="0">
                        <a:latin typeface="Times New Roman" panose="02020603050405020304" pitchFamily="18" charset="0"/>
                        <a:cs typeface="Times New Roman" panose="02020603050405020304" pitchFamily="18" charset="0"/>
                      </a:endParaRPr>
                    </a:p>
                    <a:p>
                      <a:pPr marL="48260">
                        <a:lnSpc>
                          <a:spcPct val="100000"/>
                        </a:lnSpc>
                      </a:pPr>
                      <a:endParaRPr lang="en-US" sz="1800" dirty="0" smtClean="0">
                        <a:latin typeface="Times New Roman" panose="02020603050405020304" pitchFamily="18" charset="0"/>
                        <a:cs typeface="Times New Roman" panose="02020603050405020304" pitchFamily="18" charset="0"/>
                      </a:endParaRPr>
                    </a:p>
                    <a:p>
                      <a:pPr marL="48260">
                        <a:lnSpc>
                          <a:spcPct val="100000"/>
                        </a:lnSpc>
                      </a:pPr>
                      <a:endParaRPr lang="en-US" sz="1800" dirty="0" smtClean="0">
                        <a:latin typeface="Times New Roman" panose="02020603050405020304" pitchFamily="18" charset="0"/>
                        <a:cs typeface="Times New Roman" panose="02020603050405020304" pitchFamily="18" charset="0"/>
                      </a:endParaRPr>
                    </a:p>
                    <a:p>
                      <a:pPr marL="48260">
                        <a:lnSpc>
                          <a:spcPct val="100000"/>
                        </a:lnSpc>
                      </a:pPr>
                      <a:endParaRPr lang="en-US" sz="1800" dirty="0" smtClean="0">
                        <a:latin typeface="Times New Roman" panose="02020603050405020304" pitchFamily="18" charset="0"/>
                        <a:cs typeface="Times New Roman" panose="02020603050405020304" pitchFamily="18" charset="0"/>
                      </a:endParaRPr>
                    </a:p>
                    <a:p>
                      <a:pPr marL="48260">
                        <a:lnSpc>
                          <a:spcPct val="100000"/>
                        </a:lnSpc>
                      </a:pPr>
                      <a:endParaRPr lang="en-US" sz="1800" dirty="0" smtClean="0">
                        <a:latin typeface="Times New Roman" panose="02020603050405020304" pitchFamily="18" charset="0"/>
                        <a:cs typeface="Times New Roman" panose="02020603050405020304" pitchFamily="18" charset="0"/>
                      </a:endParaRPr>
                    </a:p>
                    <a:p>
                      <a:pPr marL="48260">
                        <a:lnSpc>
                          <a:spcPct val="100000"/>
                        </a:lnSpc>
                      </a:pPr>
                      <a:endParaRPr lang="en-US" sz="1800" dirty="0" smtClean="0">
                        <a:latin typeface="Times New Roman" panose="02020603050405020304" pitchFamily="18" charset="0"/>
                        <a:cs typeface="Times New Roman" panose="02020603050405020304" pitchFamily="18" charset="0"/>
                      </a:endParaRPr>
                    </a:p>
                    <a:p>
                      <a:pPr marL="48260">
                        <a:lnSpc>
                          <a:spcPct val="100000"/>
                        </a:lnSpc>
                      </a:pPr>
                      <a:r>
                        <a:rPr sz="1800" smtClean="0">
                          <a:latin typeface="Times New Roman" panose="02020603050405020304" pitchFamily="18" charset="0"/>
                          <a:cs typeface="Times New Roman" panose="02020603050405020304" pitchFamily="18" charset="0"/>
                        </a:rPr>
                        <a:t>Read(A</a:t>
                      </a:r>
                      <a:r>
                        <a:rPr sz="1800" dirty="0">
                          <a:latin typeface="Times New Roman" panose="02020603050405020304" pitchFamily="18" charset="0"/>
                          <a:cs typeface="Times New Roman" panose="02020603050405020304" pitchFamily="18" charset="0"/>
                        </a:rPr>
                        <a:t>);</a:t>
                      </a:r>
                      <a:endParaRPr sz="1800">
                        <a:latin typeface="Times New Roman" panose="02020603050405020304" pitchFamily="18" charset="0"/>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lnT w="3251">
                      <a:solidFill>
                        <a:srgbClr val="000000"/>
                      </a:solidFill>
                      <a:prstDash val="solid"/>
                    </a:lnT>
                  </a:tcPr>
                </a:tc>
              </a:tr>
              <a:tr h="167743">
                <a:tc>
                  <a:txBody>
                    <a:bodyPr/>
                    <a:p>
                      <a:pPr marL="48260">
                        <a:lnSpc>
                          <a:spcPct val="100000"/>
                        </a:lnSpc>
                      </a:pPr>
                      <a:r>
                        <a:rPr sz="1800" dirty="0">
                          <a:latin typeface="Times New Roman" panose="02020603050405020304" pitchFamily="18" charset="0"/>
                          <a:cs typeface="Times New Roman" panose="02020603050405020304" pitchFamily="18" charset="0"/>
                        </a:rPr>
                        <a:t>A:=A-100;</a:t>
                      </a:r>
                      <a:endParaRPr sz="1800">
                        <a:latin typeface="Times New Roman" panose="02020603050405020304" pitchFamily="18" charset="0"/>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tcPr>
                </a:tc>
                <a:tc vMerge="1">
                  <a:tcPr marL="0" marR="0" marT="0" marB="0">
                    <a:lnL w="3251">
                      <a:solidFill>
                        <a:srgbClr val="000000"/>
                      </a:solidFill>
                      <a:prstDash val="solid"/>
                    </a:lnL>
                    <a:lnR w="3251">
                      <a:solidFill>
                        <a:srgbClr val="000000"/>
                      </a:solidFill>
                      <a:prstDash val="solid"/>
                    </a:lnR>
                    <a:lnT w="3251">
                      <a:solidFill>
                        <a:srgbClr val="000000"/>
                      </a:solidFill>
                      <a:prstDash val="solid"/>
                    </a:lnT>
                  </a:tcPr>
                </a:tc>
              </a:tr>
              <a:tr h="167743">
                <a:tc>
                  <a:txBody>
                    <a:bodyPr/>
                    <a:p>
                      <a:pPr marL="48260">
                        <a:lnSpc>
                          <a:spcPct val="100000"/>
                        </a:lnSpc>
                      </a:pPr>
                      <a:r>
                        <a:rPr sz="1800" dirty="0">
                          <a:latin typeface="Times New Roman" panose="02020603050405020304" pitchFamily="18" charset="0"/>
                          <a:cs typeface="Times New Roman" panose="02020603050405020304" pitchFamily="18" charset="0"/>
                        </a:rPr>
                        <a:t>W</a:t>
                      </a:r>
                      <a:r>
                        <a:rPr sz="1800" spc="5" dirty="0">
                          <a:latin typeface="Times New Roman" panose="02020603050405020304" pitchFamily="18" charset="0"/>
                          <a:cs typeface="Times New Roman" panose="02020603050405020304" pitchFamily="18" charset="0"/>
                        </a:rPr>
                        <a:t>r</a:t>
                      </a:r>
                      <a:r>
                        <a:rPr sz="1800" dirty="0">
                          <a:latin typeface="Times New Roman" panose="02020603050405020304" pitchFamily="18" charset="0"/>
                          <a:cs typeface="Times New Roman" panose="02020603050405020304" pitchFamily="18" charset="0"/>
                        </a:rPr>
                        <a:t>ite(A);</a:t>
                      </a:r>
                      <a:endParaRPr sz="1800">
                        <a:latin typeface="Times New Roman" panose="02020603050405020304" pitchFamily="18" charset="0"/>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tcPr>
                </a:tc>
                <a:tc vMerge="1">
                  <a:tcPr marL="0" marR="0" marT="0" marB="0">
                    <a:lnL w="3251">
                      <a:solidFill>
                        <a:srgbClr val="000000"/>
                      </a:solidFill>
                      <a:prstDash val="solid"/>
                    </a:lnL>
                    <a:lnR w="3251">
                      <a:solidFill>
                        <a:srgbClr val="000000"/>
                      </a:solidFill>
                      <a:prstDash val="solid"/>
                    </a:lnR>
                    <a:lnT w="3251">
                      <a:solidFill>
                        <a:srgbClr val="000000"/>
                      </a:solidFill>
                      <a:prstDash val="solid"/>
                    </a:lnT>
                  </a:tcPr>
                </a:tc>
              </a:tr>
              <a:tr h="167743">
                <a:tc>
                  <a:txBody>
                    <a:bodyPr/>
                    <a:p>
                      <a:pPr marL="48260">
                        <a:lnSpc>
                          <a:spcPct val="100000"/>
                        </a:lnSpc>
                      </a:pPr>
                      <a:r>
                        <a:rPr sz="1800" dirty="0">
                          <a:latin typeface="Times New Roman" panose="02020603050405020304" pitchFamily="18" charset="0"/>
                          <a:cs typeface="Times New Roman" panose="02020603050405020304" pitchFamily="18" charset="0"/>
                        </a:rPr>
                        <a:t>Read(B);</a:t>
                      </a:r>
                      <a:endParaRPr sz="1800">
                        <a:latin typeface="Times New Roman" panose="02020603050405020304" pitchFamily="18" charset="0"/>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tcPr>
                </a:tc>
                <a:tc vMerge="1">
                  <a:tcPr marL="0" marR="0" marT="0" marB="0">
                    <a:lnL w="3251">
                      <a:solidFill>
                        <a:srgbClr val="000000"/>
                      </a:solidFill>
                      <a:prstDash val="solid"/>
                    </a:lnL>
                    <a:lnR w="3251">
                      <a:solidFill>
                        <a:srgbClr val="000000"/>
                      </a:solidFill>
                      <a:prstDash val="solid"/>
                    </a:lnR>
                    <a:lnT w="3251">
                      <a:solidFill>
                        <a:srgbClr val="000000"/>
                      </a:solidFill>
                      <a:prstDash val="solid"/>
                    </a:lnT>
                  </a:tcPr>
                </a:tc>
              </a:tr>
              <a:tr h="167743">
                <a:tc>
                  <a:txBody>
                    <a:bodyPr/>
                    <a:p>
                      <a:pPr marL="48260">
                        <a:lnSpc>
                          <a:spcPct val="100000"/>
                        </a:lnSpc>
                      </a:pPr>
                      <a:r>
                        <a:rPr sz="1800" dirty="0">
                          <a:latin typeface="Times New Roman" panose="02020603050405020304" pitchFamily="18" charset="0"/>
                          <a:cs typeface="Times New Roman" panose="02020603050405020304" pitchFamily="18" charset="0"/>
                        </a:rPr>
                        <a:t>B:=B+100;</a:t>
                      </a:r>
                      <a:endParaRPr sz="1800">
                        <a:latin typeface="Times New Roman" panose="02020603050405020304" pitchFamily="18" charset="0"/>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tcPr>
                </a:tc>
                <a:tc vMerge="1">
                  <a:tcPr marL="0" marR="0" marT="0" marB="0">
                    <a:lnL w="3251">
                      <a:solidFill>
                        <a:srgbClr val="000000"/>
                      </a:solidFill>
                      <a:prstDash val="solid"/>
                    </a:lnL>
                    <a:lnR w="3251">
                      <a:solidFill>
                        <a:srgbClr val="000000"/>
                      </a:solidFill>
                      <a:prstDash val="solid"/>
                    </a:lnR>
                    <a:lnT w="3251">
                      <a:solidFill>
                        <a:srgbClr val="000000"/>
                      </a:solidFill>
                      <a:prstDash val="solid"/>
                    </a:lnT>
                  </a:tcPr>
                </a:tc>
              </a:tr>
              <a:tr h="238933">
                <a:tc rowSpan="7">
                  <a:txBody>
                    <a:bodyPr/>
                    <a:p>
                      <a:pPr marL="48260">
                        <a:lnSpc>
                          <a:spcPct val="100000"/>
                        </a:lnSpc>
                      </a:pPr>
                      <a:r>
                        <a:rPr sz="1800" dirty="0">
                          <a:latin typeface="Times New Roman" panose="02020603050405020304" pitchFamily="18" charset="0"/>
                          <a:cs typeface="Times New Roman" panose="02020603050405020304" pitchFamily="18" charset="0"/>
                        </a:rPr>
                        <a:t>W</a:t>
                      </a:r>
                      <a:r>
                        <a:rPr sz="1800" spc="5" dirty="0">
                          <a:latin typeface="Times New Roman" panose="02020603050405020304" pitchFamily="18" charset="0"/>
                          <a:cs typeface="Times New Roman" panose="02020603050405020304" pitchFamily="18" charset="0"/>
                        </a:rPr>
                        <a:t>r</a:t>
                      </a:r>
                      <a:r>
                        <a:rPr sz="1800" dirty="0">
                          <a:latin typeface="Times New Roman" panose="02020603050405020304" pitchFamily="18" charset="0"/>
                          <a:cs typeface="Times New Roman" panose="02020603050405020304" pitchFamily="18" charset="0"/>
                        </a:rPr>
                        <a:t>ite(B);</a:t>
                      </a:r>
                      <a:endParaRPr sz="1800">
                        <a:latin typeface="Times New Roman" panose="02020603050405020304" pitchFamily="18" charset="0"/>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lnB w="3251">
                      <a:solidFill>
                        <a:srgbClr val="000000"/>
                      </a:solidFill>
                      <a:prstDash val="solid"/>
                    </a:lnB>
                  </a:tcPr>
                </a:tc>
                <a:tc vMerge="1">
                  <a:tcPr marL="0" marR="0" marT="0" marB="0">
                    <a:lnL w="3251">
                      <a:solidFill>
                        <a:srgbClr val="000000"/>
                      </a:solidFill>
                      <a:prstDash val="solid"/>
                    </a:lnL>
                    <a:lnR w="3251">
                      <a:solidFill>
                        <a:srgbClr val="000000"/>
                      </a:solidFill>
                      <a:prstDash val="solid"/>
                    </a:lnR>
                    <a:lnT w="3251">
                      <a:solidFill>
                        <a:srgbClr val="000000"/>
                      </a:solidFill>
                      <a:prstDash val="solid"/>
                    </a:lnT>
                  </a:tcPr>
                </a:tc>
              </a:tr>
              <a:tr h="167743">
                <a:tc vMerge="1">
                  <a:tcPr marL="0" marR="0" marT="0" marB="0">
                    <a:lnL w="3251">
                      <a:solidFill>
                        <a:srgbClr val="000000"/>
                      </a:solidFill>
                      <a:prstDash val="solid"/>
                    </a:lnL>
                    <a:lnR w="3251">
                      <a:solidFill>
                        <a:srgbClr val="000000"/>
                      </a:solidFill>
                      <a:prstDash val="solid"/>
                    </a:lnR>
                    <a:lnB w="3251">
                      <a:solidFill>
                        <a:srgbClr val="000000"/>
                      </a:solidFill>
                      <a:prstDash val="solid"/>
                    </a:lnB>
                  </a:tcPr>
                </a:tc>
                <a:tc>
                  <a:txBody>
                    <a:bodyPr/>
                    <a:p>
                      <a:pPr marL="48260">
                        <a:lnSpc>
                          <a:spcPct val="100000"/>
                        </a:lnSpc>
                      </a:pPr>
                      <a:r>
                        <a:rPr sz="1800" spc="-80" dirty="0">
                          <a:latin typeface="Times New Roman" panose="02020603050405020304" pitchFamily="18" charset="0"/>
                          <a:cs typeface="Times New Roman" panose="02020603050405020304" pitchFamily="18" charset="0"/>
                        </a:rPr>
                        <a:t>T</a:t>
                      </a:r>
                      <a:r>
                        <a:rPr sz="1800" dirty="0">
                          <a:latin typeface="Times New Roman" panose="02020603050405020304" pitchFamily="18" charset="0"/>
                          <a:cs typeface="Times New Roman" panose="02020603050405020304" pitchFamily="18" charset="0"/>
                        </a:rPr>
                        <a:t>emp=0.2*A;</a:t>
                      </a:r>
                      <a:endParaRPr sz="1800">
                        <a:latin typeface="Times New Roman" panose="02020603050405020304" pitchFamily="18" charset="0"/>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tcPr>
                </a:tc>
              </a:tr>
              <a:tr h="167743">
                <a:tc vMerge="1">
                  <a:tcPr marL="0" marR="0" marT="0" marB="0">
                    <a:lnL w="3251">
                      <a:solidFill>
                        <a:srgbClr val="000000"/>
                      </a:solidFill>
                      <a:prstDash val="solid"/>
                    </a:lnL>
                    <a:lnR w="3251">
                      <a:solidFill>
                        <a:srgbClr val="000000"/>
                      </a:solidFill>
                      <a:prstDash val="solid"/>
                    </a:lnR>
                    <a:lnB w="3251">
                      <a:solidFill>
                        <a:srgbClr val="000000"/>
                      </a:solidFill>
                      <a:prstDash val="solid"/>
                    </a:lnB>
                  </a:tcPr>
                </a:tc>
                <a:tc>
                  <a:txBody>
                    <a:bodyPr/>
                    <a:p>
                      <a:pPr marL="48260">
                        <a:lnSpc>
                          <a:spcPct val="100000"/>
                        </a:lnSpc>
                      </a:pPr>
                      <a:r>
                        <a:rPr sz="1800" dirty="0">
                          <a:latin typeface="Times New Roman" panose="02020603050405020304" pitchFamily="18" charset="0"/>
                          <a:cs typeface="Times New Roman" panose="02020603050405020304" pitchFamily="18" charset="0"/>
                        </a:rPr>
                        <a:t>A:=A-</a:t>
                      </a:r>
                      <a:r>
                        <a:rPr sz="1800" spc="-80" dirty="0">
                          <a:latin typeface="Times New Roman" panose="02020603050405020304" pitchFamily="18" charset="0"/>
                          <a:cs typeface="Times New Roman" panose="02020603050405020304" pitchFamily="18" charset="0"/>
                        </a:rPr>
                        <a:t>T</a:t>
                      </a:r>
                      <a:r>
                        <a:rPr sz="1800" dirty="0">
                          <a:latin typeface="Times New Roman" panose="02020603050405020304" pitchFamily="18" charset="0"/>
                          <a:cs typeface="Times New Roman" panose="02020603050405020304" pitchFamily="18" charset="0"/>
                        </a:rPr>
                        <a:t>emp;</a:t>
                      </a:r>
                      <a:endParaRPr sz="1800">
                        <a:latin typeface="Times New Roman" panose="02020603050405020304" pitchFamily="18" charset="0"/>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tcPr>
                </a:tc>
              </a:tr>
              <a:tr h="167743">
                <a:tc vMerge="1">
                  <a:tcPr marL="0" marR="0" marT="0" marB="0">
                    <a:lnL w="3251">
                      <a:solidFill>
                        <a:srgbClr val="000000"/>
                      </a:solidFill>
                      <a:prstDash val="solid"/>
                    </a:lnL>
                    <a:lnR w="3251">
                      <a:solidFill>
                        <a:srgbClr val="000000"/>
                      </a:solidFill>
                      <a:prstDash val="solid"/>
                    </a:lnR>
                    <a:lnB w="3251">
                      <a:solidFill>
                        <a:srgbClr val="000000"/>
                      </a:solidFill>
                      <a:prstDash val="solid"/>
                    </a:lnB>
                  </a:tcPr>
                </a:tc>
                <a:tc>
                  <a:txBody>
                    <a:bodyPr/>
                    <a:p>
                      <a:pPr marL="48260">
                        <a:lnSpc>
                          <a:spcPct val="100000"/>
                        </a:lnSpc>
                      </a:pPr>
                      <a:r>
                        <a:rPr sz="1800" dirty="0">
                          <a:latin typeface="Times New Roman" panose="02020603050405020304" pitchFamily="18" charset="0"/>
                          <a:cs typeface="Times New Roman" panose="02020603050405020304" pitchFamily="18" charset="0"/>
                        </a:rPr>
                        <a:t>W</a:t>
                      </a:r>
                      <a:r>
                        <a:rPr sz="1800" spc="5" dirty="0">
                          <a:latin typeface="Times New Roman" panose="02020603050405020304" pitchFamily="18" charset="0"/>
                          <a:cs typeface="Times New Roman" panose="02020603050405020304" pitchFamily="18" charset="0"/>
                        </a:rPr>
                        <a:t>r</a:t>
                      </a:r>
                      <a:r>
                        <a:rPr sz="1800" dirty="0">
                          <a:latin typeface="Times New Roman" panose="02020603050405020304" pitchFamily="18" charset="0"/>
                          <a:cs typeface="Times New Roman" panose="02020603050405020304" pitchFamily="18" charset="0"/>
                        </a:rPr>
                        <a:t>ite(A);</a:t>
                      </a:r>
                      <a:endParaRPr sz="1800">
                        <a:latin typeface="Times New Roman" panose="02020603050405020304" pitchFamily="18" charset="0"/>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tcPr>
                </a:tc>
              </a:tr>
              <a:tr h="167743">
                <a:tc vMerge="1">
                  <a:tcPr marL="0" marR="0" marT="0" marB="0">
                    <a:lnL w="3251">
                      <a:solidFill>
                        <a:srgbClr val="000000"/>
                      </a:solidFill>
                      <a:prstDash val="solid"/>
                    </a:lnL>
                    <a:lnR w="3251">
                      <a:solidFill>
                        <a:srgbClr val="000000"/>
                      </a:solidFill>
                      <a:prstDash val="solid"/>
                    </a:lnR>
                    <a:lnB w="3251">
                      <a:solidFill>
                        <a:srgbClr val="000000"/>
                      </a:solidFill>
                      <a:prstDash val="solid"/>
                    </a:lnB>
                  </a:tcPr>
                </a:tc>
                <a:tc>
                  <a:txBody>
                    <a:bodyPr/>
                    <a:p>
                      <a:pPr marL="48260">
                        <a:lnSpc>
                          <a:spcPct val="100000"/>
                        </a:lnSpc>
                      </a:pPr>
                      <a:r>
                        <a:rPr sz="1800" dirty="0">
                          <a:latin typeface="Times New Roman" panose="02020603050405020304" pitchFamily="18" charset="0"/>
                          <a:cs typeface="Times New Roman" panose="02020603050405020304" pitchFamily="18" charset="0"/>
                        </a:rPr>
                        <a:t>Read(B);</a:t>
                      </a:r>
                      <a:endParaRPr sz="1800">
                        <a:latin typeface="Times New Roman" panose="02020603050405020304" pitchFamily="18" charset="0"/>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tcPr>
                </a:tc>
              </a:tr>
              <a:tr h="167743">
                <a:tc vMerge="1">
                  <a:tcPr marL="0" marR="0" marT="0" marB="0">
                    <a:lnL w="3251">
                      <a:solidFill>
                        <a:srgbClr val="000000"/>
                      </a:solidFill>
                      <a:prstDash val="solid"/>
                    </a:lnL>
                    <a:lnR w="3251">
                      <a:solidFill>
                        <a:srgbClr val="000000"/>
                      </a:solidFill>
                      <a:prstDash val="solid"/>
                    </a:lnR>
                    <a:lnB w="3251">
                      <a:solidFill>
                        <a:srgbClr val="000000"/>
                      </a:solidFill>
                      <a:prstDash val="solid"/>
                    </a:lnB>
                  </a:tcPr>
                </a:tc>
                <a:tc>
                  <a:txBody>
                    <a:bodyPr/>
                    <a:p>
                      <a:pPr marL="48260">
                        <a:lnSpc>
                          <a:spcPct val="100000"/>
                        </a:lnSpc>
                      </a:pPr>
                      <a:r>
                        <a:rPr sz="1800" dirty="0">
                          <a:latin typeface="Times New Roman" panose="02020603050405020304" pitchFamily="18" charset="0"/>
                          <a:cs typeface="Times New Roman" panose="02020603050405020304" pitchFamily="18" charset="0"/>
                        </a:rPr>
                        <a:t>B:=B+</a:t>
                      </a:r>
                      <a:r>
                        <a:rPr sz="1800" spc="-80" dirty="0">
                          <a:latin typeface="Times New Roman" panose="02020603050405020304" pitchFamily="18" charset="0"/>
                          <a:cs typeface="Times New Roman" panose="02020603050405020304" pitchFamily="18" charset="0"/>
                        </a:rPr>
                        <a:t>T</a:t>
                      </a:r>
                      <a:r>
                        <a:rPr sz="1800" dirty="0">
                          <a:latin typeface="Times New Roman" panose="02020603050405020304" pitchFamily="18" charset="0"/>
                          <a:cs typeface="Times New Roman" panose="02020603050405020304" pitchFamily="18" charset="0"/>
                        </a:rPr>
                        <a:t>emp;</a:t>
                      </a:r>
                      <a:endParaRPr sz="1800">
                        <a:latin typeface="Times New Roman" panose="02020603050405020304" pitchFamily="18" charset="0"/>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tcPr>
                </a:tc>
              </a:tr>
              <a:tr h="167743">
                <a:tc vMerge="1">
                  <a:tcPr marL="0" marR="0" marT="0" marB="0">
                    <a:lnL w="3251">
                      <a:solidFill>
                        <a:srgbClr val="000000"/>
                      </a:solidFill>
                      <a:prstDash val="solid"/>
                    </a:lnL>
                    <a:lnR w="3251">
                      <a:solidFill>
                        <a:srgbClr val="000000"/>
                      </a:solidFill>
                      <a:prstDash val="solid"/>
                    </a:lnR>
                    <a:lnB w="3251">
                      <a:solidFill>
                        <a:srgbClr val="000000"/>
                      </a:solidFill>
                      <a:prstDash val="solid"/>
                    </a:lnB>
                  </a:tcPr>
                </a:tc>
                <a:tc>
                  <a:txBody>
                    <a:bodyPr/>
                    <a:p>
                      <a:pPr marL="48260">
                        <a:lnSpc>
                          <a:spcPct val="100000"/>
                        </a:lnSpc>
                      </a:pPr>
                      <a:r>
                        <a:rPr sz="1800" dirty="0">
                          <a:latin typeface="Times New Roman" panose="02020603050405020304" pitchFamily="18" charset="0"/>
                          <a:cs typeface="Times New Roman" panose="02020603050405020304" pitchFamily="18" charset="0"/>
                        </a:rPr>
                        <a:t>W</a:t>
                      </a:r>
                      <a:r>
                        <a:rPr sz="1800" spc="5" dirty="0">
                          <a:latin typeface="Times New Roman" panose="02020603050405020304" pitchFamily="18" charset="0"/>
                          <a:cs typeface="Times New Roman" panose="02020603050405020304" pitchFamily="18" charset="0"/>
                        </a:rPr>
                        <a:t>r</a:t>
                      </a:r>
                      <a:r>
                        <a:rPr sz="1800" dirty="0">
                          <a:latin typeface="Times New Roman" panose="02020603050405020304" pitchFamily="18" charset="0"/>
                          <a:cs typeface="Times New Roman" panose="02020603050405020304" pitchFamily="18" charset="0"/>
                        </a:rPr>
                        <a:t>ite(B);</a:t>
                      </a:r>
                      <a:endParaRPr sz="1800">
                        <a:latin typeface="Times New Roman" panose="02020603050405020304" pitchFamily="18" charset="0"/>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lnB w="3251">
                      <a:solidFill>
                        <a:srgbClr val="000000"/>
                      </a:solidFill>
                      <a:prstDash val="solid"/>
                    </a:lnB>
                  </a:tcPr>
                </a:tc>
              </a:tr>
            </a:tbl>
          </a:graphicData>
        </a:graphic>
      </p:graphicFrame>
      <p:graphicFrame>
        <p:nvGraphicFramePr>
          <p:cNvPr id="14" name="object 12"/>
          <p:cNvGraphicFramePr>
            <a:graphicFrameLocks noGrp="1"/>
          </p:cNvGraphicFramePr>
          <p:nvPr/>
        </p:nvGraphicFramePr>
        <p:xfrm>
          <a:off x="6258606" y="1529384"/>
          <a:ext cx="2874940" cy="3833145"/>
        </p:xfrm>
        <a:graphic>
          <a:graphicData uri="http://schemas.openxmlformats.org/drawingml/2006/table">
            <a:tbl>
              <a:tblPr firstRow="1" bandRow="1">
                <a:tableStyleId>{2D5ABB26-0587-4C30-8999-92F81FD0307C}</a:tableStyleId>
              </a:tblPr>
              <a:tblGrid>
                <a:gridCol w="1324442"/>
                <a:gridCol w="1550498"/>
              </a:tblGrid>
              <a:tr h="266985">
                <a:tc>
                  <a:txBody>
                    <a:bodyPr/>
                    <a:p>
                      <a:pPr marL="48260">
                        <a:lnSpc>
                          <a:spcPct val="100000"/>
                        </a:lnSpc>
                      </a:pPr>
                      <a:r>
                        <a:rPr sz="2400" i="1" baseline="9000" dirty="0">
                          <a:latin typeface="Times New Roman" panose="02020603050405020304" pitchFamily="18" charset="0"/>
                          <a:cs typeface="Times New Roman" panose="02020603050405020304" pitchFamily="18" charset="0"/>
                        </a:rPr>
                        <a:t>T</a:t>
                      </a:r>
                      <a:r>
                        <a:rPr sz="1400" dirty="0">
                          <a:latin typeface="Times New Roman" panose="02020603050405020304" pitchFamily="18" charset="0"/>
                          <a:cs typeface="Times New Roman" panose="02020603050405020304" pitchFamily="18" charset="0"/>
                        </a:rPr>
                        <a:t>1</a:t>
                      </a:r>
                      <a:endParaRPr sz="1400">
                        <a:latin typeface="Times New Roman" panose="02020603050405020304" pitchFamily="18" charset="0"/>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lnT w="3251">
                      <a:solidFill>
                        <a:srgbClr val="000000"/>
                      </a:solidFill>
                      <a:prstDash val="solid"/>
                    </a:lnT>
                    <a:lnB w="3251">
                      <a:solidFill>
                        <a:srgbClr val="000000"/>
                      </a:solidFill>
                      <a:prstDash val="solid"/>
                    </a:lnB>
                  </a:tcPr>
                </a:tc>
                <a:tc>
                  <a:txBody>
                    <a:bodyPr/>
                    <a:p>
                      <a:pPr marL="48260">
                        <a:lnSpc>
                          <a:spcPct val="100000"/>
                        </a:lnSpc>
                      </a:pPr>
                      <a:r>
                        <a:rPr sz="2400" i="1" baseline="9000" dirty="0">
                          <a:latin typeface="Times New Roman" panose="02020603050405020304" pitchFamily="18" charset="0"/>
                          <a:cs typeface="Times New Roman" panose="02020603050405020304" pitchFamily="18" charset="0"/>
                        </a:rPr>
                        <a:t>T</a:t>
                      </a:r>
                      <a:r>
                        <a:rPr sz="1400" dirty="0">
                          <a:latin typeface="Times New Roman" panose="02020603050405020304" pitchFamily="18" charset="0"/>
                          <a:cs typeface="Times New Roman" panose="02020603050405020304" pitchFamily="18" charset="0"/>
                        </a:rPr>
                        <a:t>2</a:t>
                      </a:r>
                      <a:endParaRPr sz="1400">
                        <a:latin typeface="Times New Roman" panose="02020603050405020304" pitchFamily="18" charset="0"/>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lnT w="3251">
                      <a:solidFill>
                        <a:srgbClr val="000000"/>
                      </a:solidFill>
                      <a:prstDash val="solid"/>
                    </a:lnT>
                    <a:lnB w="3251">
                      <a:solidFill>
                        <a:srgbClr val="000000"/>
                      </a:solidFill>
                      <a:prstDash val="solid"/>
                    </a:lnB>
                  </a:tcPr>
                </a:tc>
              </a:tr>
              <a:tr h="262044">
                <a:tc rowSpan="7">
                  <a:txBody>
                    <a:bodyPr/>
                    <a:p>
                      <a:pPr marL="48260">
                        <a:lnSpc>
                          <a:spcPct val="100000"/>
                        </a:lnSpc>
                      </a:pPr>
                      <a:endParaRPr lang="en-US" sz="1800" dirty="0" smtClean="0">
                        <a:latin typeface="Times New Roman" panose="02020603050405020304" pitchFamily="18" charset="0"/>
                        <a:cs typeface="Times New Roman" panose="02020603050405020304" pitchFamily="18" charset="0"/>
                      </a:endParaRPr>
                    </a:p>
                    <a:p>
                      <a:pPr marL="48260">
                        <a:lnSpc>
                          <a:spcPct val="100000"/>
                        </a:lnSpc>
                      </a:pPr>
                      <a:endParaRPr lang="en-US" sz="1800" dirty="0" smtClean="0">
                        <a:latin typeface="Times New Roman" panose="02020603050405020304" pitchFamily="18" charset="0"/>
                        <a:cs typeface="Times New Roman" panose="02020603050405020304" pitchFamily="18" charset="0"/>
                      </a:endParaRPr>
                    </a:p>
                    <a:p>
                      <a:pPr marL="48260">
                        <a:lnSpc>
                          <a:spcPct val="100000"/>
                        </a:lnSpc>
                      </a:pPr>
                      <a:endParaRPr lang="en-US" sz="1800" dirty="0" smtClean="0">
                        <a:latin typeface="Times New Roman" panose="02020603050405020304" pitchFamily="18" charset="0"/>
                        <a:cs typeface="Times New Roman" panose="02020603050405020304" pitchFamily="18" charset="0"/>
                      </a:endParaRPr>
                    </a:p>
                    <a:p>
                      <a:pPr marL="48260">
                        <a:lnSpc>
                          <a:spcPct val="100000"/>
                        </a:lnSpc>
                      </a:pPr>
                      <a:endParaRPr lang="en-US" sz="1800" dirty="0" smtClean="0">
                        <a:latin typeface="Times New Roman" panose="02020603050405020304" pitchFamily="18" charset="0"/>
                        <a:cs typeface="Times New Roman" panose="02020603050405020304" pitchFamily="18" charset="0"/>
                      </a:endParaRPr>
                    </a:p>
                    <a:p>
                      <a:pPr marL="48260">
                        <a:lnSpc>
                          <a:spcPct val="100000"/>
                        </a:lnSpc>
                      </a:pPr>
                      <a:endParaRPr lang="en-US" sz="1800" dirty="0" smtClean="0">
                        <a:latin typeface="Times New Roman" panose="02020603050405020304" pitchFamily="18" charset="0"/>
                        <a:cs typeface="Times New Roman" panose="02020603050405020304" pitchFamily="18" charset="0"/>
                      </a:endParaRPr>
                    </a:p>
                    <a:p>
                      <a:pPr marL="48260">
                        <a:lnSpc>
                          <a:spcPct val="100000"/>
                        </a:lnSpc>
                      </a:pPr>
                      <a:endParaRPr lang="en-US" sz="1800" dirty="0" smtClean="0">
                        <a:latin typeface="Times New Roman" panose="02020603050405020304" pitchFamily="18" charset="0"/>
                        <a:cs typeface="Times New Roman" panose="02020603050405020304" pitchFamily="18" charset="0"/>
                      </a:endParaRPr>
                    </a:p>
                    <a:p>
                      <a:pPr marL="48260">
                        <a:lnSpc>
                          <a:spcPct val="100000"/>
                        </a:lnSpc>
                      </a:pPr>
                      <a:endParaRPr lang="en-US" sz="1800" dirty="0" smtClean="0">
                        <a:latin typeface="Times New Roman" panose="02020603050405020304" pitchFamily="18" charset="0"/>
                        <a:cs typeface="Times New Roman" panose="02020603050405020304" pitchFamily="18" charset="0"/>
                      </a:endParaRPr>
                    </a:p>
                    <a:p>
                      <a:pPr marL="48260">
                        <a:lnSpc>
                          <a:spcPct val="100000"/>
                        </a:lnSpc>
                      </a:pPr>
                      <a:r>
                        <a:rPr sz="1800" smtClean="0">
                          <a:latin typeface="Times New Roman" panose="02020603050405020304" pitchFamily="18" charset="0"/>
                          <a:cs typeface="Times New Roman" panose="02020603050405020304" pitchFamily="18" charset="0"/>
                        </a:rPr>
                        <a:t>Read(A</a:t>
                      </a:r>
                      <a:r>
                        <a:rPr sz="1800" dirty="0">
                          <a:latin typeface="Times New Roman" panose="02020603050405020304" pitchFamily="18" charset="0"/>
                          <a:cs typeface="Times New Roman" panose="02020603050405020304" pitchFamily="18" charset="0"/>
                        </a:rPr>
                        <a:t>);</a:t>
                      </a:r>
                      <a:endParaRPr sz="1800">
                        <a:latin typeface="Times New Roman" panose="02020603050405020304" pitchFamily="18" charset="0"/>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lnT w="3251">
                      <a:solidFill>
                        <a:srgbClr val="000000"/>
                      </a:solidFill>
                      <a:prstDash val="solid"/>
                    </a:lnT>
                  </a:tcPr>
                </a:tc>
                <a:tc>
                  <a:txBody>
                    <a:bodyPr/>
                    <a:p>
                      <a:pPr marL="48260">
                        <a:lnSpc>
                          <a:spcPct val="100000"/>
                        </a:lnSpc>
                      </a:pPr>
                      <a:r>
                        <a:rPr sz="1800" dirty="0">
                          <a:latin typeface="Times New Roman" panose="02020603050405020304" pitchFamily="18" charset="0"/>
                          <a:cs typeface="Times New Roman" panose="02020603050405020304" pitchFamily="18" charset="0"/>
                        </a:rPr>
                        <a:t>Read(A);</a:t>
                      </a:r>
                      <a:endParaRPr sz="1800">
                        <a:latin typeface="Times New Roman" panose="02020603050405020304" pitchFamily="18" charset="0"/>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lnT w="3251">
                      <a:solidFill>
                        <a:srgbClr val="000000"/>
                      </a:solidFill>
                      <a:prstDash val="solid"/>
                    </a:lnT>
                  </a:tcPr>
                </a:tc>
              </a:tr>
              <a:tr h="262044">
                <a:tc vMerge="1">
                  <a:tcPr marL="0" marR="0" marT="0" marB="0">
                    <a:lnL w="3251">
                      <a:solidFill>
                        <a:srgbClr val="000000"/>
                      </a:solidFill>
                      <a:prstDash val="solid"/>
                    </a:lnL>
                    <a:lnR w="3251">
                      <a:solidFill>
                        <a:srgbClr val="000000"/>
                      </a:solidFill>
                      <a:prstDash val="solid"/>
                    </a:lnR>
                    <a:lnT w="3251">
                      <a:solidFill>
                        <a:srgbClr val="000000"/>
                      </a:solidFill>
                      <a:prstDash val="solid"/>
                    </a:lnT>
                  </a:tcPr>
                </a:tc>
                <a:tc>
                  <a:txBody>
                    <a:bodyPr/>
                    <a:p>
                      <a:pPr marL="48260">
                        <a:lnSpc>
                          <a:spcPct val="100000"/>
                        </a:lnSpc>
                      </a:pPr>
                      <a:r>
                        <a:rPr sz="1800" spc="-80" dirty="0">
                          <a:latin typeface="Times New Roman" panose="02020603050405020304" pitchFamily="18" charset="0"/>
                          <a:cs typeface="Times New Roman" panose="02020603050405020304" pitchFamily="18" charset="0"/>
                        </a:rPr>
                        <a:t>T</a:t>
                      </a:r>
                      <a:r>
                        <a:rPr sz="1800" dirty="0">
                          <a:latin typeface="Times New Roman" panose="02020603050405020304" pitchFamily="18" charset="0"/>
                          <a:cs typeface="Times New Roman" panose="02020603050405020304" pitchFamily="18" charset="0"/>
                        </a:rPr>
                        <a:t>emp=0.2*A;</a:t>
                      </a:r>
                      <a:endParaRPr sz="1800">
                        <a:latin typeface="Times New Roman" panose="02020603050405020304" pitchFamily="18" charset="0"/>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tcPr>
                </a:tc>
              </a:tr>
              <a:tr h="262044">
                <a:tc vMerge="1">
                  <a:tcPr marL="0" marR="0" marT="0" marB="0">
                    <a:lnL w="3251">
                      <a:solidFill>
                        <a:srgbClr val="000000"/>
                      </a:solidFill>
                      <a:prstDash val="solid"/>
                    </a:lnL>
                    <a:lnR w="3251">
                      <a:solidFill>
                        <a:srgbClr val="000000"/>
                      </a:solidFill>
                      <a:prstDash val="solid"/>
                    </a:lnR>
                    <a:lnT w="3251">
                      <a:solidFill>
                        <a:srgbClr val="000000"/>
                      </a:solidFill>
                      <a:prstDash val="solid"/>
                    </a:lnT>
                  </a:tcPr>
                </a:tc>
                <a:tc>
                  <a:txBody>
                    <a:bodyPr/>
                    <a:p>
                      <a:pPr marL="48260">
                        <a:lnSpc>
                          <a:spcPct val="100000"/>
                        </a:lnSpc>
                      </a:pPr>
                      <a:r>
                        <a:rPr sz="1800" dirty="0">
                          <a:latin typeface="Times New Roman" panose="02020603050405020304" pitchFamily="18" charset="0"/>
                          <a:cs typeface="Times New Roman" panose="02020603050405020304" pitchFamily="18" charset="0"/>
                        </a:rPr>
                        <a:t>A:=A-</a:t>
                      </a:r>
                      <a:r>
                        <a:rPr sz="1800" spc="-80" dirty="0">
                          <a:latin typeface="Times New Roman" panose="02020603050405020304" pitchFamily="18" charset="0"/>
                          <a:cs typeface="Times New Roman" panose="02020603050405020304" pitchFamily="18" charset="0"/>
                        </a:rPr>
                        <a:t>T</a:t>
                      </a:r>
                      <a:r>
                        <a:rPr sz="1800" dirty="0">
                          <a:latin typeface="Times New Roman" panose="02020603050405020304" pitchFamily="18" charset="0"/>
                          <a:cs typeface="Times New Roman" panose="02020603050405020304" pitchFamily="18" charset="0"/>
                        </a:rPr>
                        <a:t>emp;</a:t>
                      </a:r>
                      <a:endParaRPr sz="1800">
                        <a:latin typeface="Times New Roman" panose="02020603050405020304" pitchFamily="18" charset="0"/>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tcPr>
                </a:tc>
              </a:tr>
              <a:tr h="262044">
                <a:tc vMerge="1">
                  <a:tcPr marL="0" marR="0" marT="0" marB="0">
                    <a:lnL w="3251">
                      <a:solidFill>
                        <a:srgbClr val="000000"/>
                      </a:solidFill>
                      <a:prstDash val="solid"/>
                    </a:lnL>
                    <a:lnR w="3251">
                      <a:solidFill>
                        <a:srgbClr val="000000"/>
                      </a:solidFill>
                      <a:prstDash val="solid"/>
                    </a:lnR>
                    <a:lnT w="3251">
                      <a:solidFill>
                        <a:srgbClr val="000000"/>
                      </a:solidFill>
                      <a:prstDash val="solid"/>
                    </a:lnT>
                  </a:tcPr>
                </a:tc>
                <a:tc>
                  <a:txBody>
                    <a:bodyPr/>
                    <a:p>
                      <a:pPr marL="48260">
                        <a:lnSpc>
                          <a:spcPct val="100000"/>
                        </a:lnSpc>
                      </a:pPr>
                      <a:r>
                        <a:rPr sz="1800" dirty="0">
                          <a:latin typeface="Times New Roman" panose="02020603050405020304" pitchFamily="18" charset="0"/>
                          <a:cs typeface="Times New Roman" panose="02020603050405020304" pitchFamily="18" charset="0"/>
                        </a:rPr>
                        <a:t>W</a:t>
                      </a:r>
                      <a:r>
                        <a:rPr sz="1800" spc="5" dirty="0">
                          <a:latin typeface="Times New Roman" panose="02020603050405020304" pitchFamily="18" charset="0"/>
                          <a:cs typeface="Times New Roman" panose="02020603050405020304" pitchFamily="18" charset="0"/>
                        </a:rPr>
                        <a:t>r</a:t>
                      </a:r>
                      <a:r>
                        <a:rPr sz="1800" dirty="0">
                          <a:latin typeface="Times New Roman" panose="02020603050405020304" pitchFamily="18" charset="0"/>
                          <a:cs typeface="Times New Roman" panose="02020603050405020304" pitchFamily="18" charset="0"/>
                        </a:rPr>
                        <a:t>ite(A);</a:t>
                      </a:r>
                      <a:endParaRPr sz="1800">
                        <a:latin typeface="Times New Roman" panose="02020603050405020304" pitchFamily="18" charset="0"/>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tcPr>
                </a:tc>
              </a:tr>
              <a:tr h="262044">
                <a:tc vMerge="1">
                  <a:tcPr marL="0" marR="0" marT="0" marB="0">
                    <a:lnL w="3251">
                      <a:solidFill>
                        <a:srgbClr val="000000"/>
                      </a:solidFill>
                      <a:prstDash val="solid"/>
                    </a:lnL>
                    <a:lnR w="3251">
                      <a:solidFill>
                        <a:srgbClr val="000000"/>
                      </a:solidFill>
                      <a:prstDash val="solid"/>
                    </a:lnR>
                    <a:lnT w="3251">
                      <a:solidFill>
                        <a:srgbClr val="000000"/>
                      </a:solidFill>
                      <a:prstDash val="solid"/>
                    </a:lnT>
                  </a:tcPr>
                </a:tc>
                <a:tc>
                  <a:txBody>
                    <a:bodyPr/>
                    <a:p>
                      <a:pPr marL="48260">
                        <a:lnSpc>
                          <a:spcPct val="100000"/>
                        </a:lnSpc>
                      </a:pPr>
                      <a:r>
                        <a:rPr sz="1800" dirty="0">
                          <a:latin typeface="Times New Roman" panose="02020603050405020304" pitchFamily="18" charset="0"/>
                          <a:cs typeface="Times New Roman" panose="02020603050405020304" pitchFamily="18" charset="0"/>
                        </a:rPr>
                        <a:t>Read(B);</a:t>
                      </a:r>
                      <a:endParaRPr sz="1800">
                        <a:latin typeface="Times New Roman" panose="02020603050405020304" pitchFamily="18" charset="0"/>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tcPr>
                </a:tc>
              </a:tr>
              <a:tr h="262044">
                <a:tc vMerge="1">
                  <a:tcPr marL="0" marR="0" marT="0" marB="0">
                    <a:lnL w="3251">
                      <a:solidFill>
                        <a:srgbClr val="000000"/>
                      </a:solidFill>
                      <a:prstDash val="solid"/>
                    </a:lnL>
                    <a:lnR w="3251">
                      <a:solidFill>
                        <a:srgbClr val="000000"/>
                      </a:solidFill>
                      <a:prstDash val="solid"/>
                    </a:lnR>
                    <a:lnT w="3251">
                      <a:solidFill>
                        <a:srgbClr val="000000"/>
                      </a:solidFill>
                      <a:prstDash val="solid"/>
                    </a:lnT>
                  </a:tcPr>
                </a:tc>
                <a:tc>
                  <a:txBody>
                    <a:bodyPr/>
                    <a:p>
                      <a:pPr marL="48260">
                        <a:lnSpc>
                          <a:spcPct val="100000"/>
                        </a:lnSpc>
                      </a:pPr>
                      <a:r>
                        <a:rPr sz="1800" dirty="0">
                          <a:latin typeface="Times New Roman" panose="02020603050405020304" pitchFamily="18" charset="0"/>
                          <a:cs typeface="Times New Roman" panose="02020603050405020304" pitchFamily="18" charset="0"/>
                        </a:rPr>
                        <a:t>B:=B+</a:t>
                      </a:r>
                      <a:r>
                        <a:rPr sz="1800" spc="-80" dirty="0">
                          <a:latin typeface="Times New Roman" panose="02020603050405020304" pitchFamily="18" charset="0"/>
                          <a:cs typeface="Times New Roman" panose="02020603050405020304" pitchFamily="18" charset="0"/>
                        </a:rPr>
                        <a:t>T</a:t>
                      </a:r>
                      <a:r>
                        <a:rPr sz="1800" dirty="0">
                          <a:latin typeface="Times New Roman" panose="02020603050405020304" pitchFamily="18" charset="0"/>
                          <a:cs typeface="Times New Roman" panose="02020603050405020304" pitchFamily="18" charset="0"/>
                        </a:rPr>
                        <a:t>emp;</a:t>
                      </a:r>
                      <a:endParaRPr sz="1800">
                        <a:latin typeface="Times New Roman" panose="02020603050405020304" pitchFamily="18" charset="0"/>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tcPr>
                </a:tc>
              </a:tr>
              <a:tr h="516826">
                <a:tc vMerge="1">
                  <a:tcPr marL="0" marR="0" marT="0" marB="0">
                    <a:lnL w="3251">
                      <a:solidFill>
                        <a:srgbClr val="000000"/>
                      </a:solidFill>
                      <a:prstDash val="solid"/>
                    </a:lnL>
                    <a:lnR w="3251">
                      <a:solidFill>
                        <a:srgbClr val="000000"/>
                      </a:solidFill>
                      <a:prstDash val="solid"/>
                    </a:lnR>
                    <a:lnT w="3251">
                      <a:solidFill>
                        <a:srgbClr val="000000"/>
                      </a:solidFill>
                      <a:prstDash val="solid"/>
                    </a:lnT>
                  </a:tcPr>
                </a:tc>
                <a:tc rowSpan="6">
                  <a:txBody>
                    <a:bodyPr/>
                    <a:p>
                      <a:pPr marL="48260">
                        <a:lnSpc>
                          <a:spcPct val="100000"/>
                        </a:lnSpc>
                      </a:pPr>
                      <a:r>
                        <a:rPr sz="1800" dirty="0">
                          <a:latin typeface="Times New Roman" panose="02020603050405020304" pitchFamily="18" charset="0"/>
                          <a:cs typeface="Times New Roman" panose="02020603050405020304" pitchFamily="18" charset="0"/>
                        </a:rPr>
                        <a:t>W</a:t>
                      </a:r>
                      <a:r>
                        <a:rPr sz="1800" spc="5" dirty="0">
                          <a:latin typeface="Times New Roman" panose="02020603050405020304" pitchFamily="18" charset="0"/>
                          <a:cs typeface="Times New Roman" panose="02020603050405020304" pitchFamily="18" charset="0"/>
                        </a:rPr>
                        <a:t>r</a:t>
                      </a:r>
                      <a:r>
                        <a:rPr sz="1800" dirty="0">
                          <a:latin typeface="Times New Roman" panose="02020603050405020304" pitchFamily="18" charset="0"/>
                          <a:cs typeface="Times New Roman" panose="02020603050405020304" pitchFamily="18" charset="0"/>
                        </a:rPr>
                        <a:t>ite(B);</a:t>
                      </a:r>
                      <a:endParaRPr sz="1800">
                        <a:latin typeface="Times New Roman" panose="02020603050405020304" pitchFamily="18" charset="0"/>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lnB w="3251">
                      <a:solidFill>
                        <a:srgbClr val="000000"/>
                      </a:solidFill>
                      <a:prstDash val="solid"/>
                    </a:lnB>
                  </a:tcPr>
                </a:tc>
              </a:tr>
              <a:tr h="262044">
                <a:tc>
                  <a:txBody>
                    <a:bodyPr/>
                    <a:p>
                      <a:pPr marL="48260">
                        <a:lnSpc>
                          <a:spcPct val="100000"/>
                        </a:lnSpc>
                      </a:pPr>
                      <a:r>
                        <a:rPr sz="1800" dirty="0">
                          <a:latin typeface="Times New Roman" panose="02020603050405020304" pitchFamily="18" charset="0"/>
                          <a:cs typeface="Times New Roman" panose="02020603050405020304" pitchFamily="18" charset="0"/>
                        </a:rPr>
                        <a:t>A:=A-100;</a:t>
                      </a:r>
                      <a:endParaRPr sz="1800">
                        <a:latin typeface="Times New Roman" panose="02020603050405020304" pitchFamily="18" charset="0"/>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tcPr>
                </a:tc>
                <a:tc vMerge="1">
                  <a:tcPr marL="0" marR="0" marT="0" marB="0">
                    <a:lnL w="3251">
                      <a:solidFill>
                        <a:srgbClr val="000000"/>
                      </a:solidFill>
                      <a:prstDash val="solid"/>
                    </a:lnL>
                    <a:lnR w="3251">
                      <a:solidFill>
                        <a:srgbClr val="000000"/>
                      </a:solidFill>
                      <a:prstDash val="solid"/>
                    </a:lnR>
                    <a:lnB w="3251">
                      <a:solidFill>
                        <a:srgbClr val="000000"/>
                      </a:solidFill>
                      <a:prstDash val="solid"/>
                    </a:lnB>
                  </a:tcPr>
                </a:tc>
              </a:tr>
              <a:tr h="262044">
                <a:tc>
                  <a:txBody>
                    <a:bodyPr/>
                    <a:p>
                      <a:pPr marL="48260">
                        <a:lnSpc>
                          <a:spcPct val="100000"/>
                        </a:lnSpc>
                      </a:pPr>
                      <a:r>
                        <a:rPr sz="1800" dirty="0">
                          <a:latin typeface="Times New Roman" panose="02020603050405020304" pitchFamily="18" charset="0"/>
                          <a:cs typeface="Times New Roman" panose="02020603050405020304" pitchFamily="18" charset="0"/>
                        </a:rPr>
                        <a:t>W</a:t>
                      </a:r>
                      <a:r>
                        <a:rPr sz="1800" spc="5" dirty="0">
                          <a:latin typeface="Times New Roman" panose="02020603050405020304" pitchFamily="18" charset="0"/>
                          <a:cs typeface="Times New Roman" panose="02020603050405020304" pitchFamily="18" charset="0"/>
                        </a:rPr>
                        <a:t>r</a:t>
                      </a:r>
                      <a:r>
                        <a:rPr sz="1800" dirty="0">
                          <a:latin typeface="Times New Roman" panose="02020603050405020304" pitchFamily="18" charset="0"/>
                          <a:cs typeface="Times New Roman" panose="02020603050405020304" pitchFamily="18" charset="0"/>
                        </a:rPr>
                        <a:t>ite(A);</a:t>
                      </a:r>
                      <a:endParaRPr sz="1800">
                        <a:latin typeface="Times New Roman" panose="02020603050405020304" pitchFamily="18" charset="0"/>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tcPr>
                </a:tc>
                <a:tc vMerge="1">
                  <a:tcPr marL="0" marR="0" marT="0" marB="0">
                    <a:lnL w="3251">
                      <a:solidFill>
                        <a:srgbClr val="000000"/>
                      </a:solidFill>
                      <a:prstDash val="solid"/>
                    </a:lnL>
                    <a:lnR w="3251">
                      <a:solidFill>
                        <a:srgbClr val="000000"/>
                      </a:solidFill>
                      <a:prstDash val="solid"/>
                    </a:lnR>
                    <a:lnB w="3251">
                      <a:solidFill>
                        <a:srgbClr val="000000"/>
                      </a:solidFill>
                      <a:prstDash val="solid"/>
                    </a:lnB>
                  </a:tcPr>
                </a:tc>
              </a:tr>
              <a:tr h="262044">
                <a:tc>
                  <a:txBody>
                    <a:bodyPr/>
                    <a:p>
                      <a:pPr marL="48260">
                        <a:lnSpc>
                          <a:spcPct val="100000"/>
                        </a:lnSpc>
                      </a:pPr>
                      <a:r>
                        <a:rPr sz="1800" dirty="0">
                          <a:latin typeface="Times New Roman" panose="02020603050405020304" pitchFamily="18" charset="0"/>
                          <a:cs typeface="Times New Roman" panose="02020603050405020304" pitchFamily="18" charset="0"/>
                        </a:rPr>
                        <a:t>Read(B);</a:t>
                      </a:r>
                      <a:endParaRPr sz="1800">
                        <a:latin typeface="Times New Roman" panose="02020603050405020304" pitchFamily="18" charset="0"/>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tcPr>
                </a:tc>
                <a:tc vMerge="1">
                  <a:tcPr marL="0" marR="0" marT="0" marB="0">
                    <a:lnL w="3251">
                      <a:solidFill>
                        <a:srgbClr val="000000"/>
                      </a:solidFill>
                      <a:prstDash val="solid"/>
                    </a:lnL>
                    <a:lnR w="3251">
                      <a:solidFill>
                        <a:srgbClr val="000000"/>
                      </a:solidFill>
                      <a:prstDash val="solid"/>
                    </a:lnR>
                    <a:lnB w="3251">
                      <a:solidFill>
                        <a:srgbClr val="000000"/>
                      </a:solidFill>
                      <a:prstDash val="solid"/>
                    </a:lnB>
                  </a:tcPr>
                </a:tc>
              </a:tr>
              <a:tr h="262044">
                <a:tc>
                  <a:txBody>
                    <a:bodyPr/>
                    <a:p>
                      <a:pPr marL="48260">
                        <a:lnSpc>
                          <a:spcPct val="100000"/>
                        </a:lnSpc>
                      </a:pPr>
                      <a:r>
                        <a:rPr sz="1800" dirty="0">
                          <a:latin typeface="Times New Roman" panose="02020603050405020304" pitchFamily="18" charset="0"/>
                          <a:cs typeface="Times New Roman" panose="02020603050405020304" pitchFamily="18" charset="0"/>
                        </a:rPr>
                        <a:t>B:=B+100;</a:t>
                      </a:r>
                      <a:endParaRPr sz="1800">
                        <a:latin typeface="Times New Roman" panose="02020603050405020304" pitchFamily="18" charset="0"/>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tcPr>
                </a:tc>
                <a:tc vMerge="1">
                  <a:tcPr marL="0" marR="0" marT="0" marB="0">
                    <a:lnL w="3251">
                      <a:solidFill>
                        <a:srgbClr val="000000"/>
                      </a:solidFill>
                      <a:prstDash val="solid"/>
                    </a:lnL>
                    <a:lnR w="3251">
                      <a:solidFill>
                        <a:srgbClr val="000000"/>
                      </a:solidFill>
                      <a:prstDash val="solid"/>
                    </a:lnR>
                    <a:lnB w="3251">
                      <a:solidFill>
                        <a:srgbClr val="000000"/>
                      </a:solidFill>
                      <a:prstDash val="solid"/>
                    </a:lnB>
                  </a:tcPr>
                </a:tc>
              </a:tr>
              <a:tr h="271188">
                <a:tc>
                  <a:txBody>
                    <a:bodyPr/>
                    <a:p>
                      <a:pPr marL="48260">
                        <a:lnSpc>
                          <a:spcPct val="100000"/>
                        </a:lnSpc>
                      </a:pPr>
                      <a:r>
                        <a:rPr sz="1800" dirty="0">
                          <a:latin typeface="Times New Roman" panose="02020603050405020304" pitchFamily="18" charset="0"/>
                          <a:cs typeface="Times New Roman" panose="02020603050405020304" pitchFamily="18" charset="0"/>
                        </a:rPr>
                        <a:t>W</a:t>
                      </a:r>
                      <a:r>
                        <a:rPr sz="1800" spc="5" dirty="0">
                          <a:latin typeface="Times New Roman" panose="02020603050405020304" pitchFamily="18" charset="0"/>
                          <a:cs typeface="Times New Roman" panose="02020603050405020304" pitchFamily="18" charset="0"/>
                        </a:rPr>
                        <a:t>r</a:t>
                      </a:r>
                      <a:r>
                        <a:rPr sz="1800" dirty="0">
                          <a:latin typeface="Times New Roman" panose="02020603050405020304" pitchFamily="18" charset="0"/>
                          <a:cs typeface="Times New Roman" panose="02020603050405020304" pitchFamily="18" charset="0"/>
                        </a:rPr>
                        <a:t>ite(B);</a:t>
                      </a:r>
                      <a:endParaRPr sz="1800">
                        <a:latin typeface="Times New Roman" panose="02020603050405020304" pitchFamily="18" charset="0"/>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lnB w="3251">
                      <a:solidFill>
                        <a:srgbClr val="000000"/>
                      </a:solidFill>
                      <a:prstDash val="solid"/>
                    </a:lnB>
                  </a:tcPr>
                </a:tc>
                <a:tc vMerge="1">
                  <a:tcPr marL="0" marR="0" marT="0" marB="0">
                    <a:lnL w="3251">
                      <a:solidFill>
                        <a:srgbClr val="000000"/>
                      </a:solidFill>
                      <a:prstDash val="solid"/>
                    </a:lnL>
                    <a:lnR w="3251">
                      <a:solidFill>
                        <a:srgbClr val="000000"/>
                      </a:solidFill>
                      <a:prstDash val="solid"/>
                    </a:lnR>
                    <a:lnB w="3251">
                      <a:solidFill>
                        <a:srgbClr val="000000"/>
                      </a:solidFill>
                      <a:prstDash val="solid"/>
                    </a:lnB>
                  </a:tcPr>
                </a:tc>
              </a:tr>
            </a:tbl>
          </a:graphicData>
        </a:graphic>
      </p:graphicFrame>
      <p:sp>
        <p:nvSpPr>
          <p:cNvPr id="15" name="object 9"/>
          <p:cNvSpPr txBox="1"/>
          <p:nvPr/>
        </p:nvSpPr>
        <p:spPr>
          <a:xfrm>
            <a:off x="2918440" y="5601350"/>
            <a:ext cx="2286016" cy="553998"/>
          </a:xfrm>
          <a:prstGeom prst="rect">
            <a:avLst/>
          </a:prstGeom>
        </p:spPr>
        <p:txBody>
          <a:bodyPr vert="horz" wrap="square" lIns="0" tIns="0" rIns="0" bIns="0" rtlCol="0">
            <a:spAutoFit/>
          </a:bodyPr>
          <a:p>
            <a:pPr marL="12700" algn="ctr">
              <a:lnSpc>
                <a:spcPct val="100000"/>
              </a:lnSpc>
            </a:pPr>
            <a:r>
              <a:rPr b="1" spc="-10">
                <a:latin typeface="Times New Roman" panose="02020603050405020304" pitchFamily="18" charset="0"/>
                <a:cs typeface="Times New Roman" panose="02020603050405020304" pitchFamily="18" charset="0"/>
              </a:rPr>
              <a:t>Schedule1 </a:t>
            </a:r>
            <a:endParaRPr lang="en-US" b="1" spc="-10" dirty="0" smtClean="0">
              <a:latin typeface="Times New Roman" panose="02020603050405020304" pitchFamily="18" charset="0"/>
              <a:cs typeface="Times New Roman" panose="02020603050405020304" pitchFamily="18" charset="0"/>
            </a:endParaRPr>
          </a:p>
          <a:p>
            <a:pPr marL="12700" algn="ctr">
              <a:lnSpc>
                <a:spcPct val="100000"/>
              </a:lnSpc>
            </a:pPr>
            <a:r>
              <a:rPr spc="-10" smtClean="0">
                <a:latin typeface="Times New Roman" panose="02020603050405020304" pitchFamily="18" charset="0"/>
                <a:cs typeface="Times New Roman" panose="02020603050405020304" pitchFamily="18" charset="0"/>
              </a:rPr>
              <a:t>(</a:t>
            </a:r>
            <a:r>
              <a:rPr spc="-10" dirty="0">
                <a:latin typeface="Times New Roman" panose="02020603050405020304" pitchFamily="18" charset="0"/>
                <a:cs typeface="Times New Roman" panose="02020603050405020304" pitchFamily="18" charset="0"/>
              </a:rPr>
              <a:t>T1  followed by T2)</a:t>
            </a:r>
            <a:endParaRPr spc="-10">
              <a:latin typeface="Times New Roman" panose="02020603050405020304" pitchFamily="18" charset="0"/>
              <a:cs typeface="Times New Roman" panose="02020603050405020304" pitchFamily="18" charset="0"/>
            </a:endParaRPr>
          </a:p>
        </p:txBody>
      </p:sp>
      <p:sp>
        <p:nvSpPr>
          <p:cNvPr id="16" name="object 11"/>
          <p:cNvSpPr txBox="1"/>
          <p:nvPr/>
        </p:nvSpPr>
        <p:spPr>
          <a:xfrm>
            <a:off x="6204588" y="5601350"/>
            <a:ext cx="2857520" cy="553998"/>
          </a:xfrm>
          <a:prstGeom prst="rect">
            <a:avLst/>
          </a:prstGeom>
        </p:spPr>
        <p:txBody>
          <a:bodyPr vert="horz" wrap="square" lIns="0" tIns="0" rIns="0" bIns="0" rtlCol="0">
            <a:spAutoFit/>
          </a:bodyPr>
          <a:p>
            <a:pPr marL="12700" algn="ctr">
              <a:lnSpc>
                <a:spcPct val="100000"/>
              </a:lnSpc>
            </a:pPr>
            <a:r>
              <a:rPr b="1" spc="-10">
                <a:latin typeface="Times New Roman" panose="02020603050405020304" pitchFamily="18" charset="0"/>
                <a:cs typeface="Times New Roman" panose="02020603050405020304" pitchFamily="18" charset="0"/>
              </a:rPr>
              <a:t>Schedule2</a:t>
            </a:r>
            <a:r>
              <a:rPr spc="-5">
                <a:latin typeface="Times New Roman" panose="02020603050405020304" pitchFamily="18" charset="0"/>
                <a:cs typeface="Times New Roman" panose="02020603050405020304" pitchFamily="18" charset="0"/>
              </a:rPr>
              <a:t> </a:t>
            </a:r>
            <a:endParaRPr lang="en-US" spc="-5" dirty="0" smtClean="0">
              <a:latin typeface="Times New Roman" panose="02020603050405020304" pitchFamily="18" charset="0"/>
              <a:cs typeface="Times New Roman" panose="02020603050405020304" pitchFamily="18" charset="0"/>
            </a:endParaRPr>
          </a:p>
          <a:p>
            <a:pPr marL="12700" algn="ctr">
              <a:lnSpc>
                <a:spcPct val="100000"/>
              </a:lnSpc>
            </a:pPr>
            <a:r>
              <a:rPr spc="-5" smtClean="0">
                <a:latin typeface="Times New Roman" panose="02020603050405020304" pitchFamily="18" charset="0"/>
                <a:cs typeface="Times New Roman" panose="02020603050405020304" pitchFamily="18" charset="0"/>
              </a:rPr>
              <a:t>(</a:t>
            </a:r>
            <a:r>
              <a:rPr i="1" spc="-10" dirty="0">
                <a:latin typeface="Times New Roman" panose="02020603050405020304" pitchFamily="18" charset="0"/>
                <a:cs typeface="Times New Roman" panose="02020603050405020304" pitchFamily="18" charset="0"/>
              </a:rPr>
              <a:t>T</a:t>
            </a:r>
            <a:r>
              <a:rPr spc="-7" baseline="-12000" dirty="0">
                <a:latin typeface="Times New Roman" panose="02020603050405020304" pitchFamily="18" charset="0"/>
                <a:cs typeface="Times New Roman" panose="02020603050405020304" pitchFamily="18" charset="0"/>
              </a:rPr>
              <a:t>2</a:t>
            </a:r>
            <a:r>
              <a:rPr baseline="-12000" dirty="0">
                <a:latin typeface="Times New Roman" panose="02020603050405020304" pitchFamily="18" charset="0"/>
                <a:cs typeface="Times New Roman" panose="02020603050405020304" pitchFamily="18" charset="0"/>
              </a:rPr>
              <a:t> </a:t>
            </a:r>
            <a:r>
              <a:rPr spc="-97" baseline="-12000" dirty="0">
                <a:latin typeface="Times New Roman" panose="02020603050405020304" pitchFamily="18" charset="0"/>
                <a:cs typeface="Times New Roman" panose="02020603050405020304" pitchFamily="18" charset="0"/>
              </a:rPr>
              <a:t> </a:t>
            </a:r>
            <a:r>
              <a:rPr spc="-35" dirty="0">
                <a:latin typeface="Times New Roman" panose="02020603050405020304" pitchFamily="18" charset="0"/>
                <a:cs typeface="Times New Roman" panose="02020603050405020304" pitchFamily="18" charset="0"/>
              </a:rPr>
              <a:t>f</a:t>
            </a:r>
            <a:r>
              <a:rPr spc="-5" dirty="0">
                <a:latin typeface="Times New Roman" panose="02020603050405020304" pitchFamily="18" charset="0"/>
                <a:cs typeface="Times New Roman" panose="02020603050405020304" pitchFamily="18" charset="0"/>
              </a:rPr>
              <a:t>oll</a:t>
            </a:r>
            <a:r>
              <a:rPr spc="-25" dirty="0">
                <a:latin typeface="Times New Roman" panose="02020603050405020304" pitchFamily="18" charset="0"/>
                <a:cs typeface="Times New Roman" panose="02020603050405020304" pitchFamily="18" charset="0"/>
              </a:rPr>
              <a:t>o</a:t>
            </a:r>
            <a:r>
              <a:rPr spc="-20" dirty="0">
                <a:latin typeface="Times New Roman" panose="02020603050405020304" pitchFamily="18" charset="0"/>
                <a:cs typeface="Times New Roman" panose="02020603050405020304" pitchFamily="18" charset="0"/>
              </a:rPr>
              <a:t>w</a:t>
            </a:r>
            <a:r>
              <a:rPr spc="-10" dirty="0">
                <a:latin typeface="Times New Roman" panose="02020603050405020304" pitchFamily="18" charset="0"/>
                <a:cs typeface="Times New Roman" panose="02020603050405020304" pitchFamily="18" charset="0"/>
              </a:rPr>
              <a:t>ed</a:t>
            </a:r>
            <a:r>
              <a:rPr spc="-5" dirty="0">
                <a:latin typeface="Times New Roman" panose="02020603050405020304" pitchFamily="18" charset="0"/>
                <a:cs typeface="Times New Roman" panose="02020603050405020304" pitchFamily="18" charset="0"/>
              </a:rPr>
              <a:t> </a:t>
            </a:r>
            <a:r>
              <a:rPr spc="-30" dirty="0">
                <a:latin typeface="Times New Roman" panose="02020603050405020304" pitchFamily="18" charset="0"/>
                <a:cs typeface="Times New Roman" panose="02020603050405020304" pitchFamily="18" charset="0"/>
              </a:rPr>
              <a:t>b</a:t>
            </a:r>
            <a:r>
              <a:rPr spc="-5" dirty="0">
                <a:latin typeface="Times New Roman" panose="02020603050405020304" pitchFamily="18" charset="0"/>
                <a:cs typeface="Times New Roman" panose="02020603050405020304" pitchFamily="18" charset="0"/>
              </a:rPr>
              <a:t>y </a:t>
            </a:r>
            <a:r>
              <a:rPr i="1" spc="-10" dirty="0">
                <a:latin typeface="Times New Roman" panose="02020603050405020304" pitchFamily="18" charset="0"/>
                <a:cs typeface="Times New Roman" panose="02020603050405020304" pitchFamily="18" charset="0"/>
              </a:rPr>
              <a:t>T</a:t>
            </a:r>
            <a:r>
              <a:rPr spc="52" baseline="-12000" dirty="0">
                <a:latin typeface="Times New Roman" panose="02020603050405020304" pitchFamily="18" charset="0"/>
                <a:cs typeface="Times New Roman" panose="02020603050405020304" pitchFamily="18" charset="0"/>
              </a:rPr>
              <a:t>1</a:t>
            </a:r>
            <a:r>
              <a:rPr spc="-5" dirty="0">
                <a:latin typeface="Times New Roman" panose="02020603050405020304" pitchFamily="18" charset="0"/>
                <a:cs typeface="Times New Roman" panose="02020603050405020304" pitchFamily="18" charset="0"/>
              </a:rPr>
              <a:t>)</a:t>
            </a:r>
            <a:endParaRPr>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Concurrent Schedule</a:t>
            </a:r>
            <a:endParaRPr lang="en-US"/>
          </a:p>
        </p:txBody>
      </p:sp>
      <p:sp>
        <p:nvSpPr>
          <p:cNvPr id="4" name="Content Placeholder 2"/>
          <p:cNvSpPr txBox="1"/>
          <p:nvPr/>
        </p:nvSpPr>
        <p:spPr bwMode="auto">
          <a:xfrm>
            <a:off x="1269021" y="1447784"/>
            <a:ext cx="7858180" cy="1285884"/>
          </a:xfrm>
          <a:prstGeom prst="rect">
            <a:avLst/>
          </a:prstGeom>
          <a:noFill/>
          <a:ln w="9525">
            <a:noFill/>
            <a:miter lim="800000"/>
          </a:ln>
        </p:spPr>
        <p:txBody>
          <a:bodyPr/>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rPr>
              <a:t>In concurrent schedule, operations from different concurrent transactions are interleaved.</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rPr>
              <a:t>The number of possible schedules for a set of n transactions is much larger than n!.</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p:txBody>
      </p:sp>
      <p:graphicFrame>
        <p:nvGraphicFramePr>
          <p:cNvPr id="8" name="object 18"/>
          <p:cNvGraphicFramePr>
            <a:graphicFrameLocks noGrp="1"/>
          </p:cNvGraphicFramePr>
          <p:nvPr/>
        </p:nvGraphicFramePr>
        <p:xfrm>
          <a:off x="1751660" y="2805106"/>
          <a:ext cx="2374881" cy="3373120"/>
        </p:xfrm>
        <a:graphic>
          <a:graphicData uri="http://schemas.openxmlformats.org/drawingml/2006/table">
            <a:tbl>
              <a:tblPr firstRow="1" bandRow="1">
                <a:tableStyleId>{2D5ABB26-0587-4C30-8999-92F81FD0307C}</a:tableStyleId>
              </a:tblPr>
              <a:tblGrid>
                <a:gridCol w="1094079"/>
                <a:gridCol w="1280802"/>
              </a:tblGrid>
              <a:tr h="173460">
                <a:tc>
                  <a:txBody>
                    <a:bodyPr/>
                    <a:p>
                      <a:pPr marL="48260">
                        <a:lnSpc>
                          <a:spcPct val="100000"/>
                        </a:lnSpc>
                      </a:pPr>
                      <a:r>
                        <a:rPr sz="2000" i="1" baseline="9000" dirty="0">
                          <a:latin typeface="Times New Roman" panose="02020603050405020304" pitchFamily="18" charset="0"/>
                          <a:cs typeface="Times New Roman" panose="02020603050405020304" pitchFamily="18" charset="0"/>
                        </a:rPr>
                        <a:t>T</a:t>
                      </a:r>
                      <a:r>
                        <a:rPr sz="1200" dirty="0">
                          <a:latin typeface="Times New Roman" panose="02020603050405020304" pitchFamily="18" charset="0"/>
                          <a:cs typeface="Times New Roman" panose="02020603050405020304" pitchFamily="18" charset="0"/>
                        </a:rPr>
                        <a:t>1</a:t>
                      </a:r>
                      <a:endParaRPr sz="1200">
                        <a:latin typeface="Times New Roman" panose="02020603050405020304" pitchFamily="18" charset="0"/>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lnT w="3251">
                      <a:solidFill>
                        <a:srgbClr val="000000"/>
                      </a:solidFill>
                      <a:prstDash val="solid"/>
                    </a:lnT>
                    <a:lnB w="3251">
                      <a:solidFill>
                        <a:srgbClr val="000000"/>
                      </a:solidFill>
                      <a:prstDash val="solid"/>
                    </a:lnB>
                  </a:tcPr>
                </a:tc>
                <a:tc>
                  <a:txBody>
                    <a:bodyPr/>
                    <a:p>
                      <a:pPr marL="48260">
                        <a:lnSpc>
                          <a:spcPct val="100000"/>
                        </a:lnSpc>
                      </a:pPr>
                      <a:r>
                        <a:rPr sz="2000" i="1" baseline="9000" dirty="0">
                          <a:latin typeface="Times New Roman" panose="02020603050405020304" pitchFamily="18" charset="0"/>
                          <a:cs typeface="Times New Roman" panose="02020603050405020304" pitchFamily="18" charset="0"/>
                        </a:rPr>
                        <a:t>T</a:t>
                      </a:r>
                      <a:r>
                        <a:rPr sz="1200" dirty="0">
                          <a:latin typeface="Times New Roman" panose="02020603050405020304" pitchFamily="18" charset="0"/>
                          <a:cs typeface="Times New Roman" panose="02020603050405020304" pitchFamily="18" charset="0"/>
                        </a:rPr>
                        <a:t>2</a:t>
                      </a:r>
                      <a:endParaRPr sz="1200">
                        <a:latin typeface="Times New Roman" panose="02020603050405020304" pitchFamily="18" charset="0"/>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lnT w="3251">
                      <a:solidFill>
                        <a:srgbClr val="000000"/>
                      </a:solidFill>
                      <a:prstDash val="solid"/>
                    </a:lnT>
                    <a:lnB w="3251">
                      <a:solidFill>
                        <a:srgbClr val="000000"/>
                      </a:solidFill>
                      <a:prstDash val="solid"/>
                    </a:lnB>
                  </a:tcPr>
                </a:tc>
              </a:tr>
              <a:tr h="170224">
                <a:tc>
                  <a:txBody>
                    <a:bodyPr/>
                    <a:p>
                      <a:pPr marL="48260">
                        <a:lnSpc>
                          <a:spcPct val="100000"/>
                        </a:lnSpc>
                      </a:pPr>
                      <a:r>
                        <a:rPr sz="1600" dirty="0">
                          <a:latin typeface="Times New Roman" panose="02020603050405020304" pitchFamily="18" charset="0"/>
                          <a:cs typeface="Times New Roman" panose="02020603050405020304" pitchFamily="18" charset="0"/>
                        </a:rPr>
                        <a:t>Read(A);</a:t>
                      </a:r>
                      <a:endParaRPr sz="1600">
                        <a:latin typeface="Times New Roman" panose="02020603050405020304" pitchFamily="18" charset="0"/>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lnT w="3251">
                      <a:solidFill>
                        <a:srgbClr val="000000"/>
                      </a:solidFill>
                      <a:prstDash val="solid"/>
                    </a:lnT>
                  </a:tcPr>
                </a:tc>
                <a:tc rowSpan="4">
                  <a:txBody>
                    <a:bodyPr/>
                    <a:p>
                      <a:pPr marL="48260">
                        <a:lnSpc>
                          <a:spcPct val="100000"/>
                        </a:lnSpc>
                      </a:pPr>
                      <a:endParaRPr lang="en-US" sz="1600" dirty="0" smtClean="0">
                        <a:latin typeface="Times New Roman" panose="02020603050405020304" pitchFamily="18" charset="0"/>
                        <a:cs typeface="Times New Roman" panose="02020603050405020304" pitchFamily="18" charset="0"/>
                      </a:endParaRPr>
                    </a:p>
                    <a:p>
                      <a:pPr marL="48260">
                        <a:lnSpc>
                          <a:spcPct val="100000"/>
                        </a:lnSpc>
                      </a:pPr>
                      <a:endParaRPr lang="en-US" sz="1600" dirty="0" smtClean="0">
                        <a:latin typeface="Times New Roman" panose="02020603050405020304" pitchFamily="18" charset="0"/>
                        <a:cs typeface="Times New Roman" panose="02020603050405020304" pitchFamily="18" charset="0"/>
                      </a:endParaRPr>
                    </a:p>
                    <a:p>
                      <a:pPr marL="48260">
                        <a:lnSpc>
                          <a:spcPct val="100000"/>
                        </a:lnSpc>
                      </a:pPr>
                      <a:endParaRPr lang="en-US" sz="1600" dirty="0" smtClean="0">
                        <a:latin typeface="Times New Roman" panose="02020603050405020304" pitchFamily="18" charset="0"/>
                        <a:cs typeface="Times New Roman" panose="02020603050405020304" pitchFamily="18" charset="0"/>
                      </a:endParaRPr>
                    </a:p>
                    <a:p>
                      <a:pPr marL="48260">
                        <a:lnSpc>
                          <a:spcPct val="100000"/>
                        </a:lnSpc>
                      </a:pPr>
                      <a:r>
                        <a:rPr sz="1600" smtClean="0">
                          <a:latin typeface="Times New Roman" panose="02020603050405020304" pitchFamily="18" charset="0"/>
                          <a:cs typeface="Times New Roman" panose="02020603050405020304" pitchFamily="18" charset="0"/>
                        </a:rPr>
                        <a:t>Read(A</a:t>
                      </a:r>
                      <a:r>
                        <a:rPr sz="1600" dirty="0">
                          <a:latin typeface="Times New Roman" panose="02020603050405020304" pitchFamily="18" charset="0"/>
                          <a:cs typeface="Times New Roman" panose="02020603050405020304" pitchFamily="18" charset="0"/>
                        </a:rPr>
                        <a:t>);</a:t>
                      </a:r>
                      <a:endParaRPr sz="1600">
                        <a:latin typeface="Times New Roman" panose="02020603050405020304" pitchFamily="18" charset="0"/>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lnT w="3251">
                      <a:solidFill>
                        <a:srgbClr val="000000"/>
                      </a:solidFill>
                      <a:prstDash val="solid"/>
                    </a:lnT>
                  </a:tcPr>
                </a:tc>
              </a:tr>
              <a:tr h="170224">
                <a:tc>
                  <a:txBody>
                    <a:bodyPr/>
                    <a:p>
                      <a:pPr marL="48260">
                        <a:lnSpc>
                          <a:spcPct val="100000"/>
                        </a:lnSpc>
                      </a:pPr>
                      <a:r>
                        <a:rPr sz="1600" dirty="0">
                          <a:latin typeface="Times New Roman" panose="02020603050405020304" pitchFamily="18" charset="0"/>
                          <a:cs typeface="Times New Roman" panose="02020603050405020304" pitchFamily="18" charset="0"/>
                        </a:rPr>
                        <a:t>A:=A-100;</a:t>
                      </a:r>
                      <a:endParaRPr sz="1600">
                        <a:latin typeface="Times New Roman" panose="02020603050405020304" pitchFamily="18" charset="0"/>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tcPr>
                </a:tc>
                <a:tc vMerge="1">
                  <a:tcPr marL="0" marR="0" marT="0" marB="0">
                    <a:lnL w="3251">
                      <a:solidFill>
                        <a:srgbClr val="000000"/>
                      </a:solidFill>
                      <a:prstDash val="solid"/>
                    </a:lnL>
                    <a:lnR w="3251">
                      <a:solidFill>
                        <a:srgbClr val="000000"/>
                      </a:solidFill>
                      <a:prstDash val="solid"/>
                    </a:lnR>
                    <a:lnT w="3251">
                      <a:solidFill>
                        <a:srgbClr val="000000"/>
                      </a:solidFill>
                      <a:prstDash val="solid"/>
                    </a:lnT>
                  </a:tcPr>
                </a:tc>
              </a:tr>
              <a:tr h="170224">
                <a:tc>
                  <a:txBody>
                    <a:bodyPr/>
                    <a:p>
                      <a:pPr marL="48260">
                        <a:lnSpc>
                          <a:spcPct val="100000"/>
                        </a:lnSpc>
                      </a:pPr>
                      <a:r>
                        <a:rPr sz="1600" dirty="0">
                          <a:latin typeface="Times New Roman" panose="02020603050405020304" pitchFamily="18" charset="0"/>
                          <a:cs typeface="Times New Roman" panose="02020603050405020304" pitchFamily="18" charset="0"/>
                        </a:rPr>
                        <a:t>W</a:t>
                      </a:r>
                      <a:r>
                        <a:rPr sz="1600" spc="5" dirty="0">
                          <a:latin typeface="Times New Roman" panose="02020603050405020304" pitchFamily="18" charset="0"/>
                          <a:cs typeface="Times New Roman" panose="02020603050405020304" pitchFamily="18" charset="0"/>
                        </a:rPr>
                        <a:t>r</a:t>
                      </a:r>
                      <a:r>
                        <a:rPr sz="1600" dirty="0">
                          <a:latin typeface="Times New Roman" panose="02020603050405020304" pitchFamily="18" charset="0"/>
                          <a:cs typeface="Times New Roman" panose="02020603050405020304" pitchFamily="18" charset="0"/>
                        </a:rPr>
                        <a:t>ite(A);</a:t>
                      </a:r>
                      <a:endParaRPr sz="1600">
                        <a:latin typeface="Times New Roman" panose="02020603050405020304" pitchFamily="18" charset="0"/>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tcPr>
                </a:tc>
                <a:tc vMerge="1">
                  <a:tcPr marL="0" marR="0" marT="0" marB="0">
                    <a:lnL w="3251">
                      <a:solidFill>
                        <a:srgbClr val="000000"/>
                      </a:solidFill>
                      <a:prstDash val="solid"/>
                    </a:lnL>
                    <a:lnR w="3251">
                      <a:solidFill>
                        <a:srgbClr val="000000"/>
                      </a:solidFill>
                      <a:prstDash val="solid"/>
                    </a:lnR>
                    <a:lnT w="3251">
                      <a:solidFill>
                        <a:srgbClr val="000000"/>
                      </a:solidFill>
                      <a:prstDash val="solid"/>
                    </a:lnT>
                  </a:tcPr>
                </a:tc>
              </a:tr>
              <a:tr h="170224">
                <a:tc>
                  <a:txBody>
                    <a:bodyPr/>
                    <a:p>
                      <a:endParaRPr sz="1600">
                        <a:latin typeface="Times New Roman" panose="02020603050405020304" pitchFamily="18" charset="0"/>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tcPr>
                </a:tc>
                <a:tc vMerge="1">
                  <a:tcPr marL="0" marR="0" marT="0" marB="0">
                    <a:lnL w="3251">
                      <a:solidFill>
                        <a:srgbClr val="000000"/>
                      </a:solidFill>
                      <a:prstDash val="solid"/>
                    </a:lnL>
                    <a:lnR w="3251">
                      <a:solidFill>
                        <a:srgbClr val="000000"/>
                      </a:solidFill>
                      <a:prstDash val="solid"/>
                    </a:lnR>
                    <a:lnT w="3251">
                      <a:solidFill>
                        <a:srgbClr val="000000"/>
                      </a:solidFill>
                      <a:prstDash val="solid"/>
                    </a:lnT>
                  </a:tcPr>
                </a:tc>
              </a:tr>
              <a:tr h="170224">
                <a:tc>
                  <a:txBody>
                    <a:bodyPr/>
                    <a:p>
                      <a:endParaRPr sz="1600">
                        <a:latin typeface="Times New Roman" panose="02020603050405020304" pitchFamily="18" charset="0"/>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tcPr>
                </a:tc>
                <a:tc>
                  <a:txBody>
                    <a:bodyPr/>
                    <a:p>
                      <a:pPr marL="48260">
                        <a:lnSpc>
                          <a:spcPct val="100000"/>
                        </a:lnSpc>
                      </a:pPr>
                      <a:r>
                        <a:rPr sz="1600" spc="-80" dirty="0">
                          <a:latin typeface="Times New Roman" panose="02020603050405020304" pitchFamily="18" charset="0"/>
                          <a:cs typeface="Times New Roman" panose="02020603050405020304" pitchFamily="18" charset="0"/>
                        </a:rPr>
                        <a:t>T</a:t>
                      </a:r>
                      <a:r>
                        <a:rPr sz="1600" dirty="0">
                          <a:latin typeface="Times New Roman" panose="02020603050405020304" pitchFamily="18" charset="0"/>
                          <a:cs typeface="Times New Roman" panose="02020603050405020304" pitchFamily="18" charset="0"/>
                        </a:rPr>
                        <a:t>emp=0.2*A;</a:t>
                      </a:r>
                      <a:endParaRPr sz="1600">
                        <a:latin typeface="Times New Roman" panose="02020603050405020304" pitchFamily="18" charset="0"/>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tcPr>
                </a:tc>
              </a:tr>
              <a:tr h="170224">
                <a:tc>
                  <a:txBody>
                    <a:bodyPr/>
                    <a:p>
                      <a:endParaRPr sz="1600">
                        <a:latin typeface="Times New Roman" panose="02020603050405020304" pitchFamily="18" charset="0"/>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tcPr>
                </a:tc>
                <a:tc>
                  <a:txBody>
                    <a:bodyPr/>
                    <a:p>
                      <a:pPr marL="48260">
                        <a:lnSpc>
                          <a:spcPct val="100000"/>
                        </a:lnSpc>
                      </a:pPr>
                      <a:r>
                        <a:rPr sz="1600" dirty="0">
                          <a:latin typeface="Times New Roman" panose="02020603050405020304" pitchFamily="18" charset="0"/>
                          <a:cs typeface="Times New Roman" panose="02020603050405020304" pitchFamily="18" charset="0"/>
                        </a:rPr>
                        <a:t>A:=A-</a:t>
                      </a:r>
                      <a:r>
                        <a:rPr sz="1600" spc="-80" dirty="0">
                          <a:latin typeface="Times New Roman" panose="02020603050405020304" pitchFamily="18" charset="0"/>
                          <a:cs typeface="Times New Roman" panose="02020603050405020304" pitchFamily="18" charset="0"/>
                        </a:rPr>
                        <a:t>T</a:t>
                      </a:r>
                      <a:r>
                        <a:rPr sz="1600" dirty="0">
                          <a:latin typeface="Times New Roman" panose="02020603050405020304" pitchFamily="18" charset="0"/>
                          <a:cs typeface="Times New Roman" panose="02020603050405020304" pitchFamily="18" charset="0"/>
                        </a:rPr>
                        <a:t>emp;</a:t>
                      </a:r>
                      <a:endParaRPr sz="1600">
                        <a:latin typeface="Times New Roman" panose="02020603050405020304" pitchFamily="18" charset="0"/>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tcPr>
                </a:tc>
              </a:tr>
              <a:tr h="170224">
                <a:tc>
                  <a:txBody>
                    <a:bodyPr/>
                    <a:p>
                      <a:endParaRPr sz="1600">
                        <a:latin typeface="Times New Roman" panose="02020603050405020304" pitchFamily="18" charset="0"/>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tcPr>
                </a:tc>
                <a:tc>
                  <a:txBody>
                    <a:bodyPr/>
                    <a:p>
                      <a:pPr marL="48260">
                        <a:lnSpc>
                          <a:spcPct val="100000"/>
                        </a:lnSpc>
                      </a:pPr>
                      <a:r>
                        <a:rPr sz="1600" dirty="0">
                          <a:latin typeface="Times New Roman" panose="02020603050405020304" pitchFamily="18" charset="0"/>
                          <a:cs typeface="Times New Roman" panose="02020603050405020304" pitchFamily="18" charset="0"/>
                        </a:rPr>
                        <a:t>W</a:t>
                      </a:r>
                      <a:r>
                        <a:rPr sz="1600" spc="5" dirty="0">
                          <a:latin typeface="Times New Roman" panose="02020603050405020304" pitchFamily="18" charset="0"/>
                          <a:cs typeface="Times New Roman" panose="02020603050405020304" pitchFamily="18" charset="0"/>
                        </a:rPr>
                        <a:t>r</a:t>
                      </a:r>
                      <a:r>
                        <a:rPr sz="1600" dirty="0">
                          <a:latin typeface="Times New Roman" panose="02020603050405020304" pitchFamily="18" charset="0"/>
                          <a:cs typeface="Times New Roman" panose="02020603050405020304" pitchFamily="18" charset="0"/>
                        </a:rPr>
                        <a:t>ite(A);</a:t>
                      </a:r>
                      <a:endParaRPr sz="1600">
                        <a:latin typeface="Times New Roman" panose="02020603050405020304" pitchFamily="18" charset="0"/>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tcPr>
                </a:tc>
              </a:tr>
              <a:tr h="170224">
                <a:tc>
                  <a:txBody>
                    <a:bodyPr/>
                    <a:p>
                      <a:pPr marL="48260">
                        <a:lnSpc>
                          <a:spcPct val="100000"/>
                        </a:lnSpc>
                      </a:pPr>
                      <a:r>
                        <a:rPr sz="1600" dirty="0">
                          <a:latin typeface="Times New Roman" panose="02020603050405020304" pitchFamily="18" charset="0"/>
                          <a:cs typeface="Times New Roman" panose="02020603050405020304" pitchFamily="18" charset="0"/>
                        </a:rPr>
                        <a:t>Read(B);</a:t>
                      </a:r>
                      <a:endParaRPr sz="1600">
                        <a:latin typeface="Times New Roman" panose="02020603050405020304" pitchFamily="18" charset="0"/>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tcPr>
                </a:tc>
                <a:tc>
                  <a:txBody>
                    <a:bodyPr/>
                    <a:p>
                      <a:endParaRPr sz="1600">
                        <a:latin typeface="Times New Roman" panose="02020603050405020304" pitchFamily="18" charset="0"/>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tcPr>
                </a:tc>
              </a:tr>
              <a:tr h="170224">
                <a:tc>
                  <a:txBody>
                    <a:bodyPr/>
                    <a:p>
                      <a:pPr marL="48260">
                        <a:lnSpc>
                          <a:spcPct val="100000"/>
                        </a:lnSpc>
                      </a:pPr>
                      <a:r>
                        <a:rPr sz="1600" dirty="0">
                          <a:latin typeface="Times New Roman" panose="02020603050405020304" pitchFamily="18" charset="0"/>
                          <a:cs typeface="Times New Roman" panose="02020603050405020304" pitchFamily="18" charset="0"/>
                        </a:rPr>
                        <a:t>B:=B+100;</a:t>
                      </a:r>
                      <a:endParaRPr sz="1600">
                        <a:latin typeface="Times New Roman" panose="02020603050405020304" pitchFamily="18" charset="0"/>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tcPr>
                </a:tc>
                <a:tc>
                  <a:txBody>
                    <a:bodyPr/>
                    <a:p>
                      <a:endParaRPr sz="1600">
                        <a:latin typeface="Times New Roman" panose="02020603050405020304" pitchFamily="18" charset="0"/>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tcPr>
                </a:tc>
              </a:tr>
              <a:tr h="170224">
                <a:tc rowSpan="4">
                  <a:txBody>
                    <a:bodyPr/>
                    <a:p>
                      <a:pPr marL="48260">
                        <a:lnSpc>
                          <a:spcPct val="100000"/>
                        </a:lnSpc>
                      </a:pPr>
                      <a:r>
                        <a:rPr sz="1600" dirty="0">
                          <a:latin typeface="Times New Roman" panose="02020603050405020304" pitchFamily="18" charset="0"/>
                          <a:cs typeface="Times New Roman" panose="02020603050405020304" pitchFamily="18" charset="0"/>
                        </a:rPr>
                        <a:t>W</a:t>
                      </a:r>
                      <a:r>
                        <a:rPr sz="1600" spc="5" dirty="0">
                          <a:latin typeface="Times New Roman" panose="02020603050405020304" pitchFamily="18" charset="0"/>
                          <a:cs typeface="Times New Roman" panose="02020603050405020304" pitchFamily="18" charset="0"/>
                        </a:rPr>
                        <a:t>r</a:t>
                      </a:r>
                      <a:r>
                        <a:rPr sz="1600" dirty="0">
                          <a:latin typeface="Times New Roman" panose="02020603050405020304" pitchFamily="18" charset="0"/>
                          <a:cs typeface="Times New Roman" panose="02020603050405020304" pitchFamily="18" charset="0"/>
                        </a:rPr>
                        <a:t>ite(B);</a:t>
                      </a:r>
                      <a:endParaRPr sz="1600">
                        <a:latin typeface="Times New Roman" panose="02020603050405020304" pitchFamily="18" charset="0"/>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lnB w="3251">
                      <a:solidFill>
                        <a:srgbClr val="000000"/>
                      </a:solidFill>
                      <a:prstDash val="solid"/>
                    </a:lnB>
                  </a:tcPr>
                </a:tc>
                <a:tc>
                  <a:txBody>
                    <a:bodyPr/>
                    <a:p>
                      <a:endParaRPr sz="1600">
                        <a:latin typeface="Times New Roman" panose="02020603050405020304" pitchFamily="18" charset="0"/>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tcPr>
                </a:tc>
              </a:tr>
              <a:tr h="170224">
                <a:tc vMerge="1">
                  <a:tcPr marL="0" marR="0" marT="0" marB="0">
                    <a:lnL w="3251">
                      <a:solidFill>
                        <a:srgbClr val="000000"/>
                      </a:solidFill>
                      <a:prstDash val="solid"/>
                    </a:lnL>
                    <a:lnR w="3251">
                      <a:solidFill>
                        <a:srgbClr val="000000"/>
                      </a:solidFill>
                      <a:prstDash val="solid"/>
                    </a:lnR>
                    <a:lnB w="3251">
                      <a:solidFill>
                        <a:srgbClr val="000000"/>
                      </a:solidFill>
                      <a:prstDash val="solid"/>
                    </a:lnB>
                  </a:tcPr>
                </a:tc>
                <a:tc>
                  <a:txBody>
                    <a:bodyPr/>
                    <a:p>
                      <a:pPr marL="48260">
                        <a:lnSpc>
                          <a:spcPct val="100000"/>
                        </a:lnSpc>
                      </a:pPr>
                      <a:r>
                        <a:rPr sz="1600" dirty="0">
                          <a:latin typeface="Times New Roman" panose="02020603050405020304" pitchFamily="18" charset="0"/>
                          <a:cs typeface="Times New Roman" panose="02020603050405020304" pitchFamily="18" charset="0"/>
                        </a:rPr>
                        <a:t>Read(B);</a:t>
                      </a:r>
                      <a:endParaRPr sz="1600">
                        <a:latin typeface="Times New Roman" panose="02020603050405020304" pitchFamily="18" charset="0"/>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tcPr>
                </a:tc>
              </a:tr>
              <a:tr h="170224">
                <a:tc vMerge="1">
                  <a:tcPr marL="0" marR="0" marT="0" marB="0">
                    <a:lnL w="3251">
                      <a:solidFill>
                        <a:srgbClr val="000000"/>
                      </a:solidFill>
                      <a:prstDash val="solid"/>
                    </a:lnL>
                    <a:lnR w="3251">
                      <a:solidFill>
                        <a:srgbClr val="000000"/>
                      </a:solidFill>
                      <a:prstDash val="solid"/>
                    </a:lnR>
                    <a:lnB w="3251">
                      <a:solidFill>
                        <a:srgbClr val="000000"/>
                      </a:solidFill>
                      <a:prstDash val="solid"/>
                    </a:lnB>
                  </a:tcPr>
                </a:tc>
                <a:tc>
                  <a:txBody>
                    <a:bodyPr/>
                    <a:p>
                      <a:pPr marL="48260">
                        <a:lnSpc>
                          <a:spcPct val="100000"/>
                        </a:lnSpc>
                      </a:pPr>
                      <a:r>
                        <a:rPr sz="1600" dirty="0">
                          <a:latin typeface="Times New Roman" panose="02020603050405020304" pitchFamily="18" charset="0"/>
                          <a:cs typeface="Times New Roman" panose="02020603050405020304" pitchFamily="18" charset="0"/>
                        </a:rPr>
                        <a:t>B:=B+</a:t>
                      </a:r>
                      <a:r>
                        <a:rPr sz="1600" spc="-80" dirty="0">
                          <a:latin typeface="Times New Roman" panose="02020603050405020304" pitchFamily="18" charset="0"/>
                          <a:cs typeface="Times New Roman" panose="02020603050405020304" pitchFamily="18" charset="0"/>
                        </a:rPr>
                        <a:t>T</a:t>
                      </a:r>
                      <a:r>
                        <a:rPr sz="1600" dirty="0">
                          <a:latin typeface="Times New Roman" panose="02020603050405020304" pitchFamily="18" charset="0"/>
                          <a:cs typeface="Times New Roman" panose="02020603050405020304" pitchFamily="18" charset="0"/>
                        </a:rPr>
                        <a:t>emp;</a:t>
                      </a:r>
                      <a:endParaRPr sz="1600">
                        <a:latin typeface="Times New Roman" panose="02020603050405020304" pitchFamily="18" charset="0"/>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tcPr>
                </a:tc>
              </a:tr>
              <a:tr h="176168">
                <a:tc vMerge="1">
                  <a:tcPr marL="0" marR="0" marT="0" marB="0">
                    <a:lnL w="3251">
                      <a:solidFill>
                        <a:srgbClr val="000000"/>
                      </a:solidFill>
                      <a:prstDash val="solid"/>
                    </a:lnL>
                    <a:lnR w="3251">
                      <a:solidFill>
                        <a:srgbClr val="000000"/>
                      </a:solidFill>
                      <a:prstDash val="solid"/>
                    </a:lnR>
                    <a:lnB w="3251">
                      <a:solidFill>
                        <a:srgbClr val="000000"/>
                      </a:solidFill>
                      <a:prstDash val="solid"/>
                    </a:lnB>
                  </a:tcPr>
                </a:tc>
                <a:tc>
                  <a:txBody>
                    <a:bodyPr/>
                    <a:p>
                      <a:pPr marL="48260">
                        <a:lnSpc>
                          <a:spcPct val="100000"/>
                        </a:lnSpc>
                      </a:pPr>
                      <a:r>
                        <a:rPr sz="1600" dirty="0">
                          <a:latin typeface="Times New Roman" panose="02020603050405020304" pitchFamily="18" charset="0"/>
                          <a:cs typeface="Times New Roman" panose="02020603050405020304" pitchFamily="18" charset="0"/>
                        </a:rPr>
                        <a:t>W</a:t>
                      </a:r>
                      <a:r>
                        <a:rPr sz="1600" spc="5" dirty="0">
                          <a:latin typeface="Times New Roman" panose="02020603050405020304" pitchFamily="18" charset="0"/>
                          <a:cs typeface="Times New Roman" panose="02020603050405020304" pitchFamily="18" charset="0"/>
                        </a:rPr>
                        <a:t>r</a:t>
                      </a:r>
                      <a:r>
                        <a:rPr sz="1600" dirty="0">
                          <a:latin typeface="Times New Roman" panose="02020603050405020304" pitchFamily="18" charset="0"/>
                          <a:cs typeface="Times New Roman" panose="02020603050405020304" pitchFamily="18" charset="0"/>
                        </a:rPr>
                        <a:t>ite(B);</a:t>
                      </a:r>
                      <a:endParaRPr sz="1600">
                        <a:latin typeface="Times New Roman" panose="02020603050405020304" pitchFamily="18" charset="0"/>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lnB w="3251">
                      <a:solidFill>
                        <a:srgbClr val="000000"/>
                      </a:solidFill>
                      <a:prstDash val="solid"/>
                    </a:lnB>
                  </a:tcPr>
                </a:tc>
              </a:tr>
            </a:tbl>
          </a:graphicData>
        </a:graphic>
      </p:graphicFrame>
      <p:sp>
        <p:nvSpPr>
          <p:cNvPr id="14" name="object 17"/>
          <p:cNvSpPr txBox="1"/>
          <p:nvPr/>
        </p:nvSpPr>
        <p:spPr>
          <a:xfrm>
            <a:off x="2412029" y="6305568"/>
            <a:ext cx="1671620" cy="276999"/>
          </a:xfrm>
          <a:prstGeom prst="rect">
            <a:avLst/>
          </a:prstGeom>
        </p:spPr>
        <p:txBody>
          <a:bodyPr vert="horz" wrap="square" lIns="0" tIns="0" rIns="0" bIns="0" rtlCol="0">
            <a:spAutoFit/>
          </a:bodyPr>
          <a:p>
            <a:pPr marL="12700">
              <a:lnSpc>
                <a:spcPct val="100000"/>
              </a:lnSpc>
            </a:pPr>
            <a:r>
              <a:rPr b="1" spc="-10" smtClean="0">
                <a:latin typeface="Times New Roman" panose="02020603050405020304" pitchFamily="18" charset="0"/>
                <a:cs typeface="Times New Roman" panose="02020603050405020304" pitchFamily="18" charset="0"/>
              </a:rPr>
              <a:t>Schedule</a:t>
            </a:r>
            <a:r>
              <a:rPr lang="en-US" b="1" spc="-10" dirty="0" smtClean="0">
                <a:latin typeface="Times New Roman" panose="02020603050405020304" pitchFamily="18" charset="0"/>
                <a:cs typeface="Times New Roman" panose="02020603050405020304" pitchFamily="18" charset="0"/>
              </a:rPr>
              <a:t> </a:t>
            </a:r>
            <a:r>
              <a:rPr b="1" spc="-10" smtClean="0">
                <a:latin typeface="Times New Roman" panose="02020603050405020304" pitchFamily="18" charset="0"/>
                <a:cs typeface="Times New Roman" panose="02020603050405020304" pitchFamily="18" charset="0"/>
              </a:rPr>
              <a:t>3</a:t>
            </a:r>
            <a:endParaRPr b="1">
              <a:latin typeface="Times New Roman" panose="02020603050405020304" pitchFamily="18" charset="0"/>
              <a:cs typeface="Times New Roman" panose="02020603050405020304" pitchFamily="18" charset="0"/>
            </a:endParaRPr>
          </a:p>
        </p:txBody>
      </p:sp>
      <p:graphicFrame>
        <p:nvGraphicFramePr>
          <p:cNvPr id="15" name="object 8"/>
          <p:cNvGraphicFramePr>
            <a:graphicFrameLocks noGrp="1"/>
          </p:cNvGraphicFramePr>
          <p:nvPr/>
        </p:nvGraphicFramePr>
        <p:xfrm>
          <a:off x="4340855" y="2805106"/>
          <a:ext cx="2357454" cy="3657600"/>
        </p:xfrm>
        <a:graphic>
          <a:graphicData uri="http://schemas.openxmlformats.org/drawingml/2006/table">
            <a:tbl>
              <a:tblPr firstRow="1" bandRow="1">
                <a:tableStyleId>{2D5ABB26-0587-4C30-8999-92F81FD0307C}</a:tableStyleId>
              </a:tblPr>
              <a:tblGrid>
                <a:gridCol w="1086078"/>
                <a:gridCol w="1271376"/>
              </a:tblGrid>
              <a:tr h="227904">
                <a:tc>
                  <a:txBody>
                    <a:bodyPr/>
                    <a:p>
                      <a:pPr marL="48260">
                        <a:lnSpc>
                          <a:spcPct val="100000"/>
                        </a:lnSpc>
                      </a:pPr>
                      <a:r>
                        <a:rPr sz="1600" kern="1200" dirty="0">
                          <a:solidFill>
                            <a:schemeClr val="tx1"/>
                          </a:solidFill>
                          <a:latin typeface="Times New Roman" panose="02020603050405020304" pitchFamily="18" charset="0"/>
                          <a:ea typeface="+mn-ea"/>
                          <a:cs typeface="Times New Roman" panose="02020603050405020304" pitchFamily="18" charset="0"/>
                        </a:rPr>
                        <a:t>T1</a:t>
                      </a:r>
                      <a:endParaRPr sz="1600" kern="1200">
                        <a:solidFill>
                          <a:schemeClr val="tx1"/>
                        </a:solidFill>
                        <a:latin typeface="Times New Roman" panose="02020603050405020304" pitchFamily="18" charset="0"/>
                        <a:ea typeface="+mn-ea"/>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lnT w="3251">
                      <a:solidFill>
                        <a:srgbClr val="000000"/>
                      </a:solidFill>
                      <a:prstDash val="solid"/>
                    </a:lnT>
                    <a:lnB w="3251">
                      <a:solidFill>
                        <a:srgbClr val="000000"/>
                      </a:solidFill>
                      <a:prstDash val="solid"/>
                    </a:lnB>
                  </a:tcPr>
                </a:tc>
                <a:tc>
                  <a:txBody>
                    <a:bodyPr/>
                    <a:p>
                      <a:pPr marL="48260">
                        <a:lnSpc>
                          <a:spcPct val="100000"/>
                        </a:lnSpc>
                      </a:pPr>
                      <a:r>
                        <a:rPr sz="1600" kern="1200" dirty="0">
                          <a:solidFill>
                            <a:schemeClr val="tx1"/>
                          </a:solidFill>
                          <a:latin typeface="Times New Roman" panose="02020603050405020304" pitchFamily="18" charset="0"/>
                          <a:ea typeface="+mn-ea"/>
                          <a:cs typeface="Times New Roman" panose="02020603050405020304" pitchFamily="18" charset="0"/>
                        </a:rPr>
                        <a:t>T2</a:t>
                      </a:r>
                      <a:endParaRPr sz="1600" kern="1200">
                        <a:solidFill>
                          <a:schemeClr val="tx1"/>
                        </a:solidFill>
                        <a:latin typeface="Times New Roman" panose="02020603050405020304" pitchFamily="18" charset="0"/>
                        <a:ea typeface="+mn-ea"/>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lnT w="3251">
                      <a:solidFill>
                        <a:srgbClr val="000000"/>
                      </a:solidFill>
                      <a:prstDash val="solid"/>
                    </a:lnT>
                    <a:lnB w="3251">
                      <a:solidFill>
                        <a:srgbClr val="000000"/>
                      </a:solidFill>
                      <a:prstDash val="solid"/>
                    </a:lnB>
                  </a:tcPr>
                </a:tc>
              </a:tr>
              <a:tr h="223660">
                <a:tc>
                  <a:txBody>
                    <a:bodyPr/>
                    <a:p>
                      <a:pPr marL="48260">
                        <a:lnSpc>
                          <a:spcPct val="100000"/>
                        </a:lnSpc>
                      </a:pPr>
                      <a:r>
                        <a:rPr sz="1600" kern="1200" dirty="0">
                          <a:solidFill>
                            <a:schemeClr val="tx1"/>
                          </a:solidFill>
                          <a:latin typeface="Times New Roman" panose="02020603050405020304" pitchFamily="18" charset="0"/>
                          <a:ea typeface="+mn-ea"/>
                          <a:cs typeface="Times New Roman" panose="02020603050405020304" pitchFamily="18" charset="0"/>
                        </a:rPr>
                        <a:t>Read(A);</a:t>
                      </a:r>
                      <a:endParaRPr sz="1600" kern="1200">
                        <a:solidFill>
                          <a:schemeClr val="tx1"/>
                        </a:solidFill>
                        <a:latin typeface="Times New Roman" panose="02020603050405020304" pitchFamily="18" charset="0"/>
                        <a:ea typeface="+mn-ea"/>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lnT w="3251">
                      <a:solidFill>
                        <a:srgbClr val="000000"/>
                      </a:solidFill>
                      <a:prstDash val="solid"/>
                    </a:lnT>
                  </a:tcPr>
                </a:tc>
                <a:tc rowSpan="3">
                  <a:txBody>
                    <a:bodyPr/>
                    <a:p>
                      <a:pPr marL="48260">
                        <a:lnSpc>
                          <a:spcPct val="100000"/>
                        </a:lnSpc>
                      </a:pPr>
                      <a:endParaRPr lang="en-US" sz="1600" kern="1200" dirty="0" smtClean="0">
                        <a:solidFill>
                          <a:schemeClr val="tx1"/>
                        </a:solidFill>
                        <a:latin typeface="Times New Roman" panose="02020603050405020304" pitchFamily="18" charset="0"/>
                        <a:ea typeface="+mn-ea"/>
                        <a:cs typeface="Times New Roman" panose="02020603050405020304" pitchFamily="18" charset="0"/>
                      </a:endParaRPr>
                    </a:p>
                    <a:p>
                      <a:pPr marL="48260">
                        <a:lnSpc>
                          <a:spcPct val="100000"/>
                        </a:lnSpc>
                      </a:pPr>
                      <a:endParaRPr lang="en-US" sz="1600" kern="1200" dirty="0" smtClean="0">
                        <a:solidFill>
                          <a:schemeClr val="tx1"/>
                        </a:solidFill>
                        <a:latin typeface="Times New Roman" panose="02020603050405020304" pitchFamily="18" charset="0"/>
                        <a:ea typeface="+mn-ea"/>
                        <a:cs typeface="Times New Roman" panose="02020603050405020304" pitchFamily="18" charset="0"/>
                      </a:endParaRPr>
                    </a:p>
                    <a:p>
                      <a:pPr marL="48260">
                        <a:lnSpc>
                          <a:spcPct val="100000"/>
                        </a:lnSpc>
                      </a:pPr>
                      <a:endParaRPr lang="en-US" sz="1600" kern="1200" dirty="0" smtClean="0">
                        <a:solidFill>
                          <a:schemeClr val="tx1"/>
                        </a:solidFill>
                        <a:latin typeface="Times New Roman" panose="02020603050405020304" pitchFamily="18" charset="0"/>
                        <a:ea typeface="+mn-ea"/>
                        <a:cs typeface="Times New Roman" panose="02020603050405020304" pitchFamily="18" charset="0"/>
                      </a:endParaRPr>
                    </a:p>
                    <a:p>
                      <a:pPr marL="48260">
                        <a:lnSpc>
                          <a:spcPct val="100000"/>
                        </a:lnSpc>
                      </a:pPr>
                      <a:r>
                        <a:rPr sz="1600" kern="1200" smtClean="0">
                          <a:solidFill>
                            <a:schemeClr val="tx1"/>
                          </a:solidFill>
                          <a:latin typeface="Times New Roman" panose="02020603050405020304" pitchFamily="18" charset="0"/>
                          <a:ea typeface="+mn-ea"/>
                          <a:cs typeface="Times New Roman" panose="02020603050405020304" pitchFamily="18" charset="0"/>
                        </a:rPr>
                        <a:t>Read(A</a:t>
                      </a:r>
                      <a:r>
                        <a:rPr sz="1600" kern="1200" dirty="0">
                          <a:solidFill>
                            <a:schemeClr val="tx1"/>
                          </a:solidFill>
                          <a:latin typeface="Times New Roman" panose="02020603050405020304" pitchFamily="18" charset="0"/>
                          <a:ea typeface="+mn-ea"/>
                          <a:cs typeface="Times New Roman" panose="02020603050405020304" pitchFamily="18" charset="0"/>
                        </a:rPr>
                        <a:t>);</a:t>
                      </a:r>
                      <a:endParaRPr sz="1600" kern="1200">
                        <a:solidFill>
                          <a:schemeClr val="tx1"/>
                        </a:solidFill>
                        <a:latin typeface="Times New Roman" panose="02020603050405020304" pitchFamily="18" charset="0"/>
                        <a:ea typeface="+mn-ea"/>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lnT w="3251">
                      <a:solidFill>
                        <a:srgbClr val="000000"/>
                      </a:solidFill>
                      <a:prstDash val="solid"/>
                    </a:lnT>
                  </a:tcPr>
                </a:tc>
              </a:tr>
              <a:tr h="223660">
                <a:tc>
                  <a:txBody>
                    <a:bodyPr/>
                    <a:p>
                      <a:pPr marL="48260">
                        <a:lnSpc>
                          <a:spcPct val="100000"/>
                        </a:lnSpc>
                      </a:pPr>
                      <a:r>
                        <a:rPr sz="1600" kern="1200" dirty="0">
                          <a:solidFill>
                            <a:schemeClr val="tx1"/>
                          </a:solidFill>
                          <a:latin typeface="Times New Roman" panose="02020603050405020304" pitchFamily="18" charset="0"/>
                          <a:ea typeface="+mn-ea"/>
                          <a:cs typeface="Times New Roman" panose="02020603050405020304" pitchFamily="18" charset="0"/>
                        </a:rPr>
                        <a:t>A:=A-100;</a:t>
                      </a:r>
                      <a:endParaRPr sz="1600" kern="1200">
                        <a:solidFill>
                          <a:schemeClr val="tx1"/>
                        </a:solidFill>
                        <a:latin typeface="Times New Roman" panose="02020603050405020304" pitchFamily="18" charset="0"/>
                        <a:ea typeface="+mn-ea"/>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tcPr>
                </a:tc>
                <a:tc vMerge="1">
                  <a:tcPr marL="0" marR="0" marT="0" marB="0">
                    <a:lnL w="3251">
                      <a:solidFill>
                        <a:srgbClr val="000000"/>
                      </a:solidFill>
                      <a:prstDash val="solid"/>
                    </a:lnL>
                    <a:lnR w="3251">
                      <a:solidFill>
                        <a:srgbClr val="000000"/>
                      </a:solidFill>
                      <a:prstDash val="solid"/>
                    </a:lnR>
                    <a:lnT w="3251">
                      <a:solidFill>
                        <a:srgbClr val="000000"/>
                      </a:solidFill>
                      <a:prstDash val="solid"/>
                    </a:lnT>
                  </a:tcPr>
                </a:tc>
              </a:tr>
              <a:tr h="223660">
                <a:tc>
                  <a:txBody>
                    <a:bodyPr/>
                    <a:p>
                      <a:endParaRPr sz="1600" kern="1200">
                        <a:solidFill>
                          <a:schemeClr val="tx1"/>
                        </a:solidFill>
                        <a:latin typeface="Times New Roman" panose="02020603050405020304" pitchFamily="18" charset="0"/>
                        <a:ea typeface="+mn-ea"/>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tcPr>
                </a:tc>
                <a:tc vMerge="1">
                  <a:tcPr marL="0" marR="0" marT="0" marB="0">
                    <a:lnL w="3251">
                      <a:solidFill>
                        <a:srgbClr val="000000"/>
                      </a:solidFill>
                      <a:prstDash val="solid"/>
                    </a:lnL>
                    <a:lnR w="3251">
                      <a:solidFill>
                        <a:srgbClr val="000000"/>
                      </a:solidFill>
                      <a:prstDash val="solid"/>
                    </a:lnR>
                    <a:lnT w="3251">
                      <a:solidFill>
                        <a:srgbClr val="000000"/>
                      </a:solidFill>
                      <a:prstDash val="solid"/>
                    </a:lnT>
                  </a:tcPr>
                </a:tc>
              </a:tr>
              <a:tr h="223660">
                <a:tc>
                  <a:txBody>
                    <a:bodyPr/>
                    <a:p>
                      <a:endParaRPr sz="1600" kern="1200">
                        <a:solidFill>
                          <a:schemeClr val="tx1"/>
                        </a:solidFill>
                        <a:latin typeface="Times New Roman" panose="02020603050405020304" pitchFamily="18" charset="0"/>
                        <a:ea typeface="+mn-ea"/>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tcPr>
                </a:tc>
                <a:tc>
                  <a:txBody>
                    <a:bodyPr/>
                    <a:p>
                      <a:pPr marL="48260">
                        <a:lnSpc>
                          <a:spcPct val="100000"/>
                        </a:lnSpc>
                      </a:pPr>
                      <a:r>
                        <a:rPr sz="1600" kern="1200" dirty="0">
                          <a:solidFill>
                            <a:schemeClr val="tx1"/>
                          </a:solidFill>
                          <a:latin typeface="Times New Roman" panose="02020603050405020304" pitchFamily="18" charset="0"/>
                          <a:ea typeface="+mn-ea"/>
                          <a:cs typeface="Times New Roman" panose="02020603050405020304" pitchFamily="18" charset="0"/>
                        </a:rPr>
                        <a:t>Temp=0.2*A;</a:t>
                      </a:r>
                      <a:endParaRPr sz="1600" kern="1200">
                        <a:solidFill>
                          <a:schemeClr val="tx1"/>
                        </a:solidFill>
                        <a:latin typeface="Times New Roman" panose="02020603050405020304" pitchFamily="18" charset="0"/>
                        <a:ea typeface="+mn-ea"/>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tcPr>
                </a:tc>
              </a:tr>
              <a:tr h="223660">
                <a:tc>
                  <a:txBody>
                    <a:bodyPr/>
                    <a:p>
                      <a:endParaRPr sz="1600" kern="1200">
                        <a:solidFill>
                          <a:schemeClr val="tx1"/>
                        </a:solidFill>
                        <a:latin typeface="Times New Roman" panose="02020603050405020304" pitchFamily="18" charset="0"/>
                        <a:ea typeface="+mn-ea"/>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tcPr>
                </a:tc>
                <a:tc>
                  <a:txBody>
                    <a:bodyPr/>
                    <a:p>
                      <a:pPr marL="48260">
                        <a:lnSpc>
                          <a:spcPct val="100000"/>
                        </a:lnSpc>
                      </a:pPr>
                      <a:r>
                        <a:rPr sz="1600" kern="1200" dirty="0">
                          <a:solidFill>
                            <a:schemeClr val="tx1"/>
                          </a:solidFill>
                          <a:latin typeface="Times New Roman" panose="02020603050405020304" pitchFamily="18" charset="0"/>
                          <a:ea typeface="+mn-ea"/>
                          <a:cs typeface="Times New Roman" panose="02020603050405020304" pitchFamily="18" charset="0"/>
                        </a:rPr>
                        <a:t>A:=A-Temp;</a:t>
                      </a:r>
                      <a:endParaRPr sz="1600" kern="1200">
                        <a:solidFill>
                          <a:schemeClr val="tx1"/>
                        </a:solidFill>
                        <a:latin typeface="Times New Roman" panose="02020603050405020304" pitchFamily="18" charset="0"/>
                        <a:ea typeface="+mn-ea"/>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tcPr>
                </a:tc>
              </a:tr>
              <a:tr h="223660">
                <a:tc>
                  <a:txBody>
                    <a:bodyPr/>
                    <a:p>
                      <a:endParaRPr sz="1600" kern="1200">
                        <a:solidFill>
                          <a:schemeClr val="tx1"/>
                        </a:solidFill>
                        <a:latin typeface="Times New Roman" panose="02020603050405020304" pitchFamily="18" charset="0"/>
                        <a:ea typeface="+mn-ea"/>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tcPr>
                </a:tc>
                <a:tc>
                  <a:txBody>
                    <a:bodyPr/>
                    <a:p>
                      <a:pPr marL="48260">
                        <a:lnSpc>
                          <a:spcPct val="100000"/>
                        </a:lnSpc>
                      </a:pPr>
                      <a:r>
                        <a:rPr sz="1600" kern="1200" dirty="0">
                          <a:solidFill>
                            <a:schemeClr val="tx1"/>
                          </a:solidFill>
                          <a:latin typeface="Times New Roman" panose="02020603050405020304" pitchFamily="18" charset="0"/>
                          <a:ea typeface="+mn-ea"/>
                          <a:cs typeface="Times New Roman" panose="02020603050405020304" pitchFamily="18" charset="0"/>
                        </a:rPr>
                        <a:t>Write(A);</a:t>
                      </a:r>
                      <a:endParaRPr sz="1600" kern="1200">
                        <a:solidFill>
                          <a:schemeClr val="tx1"/>
                        </a:solidFill>
                        <a:latin typeface="Times New Roman" panose="02020603050405020304" pitchFamily="18" charset="0"/>
                        <a:ea typeface="+mn-ea"/>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tcPr>
                </a:tc>
              </a:tr>
              <a:tr h="223660">
                <a:tc>
                  <a:txBody>
                    <a:bodyPr/>
                    <a:p>
                      <a:endParaRPr sz="1600" kern="1200">
                        <a:solidFill>
                          <a:schemeClr val="tx1"/>
                        </a:solidFill>
                        <a:latin typeface="Times New Roman" panose="02020603050405020304" pitchFamily="18" charset="0"/>
                        <a:ea typeface="+mn-ea"/>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tcPr>
                </a:tc>
                <a:tc>
                  <a:txBody>
                    <a:bodyPr/>
                    <a:p>
                      <a:pPr marL="48260">
                        <a:lnSpc>
                          <a:spcPct val="100000"/>
                        </a:lnSpc>
                      </a:pPr>
                      <a:r>
                        <a:rPr sz="1600" kern="1200" dirty="0">
                          <a:solidFill>
                            <a:schemeClr val="tx1"/>
                          </a:solidFill>
                          <a:latin typeface="Times New Roman" panose="02020603050405020304" pitchFamily="18" charset="0"/>
                          <a:ea typeface="+mn-ea"/>
                          <a:cs typeface="Times New Roman" panose="02020603050405020304" pitchFamily="18" charset="0"/>
                        </a:rPr>
                        <a:t>Read(B);</a:t>
                      </a:r>
                      <a:endParaRPr sz="1600" kern="1200">
                        <a:solidFill>
                          <a:schemeClr val="tx1"/>
                        </a:solidFill>
                        <a:latin typeface="Times New Roman" panose="02020603050405020304" pitchFamily="18" charset="0"/>
                        <a:ea typeface="+mn-ea"/>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tcPr>
                </a:tc>
              </a:tr>
              <a:tr h="223660">
                <a:tc>
                  <a:txBody>
                    <a:bodyPr/>
                    <a:p>
                      <a:pPr marL="48260">
                        <a:lnSpc>
                          <a:spcPct val="100000"/>
                        </a:lnSpc>
                      </a:pPr>
                      <a:r>
                        <a:rPr sz="1600" kern="1200" dirty="0">
                          <a:solidFill>
                            <a:schemeClr val="tx1"/>
                          </a:solidFill>
                          <a:latin typeface="Times New Roman" panose="02020603050405020304" pitchFamily="18" charset="0"/>
                          <a:ea typeface="+mn-ea"/>
                          <a:cs typeface="Times New Roman" panose="02020603050405020304" pitchFamily="18" charset="0"/>
                        </a:rPr>
                        <a:t>Write(A);</a:t>
                      </a:r>
                      <a:endParaRPr sz="1600" kern="1200">
                        <a:solidFill>
                          <a:schemeClr val="tx1"/>
                        </a:solidFill>
                        <a:latin typeface="Times New Roman" panose="02020603050405020304" pitchFamily="18" charset="0"/>
                        <a:ea typeface="+mn-ea"/>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tcPr>
                </a:tc>
                <a:tc>
                  <a:txBody>
                    <a:bodyPr/>
                    <a:p>
                      <a:endParaRPr sz="1600" kern="1200">
                        <a:solidFill>
                          <a:schemeClr val="tx1"/>
                        </a:solidFill>
                        <a:latin typeface="Times New Roman" panose="02020603050405020304" pitchFamily="18" charset="0"/>
                        <a:ea typeface="+mn-ea"/>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tcPr>
                </a:tc>
              </a:tr>
              <a:tr h="223660">
                <a:tc>
                  <a:txBody>
                    <a:bodyPr/>
                    <a:p>
                      <a:pPr marL="48260">
                        <a:lnSpc>
                          <a:spcPct val="100000"/>
                        </a:lnSpc>
                      </a:pPr>
                      <a:r>
                        <a:rPr sz="1600" kern="1200" dirty="0">
                          <a:solidFill>
                            <a:schemeClr val="tx1"/>
                          </a:solidFill>
                          <a:latin typeface="Times New Roman" panose="02020603050405020304" pitchFamily="18" charset="0"/>
                          <a:ea typeface="+mn-ea"/>
                          <a:cs typeface="Times New Roman" panose="02020603050405020304" pitchFamily="18" charset="0"/>
                        </a:rPr>
                        <a:t>Read(B);</a:t>
                      </a:r>
                      <a:endParaRPr sz="1600" kern="1200">
                        <a:solidFill>
                          <a:schemeClr val="tx1"/>
                        </a:solidFill>
                        <a:latin typeface="Times New Roman" panose="02020603050405020304" pitchFamily="18" charset="0"/>
                        <a:ea typeface="+mn-ea"/>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tcPr>
                </a:tc>
                <a:tc>
                  <a:txBody>
                    <a:bodyPr/>
                    <a:p>
                      <a:endParaRPr sz="1600" kern="1200">
                        <a:solidFill>
                          <a:schemeClr val="tx1"/>
                        </a:solidFill>
                        <a:latin typeface="Times New Roman" panose="02020603050405020304" pitchFamily="18" charset="0"/>
                        <a:ea typeface="+mn-ea"/>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tcPr>
                </a:tc>
              </a:tr>
              <a:tr h="223660">
                <a:tc>
                  <a:txBody>
                    <a:bodyPr/>
                    <a:p>
                      <a:pPr marL="48260">
                        <a:lnSpc>
                          <a:spcPct val="100000"/>
                        </a:lnSpc>
                      </a:pPr>
                      <a:r>
                        <a:rPr sz="1600" kern="1200" dirty="0">
                          <a:solidFill>
                            <a:schemeClr val="tx1"/>
                          </a:solidFill>
                          <a:latin typeface="Times New Roman" panose="02020603050405020304" pitchFamily="18" charset="0"/>
                          <a:ea typeface="+mn-ea"/>
                          <a:cs typeface="Times New Roman" panose="02020603050405020304" pitchFamily="18" charset="0"/>
                        </a:rPr>
                        <a:t>B:=B+100;</a:t>
                      </a:r>
                      <a:endParaRPr sz="1600" kern="1200">
                        <a:solidFill>
                          <a:schemeClr val="tx1"/>
                        </a:solidFill>
                        <a:latin typeface="Times New Roman" panose="02020603050405020304" pitchFamily="18" charset="0"/>
                        <a:ea typeface="+mn-ea"/>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tcPr>
                </a:tc>
                <a:tc>
                  <a:txBody>
                    <a:bodyPr/>
                    <a:p>
                      <a:endParaRPr sz="1600" kern="1200">
                        <a:solidFill>
                          <a:schemeClr val="tx1"/>
                        </a:solidFill>
                        <a:latin typeface="Times New Roman" panose="02020603050405020304" pitchFamily="18" charset="0"/>
                        <a:ea typeface="+mn-ea"/>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tcPr>
                </a:tc>
              </a:tr>
              <a:tr h="223660">
                <a:tc rowSpan="3">
                  <a:txBody>
                    <a:bodyPr/>
                    <a:p>
                      <a:pPr marL="48260">
                        <a:lnSpc>
                          <a:spcPct val="100000"/>
                        </a:lnSpc>
                      </a:pPr>
                      <a:r>
                        <a:rPr sz="1600" kern="1200" dirty="0">
                          <a:solidFill>
                            <a:schemeClr val="tx1"/>
                          </a:solidFill>
                          <a:latin typeface="Times New Roman" panose="02020603050405020304" pitchFamily="18" charset="0"/>
                          <a:ea typeface="+mn-ea"/>
                          <a:cs typeface="Times New Roman" panose="02020603050405020304" pitchFamily="18" charset="0"/>
                        </a:rPr>
                        <a:t>Write(B);</a:t>
                      </a:r>
                      <a:endParaRPr sz="1600" kern="1200">
                        <a:solidFill>
                          <a:schemeClr val="tx1"/>
                        </a:solidFill>
                        <a:latin typeface="Times New Roman" panose="02020603050405020304" pitchFamily="18" charset="0"/>
                        <a:ea typeface="+mn-ea"/>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lnB w="3251">
                      <a:solidFill>
                        <a:srgbClr val="000000"/>
                      </a:solidFill>
                      <a:prstDash val="solid"/>
                    </a:lnB>
                  </a:tcPr>
                </a:tc>
                <a:tc>
                  <a:txBody>
                    <a:bodyPr/>
                    <a:p>
                      <a:endParaRPr sz="1600" kern="1200">
                        <a:solidFill>
                          <a:schemeClr val="tx1"/>
                        </a:solidFill>
                        <a:latin typeface="Times New Roman" panose="02020603050405020304" pitchFamily="18" charset="0"/>
                        <a:ea typeface="+mn-ea"/>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tcPr>
                </a:tc>
              </a:tr>
              <a:tr h="223660">
                <a:tc vMerge="1">
                  <a:tcPr marL="0" marR="0" marT="0" marB="0">
                    <a:lnL w="3251">
                      <a:solidFill>
                        <a:srgbClr val="000000"/>
                      </a:solidFill>
                      <a:prstDash val="solid"/>
                    </a:lnL>
                    <a:lnR w="3251">
                      <a:solidFill>
                        <a:srgbClr val="000000"/>
                      </a:solidFill>
                      <a:prstDash val="solid"/>
                    </a:lnR>
                    <a:lnB w="3251">
                      <a:solidFill>
                        <a:srgbClr val="000000"/>
                      </a:solidFill>
                      <a:prstDash val="solid"/>
                    </a:lnB>
                  </a:tcPr>
                </a:tc>
                <a:tc>
                  <a:txBody>
                    <a:bodyPr/>
                    <a:p>
                      <a:pPr marL="48260">
                        <a:lnSpc>
                          <a:spcPct val="100000"/>
                        </a:lnSpc>
                      </a:pPr>
                      <a:r>
                        <a:rPr sz="1600" kern="1200" dirty="0">
                          <a:solidFill>
                            <a:schemeClr val="tx1"/>
                          </a:solidFill>
                          <a:latin typeface="Times New Roman" panose="02020603050405020304" pitchFamily="18" charset="0"/>
                          <a:ea typeface="+mn-ea"/>
                          <a:cs typeface="Times New Roman" panose="02020603050405020304" pitchFamily="18" charset="0"/>
                        </a:rPr>
                        <a:t>B:=B+Temp;</a:t>
                      </a:r>
                      <a:endParaRPr sz="1600" kern="1200">
                        <a:solidFill>
                          <a:schemeClr val="tx1"/>
                        </a:solidFill>
                        <a:latin typeface="Times New Roman" panose="02020603050405020304" pitchFamily="18" charset="0"/>
                        <a:ea typeface="+mn-ea"/>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tcPr>
                </a:tc>
              </a:tr>
              <a:tr h="231451">
                <a:tc vMerge="1">
                  <a:tcPr marL="0" marR="0" marT="0" marB="0">
                    <a:lnL w="3251">
                      <a:solidFill>
                        <a:srgbClr val="000000"/>
                      </a:solidFill>
                      <a:prstDash val="solid"/>
                    </a:lnL>
                    <a:lnR w="3251">
                      <a:solidFill>
                        <a:srgbClr val="000000"/>
                      </a:solidFill>
                      <a:prstDash val="solid"/>
                    </a:lnR>
                    <a:lnB w="3251">
                      <a:solidFill>
                        <a:srgbClr val="000000"/>
                      </a:solidFill>
                      <a:prstDash val="solid"/>
                    </a:lnB>
                  </a:tcPr>
                </a:tc>
                <a:tc>
                  <a:txBody>
                    <a:bodyPr/>
                    <a:p>
                      <a:pPr marL="48260">
                        <a:lnSpc>
                          <a:spcPct val="100000"/>
                        </a:lnSpc>
                      </a:pPr>
                      <a:r>
                        <a:rPr sz="1600" kern="1200" dirty="0">
                          <a:solidFill>
                            <a:schemeClr val="tx1"/>
                          </a:solidFill>
                          <a:latin typeface="Times New Roman" panose="02020603050405020304" pitchFamily="18" charset="0"/>
                          <a:ea typeface="+mn-ea"/>
                          <a:cs typeface="Times New Roman" panose="02020603050405020304" pitchFamily="18" charset="0"/>
                        </a:rPr>
                        <a:t>Write(B);</a:t>
                      </a:r>
                      <a:endParaRPr sz="1600" kern="1200">
                        <a:solidFill>
                          <a:schemeClr val="tx1"/>
                        </a:solidFill>
                        <a:latin typeface="Times New Roman" panose="02020603050405020304" pitchFamily="18" charset="0"/>
                        <a:ea typeface="+mn-ea"/>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lnB w="3251">
                      <a:solidFill>
                        <a:srgbClr val="000000"/>
                      </a:solidFill>
                      <a:prstDash val="solid"/>
                    </a:lnB>
                  </a:tcPr>
                </a:tc>
              </a:tr>
            </a:tbl>
          </a:graphicData>
        </a:graphic>
      </p:graphicFrame>
      <p:graphicFrame>
        <p:nvGraphicFramePr>
          <p:cNvPr id="16" name="object 10"/>
          <p:cNvGraphicFramePr>
            <a:graphicFrameLocks noGrp="1"/>
          </p:cNvGraphicFramePr>
          <p:nvPr/>
        </p:nvGraphicFramePr>
        <p:xfrm>
          <a:off x="6912623" y="2815739"/>
          <a:ext cx="2357454" cy="3657600"/>
        </p:xfrm>
        <a:graphic>
          <a:graphicData uri="http://schemas.openxmlformats.org/drawingml/2006/table">
            <a:tbl>
              <a:tblPr firstRow="1" bandRow="1">
                <a:tableStyleId>{2D5ABB26-0587-4C30-8999-92F81FD0307C}</a:tableStyleId>
              </a:tblPr>
              <a:tblGrid>
                <a:gridCol w="1086077"/>
                <a:gridCol w="1271377"/>
              </a:tblGrid>
              <a:tr h="243415">
                <a:tc>
                  <a:txBody>
                    <a:bodyPr/>
                    <a:p>
                      <a:pPr marL="48260">
                        <a:lnSpc>
                          <a:spcPct val="100000"/>
                        </a:lnSpc>
                      </a:pPr>
                      <a:r>
                        <a:rPr sz="1600" kern="1200" dirty="0">
                          <a:solidFill>
                            <a:schemeClr val="tx1"/>
                          </a:solidFill>
                          <a:latin typeface="Times New Roman" panose="02020603050405020304" pitchFamily="18" charset="0"/>
                          <a:ea typeface="+mn-ea"/>
                          <a:cs typeface="Times New Roman" panose="02020603050405020304" pitchFamily="18" charset="0"/>
                        </a:rPr>
                        <a:t>T1</a:t>
                      </a:r>
                      <a:endParaRPr sz="1600" kern="1200">
                        <a:solidFill>
                          <a:schemeClr val="tx1"/>
                        </a:solidFill>
                        <a:latin typeface="Times New Roman" panose="02020603050405020304" pitchFamily="18" charset="0"/>
                        <a:ea typeface="+mn-ea"/>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lnT w="3251">
                      <a:solidFill>
                        <a:srgbClr val="000000"/>
                      </a:solidFill>
                      <a:prstDash val="solid"/>
                    </a:lnT>
                    <a:lnB w="3251">
                      <a:solidFill>
                        <a:srgbClr val="000000"/>
                      </a:solidFill>
                      <a:prstDash val="solid"/>
                    </a:lnB>
                  </a:tcPr>
                </a:tc>
                <a:tc>
                  <a:txBody>
                    <a:bodyPr/>
                    <a:p>
                      <a:pPr marL="48260">
                        <a:lnSpc>
                          <a:spcPct val="100000"/>
                        </a:lnSpc>
                      </a:pPr>
                      <a:r>
                        <a:rPr sz="1600" kern="1200" dirty="0">
                          <a:solidFill>
                            <a:schemeClr val="tx1"/>
                          </a:solidFill>
                          <a:latin typeface="Times New Roman" panose="02020603050405020304" pitchFamily="18" charset="0"/>
                          <a:ea typeface="+mn-ea"/>
                          <a:cs typeface="Times New Roman" panose="02020603050405020304" pitchFamily="18" charset="0"/>
                        </a:rPr>
                        <a:t>T2</a:t>
                      </a:r>
                      <a:endParaRPr sz="1600" kern="1200">
                        <a:solidFill>
                          <a:schemeClr val="tx1"/>
                        </a:solidFill>
                        <a:latin typeface="Times New Roman" panose="02020603050405020304" pitchFamily="18" charset="0"/>
                        <a:ea typeface="+mn-ea"/>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lnT w="3251">
                      <a:solidFill>
                        <a:srgbClr val="000000"/>
                      </a:solidFill>
                      <a:prstDash val="solid"/>
                    </a:lnT>
                    <a:lnB w="3251">
                      <a:solidFill>
                        <a:srgbClr val="000000"/>
                      </a:solidFill>
                      <a:prstDash val="solid"/>
                    </a:lnB>
                  </a:tcPr>
                </a:tc>
              </a:tr>
              <a:tr h="238910">
                <a:tc>
                  <a:txBody>
                    <a:bodyPr/>
                    <a:p>
                      <a:pPr marL="48260">
                        <a:lnSpc>
                          <a:spcPct val="100000"/>
                        </a:lnSpc>
                      </a:pPr>
                      <a:r>
                        <a:rPr sz="1600" kern="1200" dirty="0">
                          <a:solidFill>
                            <a:schemeClr val="tx1"/>
                          </a:solidFill>
                          <a:latin typeface="Times New Roman" panose="02020603050405020304" pitchFamily="18" charset="0"/>
                          <a:ea typeface="+mn-ea"/>
                          <a:cs typeface="Times New Roman" panose="02020603050405020304" pitchFamily="18" charset="0"/>
                        </a:rPr>
                        <a:t>Read(A);</a:t>
                      </a:r>
                      <a:endParaRPr sz="1600" kern="1200">
                        <a:solidFill>
                          <a:schemeClr val="tx1"/>
                        </a:solidFill>
                        <a:latin typeface="Times New Roman" panose="02020603050405020304" pitchFamily="18" charset="0"/>
                        <a:ea typeface="+mn-ea"/>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lnT w="3251">
                      <a:solidFill>
                        <a:srgbClr val="000000"/>
                      </a:solidFill>
                      <a:prstDash val="solid"/>
                    </a:lnT>
                  </a:tcPr>
                </a:tc>
                <a:tc rowSpan="4">
                  <a:txBody>
                    <a:bodyPr/>
                    <a:p>
                      <a:pPr marL="48260">
                        <a:lnSpc>
                          <a:spcPct val="100000"/>
                        </a:lnSpc>
                      </a:pPr>
                      <a:endParaRPr lang="en-US" sz="1600" kern="1200" dirty="0" smtClean="0">
                        <a:solidFill>
                          <a:schemeClr val="tx1"/>
                        </a:solidFill>
                        <a:latin typeface="Times New Roman" panose="02020603050405020304" pitchFamily="18" charset="0"/>
                        <a:ea typeface="+mn-ea"/>
                        <a:cs typeface="Times New Roman" panose="02020603050405020304" pitchFamily="18" charset="0"/>
                      </a:endParaRPr>
                    </a:p>
                    <a:p>
                      <a:pPr marL="48260">
                        <a:lnSpc>
                          <a:spcPct val="100000"/>
                        </a:lnSpc>
                      </a:pPr>
                      <a:endParaRPr lang="en-US" sz="1600" kern="1200" dirty="0" smtClean="0">
                        <a:solidFill>
                          <a:schemeClr val="tx1"/>
                        </a:solidFill>
                        <a:latin typeface="Times New Roman" panose="02020603050405020304" pitchFamily="18" charset="0"/>
                        <a:ea typeface="+mn-ea"/>
                        <a:cs typeface="Times New Roman" panose="02020603050405020304" pitchFamily="18" charset="0"/>
                      </a:endParaRPr>
                    </a:p>
                    <a:p>
                      <a:pPr marL="48260">
                        <a:lnSpc>
                          <a:spcPct val="100000"/>
                        </a:lnSpc>
                      </a:pPr>
                      <a:endParaRPr lang="en-US" sz="1600" kern="1200" dirty="0" smtClean="0">
                        <a:solidFill>
                          <a:schemeClr val="tx1"/>
                        </a:solidFill>
                        <a:latin typeface="Times New Roman" panose="02020603050405020304" pitchFamily="18" charset="0"/>
                        <a:ea typeface="+mn-ea"/>
                        <a:cs typeface="Times New Roman" panose="02020603050405020304" pitchFamily="18" charset="0"/>
                      </a:endParaRPr>
                    </a:p>
                    <a:p>
                      <a:pPr marL="48260">
                        <a:lnSpc>
                          <a:spcPct val="100000"/>
                        </a:lnSpc>
                      </a:pPr>
                      <a:r>
                        <a:rPr sz="1600" kern="1200" smtClean="0">
                          <a:solidFill>
                            <a:schemeClr val="tx1"/>
                          </a:solidFill>
                          <a:latin typeface="Times New Roman" panose="02020603050405020304" pitchFamily="18" charset="0"/>
                          <a:ea typeface="+mn-ea"/>
                          <a:cs typeface="Times New Roman" panose="02020603050405020304" pitchFamily="18" charset="0"/>
                        </a:rPr>
                        <a:t>Read(A</a:t>
                      </a:r>
                      <a:r>
                        <a:rPr sz="1600" kern="1200" dirty="0">
                          <a:solidFill>
                            <a:schemeClr val="tx1"/>
                          </a:solidFill>
                          <a:latin typeface="Times New Roman" panose="02020603050405020304" pitchFamily="18" charset="0"/>
                          <a:ea typeface="+mn-ea"/>
                          <a:cs typeface="Times New Roman" panose="02020603050405020304" pitchFamily="18" charset="0"/>
                        </a:rPr>
                        <a:t>);</a:t>
                      </a:r>
                      <a:endParaRPr sz="1600" kern="1200">
                        <a:solidFill>
                          <a:schemeClr val="tx1"/>
                        </a:solidFill>
                        <a:latin typeface="Times New Roman" panose="02020603050405020304" pitchFamily="18" charset="0"/>
                        <a:ea typeface="+mn-ea"/>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lnT w="3251">
                      <a:solidFill>
                        <a:srgbClr val="000000"/>
                      </a:solidFill>
                      <a:prstDash val="solid"/>
                    </a:lnT>
                  </a:tcPr>
                </a:tc>
              </a:tr>
              <a:tr h="238910">
                <a:tc>
                  <a:txBody>
                    <a:bodyPr/>
                    <a:p>
                      <a:pPr marL="48260">
                        <a:lnSpc>
                          <a:spcPct val="100000"/>
                        </a:lnSpc>
                      </a:pPr>
                      <a:r>
                        <a:rPr sz="1600" kern="1200" dirty="0">
                          <a:solidFill>
                            <a:schemeClr val="tx1"/>
                          </a:solidFill>
                          <a:latin typeface="Times New Roman" panose="02020603050405020304" pitchFamily="18" charset="0"/>
                          <a:ea typeface="+mn-ea"/>
                          <a:cs typeface="Times New Roman" panose="02020603050405020304" pitchFamily="18" charset="0"/>
                        </a:rPr>
                        <a:t>A:=A-100;</a:t>
                      </a:r>
                      <a:endParaRPr sz="1600" kern="1200">
                        <a:solidFill>
                          <a:schemeClr val="tx1"/>
                        </a:solidFill>
                        <a:latin typeface="Times New Roman" panose="02020603050405020304" pitchFamily="18" charset="0"/>
                        <a:ea typeface="+mn-ea"/>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tcPr>
                </a:tc>
                <a:tc vMerge="1">
                  <a:tcPr marL="0" marR="0" marT="0" marB="0">
                    <a:lnL w="3251">
                      <a:solidFill>
                        <a:srgbClr val="000000"/>
                      </a:solidFill>
                      <a:prstDash val="solid"/>
                    </a:lnL>
                    <a:lnR w="3251">
                      <a:solidFill>
                        <a:srgbClr val="000000"/>
                      </a:solidFill>
                      <a:prstDash val="solid"/>
                    </a:lnR>
                    <a:lnT w="3251">
                      <a:solidFill>
                        <a:srgbClr val="000000"/>
                      </a:solidFill>
                      <a:prstDash val="solid"/>
                    </a:lnT>
                  </a:tcPr>
                </a:tc>
              </a:tr>
              <a:tr h="238910">
                <a:tc>
                  <a:txBody>
                    <a:bodyPr/>
                    <a:p>
                      <a:pPr marL="48260">
                        <a:lnSpc>
                          <a:spcPct val="100000"/>
                        </a:lnSpc>
                      </a:pPr>
                      <a:r>
                        <a:rPr sz="1600" kern="1200" dirty="0">
                          <a:solidFill>
                            <a:schemeClr val="tx1"/>
                          </a:solidFill>
                          <a:latin typeface="Times New Roman" panose="02020603050405020304" pitchFamily="18" charset="0"/>
                          <a:ea typeface="+mn-ea"/>
                          <a:cs typeface="Times New Roman" panose="02020603050405020304" pitchFamily="18" charset="0"/>
                        </a:rPr>
                        <a:t>Write(A);</a:t>
                      </a:r>
                      <a:endParaRPr sz="1600" kern="1200">
                        <a:solidFill>
                          <a:schemeClr val="tx1"/>
                        </a:solidFill>
                        <a:latin typeface="Times New Roman" panose="02020603050405020304" pitchFamily="18" charset="0"/>
                        <a:ea typeface="+mn-ea"/>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tcPr>
                </a:tc>
                <a:tc vMerge="1">
                  <a:tcPr marL="0" marR="0" marT="0" marB="0">
                    <a:lnL w="3251">
                      <a:solidFill>
                        <a:srgbClr val="000000"/>
                      </a:solidFill>
                      <a:prstDash val="solid"/>
                    </a:lnL>
                    <a:lnR w="3251">
                      <a:solidFill>
                        <a:srgbClr val="000000"/>
                      </a:solidFill>
                      <a:prstDash val="solid"/>
                    </a:lnR>
                    <a:lnT w="3251">
                      <a:solidFill>
                        <a:srgbClr val="000000"/>
                      </a:solidFill>
                      <a:prstDash val="solid"/>
                    </a:lnT>
                  </a:tcPr>
                </a:tc>
              </a:tr>
              <a:tr h="238910">
                <a:tc>
                  <a:txBody>
                    <a:bodyPr/>
                    <a:p>
                      <a:endParaRPr sz="1600" kern="1200">
                        <a:solidFill>
                          <a:schemeClr val="tx1"/>
                        </a:solidFill>
                        <a:latin typeface="Times New Roman" panose="02020603050405020304" pitchFamily="18" charset="0"/>
                        <a:ea typeface="+mn-ea"/>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tcPr>
                </a:tc>
                <a:tc vMerge="1">
                  <a:tcPr marL="0" marR="0" marT="0" marB="0">
                    <a:lnL w="3251">
                      <a:solidFill>
                        <a:srgbClr val="000000"/>
                      </a:solidFill>
                      <a:prstDash val="solid"/>
                    </a:lnL>
                    <a:lnR w="3251">
                      <a:solidFill>
                        <a:srgbClr val="000000"/>
                      </a:solidFill>
                      <a:prstDash val="solid"/>
                    </a:lnR>
                    <a:lnT w="3251">
                      <a:solidFill>
                        <a:srgbClr val="000000"/>
                      </a:solidFill>
                      <a:prstDash val="solid"/>
                    </a:lnT>
                  </a:tcPr>
                </a:tc>
              </a:tr>
              <a:tr h="238910">
                <a:tc>
                  <a:txBody>
                    <a:bodyPr/>
                    <a:p>
                      <a:endParaRPr sz="1600" kern="1200">
                        <a:solidFill>
                          <a:schemeClr val="tx1"/>
                        </a:solidFill>
                        <a:latin typeface="Times New Roman" panose="02020603050405020304" pitchFamily="18" charset="0"/>
                        <a:ea typeface="+mn-ea"/>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tcPr>
                </a:tc>
                <a:tc>
                  <a:txBody>
                    <a:bodyPr/>
                    <a:p>
                      <a:pPr marL="48260">
                        <a:lnSpc>
                          <a:spcPct val="100000"/>
                        </a:lnSpc>
                      </a:pPr>
                      <a:r>
                        <a:rPr sz="1600" kern="1200" dirty="0">
                          <a:solidFill>
                            <a:schemeClr val="tx1"/>
                          </a:solidFill>
                          <a:latin typeface="Times New Roman" panose="02020603050405020304" pitchFamily="18" charset="0"/>
                          <a:ea typeface="+mn-ea"/>
                          <a:cs typeface="Times New Roman" panose="02020603050405020304" pitchFamily="18" charset="0"/>
                        </a:rPr>
                        <a:t>Temp=0.2*A;</a:t>
                      </a:r>
                      <a:endParaRPr sz="1600" kern="1200">
                        <a:solidFill>
                          <a:schemeClr val="tx1"/>
                        </a:solidFill>
                        <a:latin typeface="Times New Roman" panose="02020603050405020304" pitchFamily="18" charset="0"/>
                        <a:ea typeface="+mn-ea"/>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tcPr>
                </a:tc>
              </a:tr>
              <a:tr h="238910">
                <a:tc>
                  <a:txBody>
                    <a:bodyPr/>
                    <a:p>
                      <a:endParaRPr sz="1600" kern="1200">
                        <a:solidFill>
                          <a:schemeClr val="tx1"/>
                        </a:solidFill>
                        <a:latin typeface="Times New Roman" panose="02020603050405020304" pitchFamily="18" charset="0"/>
                        <a:ea typeface="+mn-ea"/>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tcPr>
                </a:tc>
                <a:tc>
                  <a:txBody>
                    <a:bodyPr/>
                    <a:p>
                      <a:pPr marL="48260">
                        <a:lnSpc>
                          <a:spcPct val="100000"/>
                        </a:lnSpc>
                      </a:pPr>
                      <a:r>
                        <a:rPr sz="1600" kern="1200" dirty="0">
                          <a:solidFill>
                            <a:schemeClr val="tx1"/>
                          </a:solidFill>
                          <a:latin typeface="Times New Roman" panose="02020603050405020304" pitchFamily="18" charset="0"/>
                          <a:ea typeface="+mn-ea"/>
                          <a:cs typeface="Times New Roman" panose="02020603050405020304" pitchFamily="18" charset="0"/>
                        </a:rPr>
                        <a:t>A:=A-Temp;</a:t>
                      </a:r>
                      <a:endParaRPr sz="1600" kern="1200">
                        <a:solidFill>
                          <a:schemeClr val="tx1"/>
                        </a:solidFill>
                        <a:latin typeface="Times New Roman" panose="02020603050405020304" pitchFamily="18" charset="0"/>
                        <a:ea typeface="+mn-ea"/>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tcPr>
                </a:tc>
              </a:tr>
              <a:tr h="238910">
                <a:tc>
                  <a:txBody>
                    <a:bodyPr/>
                    <a:p>
                      <a:pPr marL="48260">
                        <a:lnSpc>
                          <a:spcPct val="100000"/>
                        </a:lnSpc>
                      </a:pPr>
                      <a:r>
                        <a:rPr sz="1600" kern="1200" dirty="0">
                          <a:solidFill>
                            <a:schemeClr val="tx1"/>
                          </a:solidFill>
                          <a:latin typeface="Times New Roman" panose="02020603050405020304" pitchFamily="18" charset="0"/>
                          <a:ea typeface="+mn-ea"/>
                          <a:cs typeface="Times New Roman" panose="02020603050405020304" pitchFamily="18" charset="0"/>
                        </a:rPr>
                        <a:t>Read(B);</a:t>
                      </a:r>
                      <a:endParaRPr sz="1600" kern="1200">
                        <a:solidFill>
                          <a:schemeClr val="tx1"/>
                        </a:solidFill>
                        <a:latin typeface="Times New Roman" panose="02020603050405020304" pitchFamily="18" charset="0"/>
                        <a:ea typeface="+mn-ea"/>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tcPr>
                </a:tc>
                <a:tc>
                  <a:txBody>
                    <a:bodyPr/>
                    <a:p>
                      <a:endParaRPr sz="1600" kern="1200">
                        <a:solidFill>
                          <a:schemeClr val="tx1"/>
                        </a:solidFill>
                        <a:latin typeface="Times New Roman" panose="02020603050405020304" pitchFamily="18" charset="0"/>
                        <a:ea typeface="+mn-ea"/>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tcPr>
                </a:tc>
              </a:tr>
              <a:tr h="238910">
                <a:tc>
                  <a:txBody>
                    <a:bodyPr/>
                    <a:p>
                      <a:pPr marL="48260">
                        <a:lnSpc>
                          <a:spcPct val="100000"/>
                        </a:lnSpc>
                      </a:pPr>
                      <a:r>
                        <a:rPr sz="1600" kern="1200" dirty="0">
                          <a:solidFill>
                            <a:schemeClr val="tx1"/>
                          </a:solidFill>
                          <a:latin typeface="Times New Roman" panose="02020603050405020304" pitchFamily="18" charset="0"/>
                          <a:ea typeface="+mn-ea"/>
                          <a:cs typeface="Times New Roman" panose="02020603050405020304" pitchFamily="18" charset="0"/>
                        </a:rPr>
                        <a:t>B:=</a:t>
                      </a:r>
                      <a:r>
                        <a:rPr sz="1600" kern="1200">
                          <a:solidFill>
                            <a:schemeClr val="tx1"/>
                          </a:solidFill>
                          <a:latin typeface="Times New Roman" panose="02020603050405020304" pitchFamily="18" charset="0"/>
                          <a:ea typeface="+mn-ea"/>
                          <a:cs typeface="Times New Roman" panose="02020603050405020304" pitchFamily="18" charset="0"/>
                        </a:rPr>
                        <a:t>B+100</a:t>
                      </a:r>
                      <a:r>
                        <a:rPr sz="1600" kern="1200" smtClean="0">
                          <a:solidFill>
                            <a:schemeClr val="tx1"/>
                          </a:solidFill>
                          <a:latin typeface="Times New Roman" panose="02020603050405020304" pitchFamily="18" charset="0"/>
                          <a:ea typeface="+mn-ea"/>
                          <a:cs typeface="Times New Roman" panose="02020603050405020304" pitchFamily="18" charset="0"/>
                        </a:rPr>
                        <a:t>;</a:t>
                      </a:r>
                      <a:endParaRPr lang="en-US" sz="1600" kern="1200" dirty="0" smtClean="0">
                        <a:solidFill>
                          <a:schemeClr val="tx1"/>
                        </a:solidFill>
                        <a:latin typeface="Times New Roman" panose="02020603050405020304" pitchFamily="18" charset="0"/>
                        <a:ea typeface="+mn-ea"/>
                        <a:cs typeface="Times New Roman" panose="02020603050405020304" pitchFamily="18" charset="0"/>
                      </a:endParaRPr>
                    </a:p>
                    <a:p>
                      <a:pPr marL="48260" marR="0" indent="0" algn="l" defTabSz="914400" rtl="0" eaLnBrk="1" fontAlgn="auto" latinLnBrk="0" hangingPunct="1">
                        <a:lnSpc>
                          <a:spcPct val="100000"/>
                        </a:lnSpc>
                        <a:spcBef>
                          <a:spcPts val="0"/>
                        </a:spcBef>
                        <a:spcAft>
                          <a:spcPts val="0"/>
                        </a:spcAft>
                        <a:buClrTx/>
                        <a:buSzTx/>
                        <a:buFontTx/>
                        <a:buNone/>
                        <a:defRPr/>
                      </a:pPr>
                      <a:r>
                        <a:rPr lang="en-US" sz="1600" kern="1200" dirty="0" smtClean="0">
                          <a:solidFill>
                            <a:schemeClr val="tx1"/>
                          </a:solidFill>
                          <a:latin typeface="Times New Roman" panose="02020603050405020304" pitchFamily="18" charset="0"/>
                          <a:ea typeface="+mn-ea"/>
                          <a:cs typeface="Times New Roman" panose="02020603050405020304" pitchFamily="18" charset="0"/>
                        </a:rPr>
                        <a:t>Write(B);</a:t>
                      </a:r>
                      <a:endParaRPr lang="en-US" sz="1600" kern="1200" dirty="0" smtClean="0">
                        <a:solidFill>
                          <a:schemeClr val="tx1"/>
                        </a:solidFill>
                        <a:latin typeface="Times New Roman" panose="02020603050405020304" pitchFamily="18" charset="0"/>
                        <a:ea typeface="+mn-ea"/>
                        <a:cs typeface="Times New Roman" panose="02020603050405020304" pitchFamily="18" charset="0"/>
                      </a:endParaRPr>
                    </a:p>
                    <a:p>
                      <a:pPr marL="48260">
                        <a:lnSpc>
                          <a:spcPct val="100000"/>
                        </a:lnSpc>
                      </a:pPr>
                      <a:endParaRPr sz="1600" kern="1200">
                        <a:solidFill>
                          <a:schemeClr val="tx1"/>
                        </a:solidFill>
                        <a:latin typeface="Times New Roman" panose="02020603050405020304" pitchFamily="18" charset="0"/>
                        <a:ea typeface="+mn-ea"/>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tcPr>
                </a:tc>
                <a:tc>
                  <a:txBody>
                    <a:bodyPr/>
                    <a:p>
                      <a:endParaRPr sz="1600" kern="1200">
                        <a:solidFill>
                          <a:schemeClr val="tx1"/>
                        </a:solidFill>
                        <a:latin typeface="Times New Roman" panose="02020603050405020304" pitchFamily="18" charset="0"/>
                        <a:ea typeface="+mn-ea"/>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tcPr>
                </a:tc>
              </a:tr>
              <a:tr h="238910">
                <a:tc>
                  <a:txBody>
                    <a:bodyPr/>
                    <a:p>
                      <a:endParaRPr sz="1600" kern="1200">
                        <a:solidFill>
                          <a:schemeClr val="tx1"/>
                        </a:solidFill>
                        <a:latin typeface="Times New Roman" panose="02020603050405020304" pitchFamily="18" charset="0"/>
                        <a:ea typeface="+mn-ea"/>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tcPr>
                </a:tc>
                <a:tc>
                  <a:txBody>
                    <a:bodyPr/>
                    <a:p>
                      <a:pPr marL="48260">
                        <a:lnSpc>
                          <a:spcPct val="100000"/>
                        </a:lnSpc>
                      </a:pPr>
                      <a:r>
                        <a:rPr sz="1600" kern="1200" dirty="0">
                          <a:solidFill>
                            <a:schemeClr val="tx1"/>
                          </a:solidFill>
                          <a:latin typeface="Times New Roman" panose="02020603050405020304" pitchFamily="18" charset="0"/>
                          <a:ea typeface="+mn-ea"/>
                          <a:cs typeface="Times New Roman" panose="02020603050405020304" pitchFamily="18" charset="0"/>
                        </a:rPr>
                        <a:t>Write(A);</a:t>
                      </a:r>
                      <a:endParaRPr sz="1600" kern="1200">
                        <a:solidFill>
                          <a:schemeClr val="tx1"/>
                        </a:solidFill>
                        <a:latin typeface="Times New Roman" panose="02020603050405020304" pitchFamily="18" charset="0"/>
                        <a:ea typeface="+mn-ea"/>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tcPr>
                </a:tc>
              </a:tr>
              <a:tr h="238910">
                <a:tc>
                  <a:txBody>
                    <a:bodyPr/>
                    <a:p>
                      <a:endParaRPr sz="1600" kern="1200">
                        <a:solidFill>
                          <a:schemeClr val="tx1"/>
                        </a:solidFill>
                        <a:latin typeface="Times New Roman" panose="02020603050405020304" pitchFamily="18" charset="0"/>
                        <a:ea typeface="+mn-ea"/>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tcPr>
                </a:tc>
                <a:tc>
                  <a:txBody>
                    <a:bodyPr/>
                    <a:p>
                      <a:pPr marL="48260">
                        <a:lnSpc>
                          <a:spcPct val="100000"/>
                        </a:lnSpc>
                      </a:pPr>
                      <a:r>
                        <a:rPr sz="1600" kern="1200" dirty="0">
                          <a:solidFill>
                            <a:schemeClr val="tx1"/>
                          </a:solidFill>
                          <a:latin typeface="Times New Roman" panose="02020603050405020304" pitchFamily="18" charset="0"/>
                          <a:ea typeface="+mn-ea"/>
                          <a:cs typeface="Times New Roman" panose="02020603050405020304" pitchFamily="18" charset="0"/>
                        </a:rPr>
                        <a:t>Read(B);</a:t>
                      </a:r>
                      <a:endParaRPr sz="1600" kern="1200">
                        <a:solidFill>
                          <a:schemeClr val="tx1"/>
                        </a:solidFill>
                        <a:latin typeface="Times New Roman" panose="02020603050405020304" pitchFamily="18" charset="0"/>
                        <a:ea typeface="+mn-ea"/>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tcPr>
                </a:tc>
              </a:tr>
              <a:tr h="238910">
                <a:tc>
                  <a:txBody>
                    <a:bodyPr/>
                    <a:p>
                      <a:endParaRPr sz="1600" kern="1200">
                        <a:solidFill>
                          <a:schemeClr val="tx1"/>
                        </a:solidFill>
                        <a:latin typeface="Times New Roman" panose="02020603050405020304" pitchFamily="18" charset="0"/>
                        <a:ea typeface="+mn-ea"/>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tcPr>
                </a:tc>
                <a:tc>
                  <a:txBody>
                    <a:bodyPr/>
                    <a:p>
                      <a:pPr marL="48260">
                        <a:lnSpc>
                          <a:spcPct val="100000"/>
                        </a:lnSpc>
                      </a:pPr>
                      <a:r>
                        <a:rPr sz="1600" kern="1200" dirty="0">
                          <a:solidFill>
                            <a:schemeClr val="tx1"/>
                          </a:solidFill>
                          <a:latin typeface="Times New Roman" panose="02020603050405020304" pitchFamily="18" charset="0"/>
                          <a:ea typeface="+mn-ea"/>
                          <a:cs typeface="Times New Roman" panose="02020603050405020304" pitchFamily="18" charset="0"/>
                        </a:rPr>
                        <a:t>B:=B+Temp;</a:t>
                      </a:r>
                      <a:endParaRPr sz="1600" kern="1200">
                        <a:solidFill>
                          <a:schemeClr val="tx1"/>
                        </a:solidFill>
                        <a:latin typeface="Times New Roman" panose="02020603050405020304" pitchFamily="18" charset="0"/>
                        <a:ea typeface="+mn-ea"/>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tcPr>
                </a:tc>
              </a:tr>
              <a:tr h="238910">
                <a:tc>
                  <a:txBody>
                    <a:bodyPr/>
                    <a:p>
                      <a:endParaRPr sz="1600" kern="1200">
                        <a:solidFill>
                          <a:schemeClr val="tx1"/>
                        </a:solidFill>
                        <a:latin typeface="Times New Roman" panose="02020603050405020304" pitchFamily="18" charset="0"/>
                        <a:ea typeface="+mn-ea"/>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tcPr>
                </a:tc>
                <a:tc>
                  <a:txBody>
                    <a:bodyPr/>
                    <a:p>
                      <a:pPr marL="48260">
                        <a:lnSpc>
                          <a:spcPct val="100000"/>
                        </a:lnSpc>
                      </a:pPr>
                      <a:r>
                        <a:rPr sz="1600" kern="1200" dirty="0">
                          <a:solidFill>
                            <a:schemeClr val="tx1"/>
                          </a:solidFill>
                          <a:latin typeface="Times New Roman" panose="02020603050405020304" pitchFamily="18" charset="0"/>
                          <a:ea typeface="+mn-ea"/>
                          <a:cs typeface="Times New Roman" panose="02020603050405020304" pitchFamily="18" charset="0"/>
                        </a:rPr>
                        <a:t>Write(B);</a:t>
                      </a:r>
                      <a:endParaRPr sz="1600" kern="1200">
                        <a:solidFill>
                          <a:schemeClr val="tx1"/>
                        </a:solidFill>
                        <a:latin typeface="Times New Roman" panose="02020603050405020304" pitchFamily="18" charset="0"/>
                        <a:ea typeface="+mn-ea"/>
                        <a:cs typeface="Times New Roman" panose="02020603050405020304" pitchFamily="18" charset="0"/>
                      </a:endParaRPr>
                    </a:p>
                  </a:txBody>
                  <a:tcPr marL="0" marR="0" marT="0" marB="0">
                    <a:lnL w="3251">
                      <a:solidFill>
                        <a:srgbClr val="000000"/>
                      </a:solidFill>
                      <a:prstDash val="solid"/>
                    </a:lnL>
                    <a:lnR w="3251">
                      <a:solidFill>
                        <a:srgbClr val="000000"/>
                      </a:solidFill>
                      <a:prstDash val="solid"/>
                    </a:lnR>
                    <a:lnB w="3251">
                      <a:solidFill>
                        <a:srgbClr val="000000"/>
                      </a:solidFill>
                      <a:prstDash val="solid"/>
                    </a:lnB>
                  </a:tcPr>
                </a:tc>
              </a:tr>
            </a:tbl>
          </a:graphicData>
        </a:graphic>
      </p:graphicFrame>
      <p:sp>
        <p:nvSpPr>
          <p:cNvPr id="17" name="object 17"/>
          <p:cNvSpPr txBox="1"/>
          <p:nvPr/>
        </p:nvSpPr>
        <p:spPr>
          <a:xfrm>
            <a:off x="4769483" y="6428601"/>
            <a:ext cx="1671620" cy="276999"/>
          </a:xfrm>
          <a:prstGeom prst="rect">
            <a:avLst/>
          </a:prstGeom>
        </p:spPr>
        <p:txBody>
          <a:bodyPr vert="horz" wrap="square" lIns="0" tIns="0" rIns="0" bIns="0" rtlCol="0">
            <a:spAutoFit/>
          </a:bodyPr>
          <a:p>
            <a:pPr marL="12700">
              <a:lnSpc>
                <a:spcPct val="100000"/>
              </a:lnSpc>
            </a:pPr>
            <a:r>
              <a:rPr b="1" spc="-10" smtClean="0">
                <a:latin typeface="Times New Roman" panose="02020603050405020304" pitchFamily="18" charset="0"/>
                <a:cs typeface="Times New Roman" panose="02020603050405020304" pitchFamily="18" charset="0"/>
              </a:rPr>
              <a:t>Schedule</a:t>
            </a:r>
            <a:r>
              <a:rPr lang="en-US" b="1" spc="-10" dirty="0" smtClean="0">
                <a:latin typeface="Times New Roman" panose="02020603050405020304" pitchFamily="18" charset="0"/>
                <a:cs typeface="Times New Roman" panose="02020603050405020304" pitchFamily="18" charset="0"/>
              </a:rPr>
              <a:t> 4</a:t>
            </a:r>
            <a:endParaRPr b="1">
              <a:latin typeface="Times New Roman" panose="02020603050405020304" pitchFamily="18" charset="0"/>
              <a:cs typeface="Times New Roman" panose="02020603050405020304" pitchFamily="18" charset="0"/>
            </a:endParaRPr>
          </a:p>
        </p:txBody>
      </p:sp>
      <p:sp>
        <p:nvSpPr>
          <p:cNvPr id="18" name="object 17"/>
          <p:cNvSpPr txBox="1"/>
          <p:nvPr/>
        </p:nvSpPr>
        <p:spPr>
          <a:xfrm>
            <a:off x="7422215" y="6477000"/>
            <a:ext cx="1671620" cy="276999"/>
          </a:xfrm>
          <a:prstGeom prst="rect">
            <a:avLst/>
          </a:prstGeom>
        </p:spPr>
        <p:txBody>
          <a:bodyPr vert="horz" wrap="square" lIns="0" tIns="0" rIns="0" bIns="0" rtlCol="0">
            <a:spAutoFit/>
          </a:bodyPr>
          <a:p>
            <a:pPr marL="12700">
              <a:lnSpc>
                <a:spcPct val="100000"/>
              </a:lnSpc>
            </a:pPr>
            <a:r>
              <a:rPr b="1" spc="-10" smtClean="0">
                <a:latin typeface="Times New Roman" panose="02020603050405020304" pitchFamily="18" charset="0"/>
                <a:cs typeface="Times New Roman" panose="02020603050405020304" pitchFamily="18" charset="0"/>
              </a:rPr>
              <a:t>Schedule</a:t>
            </a:r>
            <a:r>
              <a:rPr lang="en-US" b="1" spc="-10" dirty="0" smtClean="0">
                <a:latin typeface="Times New Roman" panose="02020603050405020304" pitchFamily="18" charset="0"/>
                <a:cs typeface="Times New Roman" panose="02020603050405020304" pitchFamily="18" charset="0"/>
              </a:rPr>
              <a:t> 5</a:t>
            </a:r>
            <a:endParaRPr b="1">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Serializability</a:t>
            </a:r>
            <a:endParaRPr lang="en-US"/>
          </a:p>
        </p:txBody>
      </p:sp>
      <p:sp>
        <p:nvSpPr>
          <p:cNvPr id="3" name="Content Placeholder 2"/>
          <p:cNvSpPr>
            <a:spLocks noGrp="1"/>
          </p:cNvSpPr>
          <p:nvPr>
            <p:ph idx="1"/>
          </p:nvPr>
        </p:nvSpPr>
        <p:spPr/>
        <p:txBody>
          <a:bodyPr/>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sym typeface="+mn-ea"/>
              </a:rPr>
              <a:t>A concurrent schedule is serializable if it is equivalent to a serial schedule.</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sym typeface="+mn-ea"/>
              </a:rPr>
              <a:t>Serial schedules preserve consistency as we assume each transaction individually preserves consistency.</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sym typeface="+mn-ea"/>
              </a:rPr>
              <a:t>The database system must control concurrent execution of transactions to ensure that the database state remains consistent.</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sym typeface="+mn-ea"/>
              </a:rPr>
              <a:t>Since the modifications are done in the local buffer, we can ignore the operations other than Read and Write instructions for easier understanding of the </a:t>
            </a:r>
            <a:r>
              <a:rPr lang="en-US" kern="0" dirty="0" err="1" smtClean="0">
                <a:latin typeface="Times New Roman" panose="02020603050405020304" pitchFamily="18" charset="0"/>
                <a:cs typeface="Times New Roman" panose="02020603050405020304" pitchFamily="18" charset="0"/>
                <a:sym typeface="+mn-ea"/>
              </a:rPr>
              <a:t>serializability</a:t>
            </a:r>
            <a:r>
              <a:rPr lang="en-US" kern="0" dirty="0" smtClean="0">
                <a:latin typeface="Times New Roman" panose="02020603050405020304" pitchFamily="18" charset="0"/>
                <a:cs typeface="Times New Roman" panose="02020603050405020304" pitchFamily="18" charset="0"/>
                <a:sym typeface="+mn-ea"/>
              </a:rPr>
              <a:t>.</a:t>
            </a:r>
            <a:endParaRPr lang="en-US" kern="0" dirty="0" smtClean="0">
              <a:latin typeface="Times New Roman" panose="02020603050405020304" pitchFamily="18" charset="0"/>
              <a:cs typeface="Times New Roman" panose="02020603050405020304" pitchFamily="18" charset="0"/>
            </a:endParaRPr>
          </a:p>
          <a:p>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Serializability</a:t>
            </a:r>
            <a:endParaRPr lang="en-US"/>
          </a:p>
        </p:txBody>
      </p:sp>
      <p:pic>
        <p:nvPicPr>
          <p:cNvPr id="2050" name="Picture 2" descr="C:\Users\nEW u\Desktop\11.jpg"/>
          <p:cNvPicPr>
            <a:picLocks noChangeAspect="1" noChangeArrowheads="1"/>
          </p:cNvPicPr>
          <p:nvPr/>
        </p:nvPicPr>
        <p:blipFill>
          <a:blip r:embed="rId1"/>
          <a:srcRect/>
          <a:stretch>
            <a:fillRect/>
          </a:stretch>
        </p:blipFill>
        <p:spPr bwMode="auto">
          <a:xfrm>
            <a:off x="2666976" y="1467601"/>
            <a:ext cx="6858048" cy="5175330"/>
          </a:xfrm>
          <a:prstGeom prst="rect">
            <a:avLst/>
          </a:prstGeom>
          <a:noFill/>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Conflict Serializability</a:t>
            </a:r>
            <a:endParaRPr lang="en-US"/>
          </a:p>
        </p:txBody>
      </p:sp>
      <p:sp>
        <p:nvSpPr>
          <p:cNvPr id="3" name="Content Placeholder 2"/>
          <p:cNvSpPr>
            <a:spLocks noGrp="1"/>
          </p:cNvSpPr>
          <p:nvPr>
            <p:ph idx="1"/>
          </p:nvPr>
        </p:nvSpPr>
        <p:spPr/>
        <p:txBody>
          <a:bodyPr>
            <a:normAutofit lnSpcReduction="10000"/>
          </a:bodyPr>
          <a:p>
            <a:pPr marL="342900" indent="-342900" algn="just">
              <a:spcBef>
                <a:spcPct val="20000"/>
              </a:spcBef>
              <a:buFont typeface="Wingdings" panose="05000000000000000000" pitchFamily="2" charset="2"/>
              <a:buChar char="Ø"/>
              <a:defRPr/>
            </a:pPr>
            <a:r>
              <a:rPr lang="en-US" sz="2800" kern="0" dirty="0" smtClean="0">
                <a:latin typeface="Times New Roman" panose="02020603050405020304" pitchFamily="18" charset="0"/>
                <a:cs typeface="Times New Roman" panose="02020603050405020304" pitchFamily="18" charset="0"/>
                <a:sym typeface="+mn-ea"/>
              </a:rPr>
              <a:t>A schedule is called conflict serializability if after swapping of non-conflicting operations, it can transform into a serial schedule.</a:t>
            </a:r>
            <a:endParaRPr lang="en-US" sz="2800"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sz="2800" kern="0" dirty="0" smtClean="0">
                <a:latin typeface="Times New Roman" panose="02020603050405020304" pitchFamily="18" charset="0"/>
                <a:cs typeface="Times New Roman" panose="02020603050405020304" pitchFamily="18" charset="0"/>
                <a:sym typeface="+mn-ea"/>
              </a:rPr>
              <a:t>The schedule will be a conflict serializable if it is conflict equivalent to a serial schedule.</a:t>
            </a:r>
            <a:endParaRPr lang="en-US" sz="2800"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sz="2800" b="1" kern="0" dirty="0" smtClean="0">
                <a:latin typeface="Times New Roman" panose="02020603050405020304" pitchFamily="18" charset="0"/>
                <a:cs typeface="Times New Roman" panose="02020603050405020304" pitchFamily="18" charset="0"/>
                <a:sym typeface="+mn-ea"/>
              </a:rPr>
              <a:t>Conflicting Operations</a:t>
            </a:r>
            <a:endParaRPr lang="en-US" sz="2800" kern="0" dirty="0" smtClean="0">
              <a:latin typeface="Times New Roman" panose="02020603050405020304" pitchFamily="18" charset="0"/>
              <a:cs typeface="Times New Roman" panose="02020603050405020304" pitchFamily="18" charset="0"/>
            </a:endParaRPr>
          </a:p>
          <a:p>
            <a:pPr marL="0" indent="0" algn="just">
              <a:spcBef>
                <a:spcPct val="20000"/>
              </a:spcBef>
              <a:buFont typeface="Wingdings" panose="05000000000000000000" pitchFamily="2" charset="2"/>
              <a:buNone/>
              <a:defRPr/>
            </a:pPr>
            <a:r>
              <a:rPr lang="en-US" sz="2800" kern="0" dirty="0" smtClean="0">
                <a:latin typeface="Times New Roman" panose="02020603050405020304" pitchFamily="18" charset="0"/>
                <a:cs typeface="Times New Roman" panose="02020603050405020304" pitchFamily="18" charset="0"/>
                <a:sym typeface="+mn-ea"/>
              </a:rPr>
              <a:t>The two operations become conflicting if all conditions satisfy:</a:t>
            </a:r>
            <a:endParaRPr lang="en-US" sz="2800"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sz="2800"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pitchFamily="2" charset="2"/>
              <a:buAutoNum type="arabicPeriod"/>
              <a:defRPr/>
            </a:pPr>
            <a:r>
              <a:rPr lang="en-US" sz="2800" kern="0" dirty="0" smtClean="0">
                <a:latin typeface="Times New Roman" panose="02020603050405020304" pitchFamily="18" charset="0"/>
                <a:cs typeface="Times New Roman" panose="02020603050405020304" pitchFamily="18" charset="0"/>
                <a:sym typeface="+mn-ea"/>
              </a:rPr>
              <a:t>Both belong to separate transactions.</a:t>
            </a:r>
            <a:endParaRPr lang="en-US" sz="2800"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pitchFamily="2" charset="2"/>
              <a:buAutoNum type="arabicPeriod"/>
              <a:defRPr/>
            </a:pPr>
            <a:r>
              <a:rPr lang="en-US" sz="2800" kern="0" dirty="0" smtClean="0">
                <a:latin typeface="Times New Roman" panose="02020603050405020304" pitchFamily="18" charset="0"/>
                <a:cs typeface="Times New Roman" panose="02020603050405020304" pitchFamily="18" charset="0"/>
                <a:sym typeface="+mn-ea"/>
              </a:rPr>
              <a:t>They have the same data item.</a:t>
            </a:r>
            <a:endParaRPr lang="en-US" sz="2800"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pitchFamily="2" charset="2"/>
              <a:buAutoNum type="arabicPeriod"/>
              <a:defRPr/>
            </a:pPr>
            <a:r>
              <a:rPr lang="en-US" sz="2800" kern="0" dirty="0" smtClean="0">
                <a:latin typeface="Times New Roman" panose="02020603050405020304" pitchFamily="18" charset="0"/>
                <a:cs typeface="Times New Roman" panose="02020603050405020304" pitchFamily="18" charset="0"/>
                <a:sym typeface="+mn-ea"/>
              </a:rPr>
              <a:t>They contain at least one write operation.</a:t>
            </a:r>
            <a:endParaRPr lang="en-US" sz="2800" kern="0" dirty="0" smtClean="0">
              <a:latin typeface="Times New Roman" panose="02020603050405020304" pitchFamily="18" charset="0"/>
              <a:cs typeface="Times New Roman" panose="02020603050405020304" pitchFamily="18" charset="0"/>
            </a:endParaRPr>
          </a:p>
          <a:p>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Conflict Serializability…</a:t>
            </a:r>
            <a:endParaRPr lang="en-US"/>
          </a:p>
        </p:txBody>
      </p:sp>
      <p:sp>
        <p:nvSpPr>
          <p:cNvPr id="5" name="Content Placeholder 2"/>
          <p:cNvSpPr txBox="1"/>
          <p:nvPr/>
        </p:nvSpPr>
        <p:spPr bwMode="auto">
          <a:xfrm>
            <a:off x="1710346" y="1280144"/>
            <a:ext cx="7858180" cy="5143536"/>
          </a:xfrm>
          <a:prstGeom prst="rect">
            <a:avLst/>
          </a:prstGeom>
          <a:noFill/>
          <a:ln w="9525">
            <a:noFill/>
            <a:miter lim="800000"/>
          </a:ln>
        </p:spPr>
        <p:txBody>
          <a:bodyPr/>
          <a:p>
            <a:pPr marL="342900" indent="-342900" algn="just">
              <a:spcBef>
                <a:spcPct val="20000"/>
              </a:spcBef>
              <a:buFont typeface="Wingdings" panose="05000000000000000000" pitchFamily="2" charset="2"/>
              <a:buChar char="Ø"/>
              <a:defRPr/>
            </a:pPr>
            <a:r>
              <a:rPr lang="en-US" b="1" kern="0" dirty="0" smtClean="0">
                <a:latin typeface="Times New Roman" panose="02020603050405020304" pitchFamily="18" charset="0"/>
                <a:cs typeface="Times New Roman" panose="02020603050405020304" pitchFamily="18" charset="0"/>
              </a:rPr>
              <a:t>Example:</a:t>
            </a:r>
            <a:endParaRPr lang="en-US" kern="0" dirty="0" smtClean="0">
              <a:latin typeface="Times New Roman" panose="02020603050405020304" pitchFamily="18" charset="0"/>
              <a:cs typeface="Times New Roman" panose="02020603050405020304" pitchFamily="18" charset="0"/>
            </a:endParaRPr>
          </a:p>
          <a:p>
            <a:pPr marL="0" indent="0" algn="just">
              <a:spcBef>
                <a:spcPct val="20000"/>
              </a:spcBef>
              <a:buFont typeface="Wingdings" panose="05000000000000000000" pitchFamily="2" charset="2"/>
              <a:buNone/>
              <a:defRPr/>
            </a:pPr>
            <a:r>
              <a:rPr lang="en-US" kern="0" dirty="0" smtClean="0">
                <a:latin typeface="Times New Roman" panose="02020603050405020304" pitchFamily="18" charset="0"/>
                <a:cs typeface="Times New Roman" panose="02020603050405020304" pitchFamily="18" charset="0"/>
              </a:rPr>
              <a:t>Swapping is possible only if S1 and S2 are logically equal.</a:t>
            </a:r>
            <a:endParaRPr lang="en-US" kern="0" dirty="0" smtClean="0">
              <a:latin typeface="Times New Roman" panose="02020603050405020304" pitchFamily="18" charset="0"/>
              <a:cs typeface="Times New Roman" panose="02020603050405020304" pitchFamily="18" charset="0"/>
            </a:endParaRPr>
          </a:p>
          <a:p>
            <a:pPr marL="0" indent="0" algn="just">
              <a:spcBef>
                <a:spcPct val="20000"/>
              </a:spcBef>
              <a:buFont typeface="Wingdings" panose="05000000000000000000" pitchFamily="2" charset="2"/>
              <a:buNone/>
              <a:defRPr/>
            </a:pPr>
            <a:r>
              <a:rPr lang="en-US" kern="0" dirty="0" smtClean="0">
                <a:latin typeface="Times New Roman" panose="02020603050405020304" pitchFamily="18" charset="0"/>
                <a:cs typeface="Times New Roman" panose="02020603050405020304" pitchFamily="18" charset="0"/>
              </a:rPr>
              <a:t>Here, S1 = S2. That means it is non-conflict.</a:t>
            </a:r>
            <a:endParaRPr lang="en-US" kern="0" dirty="0" smtClean="0">
              <a:latin typeface="Times New Roman" panose="02020603050405020304" pitchFamily="18" charset="0"/>
              <a:cs typeface="Times New Roman" panose="02020603050405020304" pitchFamily="18" charset="0"/>
            </a:endParaRPr>
          </a:p>
          <a:p>
            <a:pPr marL="0" indent="0" algn="just">
              <a:spcBef>
                <a:spcPct val="20000"/>
              </a:spcBef>
              <a:buFont typeface="Wingdings" panose="05000000000000000000" pitchFamily="2" charset="2"/>
              <a:buNone/>
              <a:defRPr/>
            </a:pP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p:txBody>
      </p:sp>
      <p:pic>
        <p:nvPicPr>
          <p:cNvPr id="6" name="Content Placeholder 5"/>
          <p:cNvPicPr>
            <a:picLocks noGrp="1" noChangeAspect="1"/>
          </p:cNvPicPr>
          <p:nvPr>
            <p:ph idx="1"/>
          </p:nvPr>
        </p:nvPicPr>
        <p:blipFill>
          <a:blip r:embed="rId1"/>
          <a:stretch>
            <a:fillRect/>
          </a:stretch>
        </p:blipFill>
        <p:spPr>
          <a:xfrm>
            <a:off x="2545715" y="2577465"/>
            <a:ext cx="6492875" cy="308927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Conflict Serializability…</a:t>
            </a:r>
            <a:endParaRPr lang="en-US"/>
          </a:p>
        </p:txBody>
      </p:sp>
      <p:sp>
        <p:nvSpPr>
          <p:cNvPr id="4" name="Content Placeholder 2"/>
          <p:cNvSpPr txBox="1"/>
          <p:nvPr/>
        </p:nvSpPr>
        <p:spPr bwMode="auto">
          <a:xfrm>
            <a:off x="1166786" y="1432544"/>
            <a:ext cx="7858180" cy="5143536"/>
          </a:xfrm>
          <a:prstGeom prst="rect">
            <a:avLst/>
          </a:prstGeom>
          <a:noFill/>
          <a:ln w="9525">
            <a:noFill/>
            <a:miter lim="800000"/>
          </a:ln>
        </p:spPr>
        <p:txBody>
          <a:bodyPr/>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rPr>
              <a:t>Here, S1 ≠ S2. That means it is conflict.</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pitchFamily="2" charset="2"/>
              <a:buAutoNum type="arabicPeriod"/>
              <a:defRPr/>
            </a:pP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p:txBody>
      </p:sp>
      <p:pic>
        <p:nvPicPr>
          <p:cNvPr id="5" name="Content Placeholder 4"/>
          <p:cNvPicPr>
            <a:picLocks noGrp="1" noChangeAspect="1"/>
          </p:cNvPicPr>
          <p:nvPr>
            <p:ph idx="1"/>
          </p:nvPr>
        </p:nvPicPr>
        <p:blipFill>
          <a:blip r:embed="rId1"/>
          <a:stretch>
            <a:fillRect/>
          </a:stretch>
        </p:blipFill>
        <p:spPr>
          <a:xfrm>
            <a:off x="1735455" y="2261235"/>
            <a:ext cx="6206490" cy="378269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Conflict Serializability…</a:t>
            </a:r>
            <a:endParaRPr lang="en-US"/>
          </a:p>
        </p:txBody>
      </p:sp>
      <p:sp>
        <p:nvSpPr>
          <p:cNvPr id="4" name="Content Placeholder 2"/>
          <p:cNvSpPr txBox="1"/>
          <p:nvPr/>
        </p:nvSpPr>
        <p:spPr bwMode="auto">
          <a:xfrm>
            <a:off x="1517306" y="1463024"/>
            <a:ext cx="7858180" cy="5143536"/>
          </a:xfrm>
          <a:prstGeom prst="rect">
            <a:avLst/>
          </a:prstGeom>
          <a:noFill/>
          <a:ln w="9525">
            <a:noFill/>
            <a:miter lim="800000"/>
          </a:ln>
        </p:spPr>
        <p:txBody>
          <a:bodyPr/>
          <a:p>
            <a:pPr marL="342900" indent="-342900" algn="just">
              <a:spcBef>
                <a:spcPct val="20000"/>
              </a:spcBef>
              <a:buFont typeface="Wingdings" panose="05000000000000000000" pitchFamily="2" charset="2"/>
              <a:buChar char="Ø"/>
              <a:defRPr/>
            </a:pPr>
            <a:r>
              <a:rPr lang="en-US" b="1" kern="0" dirty="0" smtClean="0">
                <a:latin typeface="Times New Roman" panose="02020603050405020304" pitchFamily="18" charset="0"/>
                <a:cs typeface="Times New Roman" panose="02020603050405020304" pitchFamily="18" charset="0"/>
              </a:rPr>
              <a:t>Conflict Equivalent</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rPr>
              <a:t>In the conflict equivalent, one can be transformed to another by swapping non-conflicting operations. In the given example, S2 is conflict equivalent to S1 (S1 can be converted to S2 by swapping non-conflicting operations).</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rPr>
              <a:t>Two schedules are said to be conflict equivalent if and only if:</a:t>
            </a:r>
            <a:endParaRPr lang="en-US"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Arial" panose="020B0604020202020204" pitchFamily="34" charset="0"/>
              <a:buChar char="•"/>
              <a:defRPr/>
            </a:pPr>
            <a:r>
              <a:rPr lang="en-US" kern="0" dirty="0" smtClean="0">
                <a:latin typeface="Times New Roman" panose="02020603050405020304" pitchFamily="18" charset="0"/>
                <a:cs typeface="Times New Roman" panose="02020603050405020304" pitchFamily="18" charset="0"/>
              </a:rPr>
              <a:t>They contain the same set of the transaction.</a:t>
            </a:r>
            <a:endParaRPr lang="en-US"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Arial" panose="020B0604020202020204" pitchFamily="34" charset="0"/>
              <a:buChar char="•"/>
              <a:defRPr/>
            </a:pPr>
            <a:r>
              <a:rPr lang="en-US" kern="0" dirty="0" smtClean="0">
                <a:latin typeface="Times New Roman" panose="02020603050405020304" pitchFamily="18" charset="0"/>
                <a:cs typeface="Times New Roman" panose="02020603050405020304" pitchFamily="18" charset="0"/>
              </a:rPr>
              <a:t>If each pair of conflict operations are ordered in the same way.</a:t>
            </a:r>
            <a:endParaRPr lang="en-US" kern="0" dirty="0" smtClean="0">
              <a:latin typeface="Times New Roman" panose="02020603050405020304" pitchFamily="18" charset="0"/>
              <a:cs typeface="Times New Roman" panose="02020603050405020304" pitchFamily="18" charset="0"/>
            </a:endParaRPr>
          </a:p>
          <a:p>
            <a:pPr marL="342900" lvl="0" indent="-342900" algn="just">
              <a:spcBef>
                <a:spcPct val="20000"/>
              </a:spcBef>
              <a:buFont typeface="Wingdings" panose="05000000000000000000" charset="0"/>
              <a:buChar char="Ø"/>
              <a:defRPr/>
            </a:pPr>
            <a:r>
              <a:rPr lang="en-US" kern="0" dirty="0" smtClean="0">
                <a:latin typeface="Times New Roman" panose="02020603050405020304" pitchFamily="18" charset="0"/>
                <a:cs typeface="Times New Roman" panose="02020603050405020304" pitchFamily="18" charset="0"/>
              </a:rPr>
              <a:t>Schedule S2 is a serial schedule because, in this, all operations of T1 are performed before starting any operation of T2. Schedule S1 can be transformed into a serial schedule by swapping non-conflicting operations of S1.</a:t>
            </a:r>
            <a:endParaRPr lang="en-US" kern="0" dirty="0" smtClean="0">
              <a:latin typeface="Times New Roman" panose="02020603050405020304" pitchFamily="18" charset="0"/>
              <a:cs typeface="Times New Roman" panose="02020603050405020304" pitchFamily="18" charset="0"/>
            </a:endParaRPr>
          </a:p>
          <a:p>
            <a:pPr marL="342900" lvl="0" indent="-342900" algn="just">
              <a:spcBef>
                <a:spcPct val="20000"/>
              </a:spcBef>
              <a:buFont typeface="Wingdings" panose="05000000000000000000" charset="0"/>
              <a:buChar char="Ø"/>
              <a:defRPr/>
            </a:pPr>
            <a:endParaRPr lang="en-US" kern="0" dirty="0" smtClean="0">
              <a:latin typeface="Times New Roman" panose="02020603050405020304" pitchFamily="18" charset="0"/>
              <a:cs typeface="Times New Roman" panose="02020603050405020304" pitchFamily="18" charset="0"/>
            </a:endParaRPr>
          </a:p>
          <a:p>
            <a:pPr marL="342900" lvl="0" indent="-342900" algn="just">
              <a:spcBef>
                <a:spcPct val="20000"/>
              </a:spcBef>
              <a:buFont typeface="Wingdings" panose="05000000000000000000" charset="0"/>
              <a:buChar char="Ø"/>
              <a:defRPr/>
            </a:pPr>
            <a:endParaRPr lang="en-US" kern="0" dirty="0" smtClean="0">
              <a:latin typeface="Times New Roman" panose="02020603050405020304" pitchFamily="18" charset="0"/>
              <a:cs typeface="Times New Roman" panose="02020603050405020304" pitchFamily="18" charset="0"/>
            </a:endParaRPr>
          </a:p>
          <a:p>
            <a:pPr marL="342900" lvl="0" indent="-342900" algn="just">
              <a:spcBef>
                <a:spcPct val="20000"/>
              </a:spcBef>
              <a:buFont typeface="Wingdings" panose="05000000000000000000" charset="0"/>
              <a:buChar char="Ø"/>
              <a:defRPr/>
            </a:pPr>
            <a:endParaRPr lang="en-US" kern="0" dirty="0" smtClean="0">
              <a:latin typeface="Times New Roman" panose="02020603050405020304" pitchFamily="18" charset="0"/>
              <a:cs typeface="Times New Roman" panose="02020603050405020304" pitchFamily="18" charset="0"/>
            </a:endParaRPr>
          </a:p>
          <a:p>
            <a:pPr marL="342900" lvl="0" indent="-342900" algn="just">
              <a:spcBef>
                <a:spcPct val="20000"/>
              </a:spcBef>
              <a:buFont typeface="Wingdings" panose="05000000000000000000" charset="0"/>
              <a:buChar char="Ø"/>
              <a:defRPr/>
            </a:pPr>
            <a:endParaRPr lang="en-US" kern="0" dirty="0" smtClean="0">
              <a:latin typeface="Times New Roman" panose="02020603050405020304" pitchFamily="18" charset="0"/>
              <a:cs typeface="Times New Roman" panose="02020603050405020304" pitchFamily="18" charset="0"/>
            </a:endParaRPr>
          </a:p>
          <a:p>
            <a:pPr marL="1257300" lvl="2" indent="-342900" algn="just">
              <a:spcBef>
                <a:spcPct val="20000"/>
              </a:spcBef>
              <a:buFont typeface="Arial" panose="020B0604020202020204" pitchFamily="34" charset="0"/>
              <a:buChar char="•"/>
              <a:defRPr/>
            </a:pP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p:txBody>
      </p:sp>
      <p:pic>
        <p:nvPicPr>
          <p:cNvPr id="5" name="Content Placeholder 4"/>
          <p:cNvPicPr>
            <a:picLocks noGrp="1" noChangeAspect="1"/>
          </p:cNvPicPr>
          <p:nvPr>
            <p:ph idx="1"/>
          </p:nvPr>
        </p:nvPicPr>
        <p:blipFill>
          <a:blip r:embed="rId1"/>
          <a:stretch>
            <a:fillRect/>
          </a:stretch>
        </p:blipFill>
        <p:spPr>
          <a:xfrm>
            <a:off x="2801620" y="4662170"/>
            <a:ext cx="5365750" cy="199898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Conflict Serializability…</a:t>
            </a:r>
            <a:endParaRPr lang="en-US"/>
          </a:p>
        </p:txBody>
      </p:sp>
      <p:sp>
        <p:nvSpPr>
          <p:cNvPr id="4" name="Content Placeholder 2"/>
          <p:cNvSpPr txBox="1"/>
          <p:nvPr/>
        </p:nvSpPr>
        <p:spPr bwMode="auto">
          <a:xfrm>
            <a:off x="2690786" y="1402064"/>
            <a:ext cx="7858180" cy="5143536"/>
          </a:xfrm>
          <a:prstGeom prst="rect">
            <a:avLst/>
          </a:prstGeom>
          <a:noFill/>
          <a:ln w="9525">
            <a:noFill/>
            <a:miter lim="800000"/>
          </a:ln>
        </p:spPr>
        <p:txBody>
          <a:bodyPr/>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rPr>
              <a:t>After swapping of non-conflict operations, the schedule S1 becomes:</a:t>
            </a:r>
            <a:endParaRPr lang="en-US" kern="0" dirty="0" smtClean="0">
              <a:latin typeface="Times New Roman" panose="02020603050405020304" pitchFamily="18" charset="0"/>
              <a:cs typeface="Times New Roman" panose="02020603050405020304" pitchFamily="18" charset="0"/>
            </a:endParaRPr>
          </a:p>
          <a:p>
            <a:pPr marL="0" indent="0" algn="just">
              <a:spcBef>
                <a:spcPct val="20000"/>
              </a:spcBef>
              <a:buFont typeface="Wingdings" panose="05000000000000000000" pitchFamily="2" charset="2"/>
              <a:buNone/>
              <a:defRPr/>
            </a:pPr>
            <a:r>
              <a:rPr lang="en-US" kern="0" dirty="0" smtClean="0">
                <a:latin typeface="Times New Roman" panose="02020603050405020304" pitchFamily="18" charset="0"/>
                <a:cs typeface="Times New Roman" panose="02020603050405020304" pitchFamily="18" charset="0"/>
              </a:rPr>
              <a:t>          T1	                                  T2</a:t>
            </a:r>
            <a:endParaRPr lang="en-US" kern="0" dirty="0" smtClean="0">
              <a:latin typeface="Times New Roman" panose="02020603050405020304" pitchFamily="18" charset="0"/>
              <a:cs typeface="Times New Roman" panose="02020603050405020304" pitchFamily="18" charset="0"/>
            </a:endParaRPr>
          </a:p>
          <a:p>
            <a:pPr marL="0" indent="0" algn="just">
              <a:spcBef>
                <a:spcPct val="20000"/>
              </a:spcBef>
              <a:buFont typeface="Wingdings" panose="05000000000000000000" pitchFamily="2" charset="2"/>
              <a:buNone/>
              <a:defRPr/>
            </a:pPr>
            <a:r>
              <a:rPr lang="en-US" kern="0" dirty="0" smtClean="0">
                <a:latin typeface="Times New Roman" panose="02020603050405020304" pitchFamily="18" charset="0"/>
                <a:cs typeface="Times New Roman" panose="02020603050405020304" pitchFamily="18" charset="0"/>
              </a:rPr>
              <a:t>      Read(A)</a:t>
            </a:r>
            <a:endParaRPr lang="en-US" kern="0" dirty="0" smtClean="0">
              <a:latin typeface="Times New Roman" panose="02020603050405020304" pitchFamily="18" charset="0"/>
              <a:cs typeface="Times New Roman" panose="02020603050405020304" pitchFamily="18" charset="0"/>
            </a:endParaRPr>
          </a:p>
          <a:p>
            <a:pPr marL="0" indent="0" algn="just">
              <a:spcBef>
                <a:spcPct val="20000"/>
              </a:spcBef>
              <a:buFont typeface="Wingdings" panose="05000000000000000000" pitchFamily="2" charset="2"/>
              <a:buNone/>
              <a:defRPr/>
            </a:pPr>
            <a:r>
              <a:rPr lang="en-US" kern="0" dirty="0" smtClean="0">
                <a:latin typeface="Times New Roman" panose="02020603050405020304" pitchFamily="18" charset="0"/>
                <a:cs typeface="Times New Roman" panose="02020603050405020304" pitchFamily="18" charset="0"/>
              </a:rPr>
              <a:t>      Write(A)</a:t>
            </a:r>
            <a:endParaRPr lang="en-US" kern="0" dirty="0" smtClean="0">
              <a:latin typeface="Times New Roman" panose="02020603050405020304" pitchFamily="18" charset="0"/>
              <a:cs typeface="Times New Roman" panose="02020603050405020304" pitchFamily="18" charset="0"/>
            </a:endParaRPr>
          </a:p>
          <a:p>
            <a:pPr marL="0" indent="0" algn="just">
              <a:spcBef>
                <a:spcPct val="20000"/>
              </a:spcBef>
              <a:buFont typeface="Wingdings" panose="05000000000000000000" pitchFamily="2" charset="2"/>
              <a:buNone/>
              <a:defRPr/>
            </a:pPr>
            <a:r>
              <a:rPr lang="en-US" kern="0" dirty="0" smtClean="0">
                <a:latin typeface="Times New Roman" panose="02020603050405020304" pitchFamily="18" charset="0"/>
                <a:cs typeface="Times New Roman" panose="02020603050405020304" pitchFamily="18" charset="0"/>
              </a:rPr>
              <a:t>      Read(B)</a:t>
            </a:r>
            <a:endParaRPr lang="en-US" kern="0" dirty="0" smtClean="0">
              <a:latin typeface="Times New Roman" panose="02020603050405020304" pitchFamily="18" charset="0"/>
              <a:cs typeface="Times New Roman" panose="02020603050405020304" pitchFamily="18" charset="0"/>
            </a:endParaRPr>
          </a:p>
          <a:p>
            <a:pPr marL="0" indent="0" algn="just">
              <a:spcBef>
                <a:spcPct val="20000"/>
              </a:spcBef>
              <a:buFont typeface="Wingdings" panose="05000000000000000000" pitchFamily="2" charset="2"/>
              <a:buNone/>
              <a:defRPr/>
            </a:pPr>
            <a:r>
              <a:rPr lang="en-US" kern="0" dirty="0" smtClean="0">
                <a:latin typeface="Times New Roman" panose="02020603050405020304" pitchFamily="18" charset="0"/>
                <a:cs typeface="Times New Roman" panose="02020603050405020304" pitchFamily="18" charset="0"/>
              </a:rPr>
              <a:t>     Write(B)	            </a:t>
            </a:r>
            <a:endParaRPr lang="en-US" kern="0" dirty="0" smtClean="0">
              <a:latin typeface="Times New Roman" panose="02020603050405020304" pitchFamily="18" charset="0"/>
              <a:cs typeface="Times New Roman" panose="02020603050405020304" pitchFamily="18" charset="0"/>
            </a:endParaRPr>
          </a:p>
          <a:p>
            <a:pPr marL="0" indent="0" algn="just">
              <a:spcBef>
                <a:spcPct val="20000"/>
              </a:spcBef>
              <a:buFont typeface="Wingdings" panose="05000000000000000000" pitchFamily="2" charset="2"/>
              <a:buNone/>
              <a:defRPr/>
            </a:pPr>
            <a:r>
              <a:rPr lang="en-US" kern="0" dirty="0" smtClean="0">
                <a:latin typeface="Times New Roman" panose="02020603050405020304" pitchFamily="18" charset="0"/>
                <a:cs typeface="Times New Roman" panose="02020603050405020304" pitchFamily="18" charset="0"/>
              </a:rPr>
              <a:t>                                           	Read(A)</a:t>
            </a:r>
            <a:endParaRPr lang="en-US" kern="0" dirty="0" smtClean="0">
              <a:latin typeface="Times New Roman" panose="02020603050405020304" pitchFamily="18" charset="0"/>
              <a:cs typeface="Times New Roman" panose="02020603050405020304" pitchFamily="18" charset="0"/>
            </a:endParaRPr>
          </a:p>
          <a:p>
            <a:pPr marL="0" indent="0" algn="just">
              <a:spcBef>
                <a:spcPct val="20000"/>
              </a:spcBef>
              <a:buFont typeface="Wingdings" panose="05000000000000000000" pitchFamily="2" charset="2"/>
              <a:buNone/>
              <a:defRPr/>
            </a:pPr>
            <a:r>
              <a:rPr lang="en-US" kern="0" dirty="0" smtClean="0">
                <a:latin typeface="Times New Roman" panose="02020603050405020304" pitchFamily="18" charset="0"/>
                <a:cs typeface="Times New Roman" panose="02020603050405020304" pitchFamily="18" charset="0"/>
              </a:rPr>
              <a:t>		           	Write(A)</a:t>
            </a:r>
            <a:endParaRPr lang="en-US" kern="0" dirty="0" smtClean="0">
              <a:latin typeface="Times New Roman" panose="02020603050405020304" pitchFamily="18" charset="0"/>
              <a:cs typeface="Times New Roman" panose="02020603050405020304" pitchFamily="18" charset="0"/>
            </a:endParaRPr>
          </a:p>
          <a:p>
            <a:pPr marL="0" indent="0" algn="just">
              <a:spcBef>
                <a:spcPct val="20000"/>
              </a:spcBef>
              <a:buFont typeface="Wingdings" panose="05000000000000000000" pitchFamily="2" charset="2"/>
              <a:buNone/>
              <a:defRPr/>
            </a:pPr>
            <a:r>
              <a:rPr lang="en-US" kern="0" dirty="0" smtClean="0">
                <a:latin typeface="Times New Roman" panose="02020603050405020304" pitchFamily="18" charset="0"/>
                <a:cs typeface="Times New Roman" panose="02020603050405020304" pitchFamily="18" charset="0"/>
              </a:rPr>
              <a:t>			Read(B)</a:t>
            </a:r>
            <a:endParaRPr lang="en-US" kern="0" dirty="0" smtClean="0">
              <a:latin typeface="Times New Roman" panose="02020603050405020304" pitchFamily="18" charset="0"/>
              <a:cs typeface="Times New Roman" panose="02020603050405020304" pitchFamily="18" charset="0"/>
            </a:endParaRPr>
          </a:p>
          <a:p>
            <a:pPr marL="0" indent="0" algn="just">
              <a:spcBef>
                <a:spcPct val="20000"/>
              </a:spcBef>
              <a:buFont typeface="Wingdings" panose="05000000000000000000" pitchFamily="2" charset="2"/>
              <a:buNone/>
              <a:defRPr/>
            </a:pPr>
            <a:r>
              <a:rPr lang="en-US" kern="0" dirty="0" smtClean="0">
                <a:latin typeface="Times New Roman" panose="02020603050405020304" pitchFamily="18" charset="0"/>
                <a:cs typeface="Times New Roman" panose="02020603050405020304" pitchFamily="18" charset="0"/>
              </a:rPr>
              <a:t>			Write(B)</a:t>
            </a:r>
            <a:endParaRPr lang="en-US" kern="0" dirty="0" smtClean="0">
              <a:latin typeface="Times New Roman" panose="02020603050405020304" pitchFamily="18" charset="0"/>
              <a:cs typeface="Times New Roman" panose="02020603050405020304" pitchFamily="18" charset="0"/>
            </a:endParaRPr>
          </a:p>
          <a:p>
            <a:pPr marL="0" indent="0" algn="just">
              <a:spcBef>
                <a:spcPct val="20000"/>
              </a:spcBef>
              <a:buFont typeface="Wingdings" panose="05000000000000000000" pitchFamily="2" charset="2"/>
              <a:buNone/>
              <a:defRPr/>
            </a:pP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rPr>
              <a:t>Since, S1 is conflict serializable.</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Testing for Conflict Serializability</a:t>
            </a:r>
            <a:endParaRPr lang="en-US"/>
          </a:p>
        </p:txBody>
      </p:sp>
      <p:sp>
        <p:nvSpPr>
          <p:cNvPr id="3" name="Content Placeholder 2"/>
          <p:cNvSpPr>
            <a:spLocks noGrp="1"/>
          </p:cNvSpPr>
          <p:nvPr>
            <p:ph idx="1"/>
          </p:nvPr>
        </p:nvSpPr>
        <p:spPr/>
        <p:txBody>
          <a:bodyPr>
            <a:normAutofit fontScale="80000"/>
          </a:bodyPr>
          <a:p>
            <a:pPr marL="342900" indent="-342900" algn="just">
              <a:spcBef>
                <a:spcPct val="20000"/>
              </a:spcBef>
              <a:buFont typeface="Wingdings" panose="05000000000000000000" pitchFamily="2" charset="2"/>
              <a:buChar char="Ø"/>
              <a:defRPr/>
            </a:pPr>
            <a:r>
              <a:rPr lang="en-US" sz="2800" kern="0" dirty="0" smtClean="0">
                <a:latin typeface="Times New Roman" panose="02020603050405020304" pitchFamily="18" charset="0"/>
                <a:cs typeface="Times New Roman" panose="02020603050405020304" pitchFamily="18" charset="0"/>
                <a:sym typeface="+mn-ea"/>
              </a:rPr>
              <a:t>Construct a directed graph, called a precedence graph from S. This graph consists of a pair G = (V, E), where V is a set of vertices and E is a set of edges.</a:t>
            </a:r>
            <a:endParaRPr lang="en-US" sz="2800"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sz="2800" kern="0" dirty="0" smtClean="0">
                <a:latin typeface="Times New Roman" panose="02020603050405020304" pitchFamily="18" charset="0"/>
                <a:cs typeface="Times New Roman" panose="02020603050405020304" pitchFamily="18" charset="0"/>
                <a:sym typeface="+mn-ea"/>
              </a:rPr>
              <a:t>The set of vertices consists of all the transactions participating in the schedule.</a:t>
            </a:r>
            <a:endParaRPr lang="en-US" sz="2800"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sz="2800" kern="0" dirty="0" smtClean="0">
                <a:latin typeface="Times New Roman" panose="02020603050405020304" pitchFamily="18" charset="0"/>
                <a:cs typeface="Times New Roman" panose="02020603050405020304" pitchFamily="18" charset="0"/>
                <a:sym typeface="+mn-ea"/>
              </a:rPr>
              <a:t>The set of edges consists of all edges Ti  → </a:t>
            </a:r>
            <a:r>
              <a:rPr lang="en-US" sz="2800" kern="0" dirty="0" err="1" smtClean="0">
                <a:latin typeface="Times New Roman" panose="02020603050405020304" pitchFamily="18" charset="0"/>
                <a:cs typeface="Times New Roman" panose="02020603050405020304" pitchFamily="18" charset="0"/>
                <a:sym typeface="+mn-ea"/>
              </a:rPr>
              <a:t>Tj</a:t>
            </a:r>
            <a:r>
              <a:rPr lang="en-US" sz="2800" kern="0" dirty="0" smtClean="0">
                <a:latin typeface="Times New Roman" panose="02020603050405020304" pitchFamily="18" charset="0"/>
                <a:cs typeface="Times New Roman" panose="02020603050405020304" pitchFamily="18" charset="0"/>
                <a:sym typeface="+mn-ea"/>
              </a:rPr>
              <a:t>  for which one of three conditions holds:</a:t>
            </a:r>
            <a:endParaRPr lang="en-US" sz="2800"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pitchFamily="2" charset="2"/>
              <a:buChar char="ü"/>
              <a:defRPr/>
            </a:pPr>
            <a:r>
              <a:rPr lang="en-US" sz="2800" kern="0" dirty="0" smtClean="0">
                <a:latin typeface="Times New Roman" panose="02020603050405020304" pitchFamily="18" charset="0"/>
                <a:cs typeface="Times New Roman" panose="02020603050405020304" pitchFamily="18" charset="0"/>
                <a:sym typeface="+mn-ea"/>
              </a:rPr>
              <a:t>Ti  executes write(Q) before </a:t>
            </a:r>
            <a:r>
              <a:rPr lang="en-US" sz="2800" kern="0" dirty="0" err="1" smtClean="0">
                <a:latin typeface="Times New Roman" panose="02020603050405020304" pitchFamily="18" charset="0"/>
                <a:cs typeface="Times New Roman" panose="02020603050405020304" pitchFamily="18" charset="0"/>
                <a:sym typeface="+mn-ea"/>
              </a:rPr>
              <a:t>Tj</a:t>
            </a:r>
            <a:r>
              <a:rPr lang="en-US" sz="2800" kern="0" dirty="0" smtClean="0">
                <a:latin typeface="Times New Roman" panose="02020603050405020304" pitchFamily="18" charset="0"/>
                <a:cs typeface="Times New Roman" panose="02020603050405020304" pitchFamily="18" charset="0"/>
                <a:sym typeface="+mn-ea"/>
              </a:rPr>
              <a:t>  executes read(Q)</a:t>
            </a:r>
            <a:endParaRPr lang="en-US" sz="2800"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pitchFamily="2" charset="2"/>
              <a:buChar char="ü"/>
              <a:defRPr/>
            </a:pPr>
            <a:r>
              <a:rPr lang="en-US" sz="2800" kern="0" dirty="0" smtClean="0">
                <a:latin typeface="Times New Roman" panose="02020603050405020304" pitchFamily="18" charset="0"/>
                <a:cs typeface="Times New Roman" panose="02020603050405020304" pitchFamily="18" charset="0"/>
                <a:sym typeface="+mn-ea"/>
              </a:rPr>
              <a:t>Ti  executes read(Q) before </a:t>
            </a:r>
            <a:r>
              <a:rPr lang="en-US" sz="2800" kern="0" dirty="0" err="1" smtClean="0">
                <a:latin typeface="Times New Roman" panose="02020603050405020304" pitchFamily="18" charset="0"/>
                <a:cs typeface="Times New Roman" panose="02020603050405020304" pitchFamily="18" charset="0"/>
                <a:sym typeface="+mn-ea"/>
              </a:rPr>
              <a:t>Tj</a:t>
            </a:r>
            <a:r>
              <a:rPr lang="en-US" sz="2800" kern="0" dirty="0" smtClean="0">
                <a:latin typeface="Times New Roman" panose="02020603050405020304" pitchFamily="18" charset="0"/>
                <a:cs typeface="Times New Roman" panose="02020603050405020304" pitchFamily="18" charset="0"/>
                <a:sym typeface="+mn-ea"/>
              </a:rPr>
              <a:t>  executes write(Q)</a:t>
            </a:r>
            <a:endParaRPr lang="en-US" sz="2800"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pitchFamily="2" charset="2"/>
              <a:buChar char="ü"/>
              <a:defRPr/>
            </a:pPr>
            <a:r>
              <a:rPr lang="en-US" sz="2800" kern="0" dirty="0" smtClean="0">
                <a:latin typeface="Times New Roman" panose="02020603050405020304" pitchFamily="18" charset="0"/>
                <a:cs typeface="Times New Roman" panose="02020603050405020304" pitchFamily="18" charset="0"/>
                <a:sym typeface="+mn-ea"/>
              </a:rPr>
              <a:t>Ti  executes write(Q) before </a:t>
            </a:r>
            <a:r>
              <a:rPr lang="en-US" sz="2800" kern="0" dirty="0" err="1" smtClean="0">
                <a:latin typeface="Times New Roman" panose="02020603050405020304" pitchFamily="18" charset="0"/>
                <a:cs typeface="Times New Roman" panose="02020603050405020304" pitchFamily="18" charset="0"/>
                <a:sym typeface="+mn-ea"/>
              </a:rPr>
              <a:t>Tj</a:t>
            </a:r>
            <a:r>
              <a:rPr lang="en-US" sz="2800" kern="0" dirty="0" smtClean="0">
                <a:latin typeface="Times New Roman" panose="02020603050405020304" pitchFamily="18" charset="0"/>
                <a:cs typeface="Times New Roman" panose="02020603050405020304" pitchFamily="18" charset="0"/>
                <a:sym typeface="+mn-ea"/>
              </a:rPr>
              <a:t>  executes write(Q)</a:t>
            </a:r>
            <a:endParaRPr lang="en-US" sz="2800"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sz="2800" kern="0" dirty="0" smtClean="0">
                <a:latin typeface="Times New Roman" panose="02020603050405020304" pitchFamily="18" charset="0"/>
                <a:cs typeface="Times New Roman" panose="02020603050405020304" pitchFamily="18" charset="0"/>
                <a:sym typeface="+mn-ea"/>
              </a:rPr>
              <a:t>If an edge Ti  → </a:t>
            </a:r>
            <a:r>
              <a:rPr lang="en-US" sz="2800" kern="0" dirty="0" err="1" smtClean="0">
                <a:latin typeface="Times New Roman" panose="02020603050405020304" pitchFamily="18" charset="0"/>
                <a:cs typeface="Times New Roman" panose="02020603050405020304" pitchFamily="18" charset="0"/>
                <a:sym typeface="+mn-ea"/>
              </a:rPr>
              <a:t>Tj</a:t>
            </a:r>
            <a:r>
              <a:rPr lang="en-US" sz="2800" kern="0" dirty="0" smtClean="0">
                <a:latin typeface="Times New Roman" panose="02020603050405020304" pitchFamily="18" charset="0"/>
                <a:cs typeface="Times New Roman" panose="02020603050405020304" pitchFamily="18" charset="0"/>
                <a:sym typeface="+mn-ea"/>
              </a:rPr>
              <a:t>  exists in the precedence graph, then in any serial schedule S’ equivalent to S, Ti  must appear before </a:t>
            </a:r>
            <a:r>
              <a:rPr lang="en-US" sz="2800" kern="0" dirty="0" err="1" smtClean="0">
                <a:latin typeface="Times New Roman" panose="02020603050405020304" pitchFamily="18" charset="0"/>
                <a:cs typeface="Times New Roman" panose="02020603050405020304" pitchFamily="18" charset="0"/>
                <a:sym typeface="+mn-ea"/>
              </a:rPr>
              <a:t>Tj</a:t>
            </a:r>
            <a:r>
              <a:rPr lang="en-US" sz="2800" kern="0" dirty="0" smtClean="0">
                <a:latin typeface="Times New Roman" panose="02020603050405020304" pitchFamily="18" charset="0"/>
                <a:cs typeface="Times New Roman" panose="02020603050405020304" pitchFamily="18" charset="0"/>
                <a:sym typeface="+mn-ea"/>
              </a:rPr>
              <a:t>.</a:t>
            </a:r>
            <a:endParaRPr lang="en-US" sz="2800"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sz="2800" b="1" kern="0" dirty="0" smtClean="0">
                <a:latin typeface="Times New Roman" panose="02020603050405020304" pitchFamily="18" charset="0"/>
                <a:cs typeface="Times New Roman" panose="02020603050405020304" pitchFamily="18" charset="0"/>
                <a:sym typeface="+mn-ea"/>
              </a:rPr>
              <a:t>If the precedence graph for a concurrent schedule S has a cycle, then that schedule is not conflict serializable. If the graph contains no cycles, then the schedule S is conflict serializable.</a:t>
            </a:r>
            <a:endParaRPr lang="en-US" sz="2800" b="1" kern="0" dirty="0" smtClean="0">
              <a:latin typeface="Times New Roman" panose="02020603050405020304" pitchFamily="18" charset="0"/>
              <a:cs typeface="Times New Roman" panose="02020603050405020304" pitchFamily="18" charset="0"/>
            </a:endParaRPr>
          </a:p>
          <a:p>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Testing for Conflict Serializability</a:t>
            </a:r>
            <a:endParaRPr lang="en-US"/>
          </a:p>
        </p:txBody>
      </p:sp>
      <p:sp>
        <p:nvSpPr>
          <p:cNvPr id="8" name="object 11"/>
          <p:cNvSpPr/>
          <p:nvPr/>
        </p:nvSpPr>
        <p:spPr>
          <a:xfrm>
            <a:off x="2745798" y="1550656"/>
            <a:ext cx="5327610" cy="1521282"/>
          </a:xfrm>
          <a:prstGeom prst="rect">
            <a:avLst/>
          </a:prstGeom>
          <a:blipFill>
            <a:blip r:embed="rId1" cstate="print"/>
            <a:stretch>
              <a:fillRect/>
            </a:stretch>
          </a:blipFill>
        </p:spPr>
        <p:txBody>
          <a:bodyPr wrap="square" lIns="0" tIns="0" rIns="0" bIns="0" rtlCol="0"/>
          <a:p/>
        </p:txBody>
      </p:sp>
      <p:sp>
        <p:nvSpPr>
          <p:cNvPr id="14" name="object 12"/>
          <p:cNvSpPr/>
          <p:nvPr/>
        </p:nvSpPr>
        <p:spPr>
          <a:xfrm>
            <a:off x="4215756" y="2955912"/>
            <a:ext cx="2663728" cy="1666578"/>
          </a:xfrm>
          <a:prstGeom prst="rect">
            <a:avLst/>
          </a:prstGeom>
          <a:blipFill>
            <a:blip r:embed="rId2" cstate="print"/>
            <a:stretch>
              <a:fillRect/>
            </a:stretch>
          </a:blipFill>
        </p:spPr>
        <p:txBody>
          <a:bodyPr wrap="square" lIns="0" tIns="0" rIns="0" bIns="0" rtlCol="0"/>
          <a:p/>
        </p:txBody>
      </p:sp>
      <p:sp>
        <p:nvSpPr>
          <p:cNvPr id="15" name="object 13"/>
          <p:cNvSpPr/>
          <p:nvPr/>
        </p:nvSpPr>
        <p:spPr>
          <a:xfrm>
            <a:off x="2746050" y="4551052"/>
            <a:ext cx="5327358" cy="2000152"/>
          </a:xfrm>
          <a:prstGeom prst="rect">
            <a:avLst/>
          </a:prstGeom>
          <a:blipFill>
            <a:blip r:embed="rId3" cstate="print"/>
            <a:stretch>
              <a:fillRect/>
            </a:stretch>
          </a:blipFill>
        </p:spPr>
        <p:txBody>
          <a:bodyPr wrap="square" lIns="0" tIns="0" rIns="0" bIns="0" rtlCol="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a:picLocks noChangeAspect="1"/>
          </p:cNvPicPr>
          <p:nvPr/>
        </p:nvPicPr>
        <p:blipFill>
          <a:blip r:embed="rId1"/>
          <a:stretch>
            <a:fillRect/>
          </a:stretch>
        </p:blipFill>
        <p:spPr>
          <a:xfrm>
            <a:off x="1358265" y="265430"/>
            <a:ext cx="8987155" cy="632650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a:picLocks noChangeAspect="1"/>
          </p:cNvPicPr>
          <p:nvPr/>
        </p:nvPicPr>
        <p:blipFill>
          <a:blip r:embed="rId1"/>
          <a:stretch>
            <a:fillRect/>
          </a:stretch>
        </p:blipFill>
        <p:spPr>
          <a:xfrm>
            <a:off x="1842770" y="709295"/>
            <a:ext cx="8506460" cy="567245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a:picLocks noChangeAspect="1"/>
          </p:cNvPicPr>
          <p:nvPr/>
        </p:nvPicPr>
        <p:blipFill>
          <a:blip r:embed="rId1"/>
          <a:stretch>
            <a:fillRect/>
          </a:stretch>
        </p:blipFill>
        <p:spPr>
          <a:xfrm>
            <a:off x="539115" y="441325"/>
            <a:ext cx="8265160" cy="51816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solidFill>
                  <a:srgbClr val="002060"/>
                </a:solidFill>
                <a:latin typeface="Times New Roman" panose="02020603050405020304" pitchFamily="18" charset="0"/>
                <a:cs typeface="Times New Roman" panose="02020603050405020304" pitchFamily="18" charset="0"/>
                <a:sym typeface="+mn-ea"/>
              </a:rPr>
              <a:t>Concurrency Control</a:t>
            </a:r>
            <a:endParaRPr lang="en-US"/>
          </a:p>
        </p:txBody>
      </p:sp>
      <p:sp>
        <p:nvSpPr>
          <p:cNvPr id="3" name="Content Placeholder 2"/>
          <p:cNvSpPr>
            <a:spLocks noGrp="1"/>
          </p:cNvSpPr>
          <p:nvPr>
            <p:ph idx="1"/>
          </p:nvPr>
        </p:nvSpPr>
        <p:spPr/>
        <p:txBody>
          <a:bodyPr/>
          <a:p>
            <a:pPr marL="285750" indent="-285750" algn="just">
              <a:buFont typeface="Wingdings" panose="05000000000000000000" charset="0"/>
              <a:buChar char="Ø"/>
            </a:pPr>
            <a:r>
              <a:rPr lang="en-US">
                <a:latin typeface="Times New Roman" panose="02020603050405020304" pitchFamily="18" charset="0"/>
                <a:cs typeface="Times New Roman" panose="02020603050405020304" pitchFamily="18" charset="0"/>
                <a:sym typeface="+mn-ea"/>
              </a:rPr>
              <a:t>In the concurrency control, the multiple transactions can be executed simultaneously.</a:t>
            </a:r>
            <a:endParaRPr lang="en-US">
              <a:latin typeface="Times New Roman" panose="02020603050405020304" pitchFamily="18" charset="0"/>
              <a:cs typeface="Times New Roman" panose="02020603050405020304" pitchFamily="18" charset="0"/>
            </a:endParaRPr>
          </a:p>
          <a:p>
            <a:pPr marL="285750" indent="-285750" algn="just">
              <a:buFont typeface="Wingdings" panose="05000000000000000000" charset="0"/>
              <a:buChar char="Ø"/>
            </a:pPr>
            <a:r>
              <a:rPr lang="en-US">
                <a:latin typeface="Times New Roman" panose="02020603050405020304" pitchFamily="18" charset="0"/>
                <a:cs typeface="Times New Roman" panose="02020603050405020304" pitchFamily="18" charset="0"/>
                <a:sym typeface="+mn-ea"/>
              </a:rPr>
              <a:t>It may affect the transaction result. </a:t>
            </a:r>
            <a:endParaRPr lang="en-US">
              <a:latin typeface="Times New Roman" panose="02020603050405020304" pitchFamily="18" charset="0"/>
              <a:cs typeface="Times New Roman" panose="02020603050405020304" pitchFamily="18" charset="0"/>
            </a:endParaRPr>
          </a:p>
          <a:p>
            <a:pPr marL="285750" indent="-285750" algn="just">
              <a:buFont typeface="Wingdings" panose="05000000000000000000" charset="0"/>
              <a:buChar char="Ø"/>
            </a:pPr>
            <a:r>
              <a:rPr lang="en-US">
                <a:latin typeface="Times New Roman" panose="02020603050405020304" pitchFamily="18" charset="0"/>
                <a:cs typeface="Times New Roman" panose="02020603050405020304" pitchFamily="18" charset="0"/>
                <a:sym typeface="+mn-ea"/>
              </a:rPr>
              <a:t>It is highly important to maintain the order of execution of those transactions</a:t>
            </a:r>
            <a:endParaRPr lang="en-US">
              <a:latin typeface="Times New Roman" panose="02020603050405020304" pitchFamily="18" charset="0"/>
              <a:cs typeface="Times New Roman" panose="02020603050405020304" pitchFamily="18" charset="0"/>
            </a:endParaRPr>
          </a:p>
          <a:p>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a:bodyPr>
          <a:p>
            <a:r>
              <a:rPr lang="en-US" b="1" dirty="0" smtClean="0">
                <a:solidFill>
                  <a:srgbClr val="002060"/>
                </a:solidFill>
                <a:latin typeface="Times New Roman" panose="02020603050405020304" pitchFamily="18" charset="0"/>
                <a:cs typeface="Times New Roman" panose="02020603050405020304" pitchFamily="18" charset="0"/>
                <a:sym typeface="+mn-ea"/>
              </a:rPr>
              <a:t>Need of Concurrency Control</a:t>
            </a:r>
            <a:endParaRPr lang="en-US"/>
          </a:p>
        </p:txBody>
      </p:sp>
      <p:sp>
        <p:nvSpPr>
          <p:cNvPr id="3" name="Content Placeholder 2"/>
          <p:cNvSpPr>
            <a:spLocks noGrp="1"/>
          </p:cNvSpPr>
          <p:nvPr>
            <p:ph idx="1"/>
          </p:nvPr>
        </p:nvSpPr>
        <p:spPr/>
        <p:txBody>
          <a:bodyPr/>
          <a:p>
            <a:pPr marL="285750" indent="-285750" algn="just">
              <a:buFont typeface="Wingdings" panose="05000000000000000000" charset="0"/>
              <a:buChar char="Ø"/>
            </a:pPr>
            <a:r>
              <a:rPr lang="en-US" sz="2800">
                <a:latin typeface="Times New Roman" panose="02020603050405020304" pitchFamily="18" charset="0"/>
                <a:cs typeface="Times New Roman" panose="02020603050405020304" pitchFamily="18" charset="0"/>
                <a:sym typeface="+mn-ea"/>
              </a:rPr>
              <a:t>Several problems can occur when concurrent transactions are executed in an uncontrolled manner. </a:t>
            </a:r>
            <a:endParaRPr lang="en-US" sz="2800">
              <a:latin typeface="Times New Roman" panose="02020603050405020304" pitchFamily="18" charset="0"/>
              <a:cs typeface="Times New Roman" panose="02020603050405020304" pitchFamily="18" charset="0"/>
            </a:endParaRPr>
          </a:p>
          <a:p>
            <a:pPr marL="285750" indent="-285750" algn="just">
              <a:buFont typeface="Wingdings" panose="05000000000000000000" charset="0"/>
              <a:buChar char="Ø"/>
            </a:pPr>
            <a:r>
              <a:rPr lang="en-US" sz="2800">
                <a:latin typeface="Times New Roman" panose="02020603050405020304" pitchFamily="18" charset="0"/>
                <a:cs typeface="Times New Roman" panose="02020603050405020304" pitchFamily="18" charset="0"/>
                <a:sym typeface="+mn-ea"/>
              </a:rPr>
              <a:t>Following are the three problems in concurrency control.</a:t>
            </a:r>
            <a:endParaRPr lang="en-US" sz="2800">
              <a:latin typeface="Times New Roman" panose="02020603050405020304" pitchFamily="18" charset="0"/>
              <a:cs typeface="Times New Roman" panose="02020603050405020304" pitchFamily="18" charset="0"/>
            </a:endParaRPr>
          </a:p>
          <a:p>
            <a:pPr marL="285750" indent="-285750" algn="just">
              <a:buFont typeface="Wingdings" panose="05000000000000000000" charset="0"/>
              <a:buChar char="Ø"/>
            </a:pPr>
            <a:endParaRPr lang="en-US" sz="2800">
              <a:latin typeface="Times New Roman" panose="02020603050405020304" pitchFamily="18" charset="0"/>
              <a:cs typeface="Times New Roman" panose="02020603050405020304" pitchFamily="18" charset="0"/>
            </a:endParaRPr>
          </a:p>
          <a:p>
            <a:pPr marL="800100" lvl="1" indent="-342900" algn="just">
              <a:buFont typeface="+mj-lt"/>
              <a:buAutoNum type="arabicPeriod"/>
            </a:pPr>
            <a:r>
              <a:rPr lang="en-US" sz="2800">
                <a:latin typeface="Times New Roman" panose="02020603050405020304" pitchFamily="18" charset="0"/>
                <a:cs typeface="Times New Roman" panose="02020603050405020304" pitchFamily="18" charset="0"/>
                <a:sym typeface="+mn-ea"/>
              </a:rPr>
              <a:t>Lost updates</a:t>
            </a:r>
            <a:endParaRPr lang="en-US" sz="2800">
              <a:latin typeface="Times New Roman" panose="02020603050405020304" pitchFamily="18" charset="0"/>
              <a:cs typeface="Times New Roman" panose="02020603050405020304" pitchFamily="18" charset="0"/>
            </a:endParaRPr>
          </a:p>
          <a:p>
            <a:pPr marL="800100" lvl="1" indent="-342900" algn="just">
              <a:buFont typeface="+mj-lt"/>
              <a:buAutoNum type="arabicPeriod"/>
            </a:pPr>
            <a:r>
              <a:rPr lang="en-US" sz="2800">
                <a:latin typeface="Times New Roman" panose="02020603050405020304" pitchFamily="18" charset="0"/>
                <a:cs typeface="Times New Roman" panose="02020603050405020304" pitchFamily="18" charset="0"/>
                <a:sym typeface="+mn-ea"/>
              </a:rPr>
              <a:t>Dirty read</a:t>
            </a:r>
            <a:endParaRPr lang="en-US" sz="2800">
              <a:latin typeface="Times New Roman" panose="02020603050405020304" pitchFamily="18" charset="0"/>
              <a:cs typeface="Times New Roman" panose="02020603050405020304" pitchFamily="18" charset="0"/>
            </a:endParaRPr>
          </a:p>
          <a:p>
            <a:pPr marL="800100" lvl="1" indent="-342900" algn="just">
              <a:buFont typeface="+mj-lt"/>
              <a:buAutoNum type="arabicPeriod"/>
            </a:pPr>
            <a:r>
              <a:rPr lang="en-US" sz="2800">
                <a:latin typeface="Times New Roman" panose="02020603050405020304" pitchFamily="18" charset="0"/>
                <a:cs typeface="Times New Roman" panose="02020603050405020304" pitchFamily="18" charset="0"/>
                <a:sym typeface="+mn-ea"/>
              </a:rPr>
              <a:t>Unrepeatable read</a:t>
            </a:r>
            <a:endParaRPr lang="en-US" sz="2800">
              <a:latin typeface="Times New Roman" panose="02020603050405020304" pitchFamily="18" charset="0"/>
              <a:cs typeface="Times New Roman" panose="02020603050405020304" pitchFamily="18" charset="0"/>
            </a:endParaRPr>
          </a:p>
          <a:p>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a:latin typeface="Times New Roman" panose="02020603050405020304" pitchFamily="18" charset="0"/>
                <a:cs typeface="Times New Roman" panose="02020603050405020304" pitchFamily="18" charset="0"/>
                <a:sym typeface="+mn-ea"/>
              </a:rPr>
              <a:t>1. Lost update problem</a:t>
            </a:r>
            <a:endParaRPr lang="en-US"/>
          </a:p>
        </p:txBody>
      </p:sp>
      <p:sp>
        <p:nvSpPr>
          <p:cNvPr id="4" name="Text Box 3"/>
          <p:cNvSpPr txBox="1"/>
          <p:nvPr/>
        </p:nvSpPr>
        <p:spPr>
          <a:xfrm>
            <a:off x="838200" y="1351915"/>
            <a:ext cx="8416290" cy="5077460"/>
          </a:xfrm>
          <a:prstGeom prst="rect">
            <a:avLst/>
          </a:prstGeom>
          <a:noFill/>
        </p:spPr>
        <p:txBody>
          <a:bodyPr wrap="square" rtlCol="0">
            <a:spAutoFit/>
          </a:bodyPr>
          <a:p>
            <a:pPr marL="285750" indent="-285750" algn="just">
              <a:buFont typeface="Wingdings" panose="05000000000000000000" charset="0"/>
              <a:buChar char="Ø"/>
            </a:pPr>
            <a:r>
              <a:rPr lang="en-US">
                <a:latin typeface="Times New Roman" panose="02020603050405020304" pitchFamily="18" charset="0"/>
                <a:cs typeface="Times New Roman" panose="02020603050405020304" pitchFamily="18" charset="0"/>
              </a:rPr>
              <a:t>When two transactions that access the same database items contain their operations in a way that makes the value of some database item incorrect, then the lost update problem occurs.</a:t>
            </a:r>
            <a:endParaRPr lang="en-US">
              <a:latin typeface="Times New Roman" panose="02020603050405020304" pitchFamily="18" charset="0"/>
              <a:cs typeface="Times New Roman" panose="02020603050405020304" pitchFamily="18" charset="0"/>
            </a:endParaRPr>
          </a:p>
          <a:p>
            <a:pPr marL="285750" indent="-285750" algn="just">
              <a:buFont typeface="Wingdings" panose="05000000000000000000" charset="0"/>
              <a:buChar char="Ø"/>
            </a:pPr>
            <a:r>
              <a:rPr lang="en-US">
                <a:latin typeface="Times New Roman" panose="02020603050405020304" pitchFamily="18" charset="0"/>
                <a:cs typeface="Times New Roman" panose="02020603050405020304" pitchFamily="18" charset="0"/>
              </a:rPr>
              <a:t>If two transactions T1 and T2 read a record and then update it, then the effect of updating of the first record will be overwritten by the second update.</a:t>
            </a:r>
            <a:endParaRPr lang="en-US">
              <a:latin typeface="Times New Roman" panose="02020603050405020304" pitchFamily="18" charset="0"/>
              <a:cs typeface="Times New Roman" panose="02020603050405020304" pitchFamily="18" charset="0"/>
            </a:endParaRPr>
          </a:p>
          <a:p>
            <a:pPr marL="285750" indent="-285750" algn="just">
              <a:buFont typeface="Wingdings" panose="05000000000000000000" charset="0"/>
              <a:buChar char="Ø"/>
            </a:pPr>
            <a:endParaRPr lang="en-US">
              <a:latin typeface="Times New Roman" panose="02020603050405020304" pitchFamily="18" charset="0"/>
              <a:cs typeface="Times New Roman" panose="02020603050405020304" pitchFamily="18" charset="0"/>
            </a:endParaRPr>
          </a:p>
          <a:p>
            <a:pPr marL="285750" indent="-285750" algn="just">
              <a:buFont typeface="Wingdings" panose="05000000000000000000" charset="0"/>
              <a:buChar char="Ø"/>
            </a:pPr>
            <a:endParaRPr lang="en-US">
              <a:latin typeface="Times New Roman" panose="02020603050405020304" pitchFamily="18" charset="0"/>
              <a:cs typeface="Times New Roman" panose="02020603050405020304" pitchFamily="18" charset="0"/>
            </a:endParaRPr>
          </a:p>
          <a:p>
            <a:pPr marL="285750" indent="-285750" algn="just">
              <a:buFont typeface="Wingdings" panose="05000000000000000000" charset="0"/>
              <a:buChar char="Ø"/>
            </a:pPr>
            <a:endParaRPr lang="en-US">
              <a:latin typeface="Times New Roman" panose="02020603050405020304" pitchFamily="18" charset="0"/>
              <a:cs typeface="Times New Roman" panose="02020603050405020304" pitchFamily="18" charset="0"/>
            </a:endParaRPr>
          </a:p>
          <a:p>
            <a:pPr marL="285750" indent="-285750" algn="just">
              <a:buFont typeface="Wingdings" panose="05000000000000000000" charset="0"/>
              <a:buChar char="Ø"/>
            </a:pPr>
            <a:endParaRPr lang="en-US">
              <a:latin typeface="Times New Roman" panose="02020603050405020304" pitchFamily="18" charset="0"/>
              <a:cs typeface="Times New Roman" panose="02020603050405020304" pitchFamily="18" charset="0"/>
            </a:endParaRPr>
          </a:p>
          <a:p>
            <a:pPr marL="285750" indent="-285750" algn="just">
              <a:buFont typeface="Wingdings" panose="05000000000000000000" charset="0"/>
              <a:buChar char="Ø"/>
            </a:pPr>
            <a:endParaRPr lang="en-US">
              <a:latin typeface="Times New Roman" panose="02020603050405020304" pitchFamily="18" charset="0"/>
              <a:cs typeface="Times New Roman" panose="02020603050405020304" pitchFamily="18" charset="0"/>
            </a:endParaRPr>
          </a:p>
          <a:p>
            <a:pPr marL="285750" indent="-285750" algn="just">
              <a:buFont typeface="Wingdings" panose="05000000000000000000" charset="0"/>
              <a:buChar char="Ø"/>
            </a:pPr>
            <a:endParaRPr lang="en-US">
              <a:latin typeface="Times New Roman" panose="02020603050405020304" pitchFamily="18" charset="0"/>
              <a:cs typeface="Times New Roman" panose="02020603050405020304" pitchFamily="18" charset="0"/>
            </a:endParaRPr>
          </a:p>
          <a:p>
            <a:pPr marL="285750" indent="-285750" algn="just">
              <a:buFont typeface="Wingdings" panose="05000000000000000000" charset="0"/>
              <a:buChar char="Ø"/>
            </a:pPr>
            <a:endParaRPr lang="en-US">
              <a:latin typeface="Times New Roman" panose="02020603050405020304" pitchFamily="18" charset="0"/>
              <a:cs typeface="Times New Roman" panose="02020603050405020304" pitchFamily="18" charset="0"/>
            </a:endParaRPr>
          </a:p>
          <a:p>
            <a:pPr marL="285750" indent="-285750" algn="just">
              <a:buFont typeface="Wingdings" panose="05000000000000000000" charset="0"/>
              <a:buChar char="Ø"/>
            </a:pPr>
            <a:endParaRPr lang="en-US">
              <a:latin typeface="Times New Roman" panose="02020603050405020304" pitchFamily="18" charset="0"/>
              <a:cs typeface="Times New Roman" panose="02020603050405020304" pitchFamily="18" charset="0"/>
            </a:endParaRPr>
          </a:p>
          <a:p>
            <a:pPr marL="285750" indent="-285750" algn="just">
              <a:buFont typeface="Wingdings" panose="05000000000000000000" charset="0"/>
              <a:buChar char="Ø"/>
            </a:pPr>
            <a:endParaRPr lang="en-US">
              <a:latin typeface="Times New Roman" panose="02020603050405020304" pitchFamily="18" charset="0"/>
              <a:cs typeface="Times New Roman" panose="02020603050405020304" pitchFamily="18" charset="0"/>
            </a:endParaRPr>
          </a:p>
          <a:p>
            <a:pPr marL="285750" indent="-285750" algn="just">
              <a:buFont typeface="Wingdings" panose="05000000000000000000" charset="0"/>
              <a:buChar char="Ø"/>
            </a:pPr>
            <a:endParaRPr lang="en-US">
              <a:latin typeface="Times New Roman" panose="02020603050405020304" pitchFamily="18" charset="0"/>
              <a:cs typeface="Times New Roman" panose="02020603050405020304" pitchFamily="18" charset="0"/>
            </a:endParaRPr>
          </a:p>
          <a:p>
            <a:pPr marL="285750" indent="-285750" algn="just">
              <a:buFont typeface="Wingdings" panose="05000000000000000000" charset="0"/>
              <a:buChar char="Ø"/>
            </a:pPr>
            <a:endParaRPr lang="en-US">
              <a:latin typeface="Times New Roman" panose="02020603050405020304" pitchFamily="18" charset="0"/>
              <a:cs typeface="Times New Roman" panose="02020603050405020304" pitchFamily="18" charset="0"/>
            </a:endParaRPr>
          </a:p>
          <a:p>
            <a:pPr marL="285750" indent="-285750" algn="just">
              <a:buFont typeface="Wingdings" panose="05000000000000000000" charset="0"/>
              <a:buChar char="Ø"/>
            </a:pPr>
            <a:endParaRPr lang="en-US">
              <a:latin typeface="Times New Roman" panose="02020603050405020304" pitchFamily="18" charset="0"/>
              <a:cs typeface="Times New Roman" panose="02020603050405020304" pitchFamily="18" charset="0"/>
            </a:endParaRPr>
          </a:p>
          <a:p>
            <a:pPr marL="0" indent="0" algn="just">
              <a:buFont typeface="Wingdings" panose="05000000000000000000" charset="0"/>
              <a:buNone/>
            </a:pPr>
            <a:endParaRPr lang="en-US">
              <a:latin typeface="Times New Roman" panose="02020603050405020304" pitchFamily="18" charset="0"/>
              <a:cs typeface="Times New Roman" panose="02020603050405020304" pitchFamily="18" charset="0"/>
            </a:endParaRPr>
          </a:p>
        </p:txBody>
      </p:sp>
      <p:pic>
        <p:nvPicPr>
          <p:cNvPr id="5" name="Picture 4" descr="d1"/>
          <p:cNvPicPr>
            <a:picLocks noChangeAspect="1"/>
          </p:cNvPicPr>
          <p:nvPr/>
        </p:nvPicPr>
        <p:blipFill>
          <a:blip r:embed="rId1"/>
          <a:stretch>
            <a:fillRect/>
          </a:stretch>
        </p:blipFill>
        <p:spPr>
          <a:xfrm>
            <a:off x="837565" y="2792095"/>
            <a:ext cx="8203565" cy="3659505"/>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solidFill>
                  <a:srgbClr val="002060"/>
                </a:solidFill>
                <a:latin typeface="Times New Roman" panose="02020603050405020304" pitchFamily="18" charset="0"/>
                <a:cs typeface="Times New Roman" panose="02020603050405020304" pitchFamily="18" charset="0"/>
                <a:sym typeface="+mn-ea"/>
              </a:rPr>
              <a:t>Dirty Read Problem</a:t>
            </a:r>
            <a:endParaRPr lang="en-US"/>
          </a:p>
        </p:txBody>
      </p:sp>
      <p:sp>
        <p:nvSpPr>
          <p:cNvPr id="3" name="Content Placeholder 2"/>
          <p:cNvSpPr>
            <a:spLocks noGrp="1"/>
          </p:cNvSpPr>
          <p:nvPr>
            <p:ph idx="1"/>
          </p:nvPr>
        </p:nvSpPr>
        <p:spPr/>
        <p:txBody>
          <a:bodyPr/>
          <a:p>
            <a:pPr marL="285750" indent="-285750" algn="just">
              <a:buFont typeface="Wingdings" panose="05000000000000000000" charset="0"/>
              <a:buChar char="Ø"/>
            </a:pPr>
            <a:r>
              <a:rPr lang="en-US">
                <a:latin typeface="Times New Roman" panose="02020603050405020304" pitchFamily="18" charset="0"/>
                <a:cs typeface="Times New Roman" panose="02020603050405020304" pitchFamily="18" charset="0"/>
                <a:sym typeface="+mn-ea"/>
              </a:rPr>
              <a:t>The dirty read occurs in the case when one transaction updates an item of the database, and then the transaction fails for some reason. The updated database item is accessed by another transaction before it is changed back to the original value.</a:t>
            </a:r>
            <a:endParaRPr lang="en-US">
              <a:latin typeface="Times New Roman" panose="02020603050405020304" pitchFamily="18" charset="0"/>
              <a:cs typeface="Times New Roman" panose="02020603050405020304" pitchFamily="18" charset="0"/>
            </a:endParaRPr>
          </a:p>
          <a:p>
            <a:pPr marL="285750" indent="-285750" algn="just">
              <a:buFont typeface="Wingdings" panose="05000000000000000000" charset="0"/>
              <a:buChar char="Ø"/>
            </a:pPr>
            <a:endParaRPr lang="en-US">
              <a:latin typeface="Times New Roman" panose="02020603050405020304" pitchFamily="18" charset="0"/>
              <a:cs typeface="Times New Roman" panose="02020603050405020304" pitchFamily="18" charset="0"/>
            </a:endParaRPr>
          </a:p>
          <a:p>
            <a:pPr marL="285750" indent="-285750" algn="just">
              <a:buFont typeface="Wingdings" panose="05000000000000000000" charset="0"/>
              <a:buChar char="Ø"/>
            </a:pPr>
            <a:r>
              <a:rPr lang="en-US">
                <a:latin typeface="Times New Roman" panose="02020603050405020304" pitchFamily="18" charset="0"/>
                <a:cs typeface="Times New Roman" panose="02020603050405020304" pitchFamily="18" charset="0"/>
                <a:sym typeface="+mn-ea"/>
              </a:rPr>
              <a:t>A transaction T1 updates a record which is read by T2. If T1 aborts then T2 now has values which have never formed part of the stable database.</a:t>
            </a:r>
            <a:endParaRPr lang="en-US">
              <a:latin typeface="Times New Roman" panose="02020603050405020304" pitchFamily="18" charset="0"/>
              <a:cs typeface="Times New Roman" panose="02020603050405020304" pitchFamily="18" charset="0"/>
            </a:endParaRPr>
          </a:p>
          <a:p>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solidFill>
                  <a:srgbClr val="002060"/>
                </a:solidFill>
                <a:latin typeface="Times New Roman" panose="02020603050405020304" pitchFamily="18" charset="0"/>
                <a:cs typeface="Times New Roman" panose="02020603050405020304" pitchFamily="18" charset="0"/>
                <a:sym typeface="+mn-ea"/>
              </a:rPr>
              <a:t>2. Dirty Read Problem - Example</a:t>
            </a:r>
            <a:endParaRPr lang="en-US"/>
          </a:p>
        </p:txBody>
      </p:sp>
      <p:pic>
        <p:nvPicPr>
          <p:cNvPr id="4" name="Content Placeholder 3" descr="d2"/>
          <p:cNvPicPr>
            <a:picLocks noChangeAspect="1"/>
          </p:cNvPicPr>
          <p:nvPr>
            <p:ph idx="1"/>
          </p:nvPr>
        </p:nvPicPr>
        <p:blipFill>
          <a:blip r:embed="rId1"/>
          <a:stretch>
            <a:fillRect/>
          </a:stretch>
        </p:blipFill>
        <p:spPr>
          <a:xfrm>
            <a:off x="1555115" y="1691005"/>
            <a:ext cx="8282940" cy="4485005"/>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b="1" dirty="0" smtClean="0">
                <a:solidFill>
                  <a:srgbClr val="002060"/>
                </a:solidFill>
                <a:latin typeface="Times New Roman" panose="02020603050405020304" pitchFamily="18" charset="0"/>
                <a:cs typeface="Times New Roman" panose="02020603050405020304" pitchFamily="18" charset="0"/>
                <a:sym typeface="+mn-ea"/>
              </a:rPr>
              <a:t>3. Inconsistent Retrievals / </a:t>
            </a:r>
            <a:r>
              <a:rPr lang="en-US" b="1">
                <a:latin typeface="Times New Roman" panose="02020603050405020304" pitchFamily="18" charset="0"/>
                <a:cs typeface="Times New Roman" panose="02020603050405020304" pitchFamily="18" charset="0"/>
                <a:sym typeface="+mn-ea"/>
              </a:rPr>
              <a:t>unrepeatable read </a:t>
            </a:r>
            <a:r>
              <a:rPr lang="en-US" b="1" dirty="0" smtClean="0">
                <a:solidFill>
                  <a:srgbClr val="002060"/>
                </a:solidFill>
                <a:latin typeface="Times New Roman" panose="02020603050405020304" pitchFamily="18" charset="0"/>
                <a:cs typeface="Times New Roman" panose="02020603050405020304" pitchFamily="18" charset="0"/>
                <a:sym typeface="+mn-ea"/>
              </a:rPr>
              <a:t>Problem/</a:t>
            </a:r>
            <a:r>
              <a:rPr lang="en-US" b="1" kern="0" dirty="0" smtClean="0">
                <a:latin typeface="Times New Roman" panose="02020603050405020304" pitchFamily="18" charset="0"/>
                <a:cs typeface="Times New Roman" panose="02020603050405020304" pitchFamily="18" charset="0"/>
                <a:sym typeface="+mn-ea"/>
              </a:rPr>
              <a:t>Incorrect Summary Problem</a:t>
            </a:r>
            <a:endParaRPr lang="en-US"/>
          </a:p>
        </p:txBody>
      </p:sp>
      <p:sp>
        <p:nvSpPr>
          <p:cNvPr id="3" name="Content Placeholder 2"/>
          <p:cNvSpPr>
            <a:spLocks noGrp="1"/>
          </p:cNvSpPr>
          <p:nvPr>
            <p:ph idx="1"/>
          </p:nvPr>
        </p:nvSpPr>
        <p:spPr/>
        <p:txBody>
          <a:bodyPr/>
          <a:p>
            <a:pPr marL="285750" indent="-285750" algn="just">
              <a:buFont typeface="Wingdings" panose="05000000000000000000" charset="0"/>
              <a:buChar char="Ø"/>
            </a:pPr>
            <a:r>
              <a:rPr lang="en-US">
                <a:latin typeface="Times New Roman" panose="02020603050405020304" pitchFamily="18" charset="0"/>
                <a:cs typeface="Times New Roman" panose="02020603050405020304" pitchFamily="18" charset="0"/>
                <a:sym typeface="+mn-ea"/>
              </a:rPr>
              <a:t>Inconsistent Retrievals Problem is also known as unrepeatable read. </a:t>
            </a:r>
            <a:endParaRPr lang="en-US">
              <a:latin typeface="Times New Roman" panose="02020603050405020304" pitchFamily="18" charset="0"/>
              <a:cs typeface="Times New Roman" panose="02020603050405020304" pitchFamily="18" charset="0"/>
            </a:endParaRPr>
          </a:p>
          <a:p>
            <a:pPr marL="285750" indent="-285750" algn="just">
              <a:buFont typeface="Wingdings" panose="05000000000000000000" charset="0"/>
              <a:buChar char="Ø"/>
            </a:pPr>
            <a:r>
              <a:rPr lang="en-US">
                <a:latin typeface="Times New Roman" panose="02020603050405020304" pitchFamily="18" charset="0"/>
                <a:cs typeface="Times New Roman" panose="02020603050405020304" pitchFamily="18" charset="0"/>
                <a:sym typeface="+mn-ea"/>
              </a:rPr>
              <a:t>When a transaction calculates some summary function over a set of data while the other transactions are updating the data, then the Inconsistent Retrievals Problem occurs.</a:t>
            </a:r>
            <a:endParaRPr lang="en-US">
              <a:latin typeface="Times New Roman" panose="02020603050405020304" pitchFamily="18" charset="0"/>
              <a:cs typeface="Times New Roman" panose="02020603050405020304" pitchFamily="18" charset="0"/>
            </a:endParaRPr>
          </a:p>
          <a:p>
            <a:pPr marL="285750" indent="-285750" algn="just">
              <a:buFont typeface="Wingdings" panose="05000000000000000000" charset="0"/>
              <a:buChar char="Ø"/>
            </a:pPr>
            <a:r>
              <a:rPr lang="en-US">
                <a:latin typeface="Times New Roman" panose="02020603050405020304" pitchFamily="18" charset="0"/>
                <a:cs typeface="Times New Roman" panose="02020603050405020304" pitchFamily="18" charset="0"/>
                <a:sym typeface="+mn-ea"/>
              </a:rPr>
              <a:t>A transaction T1 reads a record and then does some other processing during which the transaction T2 updates the record. Now when the transaction T1 reads the record, then the new value will be inconsistent with the previous value.</a:t>
            </a:r>
            <a:endParaRPr lang="en-US">
              <a:latin typeface="Times New Roman" panose="02020603050405020304" pitchFamily="18" charset="0"/>
              <a:cs typeface="Times New Roman" panose="02020603050405020304" pitchFamily="18" charset="0"/>
            </a:endParaRPr>
          </a:p>
          <a:p>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atin typeface="Times New Roman" panose="02020603050405020304" pitchFamily="18" charset="0"/>
                <a:cs typeface="Times New Roman" panose="02020603050405020304" pitchFamily="18" charset="0"/>
                <a:sym typeface="+mn-ea"/>
              </a:rPr>
              <a:t>Unrepeatable read - Example </a:t>
            </a:r>
            <a:endParaRPr lang="en-US"/>
          </a:p>
        </p:txBody>
      </p:sp>
      <p:pic>
        <p:nvPicPr>
          <p:cNvPr id="4" name="Content Placeholder 2" descr="d2"/>
          <p:cNvPicPr>
            <a:picLocks noChangeAspect="1"/>
          </p:cNvPicPr>
          <p:nvPr>
            <p:ph idx="1"/>
          </p:nvPr>
        </p:nvPicPr>
        <p:blipFill>
          <a:blip r:embed="rId1"/>
          <a:stretch>
            <a:fillRect/>
          </a:stretch>
        </p:blipFill>
        <p:spPr>
          <a:xfrm>
            <a:off x="1981200" y="1691005"/>
            <a:ext cx="8387080" cy="4351655"/>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a:bodyPr>
          <a:p>
            <a:r>
              <a:rPr lang="en-US">
                <a:latin typeface="Times New Roman" panose="02020603050405020304" pitchFamily="18" charset="0"/>
                <a:cs typeface="Times New Roman" panose="02020603050405020304" pitchFamily="18" charset="0"/>
                <a:sym typeface="+mn-ea"/>
              </a:rPr>
              <a:t>Unrepeatable read - Example </a:t>
            </a:r>
            <a:endParaRPr lang="en-US"/>
          </a:p>
        </p:txBody>
      </p:sp>
      <p:sp>
        <p:nvSpPr>
          <p:cNvPr id="3" name="Content Placeholder 2"/>
          <p:cNvSpPr>
            <a:spLocks noGrp="1"/>
          </p:cNvSpPr>
          <p:nvPr>
            <p:ph idx="1"/>
          </p:nvPr>
        </p:nvSpPr>
        <p:spPr/>
        <p:txBody>
          <a:bodyPr/>
          <a:p>
            <a:pPr marL="285750" indent="-285750" algn="just">
              <a:buFont typeface="Wingdings" panose="05000000000000000000" charset="0"/>
              <a:buChar char="Ø"/>
            </a:pPr>
            <a:r>
              <a:rPr lang="en-US">
                <a:latin typeface="Times New Roman" panose="02020603050405020304" pitchFamily="18" charset="0"/>
                <a:cs typeface="Times New Roman" panose="02020603050405020304" pitchFamily="18" charset="0"/>
                <a:sym typeface="+mn-ea"/>
              </a:rPr>
              <a:t>Transaction-X is doing the sum of all balance while transaction-Y is transferring an amount 50 from Account-1 to Account-3.</a:t>
            </a:r>
            <a:endParaRPr lang="en-US">
              <a:latin typeface="Times New Roman" panose="02020603050405020304" pitchFamily="18" charset="0"/>
              <a:cs typeface="Times New Roman" panose="02020603050405020304" pitchFamily="18" charset="0"/>
            </a:endParaRPr>
          </a:p>
          <a:p>
            <a:pPr marL="0" indent="0" algn="just">
              <a:buFont typeface="Wingdings" panose="05000000000000000000" charset="0"/>
              <a:buNone/>
            </a:pPr>
            <a:endParaRPr lang="en-US">
              <a:latin typeface="Times New Roman" panose="02020603050405020304" pitchFamily="18" charset="0"/>
              <a:cs typeface="Times New Roman" panose="02020603050405020304" pitchFamily="18" charset="0"/>
            </a:endParaRPr>
          </a:p>
          <a:p>
            <a:pPr marL="285750" indent="-285750" algn="just">
              <a:buFont typeface="Wingdings" panose="05000000000000000000" charset="0"/>
              <a:buChar char="Ø"/>
            </a:pPr>
            <a:r>
              <a:rPr lang="en-US">
                <a:latin typeface="Times New Roman" panose="02020603050405020304" pitchFamily="18" charset="0"/>
                <a:cs typeface="Times New Roman" panose="02020603050405020304" pitchFamily="18" charset="0"/>
                <a:sym typeface="+mn-ea"/>
              </a:rPr>
              <a:t>Here, transaction-X produces the result of 550 which is incorrect. If we write this produced result in the database, the database will become an inconsistent state because the actual sum is 600.</a:t>
            </a:r>
            <a:endParaRPr lang="en-US">
              <a:latin typeface="Times New Roman" panose="02020603050405020304" pitchFamily="18" charset="0"/>
              <a:cs typeface="Times New Roman" panose="02020603050405020304" pitchFamily="18" charset="0"/>
            </a:endParaRPr>
          </a:p>
          <a:p>
            <a:pPr marL="0" indent="0" algn="just">
              <a:buFont typeface="Wingdings" panose="05000000000000000000" charset="0"/>
              <a:buNone/>
            </a:pPr>
            <a:endParaRPr lang="en-US">
              <a:latin typeface="Times New Roman" panose="02020603050405020304" pitchFamily="18" charset="0"/>
              <a:cs typeface="Times New Roman" panose="02020603050405020304" pitchFamily="18" charset="0"/>
            </a:endParaRPr>
          </a:p>
          <a:p>
            <a:pPr marL="285750" indent="-285750" algn="just">
              <a:buFont typeface="Wingdings" panose="05000000000000000000" charset="0"/>
              <a:buChar char="Ø"/>
            </a:pPr>
            <a:r>
              <a:rPr lang="en-US">
                <a:latin typeface="Times New Roman" panose="02020603050405020304" pitchFamily="18" charset="0"/>
                <a:cs typeface="Times New Roman" panose="02020603050405020304" pitchFamily="18" charset="0"/>
                <a:sym typeface="+mn-ea"/>
              </a:rPr>
              <a:t>Here, transaction-X has seen an inconsistent state of the database.</a:t>
            </a:r>
            <a:endParaRPr lang="en-US">
              <a:latin typeface="Times New Roman" panose="02020603050405020304" pitchFamily="18" charset="0"/>
              <a:cs typeface="Times New Roman" panose="02020603050405020304" pitchFamily="18" charset="0"/>
            </a:endParaRPr>
          </a:p>
          <a:p>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a:latin typeface="Times New Roman" panose="02020603050405020304" pitchFamily="18" charset="0"/>
                <a:cs typeface="Times New Roman" panose="02020603050405020304" pitchFamily="18" charset="0"/>
                <a:sym typeface="+mn-ea"/>
              </a:rPr>
              <a:t>Concurrency Control Protocol</a:t>
            </a:r>
            <a:endParaRPr lang="en-US"/>
          </a:p>
        </p:txBody>
      </p:sp>
      <p:sp>
        <p:nvSpPr>
          <p:cNvPr id="3" name="Content Placeholder 2"/>
          <p:cNvSpPr>
            <a:spLocks noGrp="1"/>
          </p:cNvSpPr>
          <p:nvPr>
            <p:ph idx="1"/>
          </p:nvPr>
        </p:nvSpPr>
        <p:spPr/>
        <p:txBody>
          <a:bodyPr/>
          <a:p>
            <a:pPr marL="285750" indent="-285750" algn="just">
              <a:buFont typeface="Wingdings" panose="05000000000000000000" charset="0"/>
              <a:buChar char="Ø"/>
            </a:pPr>
            <a:r>
              <a:rPr lang="en-US" sz="2800">
                <a:latin typeface="Times New Roman" panose="02020603050405020304" pitchFamily="18" charset="0"/>
                <a:cs typeface="Times New Roman" panose="02020603050405020304" pitchFamily="18" charset="0"/>
                <a:sym typeface="+mn-ea"/>
              </a:rPr>
              <a:t>Concurrency control protocols ensure atomicity, isolation, and serializability of concurrent transactions. The concurrency control protocol can be divided into three categories:</a:t>
            </a:r>
            <a:endParaRPr lang="en-US" sz="2800">
              <a:latin typeface="Times New Roman" panose="02020603050405020304" pitchFamily="18" charset="0"/>
              <a:cs typeface="Times New Roman" panose="02020603050405020304" pitchFamily="18" charset="0"/>
            </a:endParaRPr>
          </a:p>
          <a:p>
            <a:pPr marL="285750" indent="-285750" algn="just">
              <a:buFont typeface="Wingdings" panose="05000000000000000000" charset="0"/>
              <a:buChar char="Ø"/>
            </a:pPr>
            <a:endParaRPr lang="en-US" sz="2800">
              <a:latin typeface="Times New Roman" panose="02020603050405020304" pitchFamily="18" charset="0"/>
              <a:cs typeface="Times New Roman" panose="02020603050405020304" pitchFamily="18" charset="0"/>
            </a:endParaRPr>
          </a:p>
          <a:p>
            <a:pPr marL="800100" lvl="1" indent="-342900" algn="just">
              <a:buFont typeface="+mj-lt"/>
              <a:buAutoNum type="arabicPeriod"/>
            </a:pPr>
            <a:r>
              <a:rPr lang="en-US" sz="2800">
                <a:latin typeface="Times New Roman" panose="02020603050405020304" pitchFamily="18" charset="0"/>
                <a:cs typeface="Times New Roman" panose="02020603050405020304" pitchFamily="18" charset="0"/>
                <a:sym typeface="+mn-ea"/>
              </a:rPr>
              <a:t>Lock based protocol</a:t>
            </a:r>
            <a:endParaRPr lang="en-US" sz="2800">
              <a:latin typeface="Times New Roman" panose="02020603050405020304" pitchFamily="18" charset="0"/>
              <a:cs typeface="Times New Roman" panose="02020603050405020304" pitchFamily="18" charset="0"/>
            </a:endParaRPr>
          </a:p>
          <a:p>
            <a:pPr marL="800100" lvl="1" indent="-342900" algn="just">
              <a:buFont typeface="+mj-lt"/>
              <a:buAutoNum type="arabicPeriod"/>
            </a:pPr>
            <a:r>
              <a:rPr lang="en-US" sz="2800">
                <a:latin typeface="Times New Roman" panose="02020603050405020304" pitchFamily="18" charset="0"/>
                <a:cs typeface="Times New Roman" panose="02020603050405020304" pitchFamily="18" charset="0"/>
                <a:sym typeface="+mn-ea"/>
              </a:rPr>
              <a:t>Time-stamp protocol</a:t>
            </a:r>
            <a:endParaRPr lang="en-US" sz="2800">
              <a:latin typeface="Times New Roman" panose="02020603050405020304" pitchFamily="18" charset="0"/>
              <a:cs typeface="Times New Roman" panose="02020603050405020304" pitchFamily="18" charset="0"/>
            </a:endParaRPr>
          </a:p>
          <a:p>
            <a:pPr marL="800100" lvl="1" indent="-342900" algn="just">
              <a:buFont typeface="+mj-lt"/>
              <a:buAutoNum type="arabicPeriod"/>
            </a:pPr>
            <a:r>
              <a:rPr lang="en-US" sz="2800">
                <a:latin typeface="Times New Roman" panose="02020603050405020304" pitchFamily="18" charset="0"/>
                <a:cs typeface="Times New Roman" panose="02020603050405020304" pitchFamily="18" charset="0"/>
                <a:sym typeface="+mn-ea"/>
              </a:rPr>
              <a:t>Validation based protocol</a:t>
            </a:r>
            <a:endParaRPr lang="en-US" sz="2800">
              <a:latin typeface="Times New Roman" panose="02020603050405020304" pitchFamily="18" charset="0"/>
              <a:cs typeface="Times New Roman" panose="02020603050405020304" pitchFamily="18" charset="0"/>
            </a:endParaRPr>
          </a:p>
          <a:p>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Lock-Based Protocols</a:t>
            </a:r>
            <a:endParaRPr lang="en-US"/>
          </a:p>
        </p:txBody>
      </p:sp>
      <p:sp>
        <p:nvSpPr>
          <p:cNvPr id="3" name="Content Placeholder 2"/>
          <p:cNvSpPr>
            <a:spLocks noGrp="1"/>
          </p:cNvSpPr>
          <p:nvPr>
            <p:ph idx="1"/>
          </p:nvPr>
        </p:nvSpPr>
        <p:spPr/>
        <p:txBody>
          <a:bodyPr>
            <a:normAutofit/>
          </a:bodyPr>
          <a:p>
            <a:pPr marL="342900" indent="-342900" algn="just">
              <a:spcBef>
                <a:spcPct val="20000"/>
              </a:spcBef>
              <a:buFont typeface="Wingdings" panose="05000000000000000000" pitchFamily="2" charset="2"/>
              <a:buChar char="Ø"/>
              <a:defRPr/>
            </a:pPr>
            <a:r>
              <a:rPr lang="en-US" sz="2800" kern="0" dirty="0" smtClean="0">
                <a:latin typeface="Times New Roman" panose="02020603050405020304" pitchFamily="18" charset="0"/>
                <a:cs typeface="Times New Roman" panose="02020603050405020304" pitchFamily="18" charset="0"/>
                <a:sym typeface="+mn-ea"/>
              </a:rPr>
              <a:t>Locking is a procedure used to control concurrent access to data. Locks enable a multi-user database system to maintain the integrity of transactions by isolating a transaction from others executing concurrently.</a:t>
            </a:r>
            <a:endParaRPr lang="en-US" sz="2800"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sz="2800" kern="0" dirty="0" smtClean="0">
                <a:latin typeface="Times New Roman" panose="02020603050405020304" pitchFamily="18" charset="0"/>
                <a:cs typeface="Times New Roman" panose="02020603050405020304" pitchFamily="18" charset="0"/>
                <a:sym typeface="+mn-ea"/>
              </a:rPr>
              <a:t>Locking is one of the most widely used mechanisms to ensure serializability.</a:t>
            </a:r>
            <a:endParaRPr lang="en-US" sz="2800"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sz="2800" kern="0" dirty="0" smtClean="0">
                <a:latin typeface="Times New Roman" panose="02020603050405020304" pitchFamily="18" charset="0"/>
                <a:cs typeface="Times New Roman" panose="02020603050405020304" pitchFamily="18" charset="0"/>
                <a:sym typeface="+mn-ea"/>
              </a:rPr>
              <a:t>A lock guarantees exclussive use of a data item to a current transaction.</a:t>
            </a:r>
            <a:endParaRPr lang="en-US" sz="2800"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AutoNum type="arabicPeriod"/>
              <a:defRPr/>
            </a:pPr>
            <a:r>
              <a:rPr lang="en-US" sz="2800" kern="0" dirty="0" smtClean="0">
                <a:latin typeface="Times New Roman" panose="02020603050405020304" pitchFamily="18" charset="0"/>
                <a:cs typeface="Times New Roman" panose="02020603050405020304" pitchFamily="18" charset="0"/>
                <a:sym typeface="+mn-ea"/>
              </a:rPr>
              <a:t>to access data item [Lock Acquire]</a:t>
            </a:r>
            <a:endParaRPr lang="en-US" sz="2800"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AutoNum type="arabicPeriod"/>
              <a:defRPr/>
            </a:pPr>
            <a:r>
              <a:rPr lang="en-US" sz="2800" kern="0" dirty="0" smtClean="0">
                <a:latin typeface="Times New Roman" panose="02020603050405020304" pitchFamily="18" charset="0"/>
                <a:cs typeface="Times New Roman" panose="02020603050405020304" pitchFamily="18" charset="0"/>
                <a:sym typeface="+mn-ea"/>
              </a:rPr>
              <a:t>After completion if transaction [Release the Lock]</a:t>
            </a:r>
            <a:endParaRPr lang="en-US" sz="2800" kern="0" dirty="0" smtClean="0">
              <a:latin typeface="Times New Roman" panose="02020603050405020304" pitchFamily="18" charset="0"/>
              <a:cs typeface="Times New Roman" panose="02020603050405020304" pitchFamily="18" charset="0"/>
            </a:endParaRPr>
          </a:p>
          <a:p>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Lock-Based Protocols</a:t>
            </a:r>
            <a:endParaRPr lang="en-US"/>
          </a:p>
        </p:txBody>
      </p:sp>
      <p:sp>
        <p:nvSpPr>
          <p:cNvPr id="3" name="Content Placeholder 2"/>
          <p:cNvSpPr>
            <a:spLocks noGrp="1"/>
          </p:cNvSpPr>
          <p:nvPr>
            <p:ph idx="1"/>
          </p:nvPr>
        </p:nvSpPr>
        <p:spPr/>
        <p:txBody>
          <a:bodyPr>
            <a:normAutofit fontScale="90000" lnSpcReduction="20000"/>
          </a:bodyPr>
          <a:p>
            <a:pPr marL="0" indent="0" algn="just">
              <a:spcBef>
                <a:spcPct val="20000"/>
              </a:spcBef>
              <a:buFont typeface="Wingdings" panose="05000000000000000000" pitchFamily="2" charset="2"/>
              <a:buNone/>
              <a:defRPr/>
            </a:pPr>
            <a:r>
              <a:rPr lang="en-US" sz="2800" b="1" kern="0" dirty="0" smtClean="0">
                <a:latin typeface="Times New Roman" panose="02020603050405020304" pitchFamily="18" charset="0"/>
                <a:cs typeface="Times New Roman" panose="02020603050405020304" pitchFamily="18" charset="0"/>
                <a:sym typeface="+mn-ea"/>
              </a:rPr>
              <a:t>Types of Lock: </a:t>
            </a:r>
            <a:endParaRPr lang="en-US" sz="2800" b="1"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sz="2800" kern="0" dirty="0" smtClean="0">
                <a:latin typeface="Times New Roman" panose="02020603050405020304" pitchFamily="18" charset="0"/>
                <a:cs typeface="Times New Roman" panose="02020603050405020304" pitchFamily="18" charset="0"/>
                <a:sym typeface="+mn-ea"/>
              </a:rPr>
              <a:t>Data items can be locked in two modes:</a:t>
            </a:r>
            <a:endParaRPr lang="en-US" sz="2800" kern="0" dirty="0" smtClean="0">
              <a:latin typeface="Times New Roman" panose="02020603050405020304" pitchFamily="18" charset="0"/>
              <a:cs typeface="Times New Roman" panose="02020603050405020304" pitchFamily="18" charset="0"/>
            </a:endParaRPr>
          </a:p>
          <a:p>
            <a:pPr marL="1257300" lvl="2" indent="-342900" algn="just">
              <a:spcBef>
                <a:spcPct val="20000"/>
              </a:spcBef>
              <a:buFont typeface="+mj-lt"/>
              <a:buAutoNum type="arabicPeriod"/>
              <a:defRPr/>
            </a:pPr>
            <a:r>
              <a:rPr lang="en-US" sz="2800" kern="0" dirty="0" smtClean="0">
                <a:latin typeface="Times New Roman" panose="02020603050405020304" pitchFamily="18" charset="0"/>
                <a:cs typeface="Times New Roman" panose="02020603050405020304" pitchFamily="18" charset="0"/>
                <a:sym typeface="+mn-ea"/>
              </a:rPr>
              <a:t>Shared Lock (Lock-S)</a:t>
            </a:r>
            <a:endParaRPr lang="en-US" sz="2800" kern="0" dirty="0" smtClean="0">
              <a:latin typeface="Times New Roman" panose="02020603050405020304" pitchFamily="18" charset="0"/>
              <a:cs typeface="Times New Roman" panose="02020603050405020304" pitchFamily="18" charset="0"/>
            </a:endParaRPr>
          </a:p>
          <a:p>
            <a:pPr marL="1257300" lvl="2" indent="-342900" algn="just">
              <a:spcBef>
                <a:spcPct val="20000"/>
              </a:spcBef>
              <a:buFont typeface="+mj-lt"/>
              <a:buAutoNum type="arabicPeriod"/>
              <a:defRPr/>
            </a:pPr>
            <a:r>
              <a:rPr lang="en-US" sz="2800" kern="0" dirty="0" smtClean="0">
                <a:latin typeface="Times New Roman" panose="02020603050405020304" pitchFamily="18" charset="0"/>
                <a:cs typeface="Times New Roman" panose="02020603050405020304" pitchFamily="18" charset="0"/>
                <a:sym typeface="+mn-ea"/>
              </a:rPr>
              <a:t>Exclussive Lock (Lock-X) </a:t>
            </a:r>
            <a:endParaRPr lang="en-US" sz="2800" kern="0" dirty="0" smtClean="0">
              <a:latin typeface="Times New Roman" panose="02020603050405020304" pitchFamily="18" charset="0"/>
              <a:cs typeface="Times New Roman" panose="02020603050405020304" pitchFamily="18" charset="0"/>
            </a:endParaRPr>
          </a:p>
          <a:p>
            <a:pPr lvl="2" indent="0" algn="just">
              <a:spcBef>
                <a:spcPct val="20000"/>
              </a:spcBef>
              <a:buFont typeface="+mj-lt"/>
              <a:buNone/>
              <a:defRPr/>
            </a:pPr>
            <a:endParaRPr lang="en-US" sz="2800" b="1"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mj-lt"/>
              <a:buAutoNum type="arabicPeriod"/>
              <a:defRPr/>
            </a:pPr>
            <a:r>
              <a:rPr lang="en-US" sz="2800" b="1" kern="0" dirty="0" smtClean="0">
                <a:latin typeface="Times New Roman" panose="02020603050405020304" pitchFamily="18" charset="0"/>
                <a:cs typeface="Times New Roman" panose="02020603050405020304" pitchFamily="18" charset="0"/>
                <a:sym typeface="+mn-ea"/>
              </a:rPr>
              <a:t>Shared lock or Read lock: </a:t>
            </a:r>
            <a:endParaRPr lang="en-US" sz="2800" b="1" kern="0" dirty="0" smtClean="0">
              <a:latin typeface="Times New Roman" panose="02020603050405020304" pitchFamily="18" charset="0"/>
              <a:cs typeface="Times New Roman" panose="02020603050405020304" pitchFamily="18" charset="0"/>
            </a:endParaRPr>
          </a:p>
          <a:p>
            <a:pPr marL="1257300" lvl="2" indent="-342900" algn="just">
              <a:spcBef>
                <a:spcPct val="20000"/>
              </a:spcBef>
              <a:buFont typeface="Wingdings" panose="05000000000000000000" charset="0"/>
              <a:buChar char="§"/>
              <a:defRPr/>
            </a:pPr>
            <a:r>
              <a:rPr lang="en-US" sz="2800" kern="0" dirty="0" smtClean="0">
                <a:latin typeface="Times New Roman" panose="02020603050405020304" pitchFamily="18" charset="0"/>
                <a:cs typeface="Times New Roman" panose="02020603050405020304" pitchFamily="18" charset="0"/>
                <a:sym typeface="+mn-ea"/>
              </a:rPr>
              <a:t>It is also known as a Read-only lock. In a shared lock, the data item can only read by the transaction.</a:t>
            </a:r>
            <a:endParaRPr lang="en-US" sz="2800" kern="0" dirty="0" smtClean="0">
              <a:latin typeface="Times New Roman" panose="02020603050405020304" pitchFamily="18" charset="0"/>
              <a:cs typeface="Times New Roman" panose="02020603050405020304" pitchFamily="18" charset="0"/>
            </a:endParaRPr>
          </a:p>
          <a:p>
            <a:pPr marL="1257300" lvl="2" indent="-342900" algn="just">
              <a:spcBef>
                <a:spcPct val="20000"/>
              </a:spcBef>
              <a:buFont typeface="Wingdings" panose="05000000000000000000" charset="0"/>
              <a:buChar char="§"/>
              <a:defRPr/>
            </a:pPr>
            <a:r>
              <a:rPr lang="en-US" sz="2800" kern="0" dirty="0" smtClean="0">
                <a:latin typeface="Times New Roman" panose="02020603050405020304" pitchFamily="18" charset="0"/>
                <a:cs typeface="Times New Roman" panose="02020603050405020304" pitchFamily="18" charset="0"/>
                <a:sym typeface="+mn-ea"/>
              </a:rPr>
              <a:t>It can be shared between the transactions because when the transaction holds a lock, then it can't update the data on the data item.</a:t>
            </a:r>
            <a:endParaRPr lang="en-US" sz="2800" kern="0" dirty="0" smtClean="0">
              <a:latin typeface="Times New Roman" panose="02020603050405020304" pitchFamily="18" charset="0"/>
              <a:cs typeface="Times New Roman" panose="02020603050405020304" pitchFamily="18" charset="0"/>
            </a:endParaRPr>
          </a:p>
          <a:p>
            <a:pPr marL="1257300" lvl="2" indent="-342900" algn="just">
              <a:spcBef>
                <a:spcPct val="20000"/>
              </a:spcBef>
              <a:buFont typeface="Wingdings" panose="05000000000000000000" charset="0"/>
              <a:buChar char="§"/>
              <a:defRPr/>
            </a:pPr>
            <a:r>
              <a:rPr lang="en-US" sz="2800" b="1" kern="0" dirty="0" smtClean="0">
                <a:latin typeface="Times New Roman" panose="02020603050405020304" pitchFamily="18" charset="0"/>
                <a:cs typeface="Times New Roman" panose="02020603050405020304" pitchFamily="18" charset="0"/>
                <a:sym typeface="+mn-ea"/>
              </a:rPr>
              <a:t>If a transaction Ti  has obtained a shared mode lock(S) on data item Q, then Ti can only read the data item Q, but cannot write on Q.</a:t>
            </a:r>
            <a:endParaRPr lang="en-US" sz="2800" kern="0" dirty="0" smtClean="0">
              <a:latin typeface="Times New Roman" panose="02020603050405020304" pitchFamily="18" charset="0"/>
              <a:cs typeface="Times New Roman" panose="02020603050405020304" pitchFamily="18" charset="0"/>
            </a:endParaRPr>
          </a:p>
          <a:p>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Lock-Based Protocols</a:t>
            </a:r>
            <a:endParaRPr lang="en-US"/>
          </a:p>
        </p:txBody>
      </p:sp>
      <p:sp>
        <p:nvSpPr>
          <p:cNvPr id="3" name="Content Placeholder 2"/>
          <p:cNvSpPr>
            <a:spLocks noGrp="1"/>
          </p:cNvSpPr>
          <p:nvPr>
            <p:ph idx="1"/>
          </p:nvPr>
        </p:nvSpPr>
        <p:spPr/>
        <p:txBody>
          <a:bodyPr/>
          <a:p>
            <a:pPr lvl="1" indent="0" algn="just">
              <a:spcBef>
                <a:spcPct val="20000"/>
              </a:spcBef>
              <a:buFont typeface="Wingdings" panose="05000000000000000000" pitchFamily="2" charset="2"/>
              <a:buNone/>
              <a:defRPr/>
            </a:pPr>
            <a:r>
              <a:rPr lang="en-US" sz="2800" b="1" kern="0" dirty="0" smtClean="0">
                <a:latin typeface="Times New Roman" panose="02020603050405020304" pitchFamily="18" charset="0"/>
                <a:cs typeface="Times New Roman" panose="02020603050405020304" pitchFamily="18" charset="0"/>
                <a:sym typeface="+mn-ea"/>
              </a:rPr>
              <a:t>2. Exclusive lock or Write lock</a:t>
            </a:r>
            <a:r>
              <a:rPr lang="en-US" sz="2800" kern="0" dirty="0" smtClean="0">
                <a:latin typeface="Times New Roman" panose="02020603050405020304" pitchFamily="18" charset="0"/>
                <a:cs typeface="Times New Roman" panose="02020603050405020304" pitchFamily="18" charset="0"/>
                <a:sym typeface="+mn-ea"/>
              </a:rPr>
              <a:t>: </a:t>
            </a:r>
            <a:endParaRPr lang="en-US" sz="2800" kern="0" dirty="0" smtClean="0">
              <a:latin typeface="Times New Roman" panose="02020603050405020304" pitchFamily="18" charset="0"/>
              <a:cs typeface="Times New Roman" panose="02020603050405020304" pitchFamily="18" charset="0"/>
            </a:endParaRPr>
          </a:p>
          <a:p>
            <a:pPr marL="1257300" lvl="2" indent="-342900" algn="just">
              <a:spcBef>
                <a:spcPct val="20000"/>
              </a:spcBef>
              <a:buFont typeface="Wingdings" panose="05000000000000000000" charset="0"/>
              <a:buChar char="§"/>
              <a:defRPr/>
            </a:pPr>
            <a:r>
              <a:rPr lang="en-US" sz="2800" kern="0" dirty="0" smtClean="0">
                <a:latin typeface="Times New Roman" panose="02020603050405020304" pitchFamily="18" charset="0"/>
                <a:cs typeface="Times New Roman" panose="02020603050405020304" pitchFamily="18" charset="0"/>
                <a:sym typeface="+mn-ea"/>
              </a:rPr>
              <a:t>In the exclusive lock, the data item can be both reads as well as written by the transaction.</a:t>
            </a:r>
            <a:endParaRPr lang="en-US" sz="2800" kern="0" dirty="0" smtClean="0">
              <a:latin typeface="Times New Roman" panose="02020603050405020304" pitchFamily="18" charset="0"/>
              <a:cs typeface="Times New Roman" panose="02020603050405020304" pitchFamily="18" charset="0"/>
            </a:endParaRPr>
          </a:p>
          <a:p>
            <a:pPr marL="1257300" lvl="2" indent="-342900" algn="just">
              <a:spcBef>
                <a:spcPct val="20000"/>
              </a:spcBef>
              <a:buFont typeface="Wingdings" panose="05000000000000000000" charset="0"/>
              <a:buChar char="§"/>
              <a:defRPr/>
            </a:pPr>
            <a:r>
              <a:rPr lang="en-US" sz="2800" kern="0" dirty="0" smtClean="0">
                <a:latin typeface="Times New Roman" panose="02020603050405020304" pitchFamily="18" charset="0"/>
                <a:cs typeface="Times New Roman" panose="02020603050405020304" pitchFamily="18" charset="0"/>
                <a:sym typeface="+mn-ea"/>
              </a:rPr>
              <a:t>This lock is exclusive, and in this lock, multiple transactions do not modify the same data simultaneously.</a:t>
            </a:r>
            <a:endParaRPr lang="en-US" sz="2800" kern="0" dirty="0" smtClean="0">
              <a:latin typeface="Times New Roman" panose="02020603050405020304" pitchFamily="18" charset="0"/>
              <a:cs typeface="Times New Roman" panose="02020603050405020304" pitchFamily="18" charset="0"/>
            </a:endParaRPr>
          </a:p>
          <a:p>
            <a:pPr marL="1257300" lvl="2" indent="-342900" algn="just">
              <a:spcBef>
                <a:spcPct val="20000"/>
              </a:spcBef>
              <a:buFont typeface="Wingdings" panose="05000000000000000000" charset="0"/>
              <a:buChar char="§"/>
              <a:defRPr/>
            </a:pPr>
            <a:r>
              <a:rPr lang="en-US" sz="2800" b="1" kern="0" dirty="0" smtClean="0">
                <a:latin typeface="Times New Roman" panose="02020603050405020304" pitchFamily="18" charset="0"/>
                <a:cs typeface="Times New Roman" panose="02020603050405020304" pitchFamily="18" charset="0"/>
                <a:sym typeface="+mn-ea"/>
              </a:rPr>
              <a:t>If a transaction Ti  has obtained an exclusive mode lock(X) on data item Q, then Ti  can both read and write Q.</a:t>
            </a:r>
            <a:endParaRPr lang="en-US" sz="2800" b="1"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sz="2800" kern="0" dirty="0" smtClean="0">
                <a:latin typeface="Times New Roman" panose="02020603050405020304" pitchFamily="18" charset="0"/>
                <a:cs typeface="Times New Roman" panose="02020603050405020304" pitchFamily="18" charset="0"/>
                <a:sym typeface="+mn-ea"/>
              </a:rPr>
              <a:t>A transaction must obtain a lock on a data item before it can perform a read or write operation.</a:t>
            </a:r>
            <a:endParaRPr lang="en-US" sz="2800" kern="0" dirty="0" smtClean="0">
              <a:latin typeface="Times New Roman" panose="02020603050405020304" pitchFamily="18" charset="0"/>
              <a:cs typeface="Times New Roman" panose="02020603050405020304" pitchFamily="18" charset="0"/>
            </a:endParaRPr>
          </a:p>
          <a:p>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Lock-Based Protocols</a:t>
            </a:r>
            <a:endParaRPr lang="en-US"/>
          </a:p>
        </p:txBody>
      </p:sp>
      <p:sp>
        <p:nvSpPr>
          <p:cNvPr id="4" name="Content Placeholder 2"/>
          <p:cNvSpPr txBox="1"/>
          <p:nvPr/>
        </p:nvSpPr>
        <p:spPr bwMode="auto">
          <a:xfrm>
            <a:off x="857250" y="1143000"/>
            <a:ext cx="10213340" cy="5072380"/>
          </a:xfrm>
          <a:prstGeom prst="rect">
            <a:avLst/>
          </a:prstGeom>
          <a:noFill/>
          <a:ln w="9525">
            <a:noFill/>
            <a:miter lim="800000"/>
          </a:ln>
        </p:spPr>
        <p:txBody>
          <a:bodyPr/>
          <a:p>
            <a:pPr lvl="0" indent="0" algn="just">
              <a:spcBef>
                <a:spcPct val="20000"/>
              </a:spcBef>
              <a:buFont typeface="Wingdings" panose="05000000000000000000" pitchFamily="2" charset="2"/>
              <a:buNone/>
              <a:defRPr/>
            </a:pPr>
            <a:r>
              <a:rPr lang="en-US" b="1" kern="0" dirty="0" smtClean="0">
                <a:latin typeface="Times New Roman" panose="02020603050405020304" pitchFamily="18" charset="0"/>
                <a:cs typeface="Times New Roman" panose="02020603050405020304" pitchFamily="18" charset="0"/>
              </a:rPr>
              <a:t> Compatiblity between Lock Model :</a:t>
            </a:r>
            <a:endParaRPr lang="en-US" b="1" kern="0" dirty="0" smtClean="0">
              <a:latin typeface="Times New Roman" panose="02020603050405020304" pitchFamily="18" charset="0"/>
              <a:cs typeface="Times New Roman" panose="02020603050405020304" pitchFamily="18" charset="0"/>
            </a:endParaRPr>
          </a:p>
          <a:p>
            <a:pPr lvl="0" indent="0" algn="just">
              <a:spcBef>
                <a:spcPct val="20000"/>
              </a:spcBef>
              <a:buFont typeface="Wingdings" panose="05000000000000000000" pitchFamily="2" charset="2"/>
              <a:buNone/>
              <a:defRPr/>
            </a:pPr>
            <a:r>
              <a:rPr lang="en-US" b="1" kern="0" dirty="0" smtClean="0">
                <a:latin typeface="Times New Roman" panose="02020603050405020304" pitchFamily="18" charset="0"/>
                <a:cs typeface="Times New Roman" panose="02020603050405020304" pitchFamily="18" charset="0"/>
              </a:rPr>
              <a:t> </a:t>
            </a:r>
            <a:endParaRPr lang="en-US" b="1" kern="0" dirty="0" smtClean="0">
              <a:latin typeface="Times New Roman" panose="02020603050405020304" pitchFamily="18" charset="0"/>
              <a:cs typeface="Times New Roman" panose="02020603050405020304" pitchFamily="18" charset="0"/>
            </a:endParaRPr>
          </a:p>
          <a:p>
            <a:pPr lvl="0" indent="0" algn="just">
              <a:spcBef>
                <a:spcPct val="20000"/>
              </a:spcBef>
              <a:buFont typeface="Wingdings" panose="05000000000000000000" pitchFamily="2" charset="2"/>
              <a:buNone/>
              <a:defRPr/>
            </a:pPr>
            <a:endParaRPr lang="en-US" kern="0" dirty="0" smtClean="0">
              <a:latin typeface="Times New Roman" panose="02020603050405020304" pitchFamily="18" charset="0"/>
              <a:cs typeface="Times New Roman" panose="02020603050405020304" pitchFamily="18" charset="0"/>
            </a:endParaRPr>
          </a:p>
          <a:p>
            <a:pPr lvl="0" indent="0" algn="just">
              <a:spcBef>
                <a:spcPct val="20000"/>
              </a:spcBef>
              <a:buFont typeface="Wingdings" panose="05000000000000000000" pitchFamily="2" charset="2"/>
              <a:buNone/>
              <a:defRPr/>
            </a:pPr>
            <a:endParaRPr lang="en-US" kern="0" dirty="0" smtClean="0">
              <a:latin typeface="Times New Roman" panose="02020603050405020304" pitchFamily="18" charset="0"/>
              <a:cs typeface="Times New Roman" panose="02020603050405020304" pitchFamily="18" charset="0"/>
            </a:endParaRPr>
          </a:p>
          <a:p>
            <a:pPr lvl="0" indent="0" algn="just">
              <a:spcBef>
                <a:spcPct val="20000"/>
              </a:spcBef>
              <a:buFont typeface="Wingdings" panose="05000000000000000000" pitchFamily="2" charset="2"/>
              <a:buNone/>
              <a:defRPr/>
            </a:pPr>
            <a:endParaRPr lang="en-US" kern="0" dirty="0" smtClean="0">
              <a:latin typeface="Times New Roman" panose="02020603050405020304" pitchFamily="18" charset="0"/>
              <a:cs typeface="Times New Roman" panose="02020603050405020304" pitchFamily="18" charset="0"/>
            </a:endParaRPr>
          </a:p>
          <a:p>
            <a:pPr lvl="0" indent="0" algn="just">
              <a:spcBef>
                <a:spcPct val="20000"/>
              </a:spcBef>
              <a:buFont typeface="Wingdings" panose="05000000000000000000" pitchFamily="2" charset="2"/>
              <a:buNone/>
              <a:defRPr/>
            </a:pPr>
            <a:endParaRPr lang="en-US" kern="0" dirty="0" smtClean="0">
              <a:latin typeface="Times New Roman" panose="02020603050405020304" pitchFamily="18" charset="0"/>
              <a:cs typeface="Times New Roman" panose="02020603050405020304" pitchFamily="18" charset="0"/>
            </a:endParaRPr>
          </a:p>
          <a:p>
            <a:pPr marL="0" indent="0" algn="just">
              <a:spcBef>
                <a:spcPct val="20000"/>
              </a:spcBef>
              <a:buFont typeface="Wingdings" panose="05000000000000000000" pitchFamily="2" charset="2"/>
              <a:buNone/>
              <a:defRPr/>
            </a:pPr>
            <a:r>
              <a:rPr lang="en-US" b="1" kern="0" dirty="0" smtClean="0">
                <a:latin typeface="Times New Roman" panose="02020603050405020304" pitchFamily="18" charset="0"/>
                <a:cs typeface="Times New Roman" panose="02020603050405020304" pitchFamily="18" charset="0"/>
                <a:sym typeface="+mn-ea"/>
              </a:rPr>
              <a:t>Basic Rules for Locking:</a:t>
            </a:r>
            <a:endParaRPr lang="en-US" b="1"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pitchFamily="2" charset="2"/>
              <a:buChar char="ü"/>
              <a:defRPr/>
            </a:pPr>
            <a:r>
              <a:rPr lang="en-US" kern="0" dirty="0" smtClean="0">
                <a:latin typeface="Times New Roman" panose="02020603050405020304" pitchFamily="18" charset="0"/>
                <a:cs typeface="Times New Roman" panose="02020603050405020304" pitchFamily="18" charset="0"/>
                <a:sym typeface="+mn-ea"/>
              </a:rPr>
              <a:t>If a transaction has a read lock on a data item, it can only read the item; but cannot update its value.</a:t>
            </a:r>
            <a:endParaRPr lang="en-US"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pitchFamily="2" charset="2"/>
              <a:buChar char="ü"/>
              <a:defRPr/>
            </a:pPr>
            <a:r>
              <a:rPr lang="en-US" kern="0" dirty="0" smtClean="0">
                <a:latin typeface="Times New Roman" panose="02020603050405020304" pitchFamily="18" charset="0"/>
                <a:cs typeface="Times New Roman" panose="02020603050405020304" pitchFamily="18" charset="0"/>
                <a:sym typeface="+mn-ea"/>
              </a:rPr>
              <a:t>If a transaction has a read lock on a data item, other transactions can obtain read locks on the same data item, but they cannot obtain any update lock on it.</a:t>
            </a:r>
            <a:endParaRPr lang="en-US"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pitchFamily="2" charset="2"/>
              <a:buChar char="ü"/>
              <a:defRPr/>
            </a:pPr>
            <a:r>
              <a:rPr lang="en-US" kern="0" dirty="0" smtClean="0">
                <a:latin typeface="Times New Roman" panose="02020603050405020304" pitchFamily="18" charset="0"/>
                <a:cs typeface="Times New Roman" panose="02020603050405020304" pitchFamily="18" charset="0"/>
                <a:sym typeface="+mn-ea"/>
              </a:rPr>
              <a:t>If a transaction has a write lock on a data item, then it can both read and update the value of that data item.</a:t>
            </a:r>
            <a:endParaRPr lang="en-US"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pitchFamily="2" charset="2"/>
              <a:buChar char="ü"/>
              <a:defRPr/>
            </a:pPr>
            <a:r>
              <a:rPr lang="en-US" kern="0" dirty="0" smtClean="0">
                <a:latin typeface="Times New Roman" panose="02020603050405020304" pitchFamily="18" charset="0"/>
                <a:cs typeface="Times New Roman" panose="02020603050405020304" pitchFamily="18" charset="0"/>
                <a:sym typeface="+mn-ea"/>
              </a:rPr>
              <a:t>If a transaction has a write lock on a data item, then other transactions cannot obtain either a read lock or a write lock on that data item.</a:t>
            </a:r>
            <a:endParaRPr lang="en-US" kern="0" dirty="0" smtClean="0">
              <a:latin typeface="Times New Roman" panose="02020603050405020304" pitchFamily="18" charset="0"/>
              <a:cs typeface="Times New Roman" panose="02020603050405020304" pitchFamily="18" charset="0"/>
            </a:endParaRPr>
          </a:p>
          <a:p>
            <a:pPr lvl="0" indent="0" algn="just">
              <a:spcBef>
                <a:spcPct val="20000"/>
              </a:spcBef>
              <a:buFont typeface="Wingdings" panose="05000000000000000000" pitchFamily="2" charset="2"/>
              <a:buNone/>
              <a:defRPr/>
            </a:pPr>
            <a:endParaRPr lang="en-US" kern="0" dirty="0" smtClean="0">
              <a:latin typeface="Times New Roman" panose="02020603050405020304" pitchFamily="18" charset="0"/>
              <a:cs typeface="Times New Roman" panose="02020603050405020304" pitchFamily="18" charset="0"/>
            </a:endParaRPr>
          </a:p>
          <a:p>
            <a:pPr lvl="0" indent="0" algn="just">
              <a:spcBef>
                <a:spcPct val="20000"/>
              </a:spcBef>
              <a:buFont typeface="Wingdings" panose="05000000000000000000" pitchFamily="2" charset="2"/>
              <a:buNone/>
              <a:defRPr/>
            </a:pPr>
            <a:endParaRPr lang="en-US" kern="0" dirty="0" smtClean="0">
              <a:latin typeface="Times New Roman" panose="02020603050405020304" pitchFamily="18" charset="0"/>
              <a:cs typeface="Times New Roman" panose="02020603050405020304" pitchFamily="18" charset="0"/>
            </a:endParaRPr>
          </a:p>
          <a:p>
            <a:pPr lvl="0" indent="0" algn="just">
              <a:spcBef>
                <a:spcPct val="20000"/>
              </a:spcBef>
              <a:buFont typeface="Wingdings" panose="05000000000000000000" pitchFamily="2" charset="2"/>
              <a:buNone/>
              <a:defRPr/>
            </a:pPr>
            <a:endParaRPr lang="en-US" kern="0" dirty="0" smtClean="0">
              <a:latin typeface="Times New Roman" panose="02020603050405020304" pitchFamily="18" charset="0"/>
              <a:cs typeface="Times New Roman" panose="02020603050405020304" pitchFamily="18" charset="0"/>
            </a:endParaRPr>
          </a:p>
        </p:txBody>
      </p:sp>
      <p:graphicFrame>
        <p:nvGraphicFramePr>
          <p:cNvPr id="5" name="Table 4"/>
          <p:cNvGraphicFramePr/>
          <p:nvPr/>
        </p:nvGraphicFramePr>
        <p:xfrm>
          <a:off x="1050925" y="1746250"/>
          <a:ext cx="8713470" cy="1371600"/>
        </p:xfrm>
        <a:graphic>
          <a:graphicData uri="http://schemas.openxmlformats.org/drawingml/2006/table">
            <a:tbl>
              <a:tblPr firstRow="1" bandRow="1">
                <a:tableStyleId>{5C22544A-7EE6-4342-B048-85BDC9FD1C3A}</a:tableStyleId>
              </a:tblPr>
              <a:tblGrid>
                <a:gridCol w="2904490"/>
                <a:gridCol w="2904490"/>
                <a:gridCol w="2904490"/>
              </a:tblGrid>
              <a:tr h="365760">
                <a:tc>
                  <a:txBody>
                    <a:bodyPr/>
                    <a:p>
                      <a:pPr>
                        <a:buNone/>
                      </a:pPr>
                      <a:endParaRPr lang="en-US"/>
                    </a:p>
                  </a:txBody>
                  <a:tcPr/>
                </a:tc>
                <a:tc>
                  <a:txBody>
                    <a:bodyPr/>
                    <a:p>
                      <a:pPr>
                        <a:buNone/>
                      </a:pPr>
                      <a:r>
                        <a:rPr lang="en-US"/>
                        <a:t>S</a:t>
                      </a:r>
                      <a:endParaRPr lang="en-US"/>
                    </a:p>
                  </a:txBody>
                  <a:tcPr/>
                </a:tc>
                <a:tc>
                  <a:txBody>
                    <a:bodyPr/>
                    <a:p>
                      <a:pPr>
                        <a:buNone/>
                      </a:pPr>
                      <a:r>
                        <a:rPr lang="en-US"/>
                        <a:t>X</a:t>
                      </a:r>
                      <a:endParaRPr lang="en-US"/>
                    </a:p>
                  </a:txBody>
                  <a:tcPr/>
                </a:tc>
              </a:tr>
              <a:tr h="365760">
                <a:tc>
                  <a:txBody>
                    <a:bodyPr/>
                    <a:p>
                      <a:pPr>
                        <a:buNone/>
                      </a:pPr>
                      <a:r>
                        <a:rPr lang="en-US"/>
                        <a:t>S</a:t>
                      </a:r>
                      <a:endParaRPr lang="en-US"/>
                    </a:p>
                  </a:txBody>
                  <a:tcPr/>
                </a:tc>
                <a:tc>
                  <a:txBody>
                    <a:bodyPr/>
                    <a:p>
                      <a:pPr>
                        <a:buNone/>
                      </a:pPr>
                      <a:r>
                        <a:rPr lang="en-US"/>
                        <a:t>Allowed  (True)</a:t>
                      </a:r>
                      <a:endParaRPr lang="en-US"/>
                    </a:p>
                  </a:txBody>
                  <a:tcPr/>
                </a:tc>
                <a:tc>
                  <a:txBody>
                    <a:bodyPr/>
                    <a:p>
                      <a:pPr>
                        <a:buNone/>
                      </a:pPr>
                      <a:r>
                        <a:rPr lang="en-US"/>
                        <a:t>Not Allowed (False)</a:t>
                      </a:r>
                      <a:endParaRPr lang="en-US"/>
                    </a:p>
                  </a:txBody>
                  <a:tcPr/>
                </a:tc>
              </a:tr>
              <a:tr h="640080">
                <a:tc>
                  <a:txBody>
                    <a:bodyPr/>
                    <a:p>
                      <a:pPr>
                        <a:buNone/>
                      </a:pPr>
                      <a:r>
                        <a:rPr lang="en-US"/>
                        <a:t>X</a:t>
                      </a:r>
                      <a:endParaRPr lang="en-US"/>
                    </a:p>
                  </a:txBody>
                  <a:tcPr/>
                </a:tc>
                <a:tc>
                  <a:txBody>
                    <a:bodyPr/>
                    <a:p>
                      <a:pPr>
                        <a:buNone/>
                      </a:pPr>
                      <a:r>
                        <a:rPr lang="en-US" sz="1800">
                          <a:sym typeface="+mn-ea"/>
                        </a:rPr>
                        <a:t>Not Allowed (False)</a:t>
                      </a:r>
                      <a:endParaRPr lang="en-US" sz="1800">
                        <a:sym typeface="+mn-ea"/>
                      </a:endParaRPr>
                    </a:p>
                    <a:p>
                      <a:pPr>
                        <a:buNone/>
                      </a:pPr>
                      <a:endParaRPr lang="en-US"/>
                    </a:p>
                  </a:txBody>
                  <a:tcPr/>
                </a:tc>
                <a:tc>
                  <a:txBody>
                    <a:bodyPr/>
                    <a:p>
                      <a:pPr>
                        <a:buNone/>
                      </a:pPr>
                      <a:r>
                        <a:rPr lang="en-US" sz="1800">
                          <a:sym typeface="+mn-ea"/>
                        </a:rPr>
                        <a:t>Not Allowed (False)</a:t>
                      </a:r>
                      <a:endParaRPr lang="en-US" sz="1800">
                        <a:sym typeface="+mn-ea"/>
                      </a:endParaRPr>
                    </a:p>
                    <a:p>
                      <a:pPr>
                        <a:buNone/>
                      </a:pPr>
                      <a:endParaRPr lang="en-US"/>
                    </a:p>
                  </a:txBody>
                  <a:tcPr/>
                </a:tc>
              </a:tr>
            </a:tbl>
          </a:graphicData>
        </a:graphic>
      </p:graphicFrame>
      <p:sp>
        <p:nvSpPr>
          <p:cNvPr id="3" name="Text Box 2"/>
          <p:cNvSpPr txBox="1"/>
          <p:nvPr/>
        </p:nvSpPr>
        <p:spPr>
          <a:xfrm>
            <a:off x="420370" y="2404110"/>
            <a:ext cx="4064000" cy="368300"/>
          </a:xfrm>
          <a:prstGeom prst="rect">
            <a:avLst/>
          </a:prstGeom>
          <a:noFill/>
        </p:spPr>
        <p:txBody>
          <a:bodyPr wrap="square" rtlCol="0">
            <a:spAutoFit/>
          </a:bodyPr>
          <a:p>
            <a:r>
              <a:rPr lang="en-US"/>
              <a:t>grant</a:t>
            </a:r>
            <a:endParaRPr lang="en-US"/>
          </a:p>
        </p:txBody>
      </p:sp>
      <p:sp>
        <p:nvSpPr>
          <p:cNvPr id="6" name="Text Box 5"/>
          <p:cNvSpPr txBox="1"/>
          <p:nvPr/>
        </p:nvSpPr>
        <p:spPr>
          <a:xfrm>
            <a:off x="2440305" y="1451610"/>
            <a:ext cx="4064000" cy="368300"/>
          </a:xfrm>
          <a:prstGeom prst="rect">
            <a:avLst/>
          </a:prstGeom>
          <a:noFill/>
        </p:spPr>
        <p:txBody>
          <a:bodyPr wrap="square" rtlCol="0">
            <a:spAutoFit/>
          </a:bodyPr>
          <a:p>
            <a:r>
              <a:rPr lang="en-US"/>
              <a:t>request</a:t>
            </a:r>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Lock-Based Protocols</a:t>
            </a:r>
            <a:endParaRPr lang="en-US"/>
          </a:p>
        </p:txBody>
      </p:sp>
      <p:graphicFrame>
        <p:nvGraphicFramePr>
          <p:cNvPr id="4" name="Content Placeholder 3"/>
          <p:cNvGraphicFramePr/>
          <p:nvPr>
            <p:ph idx="1"/>
          </p:nvPr>
        </p:nvGraphicFramePr>
        <p:xfrm>
          <a:off x="1051560" y="1600200"/>
          <a:ext cx="8229600" cy="2637155"/>
        </p:xfrm>
        <a:graphic>
          <a:graphicData uri="http://schemas.openxmlformats.org/drawingml/2006/table">
            <a:tbl>
              <a:tblPr firstRow="1" bandRow="1">
                <a:tableStyleId>{5C22544A-7EE6-4342-B048-85BDC9FD1C3A}</a:tableStyleId>
              </a:tblPr>
              <a:tblGrid>
                <a:gridCol w="4135755"/>
                <a:gridCol w="4093845"/>
              </a:tblGrid>
              <a:tr h="436245">
                <a:tc>
                  <a:txBody>
                    <a:bodyPr/>
                    <a:p>
                      <a:pPr>
                        <a:buNone/>
                      </a:pPr>
                      <a:r>
                        <a:rPr lang="en-US"/>
                        <a:t>T1</a:t>
                      </a:r>
                      <a:endParaRPr lang="en-US"/>
                    </a:p>
                  </a:txBody>
                  <a:tcPr/>
                </a:tc>
                <a:tc>
                  <a:txBody>
                    <a:bodyPr/>
                    <a:p>
                      <a:pPr>
                        <a:buNone/>
                      </a:pPr>
                      <a:r>
                        <a:rPr lang="en-US"/>
                        <a:t>T2</a:t>
                      </a:r>
                      <a:endParaRPr lang="en-US"/>
                    </a:p>
                  </a:txBody>
                  <a:tcPr/>
                </a:tc>
              </a:tr>
              <a:tr h="1746250">
                <a:tc>
                  <a:txBody>
                    <a:bodyPr/>
                    <a:p>
                      <a:pPr>
                        <a:buNone/>
                      </a:pPr>
                      <a:r>
                        <a:rPr lang="en-US"/>
                        <a:t>Lock-X (B)</a:t>
                      </a:r>
                      <a:endParaRPr lang="en-US"/>
                    </a:p>
                    <a:p>
                      <a:pPr>
                        <a:buNone/>
                      </a:pPr>
                      <a:r>
                        <a:rPr lang="en-US"/>
                        <a:t>R(B)</a:t>
                      </a:r>
                      <a:endParaRPr lang="en-US"/>
                    </a:p>
                    <a:p>
                      <a:pPr>
                        <a:buNone/>
                      </a:pPr>
                      <a:r>
                        <a:rPr lang="en-US"/>
                        <a:t>B=B-50</a:t>
                      </a:r>
                      <a:endParaRPr lang="en-US"/>
                    </a:p>
                    <a:p>
                      <a:pPr>
                        <a:buNone/>
                      </a:pPr>
                      <a:r>
                        <a:rPr lang="en-US"/>
                        <a:t>W(B)</a:t>
                      </a:r>
                      <a:endParaRPr lang="en-US"/>
                    </a:p>
                    <a:p>
                      <a:pPr>
                        <a:buNone/>
                      </a:pPr>
                      <a:r>
                        <a:rPr lang="en-US"/>
                        <a:t>unlock(B)</a:t>
                      </a:r>
                      <a:endParaRPr lang="en-US"/>
                    </a:p>
                  </a:txBody>
                  <a:tcPr/>
                </a:tc>
                <a:tc>
                  <a:txBody>
                    <a:bodyPr/>
                    <a:p>
                      <a:pPr>
                        <a:buNone/>
                      </a:pPr>
                      <a:endParaRPr lang="en-US"/>
                    </a:p>
                  </a:txBody>
                  <a:tcPr/>
                </a:tc>
              </a:tr>
              <a:tr h="454660">
                <a:tc>
                  <a:txBody>
                    <a:bodyPr/>
                    <a:p>
                      <a:pPr>
                        <a:buNone/>
                      </a:pPr>
                      <a:endParaRPr lang="en-US"/>
                    </a:p>
                  </a:txBody>
                  <a:tcPr/>
                </a:tc>
                <a:tc>
                  <a:txBody>
                    <a:bodyPr/>
                    <a:p>
                      <a:pPr>
                        <a:buNone/>
                      </a:pPr>
                      <a:r>
                        <a:rPr lang="en-US"/>
                        <a:t>Lock-S(B)</a:t>
                      </a:r>
                      <a:endParaRPr lang="en-US"/>
                    </a:p>
                    <a:p>
                      <a:pPr>
                        <a:buNone/>
                      </a:pPr>
                      <a:r>
                        <a:rPr lang="en-US"/>
                        <a:t>Read (B)</a:t>
                      </a:r>
                      <a:endParaRPr lang="en-US"/>
                    </a:p>
                    <a:p>
                      <a:pPr>
                        <a:buNone/>
                      </a:pPr>
                      <a:r>
                        <a:rPr lang="en-US"/>
                        <a:t>unlock(B)</a:t>
                      </a:r>
                      <a:endParaRPr lang="en-US"/>
                    </a:p>
                  </a:txBody>
                  <a:tcPr/>
                </a:tc>
              </a:tr>
            </a:tbl>
          </a:graphicData>
        </a:graphic>
      </p:graphicFrame>
      <p:sp>
        <p:nvSpPr>
          <p:cNvPr id="5" name="Text Box 4"/>
          <p:cNvSpPr txBox="1"/>
          <p:nvPr/>
        </p:nvSpPr>
        <p:spPr>
          <a:xfrm>
            <a:off x="1250950" y="4914265"/>
            <a:ext cx="7875905" cy="977265"/>
          </a:xfrm>
          <a:prstGeom prst="rect">
            <a:avLst/>
          </a:prstGeom>
          <a:noFill/>
        </p:spPr>
        <p:txBody>
          <a:bodyPr wrap="square" rtlCol="0">
            <a:spAutoFit/>
          </a:bodyPr>
          <a:p>
            <a:pPr lvl="0" indent="0" algn="just">
              <a:spcBef>
                <a:spcPct val="20000"/>
              </a:spcBef>
              <a:buFont typeface="Wingdings" panose="05000000000000000000" pitchFamily="2" charset="2"/>
              <a:buNone/>
              <a:defRPr/>
            </a:pPr>
            <a:r>
              <a:rPr lang="en-US" b="1" kern="0" dirty="0" smtClean="0">
                <a:latin typeface="Times New Roman" panose="02020603050405020304" pitchFamily="18" charset="0"/>
                <a:cs typeface="Times New Roman" panose="02020603050405020304" pitchFamily="18" charset="0"/>
                <a:sym typeface="+mn-ea"/>
              </a:rPr>
              <a:t>Note:</a:t>
            </a:r>
            <a:endParaRPr lang="en-US" b="1" kern="0" dirty="0" smtClean="0">
              <a:latin typeface="Times New Roman" panose="02020603050405020304" pitchFamily="18" charset="0"/>
              <a:cs typeface="Times New Roman" panose="02020603050405020304" pitchFamily="18" charset="0"/>
            </a:endParaRPr>
          </a:p>
          <a:p>
            <a:pPr lvl="0" indent="0" algn="just">
              <a:spcBef>
                <a:spcPct val="20000"/>
              </a:spcBef>
              <a:buFont typeface="Wingdings" panose="05000000000000000000" pitchFamily="2" charset="2"/>
              <a:buNone/>
              <a:defRPr/>
            </a:pPr>
            <a:r>
              <a:rPr lang="en-US" kern="0" dirty="0" smtClean="0">
                <a:latin typeface="Times New Roman" panose="02020603050405020304" pitchFamily="18" charset="0"/>
                <a:cs typeface="Times New Roman" panose="02020603050405020304" pitchFamily="18" charset="0"/>
                <a:sym typeface="+mn-ea"/>
              </a:rPr>
              <a:t>Any number of transaction can hold shared lock but exclussive lock can be hold by one transaction at a time.</a:t>
            </a:r>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Basic Rules for Locking</a:t>
            </a:r>
            <a:endParaRPr lang="en-US"/>
          </a:p>
        </p:txBody>
      </p:sp>
      <p:sp>
        <p:nvSpPr>
          <p:cNvPr id="3" name="Content Placeholder 2"/>
          <p:cNvSpPr>
            <a:spLocks noGrp="1"/>
          </p:cNvSpPr>
          <p:nvPr>
            <p:ph idx="1"/>
          </p:nvPr>
        </p:nvSpPr>
        <p:spPr/>
        <p:txBody>
          <a:bodyPr/>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sym typeface="+mn-ea"/>
              </a:rPr>
              <a:t>A transaction requests a shared lock on data item Q by executing the </a:t>
            </a:r>
            <a:r>
              <a:rPr lang="en-US" b="1" kern="0" dirty="0" smtClean="0">
                <a:latin typeface="Times New Roman" panose="02020603050405020304" pitchFamily="18" charset="0"/>
                <a:cs typeface="Times New Roman" panose="02020603050405020304" pitchFamily="18" charset="0"/>
                <a:sym typeface="+mn-ea"/>
              </a:rPr>
              <a:t>Lock-S(Q)</a:t>
            </a:r>
            <a:r>
              <a:rPr lang="en-US" kern="0" dirty="0" smtClean="0">
                <a:latin typeface="Times New Roman" panose="02020603050405020304" pitchFamily="18" charset="0"/>
                <a:cs typeface="Times New Roman" panose="02020603050405020304" pitchFamily="18" charset="0"/>
                <a:sym typeface="+mn-ea"/>
              </a:rPr>
              <a:t> instruction.</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sym typeface="+mn-ea"/>
              </a:rPr>
              <a:t>Similarly, a transaction can request an exclusive lock through the </a:t>
            </a:r>
            <a:r>
              <a:rPr lang="en-US" b="1" kern="0" dirty="0" smtClean="0">
                <a:latin typeface="Times New Roman" panose="02020603050405020304" pitchFamily="18" charset="0"/>
                <a:cs typeface="Times New Roman" panose="02020603050405020304" pitchFamily="18" charset="0"/>
                <a:sym typeface="+mn-ea"/>
              </a:rPr>
              <a:t>Lock-X(Q)</a:t>
            </a:r>
            <a:r>
              <a:rPr lang="en-US" kern="0" dirty="0" smtClean="0">
                <a:latin typeface="Times New Roman" panose="02020603050405020304" pitchFamily="18" charset="0"/>
                <a:cs typeface="Times New Roman" panose="02020603050405020304" pitchFamily="18" charset="0"/>
                <a:sym typeface="+mn-ea"/>
              </a:rPr>
              <a:t> instruction.</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sym typeface="+mn-ea"/>
              </a:rPr>
              <a:t>A transaction can unlock a data item Q by the </a:t>
            </a:r>
            <a:r>
              <a:rPr lang="en-US" b="1" kern="0" dirty="0" smtClean="0">
                <a:latin typeface="Times New Roman" panose="02020603050405020304" pitchFamily="18" charset="0"/>
                <a:cs typeface="Times New Roman" panose="02020603050405020304" pitchFamily="18" charset="0"/>
                <a:sym typeface="+mn-ea"/>
              </a:rPr>
              <a:t>Unlock(Q)</a:t>
            </a:r>
            <a:r>
              <a:rPr lang="en-US" kern="0" dirty="0" smtClean="0">
                <a:latin typeface="Times New Roman" panose="02020603050405020304" pitchFamily="18" charset="0"/>
                <a:cs typeface="Times New Roman" panose="02020603050405020304" pitchFamily="18" charset="0"/>
                <a:sym typeface="+mn-ea"/>
              </a:rPr>
              <a:t> instruction.</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Working of Locking</a:t>
            </a:r>
            <a:endParaRPr lang="en-US"/>
          </a:p>
        </p:txBody>
      </p:sp>
      <p:sp>
        <p:nvSpPr>
          <p:cNvPr id="3" name="Content Placeholder 2"/>
          <p:cNvSpPr>
            <a:spLocks noGrp="1"/>
          </p:cNvSpPr>
          <p:nvPr>
            <p:ph idx="1"/>
          </p:nvPr>
        </p:nvSpPr>
        <p:spPr>
          <a:xfrm>
            <a:off x="838200" y="1825625"/>
            <a:ext cx="10515600" cy="4823460"/>
          </a:xfrm>
        </p:spPr>
        <p:txBody>
          <a:bodyPr>
            <a:noAutofit/>
          </a:bodyPr>
          <a:p>
            <a:pPr marL="342900" indent="-342900" algn="just">
              <a:spcBef>
                <a:spcPct val="20000"/>
              </a:spcBef>
              <a:buFont typeface="Wingdings" panose="05000000000000000000" pitchFamily="2" charset="2"/>
              <a:buChar char="Ø"/>
              <a:defRPr/>
            </a:pPr>
            <a:r>
              <a:rPr lang="en-US" sz="2000" kern="0" dirty="0" smtClean="0">
                <a:latin typeface="Times New Roman" panose="02020603050405020304" pitchFamily="18" charset="0"/>
                <a:cs typeface="Times New Roman" panose="02020603050405020304" pitchFamily="18" charset="0"/>
                <a:sym typeface="+mn-ea"/>
              </a:rPr>
              <a:t>All transactions that need to access a data item must first acquire a read lock or write lock on the data item depending on whether it is a read only operation or not.</a:t>
            </a:r>
            <a:endParaRPr lang="en-US" sz="2000"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sz="2000" kern="0" dirty="0" smtClean="0">
                <a:latin typeface="Times New Roman" panose="02020603050405020304" pitchFamily="18" charset="0"/>
                <a:cs typeface="Times New Roman" panose="02020603050405020304" pitchFamily="18" charset="0"/>
                <a:sym typeface="+mn-ea"/>
              </a:rPr>
              <a:t>If the data item for which the lock is requested is not already locked, then the transaction is granted with the requested lock immediately.</a:t>
            </a:r>
            <a:endParaRPr lang="en-US" sz="2000"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sz="2000" kern="0" dirty="0" smtClean="0">
                <a:latin typeface="Times New Roman" panose="02020603050405020304" pitchFamily="18" charset="0"/>
                <a:cs typeface="Times New Roman" panose="02020603050405020304" pitchFamily="18" charset="0"/>
                <a:sym typeface="+mn-ea"/>
              </a:rPr>
              <a:t>If the item is currently locked, the database system determines what kind of lock is the current one. Also, it finds out which type of lock is requested:</a:t>
            </a:r>
            <a:endParaRPr lang="en-US" sz="2000"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pitchFamily="2" charset="2"/>
              <a:buChar char="ü"/>
              <a:defRPr/>
            </a:pPr>
            <a:r>
              <a:rPr lang="en-US" sz="2000" kern="0" dirty="0" smtClean="0">
                <a:latin typeface="Times New Roman" panose="02020603050405020304" pitchFamily="18" charset="0"/>
                <a:cs typeface="Times New Roman" panose="02020603050405020304" pitchFamily="18" charset="0"/>
                <a:sym typeface="+mn-ea"/>
              </a:rPr>
              <a:t>If a read lock is requested on a data item that is already under a read lock, then the request will be granted.</a:t>
            </a:r>
            <a:endParaRPr lang="en-US" sz="2000"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pitchFamily="2" charset="2"/>
              <a:buChar char="ü"/>
              <a:defRPr/>
            </a:pPr>
            <a:r>
              <a:rPr lang="en-US" sz="2000" kern="0" dirty="0" smtClean="0">
                <a:latin typeface="Times New Roman" panose="02020603050405020304" pitchFamily="18" charset="0"/>
                <a:cs typeface="Times New Roman" panose="02020603050405020304" pitchFamily="18" charset="0"/>
                <a:sym typeface="+mn-ea"/>
              </a:rPr>
              <a:t>If a write lock is requested on a data item that is already under a read lock, then the request will be denied.</a:t>
            </a:r>
            <a:endParaRPr lang="en-US" sz="2000"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pitchFamily="2" charset="2"/>
              <a:buChar char="ü"/>
              <a:defRPr/>
            </a:pPr>
            <a:r>
              <a:rPr lang="en-US" sz="2000" kern="0" dirty="0" smtClean="0">
                <a:latin typeface="Times New Roman" panose="02020603050405020304" pitchFamily="18" charset="0"/>
                <a:cs typeface="Times New Roman" panose="02020603050405020304" pitchFamily="18" charset="0"/>
                <a:sym typeface="+mn-ea"/>
              </a:rPr>
              <a:t>Similarly; if a read lock or a write lock is requested on a data item that is already under a write lock, then the request is denied and the transaction must wait until the lock is released.</a:t>
            </a:r>
            <a:endParaRPr lang="en-US" sz="2000"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pitchFamily="2" charset="2"/>
              <a:buChar char="ü"/>
              <a:defRPr/>
            </a:pPr>
            <a:r>
              <a:rPr lang="en-US" sz="2000" kern="0" dirty="0" smtClean="0">
                <a:latin typeface="Times New Roman" panose="02020603050405020304" pitchFamily="18" charset="0"/>
                <a:cs typeface="Times New Roman" panose="02020603050405020304" pitchFamily="18" charset="0"/>
                <a:sym typeface="+mn-ea"/>
              </a:rPr>
              <a:t>A transaction continues to hold the lock until it explicitly releases it either during the execution or when it terminates.</a:t>
            </a:r>
            <a:endParaRPr lang="en-US" sz="2000"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pitchFamily="2" charset="2"/>
              <a:buChar char="ü"/>
              <a:defRPr/>
            </a:pPr>
            <a:r>
              <a:rPr lang="en-US" sz="2000" kern="0" dirty="0" smtClean="0">
                <a:latin typeface="Times New Roman" panose="02020603050405020304" pitchFamily="18" charset="0"/>
                <a:cs typeface="Times New Roman" panose="02020603050405020304" pitchFamily="18" charset="0"/>
                <a:sym typeface="+mn-ea"/>
              </a:rPr>
              <a:t>The effects of a write operation will be visible to other transactions only after the lock is released.</a:t>
            </a:r>
            <a:endParaRPr lang="en-US" sz="2000" kern="0" dirty="0" smtClean="0">
              <a:latin typeface="Times New Roman" panose="02020603050405020304" pitchFamily="18" charset="0"/>
              <a:cs typeface="Times New Roman" panose="02020603050405020304" pitchFamily="18" charset="0"/>
            </a:endParaRPr>
          </a:p>
          <a:p>
            <a:endParaRPr lang="en-US" sz="2000" kern="0" dirty="0" smtClean="0">
              <a:latin typeface="Times New Roman" panose="02020603050405020304" pitchFamily="18" charset="0"/>
              <a:cs typeface="Times New Roman" panose="02020603050405020304" pitchFamily="18"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Problem in shared and Exclusive locking</a:t>
            </a:r>
            <a:endParaRPr lang="en-US"/>
          </a:p>
        </p:txBody>
      </p:sp>
      <p:sp>
        <p:nvSpPr>
          <p:cNvPr id="3" name="Content Placeholder 2"/>
          <p:cNvSpPr>
            <a:spLocks noGrp="1"/>
          </p:cNvSpPr>
          <p:nvPr>
            <p:ph idx="1"/>
          </p:nvPr>
        </p:nvSpPr>
        <p:spPr/>
        <p:txBody>
          <a:bodyPr/>
          <a:p>
            <a:r>
              <a:rPr lang="en-US"/>
              <a:t>May not sufficient to produce only serializable schedule</a:t>
            </a:r>
            <a:endParaRPr lang="en-US"/>
          </a:p>
          <a:p>
            <a:r>
              <a:rPr lang="en-US"/>
              <a:t>May not free from Irrecoverability</a:t>
            </a:r>
            <a:endParaRPr lang="en-US"/>
          </a:p>
          <a:p>
            <a:r>
              <a:rPr lang="en-US"/>
              <a:t>May not free from deadlock </a:t>
            </a:r>
            <a:endParaRPr lang="en-US"/>
          </a:p>
          <a:p>
            <a:r>
              <a:rPr lang="en-US"/>
              <a:t>May not free from starvation </a:t>
            </a:r>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Two-Phase Locking Protocol</a:t>
            </a:r>
            <a:endParaRPr lang="en-US"/>
          </a:p>
        </p:txBody>
      </p:sp>
      <p:sp>
        <p:nvSpPr>
          <p:cNvPr id="3" name="Content Placeholder 2"/>
          <p:cNvSpPr>
            <a:spLocks noGrp="1"/>
          </p:cNvSpPr>
          <p:nvPr>
            <p:ph idx="1"/>
          </p:nvPr>
        </p:nvSpPr>
        <p:spPr/>
        <p:txBody>
          <a:bodyPr>
            <a:normAutofit fontScale="90000"/>
          </a:bodyPr>
          <a:p>
            <a:pPr marL="342900" indent="-342900" algn="just">
              <a:spcBef>
                <a:spcPct val="20000"/>
              </a:spcBef>
              <a:buFont typeface="Wingdings" panose="05000000000000000000" pitchFamily="2" charset="2"/>
              <a:buChar char="Ø"/>
              <a:defRPr/>
            </a:pPr>
            <a:r>
              <a:rPr lang="en-US" sz="2800" kern="0" dirty="0" smtClean="0">
                <a:latin typeface="Times New Roman" panose="02020603050405020304" pitchFamily="18" charset="0"/>
                <a:cs typeface="Times New Roman" panose="02020603050405020304" pitchFamily="18" charset="0"/>
                <a:sym typeface="+mn-ea"/>
              </a:rPr>
              <a:t>Two-phase locking protocol is a protocol which ensures serializability.</a:t>
            </a:r>
            <a:endParaRPr lang="en-US" sz="2800"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sz="2800" kern="0" dirty="0" smtClean="0">
                <a:latin typeface="Times New Roman" panose="02020603050405020304" pitchFamily="18" charset="0"/>
                <a:cs typeface="Times New Roman" panose="02020603050405020304" pitchFamily="18" charset="0"/>
                <a:sym typeface="+mn-ea"/>
              </a:rPr>
              <a:t>This protocol requires that each transaction issues lock and unlock requests in two phases. </a:t>
            </a:r>
            <a:endParaRPr lang="en-US" sz="2800"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sz="2800" b="1" kern="0" dirty="0" smtClean="0">
                <a:latin typeface="Times New Roman" panose="02020603050405020304" pitchFamily="18" charset="0"/>
                <a:cs typeface="Times New Roman" panose="02020603050405020304" pitchFamily="18" charset="0"/>
                <a:sym typeface="+mn-ea"/>
              </a:rPr>
              <a:t>The two phases are:</a:t>
            </a:r>
            <a:endParaRPr lang="en-US" sz="2800" b="1"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pitchFamily="2" charset="2"/>
              <a:buChar char="ü"/>
              <a:defRPr/>
            </a:pPr>
            <a:r>
              <a:rPr lang="en-US" sz="2800" b="1" kern="0" dirty="0" smtClean="0">
                <a:latin typeface="Times New Roman" panose="02020603050405020304" pitchFamily="18" charset="0"/>
                <a:cs typeface="Times New Roman" panose="02020603050405020304" pitchFamily="18" charset="0"/>
                <a:sym typeface="+mn-ea"/>
              </a:rPr>
              <a:t>Growing phase</a:t>
            </a:r>
            <a:r>
              <a:rPr lang="en-US" sz="2800" kern="0" dirty="0" smtClean="0">
                <a:latin typeface="Times New Roman" panose="02020603050405020304" pitchFamily="18" charset="0"/>
                <a:cs typeface="Times New Roman" panose="02020603050405020304" pitchFamily="18" charset="0"/>
                <a:sym typeface="+mn-ea"/>
              </a:rPr>
              <a:t>: Here, a transaction acquires all required locks without unlocking any data, i.e. the transaction may not release any lock</a:t>
            </a:r>
            <a:endParaRPr lang="en-US" sz="2800"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pitchFamily="2" charset="2"/>
              <a:buChar char="ü"/>
              <a:defRPr/>
            </a:pPr>
            <a:r>
              <a:rPr lang="en-US" sz="2800" b="1" kern="0" dirty="0" smtClean="0">
                <a:latin typeface="Times New Roman" panose="02020603050405020304" pitchFamily="18" charset="0"/>
                <a:cs typeface="Times New Roman" panose="02020603050405020304" pitchFamily="18" charset="0"/>
                <a:sym typeface="+mn-ea"/>
              </a:rPr>
              <a:t>Shrinking phase:</a:t>
            </a:r>
            <a:r>
              <a:rPr lang="en-US" sz="2800" kern="0" dirty="0" smtClean="0">
                <a:latin typeface="Times New Roman" panose="02020603050405020304" pitchFamily="18" charset="0"/>
                <a:cs typeface="Times New Roman" panose="02020603050405020304" pitchFamily="18" charset="0"/>
                <a:sym typeface="+mn-ea"/>
              </a:rPr>
              <a:t> Here, a transaction releases all locks and cannot obtain any new lock</a:t>
            </a:r>
            <a:endParaRPr lang="en-US" sz="2800"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sz="2800" kern="0" dirty="0" smtClean="0">
                <a:latin typeface="Times New Roman" panose="02020603050405020304" pitchFamily="18" charset="0"/>
                <a:cs typeface="Times New Roman" panose="02020603050405020304" pitchFamily="18" charset="0"/>
                <a:sym typeface="+mn-ea"/>
              </a:rPr>
              <a:t>The point in the schedule where the transaction has obtained its final lock is called the </a:t>
            </a:r>
            <a:r>
              <a:rPr lang="en-US" sz="2800" b="1" kern="0" dirty="0" smtClean="0">
                <a:latin typeface="Times New Roman" panose="02020603050405020304" pitchFamily="18" charset="0"/>
                <a:cs typeface="Times New Roman" panose="02020603050405020304" pitchFamily="18" charset="0"/>
                <a:sym typeface="+mn-ea"/>
              </a:rPr>
              <a:t>lock point </a:t>
            </a:r>
            <a:r>
              <a:rPr lang="en-US" sz="2800" kern="0" dirty="0" smtClean="0">
                <a:latin typeface="Times New Roman" panose="02020603050405020304" pitchFamily="18" charset="0"/>
                <a:cs typeface="Times New Roman" panose="02020603050405020304" pitchFamily="18" charset="0"/>
                <a:sym typeface="+mn-ea"/>
              </a:rPr>
              <a:t>of the transaction.</a:t>
            </a:r>
            <a:endParaRPr lang="en-US" sz="2800"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sz="2800" kern="0" dirty="0" smtClean="0">
                <a:latin typeface="Times New Roman" panose="02020603050405020304" pitchFamily="18" charset="0"/>
                <a:cs typeface="Times New Roman" panose="02020603050405020304" pitchFamily="18" charset="0"/>
                <a:sym typeface="+mn-ea"/>
              </a:rPr>
              <a:t>Transactions can be ordered according to their lock points.</a:t>
            </a:r>
            <a:endParaRPr lang="en-US" sz="2800" kern="0" dirty="0" smtClean="0">
              <a:latin typeface="Times New Roman" panose="02020603050405020304" pitchFamily="18" charset="0"/>
              <a:cs typeface="Times New Roman" panose="02020603050405020304" pitchFamily="18" charset="0"/>
            </a:endParaRPr>
          </a:p>
          <a:p>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Two-Phase Locking Protocol…</a:t>
            </a:r>
            <a:endParaRPr lang="en-US"/>
          </a:p>
        </p:txBody>
      </p:sp>
      <p:sp>
        <p:nvSpPr>
          <p:cNvPr id="4" name="Content Placeholder 2"/>
          <p:cNvSpPr txBox="1"/>
          <p:nvPr/>
        </p:nvSpPr>
        <p:spPr bwMode="auto">
          <a:xfrm>
            <a:off x="1806866" y="5071754"/>
            <a:ext cx="7858180" cy="1428760"/>
          </a:xfrm>
          <a:prstGeom prst="rect">
            <a:avLst/>
          </a:prstGeom>
          <a:noFill/>
          <a:ln w="9525">
            <a:noFill/>
            <a:miter lim="800000"/>
          </a:ln>
        </p:spPr>
        <p:txBody>
          <a:bodyPr/>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rPr>
              <a:t>Two transactions cannot have conflicting locks.</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rPr>
              <a:t>No unlock operation can precede a lock operation in the same transaction.</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rPr>
              <a:t>No data are affected until all locks are obtained, i.e. until the transaction is in its locked point.</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p:txBody>
      </p:sp>
      <p:sp>
        <p:nvSpPr>
          <p:cNvPr id="8" name="object 9"/>
          <p:cNvSpPr/>
          <p:nvPr/>
        </p:nvSpPr>
        <p:spPr>
          <a:xfrm>
            <a:off x="2826848" y="1642730"/>
            <a:ext cx="5980942" cy="3071834"/>
          </a:xfrm>
          <a:prstGeom prst="rect">
            <a:avLst/>
          </a:prstGeom>
          <a:blipFill>
            <a:blip r:embed="rId1" cstate="print"/>
            <a:stretch>
              <a:fillRect/>
            </a:stretch>
          </a:blipFill>
        </p:spPr>
        <p:txBody>
          <a:bodyPr wrap="square" lIns="0" tIns="0" rIns="0" bIns="0" rtlCol="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2PL locking</a:t>
            </a:r>
            <a:endParaRPr lang="en-US"/>
          </a:p>
        </p:txBody>
      </p:sp>
      <p:sp>
        <p:nvSpPr>
          <p:cNvPr id="3" name="Content Placeholder 2"/>
          <p:cNvSpPr>
            <a:spLocks noGrp="1"/>
          </p:cNvSpPr>
          <p:nvPr>
            <p:ph idx="1"/>
          </p:nvPr>
        </p:nvSpPr>
        <p:spPr/>
        <p:txBody>
          <a:bodyPr/>
          <a:p>
            <a:pPr marL="0" indent="0">
              <a:buNone/>
            </a:pPr>
            <a:r>
              <a:rPr lang="en-US"/>
              <a:t>Advantages: always ensures serializability</a:t>
            </a:r>
            <a:endParaRPr lang="en-US"/>
          </a:p>
          <a:p>
            <a:pPr marL="0" indent="0">
              <a:buNone/>
            </a:pPr>
            <a:endParaRPr lang="en-US"/>
          </a:p>
          <a:p>
            <a:pPr marL="0" indent="0">
              <a:buNone/>
            </a:pPr>
            <a:r>
              <a:rPr lang="en-US"/>
              <a:t>Disadvantages:</a:t>
            </a:r>
            <a:endParaRPr lang="en-US"/>
          </a:p>
          <a:p>
            <a:r>
              <a:rPr lang="en-US"/>
              <a:t>May not free from irrecoverability</a:t>
            </a:r>
            <a:endParaRPr lang="en-US"/>
          </a:p>
          <a:p>
            <a:r>
              <a:rPr lang="en-US"/>
              <a:t>Not free from dead lock</a:t>
            </a:r>
            <a:endParaRPr lang="en-US"/>
          </a:p>
          <a:p>
            <a:r>
              <a:rPr lang="en-US"/>
              <a:t>Not free from starvation </a:t>
            </a:r>
            <a:endParaRPr lang="en-US"/>
          </a:p>
          <a:p>
            <a:r>
              <a:rPr lang="en-US"/>
              <a:t>Not free from cascading Rollback</a:t>
            </a:r>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Variations of Two-Phase Locking Protocol</a:t>
            </a:r>
            <a:endParaRPr lang="en-US"/>
          </a:p>
        </p:txBody>
      </p:sp>
      <p:sp>
        <p:nvSpPr>
          <p:cNvPr id="3" name="Content Placeholder 2"/>
          <p:cNvSpPr>
            <a:spLocks noGrp="1"/>
          </p:cNvSpPr>
          <p:nvPr>
            <p:ph idx="1"/>
          </p:nvPr>
        </p:nvSpPr>
        <p:spPr/>
        <p:txBody>
          <a:bodyPr>
            <a:normAutofit fontScale="60000"/>
          </a:bodyPr>
          <a:p>
            <a:pPr marL="342900" indent="-342900" algn="just">
              <a:spcBef>
                <a:spcPct val="20000"/>
              </a:spcBef>
              <a:buFont typeface="Wingdings" panose="05000000000000000000" pitchFamily="2" charset="2"/>
              <a:buChar char="Ø"/>
              <a:defRPr/>
            </a:pPr>
            <a:r>
              <a:rPr lang="en-US" sz="2800" kern="0" dirty="0" smtClean="0">
                <a:latin typeface="Times New Roman" panose="02020603050405020304" pitchFamily="18" charset="0"/>
                <a:cs typeface="Times New Roman" panose="02020603050405020304" pitchFamily="18" charset="0"/>
                <a:sym typeface="+mn-ea"/>
              </a:rPr>
              <a:t>2PL Locking Protocal has 3 variations:</a:t>
            </a:r>
            <a:endParaRPr lang="en-US" sz="2800" kern="0" dirty="0" smtClean="0">
              <a:latin typeface="Times New Roman" panose="02020603050405020304" pitchFamily="18" charset="0"/>
              <a:cs typeface="Times New Roman" panose="02020603050405020304" pitchFamily="18" charset="0"/>
            </a:endParaRPr>
          </a:p>
          <a:p>
            <a:pPr marL="0" indent="0" algn="just">
              <a:spcBef>
                <a:spcPct val="20000"/>
              </a:spcBef>
              <a:buFont typeface="Wingdings" panose="05000000000000000000" pitchFamily="2" charset="2"/>
              <a:buNone/>
              <a:defRPr/>
            </a:pPr>
            <a:r>
              <a:rPr lang="en-US" sz="2800" kern="0" dirty="0" smtClean="0">
                <a:latin typeface="Times New Roman" panose="02020603050405020304" pitchFamily="18" charset="0"/>
                <a:cs typeface="Times New Roman" panose="02020603050405020304" pitchFamily="18" charset="0"/>
                <a:sym typeface="+mn-ea"/>
              </a:rPr>
              <a:t>	1. Conservative (Static) 2PL, 	2. Strict 2PL,	3. Regrous 2PL</a:t>
            </a:r>
            <a:endParaRPr lang="en-US" sz="2800" kern="0" dirty="0" smtClean="0">
              <a:latin typeface="Times New Roman" panose="02020603050405020304" pitchFamily="18" charset="0"/>
              <a:cs typeface="Times New Roman" panose="02020603050405020304" pitchFamily="18" charset="0"/>
            </a:endParaRPr>
          </a:p>
          <a:p>
            <a:pPr marL="0" indent="0" algn="just">
              <a:spcBef>
                <a:spcPct val="20000"/>
              </a:spcBef>
              <a:buFont typeface="Wingdings" panose="05000000000000000000" pitchFamily="2" charset="2"/>
              <a:buNone/>
              <a:defRPr/>
            </a:pPr>
            <a:r>
              <a:rPr lang="en-US" sz="2800" b="1" kern="0" dirty="0" smtClean="0">
                <a:latin typeface="Times New Roman" panose="02020603050405020304" pitchFamily="18" charset="0"/>
                <a:cs typeface="Times New Roman" panose="02020603050405020304" pitchFamily="18" charset="0"/>
                <a:sym typeface="+mn-ea"/>
              </a:rPr>
              <a:t>1. Conservative (Static) 2PL</a:t>
            </a:r>
            <a:r>
              <a:rPr lang="en-US" sz="2800" b="1" kern="0" dirty="0" smtClean="0">
                <a:latin typeface="Times New Roman" panose="02020603050405020304" pitchFamily="18" charset="0"/>
                <a:cs typeface="Times New Roman" panose="02020603050405020304" pitchFamily="18" charset="0"/>
                <a:sym typeface="+mn-ea"/>
              </a:rPr>
              <a:t>:</a:t>
            </a:r>
            <a:endParaRPr lang="en-US" sz="2800" b="1" kern="0" dirty="0" smtClean="0">
              <a:latin typeface="Times New Roman" panose="02020603050405020304" pitchFamily="18" charset="0"/>
              <a:cs typeface="Times New Roman" panose="02020603050405020304" pitchFamily="18" charset="0"/>
            </a:endParaRPr>
          </a:p>
          <a:p>
            <a:pPr marL="742950" lvl="1" indent="-285750" algn="just">
              <a:spcBef>
                <a:spcPct val="20000"/>
              </a:spcBef>
              <a:buFont typeface="Wingdings" panose="05000000000000000000" charset="0"/>
              <a:buChar char="ü"/>
              <a:defRPr/>
            </a:pPr>
            <a:r>
              <a:rPr lang="en-US" sz="2800" kern="0" dirty="0" smtClean="0">
                <a:latin typeface="Times New Roman" panose="02020603050405020304" pitchFamily="18" charset="0"/>
                <a:cs typeface="Times New Roman" panose="02020603050405020304" pitchFamily="18" charset="0"/>
                <a:sym typeface="+mn-ea"/>
              </a:rPr>
              <a:t>Acquires all the locks before it starts</a:t>
            </a:r>
            <a:endParaRPr lang="en-US" sz="2800" kern="0" dirty="0" smtClean="0">
              <a:latin typeface="Times New Roman" panose="02020603050405020304" pitchFamily="18" charset="0"/>
              <a:cs typeface="Times New Roman" panose="02020603050405020304" pitchFamily="18" charset="0"/>
            </a:endParaRPr>
          </a:p>
          <a:p>
            <a:pPr marL="742950" lvl="1" indent="-285750" algn="just">
              <a:spcBef>
                <a:spcPct val="20000"/>
              </a:spcBef>
              <a:buFont typeface="Wingdings" panose="05000000000000000000" charset="0"/>
              <a:buChar char="ü"/>
              <a:defRPr/>
            </a:pPr>
            <a:r>
              <a:rPr lang="en-US" sz="2800" kern="0" dirty="0" smtClean="0">
                <a:latin typeface="Times New Roman" panose="02020603050405020304" pitchFamily="18" charset="0"/>
                <a:cs typeface="Times New Roman" panose="02020603050405020304" pitchFamily="18" charset="0"/>
                <a:sym typeface="+mn-ea"/>
              </a:rPr>
              <a:t>Release all locks after commit.</a:t>
            </a:r>
            <a:endParaRPr lang="en-US" sz="2800" kern="0" dirty="0" smtClean="0">
              <a:latin typeface="Times New Roman" panose="02020603050405020304" pitchFamily="18" charset="0"/>
              <a:cs typeface="Times New Roman" panose="02020603050405020304" pitchFamily="18" charset="0"/>
            </a:endParaRPr>
          </a:p>
          <a:p>
            <a:pPr marL="742950" lvl="1" indent="-285750" algn="just">
              <a:spcBef>
                <a:spcPct val="20000"/>
              </a:spcBef>
              <a:buFont typeface="Wingdings" panose="05000000000000000000" charset="0"/>
              <a:buChar char="ü"/>
              <a:defRPr/>
            </a:pPr>
            <a:r>
              <a:rPr lang="en-US" sz="2800" kern="0" dirty="0" smtClean="0">
                <a:latin typeface="Times New Roman" panose="02020603050405020304" pitchFamily="18" charset="0"/>
                <a:cs typeface="Times New Roman" panose="02020603050405020304" pitchFamily="18" charset="0"/>
                <a:sym typeface="+mn-ea"/>
              </a:rPr>
              <a:t>Avoids cascading rollback</a:t>
            </a:r>
            <a:endParaRPr lang="en-US" sz="2800" kern="0" dirty="0" smtClean="0">
              <a:latin typeface="Times New Roman" panose="02020603050405020304" pitchFamily="18" charset="0"/>
              <a:cs typeface="Times New Roman" panose="02020603050405020304" pitchFamily="18" charset="0"/>
            </a:endParaRPr>
          </a:p>
          <a:p>
            <a:pPr marL="742950" lvl="1" indent="-285750" algn="just">
              <a:spcBef>
                <a:spcPct val="20000"/>
              </a:spcBef>
              <a:buFont typeface="Wingdings" panose="05000000000000000000" charset="0"/>
              <a:buChar char="ü"/>
              <a:defRPr/>
            </a:pPr>
            <a:r>
              <a:rPr lang="en-US" sz="2800" kern="0" dirty="0" smtClean="0">
                <a:latin typeface="Times New Roman" panose="02020603050405020304" pitchFamily="18" charset="0"/>
                <a:cs typeface="Times New Roman" panose="02020603050405020304" pitchFamily="18" charset="0"/>
                <a:sym typeface="+mn-ea"/>
              </a:rPr>
              <a:t>It is deadlock free</a:t>
            </a:r>
            <a:endParaRPr lang="en-US" sz="2800" kern="0" dirty="0" smtClean="0">
              <a:latin typeface="Times New Roman" panose="02020603050405020304" pitchFamily="18" charset="0"/>
              <a:cs typeface="Times New Roman" panose="02020603050405020304" pitchFamily="18" charset="0"/>
            </a:endParaRPr>
          </a:p>
          <a:p>
            <a:pPr marL="0" lvl="0" indent="0" algn="just">
              <a:spcBef>
                <a:spcPct val="20000"/>
              </a:spcBef>
              <a:buFont typeface="Wingdings" panose="05000000000000000000" charset="0"/>
              <a:buNone/>
              <a:defRPr/>
            </a:pPr>
            <a:r>
              <a:rPr lang="en-US" sz="2800" b="1" kern="0" dirty="0" smtClean="0">
                <a:latin typeface="Times New Roman" panose="02020603050405020304" pitchFamily="18" charset="0"/>
                <a:cs typeface="Times New Roman" panose="02020603050405020304" pitchFamily="18" charset="0"/>
                <a:sym typeface="+mn-ea"/>
              </a:rPr>
              <a:t>2. </a:t>
            </a:r>
            <a:r>
              <a:rPr lang="en-US" sz="2800" b="1" kern="0" dirty="0" smtClean="0">
                <a:latin typeface="Times New Roman" panose="02020603050405020304" pitchFamily="18" charset="0"/>
                <a:cs typeface="Times New Roman" panose="02020603050405020304" pitchFamily="18" charset="0"/>
                <a:sym typeface="+mn-ea"/>
              </a:rPr>
              <a:t>Strict 2PL</a:t>
            </a:r>
            <a:endParaRPr lang="en-US" sz="2800" kern="0" dirty="0" smtClean="0">
              <a:latin typeface="Times New Roman" panose="02020603050405020304" pitchFamily="18" charset="0"/>
              <a:cs typeface="Times New Roman" panose="02020603050405020304" pitchFamily="18" charset="0"/>
            </a:endParaRPr>
          </a:p>
          <a:p>
            <a:pPr marL="742950" lvl="1" indent="-285750" algn="just">
              <a:spcBef>
                <a:spcPct val="20000"/>
              </a:spcBef>
              <a:buFont typeface="Wingdings" panose="05000000000000000000" charset="0"/>
              <a:buChar char="ü"/>
              <a:defRPr/>
            </a:pPr>
            <a:r>
              <a:rPr lang="en-US" sz="2800" kern="0" dirty="0" smtClean="0">
                <a:latin typeface="Times New Roman" panose="02020603050405020304" pitchFamily="18" charset="0"/>
                <a:cs typeface="Times New Roman" panose="02020603050405020304" pitchFamily="18" charset="0"/>
                <a:sym typeface="+mn-ea"/>
              </a:rPr>
              <a:t>Exclussive lock cannot be realse untill commit.</a:t>
            </a:r>
            <a:endParaRPr lang="en-US" sz="2800" kern="0" dirty="0" smtClean="0">
              <a:latin typeface="Times New Roman" panose="02020603050405020304" pitchFamily="18" charset="0"/>
              <a:cs typeface="Times New Roman" panose="02020603050405020304" pitchFamily="18" charset="0"/>
            </a:endParaRPr>
          </a:p>
          <a:p>
            <a:pPr marL="742950" lvl="1" indent="-285750" algn="just">
              <a:spcBef>
                <a:spcPct val="20000"/>
              </a:spcBef>
              <a:buFont typeface="Wingdings" panose="05000000000000000000" charset="0"/>
              <a:buChar char="ü"/>
              <a:defRPr/>
            </a:pPr>
            <a:r>
              <a:rPr lang="en-US" sz="2800" kern="0" dirty="0" smtClean="0">
                <a:latin typeface="Times New Roman" panose="02020603050405020304" pitchFamily="18" charset="0"/>
                <a:cs typeface="Times New Roman" panose="02020603050405020304" pitchFamily="18" charset="0"/>
                <a:sym typeface="+mn-ea"/>
              </a:rPr>
              <a:t>Helps in cascade schedule.</a:t>
            </a:r>
            <a:endParaRPr lang="en-US" sz="2800" kern="0" dirty="0" smtClean="0">
              <a:latin typeface="Times New Roman" panose="02020603050405020304" pitchFamily="18" charset="0"/>
              <a:cs typeface="Times New Roman" panose="02020603050405020304" pitchFamily="18" charset="0"/>
            </a:endParaRPr>
          </a:p>
          <a:p>
            <a:pPr marL="742950" lvl="1" indent="-285750" algn="just">
              <a:spcBef>
                <a:spcPct val="20000"/>
              </a:spcBef>
              <a:buFont typeface="Wingdings" panose="05000000000000000000" charset="0"/>
              <a:buChar char="ü"/>
              <a:defRPr/>
            </a:pPr>
            <a:r>
              <a:rPr lang="en-US" sz="2800" kern="0" dirty="0" smtClean="0">
                <a:latin typeface="Times New Roman" panose="02020603050405020304" pitchFamily="18" charset="0"/>
                <a:cs typeface="Times New Roman" panose="02020603050405020304" pitchFamily="18" charset="0"/>
                <a:sym typeface="+mn-ea"/>
              </a:rPr>
              <a:t>Deadlock may occur.</a:t>
            </a:r>
            <a:endParaRPr lang="en-US" sz="2800" kern="0" dirty="0" smtClean="0">
              <a:latin typeface="Times New Roman" panose="02020603050405020304" pitchFamily="18" charset="0"/>
              <a:cs typeface="Times New Roman" panose="02020603050405020304" pitchFamily="18" charset="0"/>
            </a:endParaRPr>
          </a:p>
          <a:p>
            <a:pPr marL="0" lvl="0" indent="0" algn="just">
              <a:spcBef>
                <a:spcPct val="20000"/>
              </a:spcBef>
              <a:buFont typeface="Wingdings" panose="05000000000000000000" charset="0"/>
              <a:buNone/>
              <a:defRPr/>
            </a:pPr>
            <a:r>
              <a:rPr lang="en-US" sz="2800" b="1" kern="0" dirty="0" smtClean="0">
                <a:latin typeface="Times New Roman" panose="02020603050405020304" pitchFamily="18" charset="0"/>
                <a:cs typeface="Times New Roman" panose="02020603050405020304" pitchFamily="18" charset="0"/>
                <a:sym typeface="+mn-ea"/>
              </a:rPr>
              <a:t>3. Regrous 2PL</a:t>
            </a:r>
            <a:endParaRPr lang="en-US" sz="2800" kern="0" dirty="0" smtClean="0">
              <a:latin typeface="Times New Roman" panose="02020603050405020304" pitchFamily="18" charset="0"/>
              <a:cs typeface="Times New Roman" panose="02020603050405020304" pitchFamily="18" charset="0"/>
            </a:endParaRPr>
          </a:p>
          <a:p>
            <a:pPr marL="742950" lvl="1" indent="-285750" algn="just">
              <a:spcBef>
                <a:spcPct val="20000"/>
              </a:spcBef>
              <a:buFont typeface="Wingdings" panose="05000000000000000000" charset="0"/>
              <a:buChar char="ü"/>
              <a:defRPr/>
            </a:pPr>
            <a:r>
              <a:rPr lang="en-US" sz="2800" kern="0" dirty="0" smtClean="0">
                <a:latin typeface="Times New Roman" panose="02020603050405020304" pitchFamily="18" charset="0"/>
                <a:cs typeface="Times New Roman" panose="02020603050405020304" pitchFamily="18" charset="0"/>
                <a:sym typeface="+mn-ea"/>
              </a:rPr>
              <a:t>Both shared and exclussive lock cannot release untill commit.</a:t>
            </a:r>
            <a:endParaRPr lang="en-US" sz="2800" kern="0" dirty="0" smtClean="0">
              <a:latin typeface="Times New Roman" panose="02020603050405020304" pitchFamily="18" charset="0"/>
              <a:cs typeface="Times New Roman" panose="02020603050405020304" pitchFamily="18" charset="0"/>
            </a:endParaRPr>
          </a:p>
          <a:p>
            <a:pPr marL="742950" lvl="1" indent="-285750" algn="just">
              <a:spcBef>
                <a:spcPct val="20000"/>
              </a:spcBef>
              <a:buFont typeface="Wingdings" panose="05000000000000000000" charset="0"/>
              <a:buChar char="ü"/>
              <a:defRPr/>
            </a:pPr>
            <a:r>
              <a:rPr lang="en-US" sz="2800" kern="0" dirty="0" smtClean="0">
                <a:latin typeface="Times New Roman" panose="02020603050405020304" pitchFamily="18" charset="0"/>
                <a:cs typeface="Times New Roman" panose="02020603050405020304" pitchFamily="18" charset="0"/>
                <a:sym typeface="+mn-ea"/>
              </a:rPr>
              <a:t>Avoids cascading rollback</a:t>
            </a:r>
            <a:endParaRPr lang="en-US" sz="2800" kern="0" dirty="0" smtClean="0">
              <a:latin typeface="Times New Roman" panose="02020603050405020304" pitchFamily="18" charset="0"/>
              <a:cs typeface="Times New Roman" panose="02020603050405020304" pitchFamily="18" charset="0"/>
            </a:endParaRPr>
          </a:p>
          <a:p>
            <a:pPr marL="742950" lvl="1" indent="-285750" algn="just">
              <a:spcBef>
                <a:spcPct val="20000"/>
              </a:spcBef>
              <a:buFont typeface="Wingdings" panose="05000000000000000000" charset="0"/>
              <a:buChar char="ü"/>
              <a:defRPr/>
            </a:pPr>
            <a:r>
              <a:rPr lang="en-US" sz="2800" kern="0" dirty="0" smtClean="0">
                <a:latin typeface="Times New Roman" panose="02020603050405020304" pitchFamily="18" charset="0"/>
                <a:cs typeface="Times New Roman" panose="02020603050405020304" pitchFamily="18" charset="0"/>
                <a:sym typeface="+mn-ea"/>
              </a:rPr>
              <a:t>Deadlock may occur </a:t>
            </a:r>
            <a:endParaRPr lang="en-US" sz="2800" kern="0" dirty="0" smtClean="0">
              <a:latin typeface="Times New Roman" panose="02020603050405020304" pitchFamily="18" charset="0"/>
              <a:cs typeface="Times New Roman" panose="02020603050405020304" pitchFamily="18" charset="0"/>
            </a:endParaRPr>
          </a:p>
          <a:p>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Two-Phase Locking Protocol</a:t>
            </a:r>
            <a:endParaRPr lang="en-US"/>
          </a:p>
        </p:txBody>
      </p:sp>
      <p:sp>
        <p:nvSpPr>
          <p:cNvPr id="4" name="Content Placeholder 2"/>
          <p:cNvSpPr txBox="1"/>
          <p:nvPr/>
        </p:nvSpPr>
        <p:spPr bwMode="auto">
          <a:xfrm>
            <a:off x="1090586" y="1370949"/>
            <a:ext cx="7858180" cy="5286412"/>
          </a:xfrm>
          <a:prstGeom prst="rect">
            <a:avLst/>
          </a:prstGeom>
          <a:noFill/>
          <a:ln w="9525">
            <a:noFill/>
            <a:miter lim="800000"/>
          </a:ln>
        </p:spPr>
        <p:txBody>
          <a:bodyPr/>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rPr>
              <a:t>Two-phase locking does not ensure freedom from deadlock. Along with the serializability property, the schedules should be cascade-less in nature.</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rPr>
              <a:t>Cascading rollback is possible under two-phase locking protocol.</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spc="-10" dirty="0" smtClean="0">
              <a:latin typeface="Arial" panose="020B0604020202020204"/>
              <a:cs typeface="Arial" panose="020B0604020202020204"/>
            </a:endParaRPr>
          </a:p>
          <a:p>
            <a:pPr marL="342900" indent="-342900" algn="just">
              <a:spcBef>
                <a:spcPct val="20000"/>
              </a:spcBef>
              <a:buFont typeface="Wingdings" panose="05000000000000000000" pitchFamily="2" charset="2"/>
              <a:buChar char="Ø"/>
              <a:defRPr/>
            </a:pPr>
            <a:endParaRPr lang="en-US" spc="-10" dirty="0" smtClean="0">
              <a:latin typeface="Arial" panose="020B0604020202020204"/>
              <a:cs typeface="Arial" panose="020B0604020202020204"/>
            </a:endParaRPr>
          </a:p>
          <a:p>
            <a:pPr marL="342900" indent="-342900" algn="just">
              <a:spcBef>
                <a:spcPct val="20000"/>
              </a:spcBef>
              <a:buFont typeface="Wingdings" panose="05000000000000000000" pitchFamily="2" charset="2"/>
              <a:buChar char="Ø"/>
              <a:defRPr/>
            </a:pPr>
            <a:endParaRPr lang="en-US" spc="-10" dirty="0" smtClean="0">
              <a:latin typeface="Arial" panose="020B0604020202020204"/>
              <a:cs typeface="Arial" panose="020B0604020202020204"/>
            </a:endParaRPr>
          </a:p>
          <a:p>
            <a:pPr marL="342900" indent="-342900" algn="just">
              <a:spcBef>
                <a:spcPct val="20000"/>
              </a:spcBef>
              <a:buFont typeface="Wingdings" panose="05000000000000000000" pitchFamily="2" charset="2"/>
              <a:buChar char="Ø"/>
              <a:defRPr/>
            </a:pPr>
            <a:endParaRPr lang="en-US" spc="-10" dirty="0" smtClean="0">
              <a:latin typeface="Arial" panose="020B0604020202020204"/>
              <a:cs typeface="Arial" panose="020B0604020202020204"/>
            </a:endParaRPr>
          </a:p>
          <a:p>
            <a:pPr marL="342900" indent="-342900" algn="just">
              <a:spcBef>
                <a:spcPct val="20000"/>
              </a:spcBef>
              <a:buFont typeface="Wingdings" panose="05000000000000000000" pitchFamily="2" charset="2"/>
              <a:buChar char="Ø"/>
              <a:defRPr/>
            </a:pPr>
            <a:endParaRPr lang="en-US" spc="-10" dirty="0" smtClean="0">
              <a:latin typeface="Arial" panose="020B0604020202020204"/>
              <a:cs typeface="Arial" panose="020B0604020202020204"/>
            </a:endParaRPr>
          </a:p>
          <a:p>
            <a:pPr marL="342900" indent="-342900" algn="just">
              <a:spcBef>
                <a:spcPct val="20000"/>
              </a:spcBef>
              <a:buFont typeface="Wingdings" panose="05000000000000000000" pitchFamily="2" charset="2"/>
              <a:buChar char="Ø"/>
              <a:defRPr/>
            </a:pPr>
            <a:endParaRPr lang="en-US" spc="-10" dirty="0" smtClean="0">
              <a:latin typeface="Arial" panose="020B0604020202020204"/>
              <a:cs typeface="Arial" panose="020B0604020202020204"/>
            </a:endParaRPr>
          </a:p>
          <a:p>
            <a:pPr marL="342900" indent="-342900" algn="just">
              <a:spcBef>
                <a:spcPct val="20000"/>
              </a:spcBef>
              <a:buFont typeface="Wingdings" panose="05000000000000000000" pitchFamily="2" charset="2"/>
              <a:buChar char="Ø"/>
              <a:defRPr/>
            </a:pPr>
            <a:endParaRPr lang="en-US" b="1"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p:txBody>
      </p:sp>
      <p:graphicFrame>
        <p:nvGraphicFramePr>
          <p:cNvPr id="8" name="object 16"/>
          <p:cNvGraphicFramePr>
            <a:graphicFrameLocks noGrp="1"/>
          </p:cNvGraphicFramePr>
          <p:nvPr/>
        </p:nvGraphicFramePr>
        <p:xfrm>
          <a:off x="3162289" y="2411349"/>
          <a:ext cx="4071966" cy="3657600"/>
        </p:xfrm>
        <a:graphic>
          <a:graphicData uri="http://schemas.openxmlformats.org/drawingml/2006/table">
            <a:tbl>
              <a:tblPr firstRow="1" bandRow="1">
                <a:tableStyleId>{2D5ABB26-0587-4C30-8999-92F81FD0307C}</a:tableStyleId>
              </a:tblPr>
              <a:tblGrid>
                <a:gridCol w="1357338"/>
                <a:gridCol w="1356995"/>
                <a:gridCol w="1357633"/>
              </a:tblGrid>
              <a:tr h="141232">
                <a:tc>
                  <a:txBody>
                    <a:bodyPr/>
                    <a:p>
                      <a:pPr marL="59055" algn="ctr">
                        <a:lnSpc>
                          <a:spcPct val="100000"/>
                        </a:lnSpc>
                      </a:pPr>
                      <a:r>
                        <a:rPr sz="1600" b="1" i="1" dirty="0">
                          <a:latin typeface="Times New Roman" panose="02020603050405020304" pitchFamily="18" charset="0"/>
                          <a:cs typeface="Times New Roman" panose="02020603050405020304" pitchFamily="18" charset="0"/>
                        </a:rPr>
                        <a:t>T</a:t>
                      </a:r>
                      <a:r>
                        <a:rPr sz="1800" b="1" baseline="-10000" dirty="0">
                          <a:latin typeface="Times New Roman" panose="02020603050405020304" pitchFamily="18" charset="0"/>
                          <a:cs typeface="Times New Roman" panose="02020603050405020304" pitchFamily="18" charset="0"/>
                        </a:rPr>
                        <a:t>4</a:t>
                      </a:r>
                      <a:endParaRPr sz="1800" b="1" baseline="-10000">
                        <a:latin typeface="Times New Roman" panose="02020603050405020304" pitchFamily="18" charset="0"/>
                        <a:cs typeface="Times New Roman" panose="02020603050405020304" pitchFamily="18" charset="0"/>
                      </a:endParaRPr>
                    </a:p>
                  </a:txBody>
                  <a:tcPr marL="0" marR="0" marT="0" marB="0">
                    <a:lnL w="3962">
                      <a:solidFill>
                        <a:srgbClr val="000000"/>
                      </a:solidFill>
                      <a:prstDash val="solid"/>
                    </a:lnL>
                    <a:lnR w="3962">
                      <a:solidFill>
                        <a:srgbClr val="000000"/>
                      </a:solidFill>
                      <a:prstDash val="solid"/>
                    </a:lnR>
                    <a:lnT w="3962">
                      <a:solidFill>
                        <a:srgbClr val="000000"/>
                      </a:solidFill>
                      <a:prstDash val="solid"/>
                    </a:lnT>
                    <a:lnB w="3962">
                      <a:solidFill>
                        <a:srgbClr val="000000"/>
                      </a:solidFill>
                      <a:prstDash val="solid"/>
                    </a:lnB>
                    <a:solidFill>
                      <a:schemeClr val="bg1"/>
                    </a:solidFill>
                  </a:tcPr>
                </a:tc>
                <a:tc>
                  <a:txBody>
                    <a:bodyPr/>
                    <a:p>
                      <a:pPr marL="59055" algn="ctr">
                        <a:lnSpc>
                          <a:spcPct val="100000"/>
                        </a:lnSpc>
                      </a:pPr>
                      <a:r>
                        <a:rPr sz="1600" b="1" i="1" dirty="0">
                          <a:latin typeface="Times New Roman" panose="02020603050405020304" pitchFamily="18" charset="0"/>
                          <a:cs typeface="Times New Roman" panose="02020603050405020304" pitchFamily="18" charset="0"/>
                        </a:rPr>
                        <a:t>T</a:t>
                      </a:r>
                      <a:r>
                        <a:rPr sz="1800" b="1" baseline="-10000" dirty="0">
                          <a:latin typeface="Times New Roman" panose="02020603050405020304" pitchFamily="18" charset="0"/>
                          <a:cs typeface="Times New Roman" panose="02020603050405020304" pitchFamily="18" charset="0"/>
                        </a:rPr>
                        <a:t>5</a:t>
                      </a:r>
                      <a:endParaRPr sz="1800" b="1" baseline="-10000">
                        <a:latin typeface="Times New Roman" panose="02020603050405020304" pitchFamily="18" charset="0"/>
                        <a:cs typeface="Times New Roman" panose="02020603050405020304" pitchFamily="18" charset="0"/>
                      </a:endParaRPr>
                    </a:p>
                  </a:txBody>
                  <a:tcPr marL="0" marR="0" marT="0" marB="0">
                    <a:lnL w="3962">
                      <a:solidFill>
                        <a:srgbClr val="000000"/>
                      </a:solidFill>
                      <a:prstDash val="solid"/>
                    </a:lnL>
                    <a:lnR w="3962">
                      <a:solidFill>
                        <a:srgbClr val="000000"/>
                      </a:solidFill>
                      <a:prstDash val="solid"/>
                    </a:lnR>
                    <a:lnT w="3962">
                      <a:solidFill>
                        <a:srgbClr val="000000"/>
                      </a:solidFill>
                      <a:prstDash val="solid"/>
                    </a:lnT>
                    <a:lnB w="3962">
                      <a:solidFill>
                        <a:srgbClr val="000000"/>
                      </a:solidFill>
                      <a:prstDash val="solid"/>
                    </a:lnB>
                    <a:solidFill>
                      <a:schemeClr val="bg1"/>
                    </a:solidFill>
                  </a:tcPr>
                </a:tc>
                <a:tc>
                  <a:txBody>
                    <a:bodyPr/>
                    <a:p>
                      <a:pPr marL="59055" algn="ctr">
                        <a:lnSpc>
                          <a:spcPct val="100000"/>
                        </a:lnSpc>
                      </a:pPr>
                      <a:r>
                        <a:rPr sz="1600" b="1" i="1" dirty="0">
                          <a:latin typeface="Times New Roman" panose="02020603050405020304" pitchFamily="18" charset="0"/>
                          <a:cs typeface="Times New Roman" panose="02020603050405020304" pitchFamily="18" charset="0"/>
                        </a:rPr>
                        <a:t>T</a:t>
                      </a:r>
                      <a:r>
                        <a:rPr sz="1800" b="1" baseline="-10000" dirty="0">
                          <a:latin typeface="Times New Roman" panose="02020603050405020304" pitchFamily="18" charset="0"/>
                          <a:cs typeface="Times New Roman" panose="02020603050405020304" pitchFamily="18" charset="0"/>
                        </a:rPr>
                        <a:t>6</a:t>
                      </a:r>
                      <a:endParaRPr sz="1800" b="1" baseline="-10000">
                        <a:latin typeface="Times New Roman" panose="02020603050405020304" pitchFamily="18" charset="0"/>
                        <a:cs typeface="Times New Roman" panose="02020603050405020304" pitchFamily="18" charset="0"/>
                      </a:endParaRPr>
                    </a:p>
                  </a:txBody>
                  <a:tcPr marL="0" marR="0" marT="0" marB="0">
                    <a:lnL w="3962">
                      <a:solidFill>
                        <a:srgbClr val="000000"/>
                      </a:solidFill>
                      <a:prstDash val="solid"/>
                    </a:lnL>
                    <a:lnR w="3962">
                      <a:solidFill>
                        <a:srgbClr val="000000"/>
                      </a:solidFill>
                      <a:prstDash val="solid"/>
                    </a:lnR>
                    <a:lnT w="3962">
                      <a:solidFill>
                        <a:srgbClr val="000000"/>
                      </a:solidFill>
                      <a:prstDash val="solid"/>
                    </a:lnT>
                    <a:lnB w="3962">
                      <a:solidFill>
                        <a:srgbClr val="000000"/>
                      </a:solidFill>
                      <a:prstDash val="solid"/>
                    </a:lnB>
                    <a:solidFill>
                      <a:schemeClr val="bg1"/>
                    </a:solidFill>
                  </a:tcPr>
                </a:tc>
              </a:tr>
              <a:tr h="1644718">
                <a:tc>
                  <a:txBody>
                    <a:bodyPr/>
                    <a:p>
                      <a:pPr marL="59055">
                        <a:lnSpc>
                          <a:spcPct val="100000"/>
                        </a:lnSpc>
                      </a:pPr>
                      <a:r>
                        <a:rPr sz="1600" dirty="0">
                          <a:latin typeface="Times New Roman" panose="02020603050405020304" pitchFamily="18" charset="0"/>
                          <a:cs typeface="Times New Roman" panose="02020603050405020304" pitchFamily="18" charset="0"/>
                        </a:rPr>
                        <a:t>Lo</a:t>
                      </a:r>
                      <a:r>
                        <a:rPr sz="1600" spc="-20" dirty="0">
                          <a:latin typeface="Times New Roman" panose="02020603050405020304" pitchFamily="18" charset="0"/>
                          <a:cs typeface="Times New Roman" panose="02020603050405020304" pitchFamily="18" charset="0"/>
                        </a:rPr>
                        <a:t>c</a:t>
                      </a:r>
                      <a:r>
                        <a:rPr sz="1600" dirty="0">
                          <a:latin typeface="Times New Roman" panose="02020603050405020304" pitchFamily="18" charset="0"/>
                          <a:cs typeface="Times New Roman" panose="02020603050405020304" pitchFamily="18" charset="0"/>
                        </a:rPr>
                        <a:t>k-X(A);</a:t>
                      </a:r>
                      <a:endParaRPr sz="1600">
                        <a:latin typeface="Times New Roman" panose="02020603050405020304" pitchFamily="18" charset="0"/>
                        <a:cs typeface="Times New Roman" panose="02020603050405020304" pitchFamily="18" charset="0"/>
                      </a:endParaRPr>
                    </a:p>
                    <a:p>
                      <a:pPr marL="59055">
                        <a:lnSpc>
                          <a:spcPct val="100000"/>
                        </a:lnSpc>
                        <a:spcBef>
                          <a:spcPts val="35"/>
                        </a:spcBef>
                      </a:pPr>
                      <a:r>
                        <a:rPr sz="1600" dirty="0">
                          <a:latin typeface="Times New Roman" panose="02020603050405020304" pitchFamily="18" charset="0"/>
                          <a:cs typeface="Times New Roman" panose="02020603050405020304" pitchFamily="18" charset="0"/>
                        </a:rPr>
                        <a:t>Read(A);</a:t>
                      </a:r>
                      <a:endParaRPr sz="1600">
                        <a:latin typeface="Times New Roman" panose="02020603050405020304" pitchFamily="18" charset="0"/>
                        <a:cs typeface="Times New Roman" panose="02020603050405020304" pitchFamily="18" charset="0"/>
                      </a:endParaRPr>
                    </a:p>
                    <a:p>
                      <a:pPr marL="59055">
                        <a:lnSpc>
                          <a:spcPct val="100000"/>
                        </a:lnSpc>
                        <a:spcBef>
                          <a:spcPts val="35"/>
                        </a:spcBef>
                      </a:pPr>
                      <a:r>
                        <a:rPr sz="1600" dirty="0">
                          <a:latin typeface="Times New Roman" panose="02020603050405020304" pitchFamily="18" charset="0"/>
                          <a:cs typeface="Times New Roman" panose="02020603050405020304" pitchFamily="18" charset="0"/>
                        </a:rPr>
                        <a:t>Lo</a:t>
                      </a:r>
                      <a:r>
                        <a:rPr sz="1600" spc="-20" dirty="0">
                          <a:latin typeface="Times New Roman" panose="02020603050405020304" pitchFamily="18" charset="0"/>
                          <a:cs typeface="Times New Roman" panose="02020603050405020304" pitchFamily="18" charset="0"/>
                        </a:rPr>
                        <a:t>c</a:t>
                      </a:r>
                      <a:r>
                        <a:rPr sz="1600" dirty="0">
                          <a:latin typeface="Times New Roman" panose="02020603050405020304" pitchFamily="18" charset="0"/>
                          <a:cs typeface="Times New Roman" panose="02020603050405020304" pitchFamily="18" charset="0"/>
                        </a:rPr>
                        <a:t>k-S(B);</a:t>
                      </a:r>
                      <a:endParaRPr sz="1600">
                        <a:latin typeface="Times New Roman" panose="02020603050405020304" pitchFamily="18" charset="0"/>
                        <a:cs typeface="Times New Roman" panose="02020603050405020304" pitchFamily="18" charset="0"/>
                      </a:endParaRPr>
                    </a:p>
                    <a:p>
                      <a:pPr marL="59055">
                        <a:lnSpc>
                          <a:spcPct val="100000"/>
                        </a:lnSpc>
                        <a:spcBef>
                          <a:spcPts val="35"/>
                        </a:spcBef>
                      </a:pPr>
                      <a:r>
                        <a:rPr sz="1600" dirty="0">
                          <a:latin typeface="Times New Roman" panose="02020603050405020304" pitchFamily="18" charset="0"/>
                          <a:cs typeface="Times New Roman" panose="02020603050405020304" pitchFamily="18" charset="0"/>
                        </a:rPr>
                        <a:t>Read(B);</a:t>
                      </a:r>
                      <a:endParaRPr sz="1600">
                        <a:latin typeface="Times New Roman" panose="02020603050405020304" pitchFamily="18" charset="0"/>
                        <a:cs typeface="Times New Roman" panose="02020603050405020304" pitchFamily="18" charset="0"/>
                      </a:endParaRPr>
                    </a:p>
                    <a:p>
                      <a:pPr marL="59055" marR="57150">
                        <a:lnSpc>
                          <a:spcPct val="104000"/>
                        </a:lnSpc>
                      </a:pPr>
                      <a:r>
                        <a:rPr sz="1600" dirty="0">
                          <a:latin typeface="Times New Roman" panose="02020603050405020304" pitchFamily="18" charset="0"/>
                          <a:cs typeface="Times New Roman" panose="02020603050405020304" pitchFamily="18" charset="0"/>
                        </a:rPr>
                        <a:t>W</a:t>
                      </a:r>
                      <a:r>
                        <a:rPr sz="1600" spc="10" dirty="0">
                          <a:latin typeface="Times New Roman" panose="02020603050405020304" pitchFamily="18" charset="0"/>
                          <a:cs typeface="Times New Roman" panose="02020603050405020304" pitchFamily="18" charset="0"/>
                        </a:rPr>
                        <a:t>r</a:t>
                      </a:r>
                      <a:r>
                        <a:rPr sz="1600" dirty="0">
                          <a:latin typeface="Times New Roman" panose="02020603050405020304" pitchFamily="18" charset="0"/>
                          <a:cs typeface="Times New Roman" panose="02020603050405020304" pitchFamily="18" charset="0"/>
                        </a:rPr>
                        <a:t>ite(A); Unlo</a:t>
                      </a:r>
                      <a:r>
                        <a:rPr sz="1600" spc="-20" dirty="0">
                          <a:latin typeface="Times New Roman" panose="02020603050405020304" pitchFamily="18" charset="0"/>
                          <a:cs typeface="Times New Roman" panose="02020603050405020304" pitchFamily="18" charset="0"/>
                        </a:rPr>
                        <a:t>c</a:t>
                      </a:r>
                      <a:r>
                        <a:rPr sz="1600" dirty="0">
                          <a:latin typeface="Times New Roman" panose="02020603050405020304" pitchFamily="18" charset="0"/>
                          <a:cs typeface="Times New Roman" panose="02020603050405020304" pitchFamily="18" charset="0"/>
                        </a:rPr>
                        <a:t>k(A);</a:t>
                      </a:r>
                      <a:endParaRPr sz="1600">
                        <a:latin typeface="Times New Roman" panose="02020603050405020304" pitchFamily="18" charset="0"/>
                        <a:cs typeface="Times New Roman" panose="02020603050405020304" pitchFamily="18" charset="0"/>
                      </a:endParaRPr>
                    </a:p>
                  </a:txBody>
                  <a:tcPr marL="0" marR="0" marT="0" marB="0">
                    <a:lnL w="3962">
                      <a:solidFill>
                        <a:srgbClr val="000000"/>
                      </a:solidFill>
                      <a:prstDash val="solid"/>
                    </a:lnL>
                    <a:lnR w="3962">
                      <a:solidFill>
                        <a:srgbClr val="000000"/>
                      </a:solidFill>
                      <a:prstDash val="solid"/>
                    </a:lnR>
                    <a:lnT w="3962">
                      <a:solidFill>
                        <a:srgbClr val="000000"/>
                      </a:solidFill>
                      <a:prstDash val="solid"/>
                    </a:lnT>
                    <a:lnB w="3962">
                      <a:solidFill>
                        <a:srgbClr val="000000"/>
                      </a:solidFill>
                      <a:prstDash val="solid"/>
                    </a:lnB>
                    <a:solidFill>
                      <a:schemeClr val="bg1"/>
                    </a:solidFill>
                  </a:tcPr>
                </a:tc>
                <a:tc>
                  <a:txBody>
                    <a:bodyPr/>
                    <a:p>
                      <a:pPr marL="59055">
                        <a:lnSpc>
                          <a:spcPct val="100000"/>
                        </a:lnSpc>
                      </a:pPr>
                      <a:endParaRPr sz="1600" dirty="0">
                        <a:latin typeface="Times New Roman" panose="02020603050405020304" pitchFamily="18" charset="0"/>
                        <a:cs typeface="Times New Roman" panose="02020603050405020304" pitchFamily="18" charset="0"/>
                      </a:endParaRPr>
                    </a:p>
                    <a:p>
                      <a:pPr marL="59055">
                        <a:lnSpc>
                          <a:spcPct val="100000"/>
                        </a:lnSpc>
                      </a:pPr>
                      <a:endParaRPr sz="1600" dirty="0">
                        <a:latin typeface="Times New Roman" panose="02020603050405020304" pitchFamily="18" charset="0"/>
                        <a:cs typeface="Times New Roman" panose="02020603050405020304" pitchFamily="18" charset="0"/>
                      </a:endParaRPr>
                    </a:p>
                    <a:p>
                      <a:pPr marL="59055">
                        <a:lnSpc>
                          <a:spcPct val="100000"/>
                        </a:lnSpc>
                      </a:pPr>
                      <a:endParaRPr sz="1600" dirty="0">
                        <a:latin typeface="Times New Roman" panose="02020603050405020304" pitchFamily="18" charset="0"/>
                        <a:cs typeface="Times New Roman" panose="02020603050405020304" pitchFamily="18" charset="0"/>
                      </a:endParaRPr>
                    </a:p>
                    <a:p>
                      <a:pPr marL="59055">
                        <a:lnSpc>
                          <a:spcPct val="100000"/>
                        </a:lnSpc>
                      </a:pPr>
                      <a:endParaRPr sz="1600" dirty="0">
                        <a:latin typeface="Times New Roman" panose="02020603050405020304" pitchFamily="18" charset="0"/>
                        <a:cs typeface="Times New Roman" panose="02020603050405020304" pitchFamily="18" charset="0"/>
                      </a:endParaRPr>
                    </a:p>
                    <a:p>
                      <a:pPr marL="59055">
                        <a:lnSpc>
                          <a:spcPct val="100000"/>
                        </a:lnSpc>
                      </a:pPr>
                      <a:endParaRPr sz="1600" dirty="0">
                        <a:latin typeface="Times New Roman" panose="02020603050405020304" pitchFamily="18" charset="0"/>
                        <a:cs typeface="Times New Roman" panose="02020603050405020304" pitchFamily="18" charset="0"/>
                      </a:endParaRPr>
                    </a:p>
                    <a:p>
                      <a:pPr marL="59055">
                        <a:lnSpc>
                          <a:spcPct val="100000"/>
                        </a:lnSpc>
                      </a:pPr>
                      <a:endParaRPr sz="1600" dirty="0">
                        <a:latin typeface="Times New Roman" panose="02020603050405020304" pitchFamily="18" charset="0"/>
                        <a:cs typeface="Times New Roman" panose="02020603050405020304" pitchFamily="18" charset="0"/>
                      </a:endParaRPr>
                    </a:p>
                    <a:p>
                      <a:pPr marL="59055">
                        <a:lnSpc>
                          <a:spcPct val="100000"/>
                        </a:lnSpc>
                      </a:pPr>
                      <a:endParaRPr sz="1600" dirty="0">
                        <a:latin typeface="Times New Roman" panose="02020603050405020304" pitchFamily="18" charset="0"/>
                        <a:cs typeface="Times New Roman" panose="02020603050405020304" pitchFamily="18" charset="0"/>
                      </a:endParaRPr>
                    </a:p>
                    <a:p>
                      <a:pPr marL="59055">
                        <a:lnSpc>
                          <a:spcPct val="100000"/>
                        </a:lnSpc>
                      </a:pPr>
                      <a:r>
                        <a:rPr sz="1600" dirty="0">
                          <a:latin typeface="Times New Roman" panose="02020603050405020304" pitchFamily="18" charset="0"/>
                          <a:cs typeface="Times New Roman" panose="02020603050405020304" pitchFamily="18" charset="0"/>
                        </a:rPr>
                        <a:t>Lo</a:t>
                      </a:r>
                      <a:r>
                        <a:rPr sz="1600" spc="-20" dirty="0">
                          <a:latin typeface="Times New Roman" panose="02020603050405020304" pitchFamily="18" charset="0"/>
                          <a:cs typeface="Times New Roman" panose="02020603050405020304" pitchFamily="18" charset="0"/>
                        </a:rPr>
                        <a:t>c</a:t>
                      </a:r>
                      <a:r>
                        <a:rPr sz="1600" dirty="0">
                          <a:latin typeface="Times New Roman" panose="02020603050405020304" pitchFamily="18" charset="0"/>
                          <a:cs typeface="Times New Roman" panose="02020603050405020304" pitchFamily="18" charset="0"/>
                        </a:rPr>
                        <a:t>k-X(A);</a:t>
                      </a:r>
                      <a:endParaRPr sz="1600">
                        <a:latin typeface="Times New Roman" panose="02020603050405020304" pitchFamily="18" charset="0"/>
                        <a:cs typeface="Times New Roman" panose="02020603050405020304" pitchFamily="18" charset="0"/>
                      </a:endParaRPr>
                    </a:p>
                    <a:p>
                      <a:pPr marL="59055">
                        <a:lnSpc>
                          <a:spcPct val="100000"/>
                        </a:lnSpc>
                        <a:spcBef>
                          <a:spcPts val="35"/>
                        </a:spcBef>
                      </a:pPr>
                      <a:r>
                        <a:rPr sz="1600" dirty="0">
                          <a:latin typeface="Times New Roman" panose="02020603050405020304" pitchFamily="18" charset="0"/>
                          <a:cs typeface="Times New Roman" panose="02020603050405020304" pitchFamily="18" charset="0"/>
                        </a:rPr>
                        <a:t>Read(A);</a:t>
                      </a:r>
                      <a:endParaRPr sz="1600">
                        <a:latin typeface="Times New Roman" panose="02020603050405020304" pitchFamily="18" charset="0"/>
                        <a:cs typeface="Times New Roman" panose="02020603050405020304" pitchFamily="18" charset="0"/>
                      </a:endParaRPr>
                    </a:p>
                    <a:p>
                      <a:pPr marL="59055" marR="57150">
                        <a:lnSpc>
                          <a:spcPct val="104000"/>
                        </a:lnSpc>
                      </a:pPr>
                      <a:r>
                        <a:rPr sz="1600" dirty="0">
                          <a:latin typeface="Times New Roman" panose="02020603050405020304" pitchFamily="18" charset="0"/>
                          <a:cs typeface="Times New Roman" panose="02020603050405020304" pitchFamily="18" charset="0"/>
                        </a:rPr>
                        <a:t>W</a:t>
                      </a:r>
                      <a:r>
                        <a:rPr sz="1600" spc="10" dirty="0">
                          <a:latin typeface="Times New Roman" panose="02020603050405020304" pitchFamily="18" charset="0"/>
                          <a:cs typeface="Times New Roman" panose="02020603050405020304" pitchFamily="18" charset="0"/>
                        </a:rPr>
                        <a:t>r</a:t>
                      </a:r>
                      <a:r>
                        <a:rPr sz="1600" dirty="0">
                          <a:latin typeface="Times New Roman" panose="02020603050405020304" pitchFamily="18" charset="0"/>
                          <a:cs typeface="Times New Roman" panose="02020603050405020304" pitchFamily="18" charset="0"/>
                        </a:rPr>
                        <a:t>ite(A); Unlo</a:t>
                      </a:r>
                      <a:r>
                        <a:rPr sz="1600" spc="-20" dirty="0">
                          <a:latin typeface="Times New Roman" panose="02020603050405020304" pitchFamily="18" charset="0"/>
                          <a:cs typeface="Times New Roman" panose="02020603050405020304" pitchFamily="18" charset="0"/>
                        </a:rPr>
                        <a:t>c</a:t>
                      </a:r>
                      <a:r>
                        <a:rPr sz="1600" dirty="0">
                          <a:latin typeface="Times New Roman" panose="02020603050405020304" pitchFamily="18" charset="0"/>
                          <a:cs typeface="Times New Roman" panose="02020603050405020304" pitchFamily="18" charset="0"/>
                        </a:rPr>
                        <a:t>k(A);</a:t>
                      </a:r>
                      <a:endParaRPr sz="1600">
                        <a:latin typeface="Times New Roman" panose="02020603050405020304" pitchFamily="18" charset="0"/>
                        <a:cs typeface="Times New Roman" panose="02020603050405020304" pitchFamily="18" charset="0"/>
                      </a:endParaRPr>
                    </a:p>
                  </a:txBody>
                  <a:tcPr marL="0" marR="0" marT="0" marB="0">
                    <a:lnL w="3962">
                      <a:solidFill>
                        <a:srgbClr val="000000"/>
                      </a:solidFill>
                      <a:prstDash val="solid"/>
                    </a:lnL>
                    <a:lnR w="3962">
                      <a:solidFill>
                        <a:srgbClr val="000000"/>
                      </a:solidFill>
                      <a:prstDash val="solid"/>
                    </a:lnR>
                    <a:lnT w="3962">
                      <a:solidFill>
                        <a:srgbClr val="000000"/>
                      </a:solidFill>
                      <a:prstDash val="solid"/>
                    </a:lnT>
                    <a:lnB w="3962">
                      <a:solidFill>
                        <a:srgbClr val="000000"/>
                      </a:solidFill>
                      <a:prstDash val="solid"/>
                    </a:lnB>
                    <a:solidFill>
                      <a:schemeClr val="bg1"/>
                    </a:solidFill>
                  </a:tcPr>
                </a:tc>
                <a:tc>
                  <a:txBody>
                    <a:bodyPr/>
                    <a:p>
                      <a:pPr marL="59055">
                        <a:lnSpc>
                          <a:spcPct val="100000"/>
                        </a:lnSpc>
                      </a:pPr>
                      <a:endParaRPr sz="1600" dirty="0">
                        <a:latin typeface="Times New Roman" panose="02020603050405020304" pitchFamily="18" charset="0"/>
                        <a:cs typeface="Times New Roman" panose="02020603050405020304" pitchFamily="18" charset="0"/>
                      </a:endParaRPr>
                    </a:p>
                    <a:p>
                      <a:pPr marL="59055">
                        <a:lnSpc>
                          <a:spcPct val="100000"/>
                        </a:lnSpc>
                      </a:pPr>
                      <a:endParaRPr sz="1600" dirty="0">
                        <a:latin typeface="Times New Roman" panose="02020603050405020304" pitchFamily="18" charset="0"/>
                        <a:cs typeface="Times New Roman" panose="02020603050405020304" pitchFamily="18" charset="0"/>
                      </a:endParaRPr>
                    </a:p>
                    <a:p>
                      <a:pPr marL="59055">
                        <a:lnSpc>
                          <a:spcPct val="100000"/>
                        </a:lnSpc>
                      </a:pPr>
                      <a:endParaRPr sz="1600" dirty="0">
                        <a:latin typeface="Times New Roman" panose="02020603050405020304" pitchFamily="18" charset="0"/>
                        <a:cs typeface="Times New Roman" panose="02020603050405020304" pitchFamily="18" charset="0"/>
                      </a:endParaRPr>
                    </a:p>
                    <a:p>
                      <a:pPr marL="59055">
                        <a:lnSpc>
                          <a:spcPct val="100000"/>
                        </a:lnSpc>
                      </a:pPr>
                      <a:endParaRPr sz="1600" dirty="0">
                        <a:latin typeface="Times New Roman" panose="02020603050405020304" pitchFamily="18" charset="0"/>
                        <a:cs typeface="Times New Roman" panose="02020603050405020304" pitchFamily="18" charset="0"/>
                      </a:endParaRPr>
                    </a:p>
                    <a:p>
                      <a:pPr marL="59055">
                        <a:lnSpc>
                          <a:spcPct val="100000"/>
                        </a:lnSpc>
                      </a:pPr>
                      <a:endParaRPr sz="1600" dirty="0">
                        <a:latin typeface="Times New Roman" panose="02020603050405020304" pitchFamily="18" charset="0"/>
                        <a:cs typeface="Times New Roman" panose="02020603050405020304" pitchFamily="18" charset="0"/>
                      </a:endParaRPr>
                    </a:p>
                    <a:p>
                      <a:pPr marL="59055">
                        <a:lnSpc>
                          <a:spcPct val="100000"/>
                        </a:lnSpc>
                      </a:pPr>
                      <a:endParaRPr sz="1600" dirty="0">
                        <a:latin typeface="Times New Roman" panose="02020603050405020304" pitchFamily="18" charset="0"/>
                        <a:cs typeface="Times New Roman" panose="02020603050405020304" pitchFamily="18" charset="0"/>
                      </a:endParaRPr>
                    </a:p>
                    <a:p>
                      <a:pPr marL="59055">
                        <a:lnSpc>
                          <a:spcPct val="100000"/>
                        </a:lnSpc>
                      </a:pPr>
                      <a:endParaRPr sz="1600" dirty="0">
                        <a:latin typeface="Times New Roman" panose="02020603050405020304" pitchFamily="18" charset="0"/>
                        <a:cs typeface="Times New Roman" panose="02020603050405020304" pitchFamily="18" charset="0"/>
                      </a:endParaRPr>
                    </a:p>
                    <a:p>
                      <a:pPr marL="59055">
                        <a:lnSpc>
                          <a:spcPct val="100000"/>
                        </a:lnSpc>
                      </a:pPr>
                      <a:endParaRPr sz="1600" dirty="0">
                        <a:latin typeface="Times New Roman" panose="02020603050405020304" pitchFamily="18" charset="0"/>
                        <a:cs typeface="Times New Roman" panose="02020603050405020304" pitchFamily="18" charset="0"/>
                      </a:endParaRPr>
                    </a:p>
                    <a:p>
                      <a:pPr marL="59055">
                        <a:lnSpc>
                          <a:spcPct val="100000"/>
                        </a:lnSpc>
                      </a:pPr>
                      <a:endParaRPr sz="1600" dirty="0">
                        <a:latin typeface="Times New Roman" panose="02020603050405020304" pitchFamily="18" charset="0"/>
                        <a:cs typeface="Times New Roman" panose="02020603050405020304" pitchFamily="18" charset="0"/>
                      </a:endParaRPr>
                    </a:p>
                    <a:p>
                      <a:pPr marL="59055">
                        <a:lnSpc>
                          <a:spcPct val="100000"/>
                        </a:lnSpc>
                      </a:pPr>
                      <a:endParaRPr sz="1600" dirty="0">
                        <a:latin typeface="Times New Roman" panose="02020603050405020304" pitchFamily="18" charset="0"/>
                        <a:cs typeface="Times New Roman" panose="02020603050405020304" pitchFamily="18" charset="0"/>
                      </a:endParaRPr>
                    </a:p>
                    <a:p>
                      <a:pPr marL="59055">
                        <a:lnSpc>
                          <a:spcPct val="100000"/>
                        </a:lnSpc>
                      </a:pPr>
                      <a:endParaRPr sz="1600" dirty="0">
                        <a:latin typeface="Times New Roman" panose="02020603050405020304" pitchFamily="18" charset="0"/>
                        <a:cs typeface="Times New Roman" panose="02020603050405020304" pitchFamily="18" charset="0"/>
                      </a:endParaRPr>
                    </a:p>
                    <a:p>
                      <a:pPr marL="59055">
                        <a:lnSpc>
                          <a:spcPct val="100000"/>
                        </a:lnSpc>
                      </a:pPr>
                      <a:endParaRPr sz="1600" dirty="0">
                        <a:latin typeface="Times New Roman" panose="02020603050405020304" pitchFamily="18" charset="0"/>
                        <a:cs typeface="Times New Roman" panose="02020603050405020304" pitchFamily="18" charset="0"/>
                      </a:endParaRPr>
                    </a:p>
                    <a:p>
                      <a:pPr marL="59055">
                        <a:lnSpc>
                          <a:spcPct val="100000"/>
                        </a:lnSpc>
                      </a:pPr>
                      <a:r>
                        <a:rPr sz="1600" dirty="0">
                          <a:latin typeface="Times New Roman" panose="02020603050405020304" pitchFamily="18" charset="0"/>
                          <a:cs typeface="Times New Roman" panose="02020603050405020304" pitchFamily="18" charset="0"/>
                        </a:rPr>
                        <a:t>Lo</a:t>
                      </a:r>
                      <a:r>
                        <a:rPr sz="1600" spc="-20" dirty="0">
                          <a:latin typeface="Times New Roman" panose="02020603050405020304" pitchFamily="18" charset="0"/>
                          <a:cs typeface="Times New Roman" panose="02020603050405020304" pitchFamily="18" charset="0"/>
                        </a:rPr>
                        <a:t>c</a:t>
                      </a:r>
                      <a:r>
                        <a:rPr sz="1600" dirty="0">
                          <a:latin typeface="Times New Roman" panose="02020603050405020304" pitchFamily="18" charset="0"/>
                          <a:cs typeface="Times New Roman" panose="02020603050405020304" pitchFamily="18" charset="0"/>
                        </a:rPr>
                        <a:t>k-S(A);</a:t>
                      </a:r>
                      <a:endParaRPr sz="1600">
                        <a:latin typeface="Times New Roman" panose="02020603050405020304" pitchFamily="18" charset="0"/>
                        <a:cs typeface="Times New Roman" panose="02020603050405020304" pitchFamily="18" charset="0"/>
                      </a:endParaRPr>
                    </a:p>
                    <a:p>
                      <a:pPr marL="59055">
                        <a:lnSpc>
                          <a:spcPct val="100000"/>
                        </a:lnSpc>
                        <a:spcBef>
                          <a:spcPts val="35"/>
                        </a:spcBef>
                      </a:pPr>
                      <a:r>
                        <a:rPr sz="1600" dirty="0">
                          <a:latin typeface="Times New Roman" panose="02020603050405020304" pitchFamily="18" charset="0"/>
                          <a:cs typeface="Times New Roman" panose="02020603050405020304" pitchFamily="18" charset="0"/>
                        </a:rPr>
                        <a:t>Read(A);</a:t>
                      </a:r>
                      <a:endParaRPr sz="1600">
                        <a:latin typeface="Times New Roman" panose="02020603050405020304" pitchFamily="18" charset="0"/>
                        <a:cs typeface="Times New Roman" panose="02020603050405020304" pitchFamily="18" charset="0"/>
                      </a:endParaRPr>
                    </a:p>
                  </a:txBody>
                  <a:tcPr marL="0" marR="0" marT="0" marB="0">
                    <a:lnL w="3962">
                      <a:solidFill>
                        <a:srgbClr val="000000"/>
                      </a:solidFill>
                      <a:prstDash val="solid"/>
                    </a:lnL>
                    <a:lnR w="3962">
                      <a:solidFill>
                        <a:srgbClr val="000000"/>
                      </a:solidFill>
                      <a:prstDash val="solid"/>
                    </a:lnR>
                    <a:lnT w="3962">
                      <a:solidFill>
                        <a:srgbClr val="000000"/>
                      </a:solidFill>
                      <a:prstDash val="solid"/>
                    </a:lnT>
                    <a:lnB w="3962">
                      <a:solidFill>
                        <a:srgbClr val="000000"/>
                      </a:solidFill>
                      <a:prstDash val="solid"/>
                    </a:lnB>
                    <a:solidFill>
                      <a:schemeClr val="bg1"/>
                    </a:solidFill>
                  </a:tcPr>
                </a:tc>
              </a:tr>
            </a:tbl>
          </a:graphicData>
        </a:graphic>
      </p:graphicFrame>
      <p:sp>
        <p:nvSpPr>
          <p:cNvPr id="14" name="object 15"/>
          <p:cNvSpPr txBox="1"/>
          <p:nvPr/>
        </p:nvSpPr>
        <p:spPr>
          <a:xfrm>
            <a:off x="1804966" y="3094214"/>
            <a:ext cx="1285884" cy="276999"/>
          </a:xfrm>
          <a:prstGeom prst="rect">
            <a:avLst/>
          </a:prstGeom>
        </p:spPr>
        <p:txBody>
          <a:bodyPr vert="horz" wrap="square" lIns="0" tIns="0" rIns="0" bIns="0" rtlCol="0">
            <a:spAutoFit/>
          </a:bodyPr>
          <a:p>
            <a:pPr marL="12700">
              <a:lnSpc>
                <a:spcPct val="100000"/>
              </a:lnSpc>
            </a:pPr>
            <a:r>
              <a:rPr spc="-10" smtClean="0">
                <a:latin typeface="Times New Roman" panose="02020603050405020304" pitchFamily="18" charset="0"/>
                <a:cs typeface="Times New Roman" panose="02020603050405020304" pitchFamily="18" charset="0"/>
              </a:rPr>
              <a:t>Schedule</a:t>
            </a:r>
            <a:r>
              <a:rPr lang="en-US" spc="-10" dirty="0" smtClean="0">
                <a:latin typeface="Times New Roman" panose="02020603050405020304" pitchFamily="18" charset="0"/>
                <a:cs typeface="Times New Roman" panose="02020603050405020304" pitchFamily="18" charset="0"/>
              </a:rPr>
              <a:t> </a:t>
            </a:r>
            <a:r>
              <a:rPr spc="-10" smtClean="0">
                <a:latin typeface="Times New Roman" panose="02020603050405020304" pitchFamily="18" charset="0"/>
                <a:cs typeface="Times New Roman" panose="02020603050405020304" pitchFamily="18" charset="0"/>
              </a:rPr>
              <a:t>7</a:t>
            </a:r>
            <a:endParaRPr>
              <a:latin typeface="Times New Roman" panose="02020603050405020304" pitchFamily="18" charset="0"/>
              <a:cs typeface="Times New Roman" panose="02020603050405020304" pitchFamily="18"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Two-Phase Locking Protocol</a:t>
            </a:r>
            <a:endParaRPr lang="en-US"/>
          </a:p>
        </p:txBody>
      </p:sp>
      <p:sp>
        <p:nvSpPr>
          <p:cNvPr id="3" name="Content Placeholder 2"/>
          <p:cNvSpPr>
            <a:spLocks noGrp="1"/>
          </p:cNvSpPr>
          <p:nvPr>
            <p:ph idx="1"/>
          </p:nvPr>
        </p:nvSpPr>
        <p:spPr/>
        <p:txBody>
          <a:bodyPr/>
          <a:p>
            <a:pPr marL="342900" indent="-342900" algn="just">
              <a:spcBef>
                <a:spcPct val="20000"/>
              </a:spcBef>
              <a:buFont typeface="Wingdings" panose="05000000000000000000" pitchFamily="2" charset="2"/>
              <a:buChar char="Ø"/>
              <a:defRPr/>
            </a:pPr>
            <a:r>
              <a:rPr lang="en-US" b="1" kern="0" dirty="0" smtClean="0">
                <a:latin typeface="Times New Roman" panose="02020603050405020304" pitchFamily="18" charset="0"/>
                <a:cs typeface="Times New Roman" panose="02020603050405020304" pitchFamily="18" charset="0"/>
                <a:sym typeface="+mn-ea"/>
              </a:rPr>
              <a:t>Cascading rollbacks can </a:t>
            </a:r>
            <a:r>
              <a:rPr lang="en-US" kern="0" dirty="0" smtClean="0">
                <a:latin typeface="Times New Roman" panose="02020603050405020304" pitchFamily="18" charset="0"/>
                <a:cs typeface="Times New Roman" panose="02020603050405020304" pitchFamily="18" charset="0"/>
                <a:sym typeface="+mn-ea"/>
              </a:rPr>
              <a:t>be avoided by a modification of the original two-phase locking protocol called strict two-phase locking protocol. In this protocol, a transaction must hold all its exclusive locks till it commits or aborts.</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b="1" kern="0" dirty="0" smtClean="0">
                <a:latin typeface="Times New Roman" panose="02020603050405020304" pitchFamily="18" charset="0"/>
                <a:cs typeface="Times New Roman" panose="02020603050405020304" pitchFamily="18" charset="0"/>
                <a:sym typeface="+mn-ea"/>
              </a:rPr>
              <a:t>Rigorous two-phas</a:t>
            </a:r>
            <a:r>
              <a:rPr lang="en-US" kern="0" dirty="0" smtClean="0">
                <a:latin typeface="Times New Roman" panose="02020603050405020304" pitchFamily="18" charset="0"/>
                <a:cs typeface="Times New Roman" panose="02020603050405020304" pitchFamily="18" charset="0"/>
                <a:sym typeface="+mn-ea"/>
              </a:rPr>
              <a:t>e locking protocol is even stricter, which requires that all the locks be held until the transaction commits or aborts. In this protocol, transactions can be serialized in the order in which they commit.</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sym typeface="+mn-ea"/>
              </a:rPr>
              <a:t>Most database systems implement either strict or rigorous two-phase locking.</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a:p>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Two-Phase Locking Protocol</a:t>
            </a:r>
            <a:endParaRPr lang="en-US"/>
          </a:p>
        </p:txBody>
      </p:sp>
      <p:pic>
        <p:nvPicPr>
          <p:cNvPr id="5" name="Content Placeholder 4" descr="CamScanner 04-25-2022 10.45_1"/>
          <p:cNvPicPr>
            <a:picLocks noGrp="1" noChangeAspect="1"/>
          </p:cNvPicPr>
          <p:nvPr>
            <p:ph idx="1"/>
          </p:nvPr>
        </p:nvPicPr>
        <p:blipFill>
          <a:blip r:embed="rId1"/>
          <a:stretch>
            <a:fillRect/>
          </a:stretch>
        </p:blipFill>
        <p:spPr>
          <a:xfrm>
            <a:off x="1613535" y="1825625"/>
            <a:ext cx="7165340" cy="4351655"/>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0"/>
            <a:ext cx="10515600" cy="1325563"/>
          </a:xfrm>
        </p:spPr>
        <p:txBody>
          <a:bodyPr/>
          <a:p>
            <a:r>
              <a:rPr lang="en-US" b="1" dirty="0" smtClean="0">
                <a:latin typeface="Times New Roman" panose="02020603050405020304" pitchFamily="18" charset="0"/>
                <a:cs typeface="Times New Roman" panose="02020603050405020304" pitchFamily="18" charset="0"/>
                <a:sym typeface="+mn-ea"/>
              </a:rPr>
              <a:t>Two-Phase Locking Protocol</a:t>
            </a:r>
            <a:endParaRPr lang="en-US"/>
          </a:p>
        </p:txBody>
      </p:sp>
      <p:pic>
        <p:nvPicPr>
          <p:cNvPr id="4" name="Content Placeholder 1" descr="CamScanner 04-25-2022 10.45_2"/>
          <p:cNvPicPr>
            <a:picLocks noGrp="1" noChangeAspect="1"/>
          </p:cNvPicPr>
          <p:nvPr>
            <p:ph idx="1"/>
          </p:nvPr>
        </p:nvPicPr>
        <p:blipFill>
          <a:blip r:embed="rId1"/>
          <a:stretch>
            <a:fillRect/>
          </a:stretch>
        </p:blipFill>
        <p:spPr>
          <a:xfrm>
            <a:off x="2419350" y="1256665"/>
            <a:ext cx="6579870" cy="560197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Two-Phase Locking Protocol</a:t>
            </a:r>
            <a:endParaRPr lang="en-US"/>
          </a:p>
        </p:txBody>
      </p:sp>
      <p:pic>
        <p:nvPicPr>
          <p:cNvPr id="4" name="Content Placeholder 1" descr="CamScanner 04-25-2022 10.45_3"/>
          <p:cNvPicPr>
            <a:picLocks noGrp="1" noChangeAspect="1"/>
          </p:cNvPicPr>
          <p:nvPr>
            <p:ph idx="1"/>
          </p:nvPr>
        </p:nvPicPr>
        <p:blipFill>
          <a:blip r:embed="rId1"/>
          <a:stretch>
            <a:fillRect/>
          </a:stretch>
        </p:blipFill>
        <p:spPr>
          <a:xfrm>
            <a:off x="1944370" y="1825625"/>
            <a:ext cx="6322060" cy="4351655"/>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Lock Conversions</a:t>
            </a:r>
            <a:endParaRPr lang="en-US"/>
          </a:p>
        </p:txBody>
      </p:sp>
      <p:sp>
        <p:nvSpPr>
          <p:cNvPr id="4" name="Content Placeholder 2"/>
          <p:cNvSpPr txBox="1"/>
          <p:nvPr/>
        </p:nvSpPr>
        <p:spPr bwMode="auto">
          <a:xfrm>
            <a:off x="785786" y="4500570"/>
            <a:ext cx="7858180" cy="1928826"/>
          </a:xfrm>
          <a:prstGeom prst="rect">
            <a:avLst/>
          </a:prstGeom>
          <a:noFill/>
          <a:ln w="9525">
            <a:noFill/>
            <a:miter lim="800000"/>
          </a:ln>
        </p:spPr>
        <p:txBody>
          <a:bodyPr/>
          <a:p>
            <a:pPr marL="342900" indent="-342900" algn="just">
              <a:spcBef>
                <a:spcPct val="20000"/>
              </a:spcBef>
              <a:buFont typeface="Wingdings" panose="05000000000000000000" pitchFamily="2" charset="2"/>
              <a:buChar char="Ø"/>
              <a:defRPr/>
            </a:pPr>
            <a:r>
              <a:rPr lang="en-US" b="1" kern="0" dirty="0" smtClean="0">
                <a:latin typeface="Times New Roman" panose="02020603050405020304" pitchFamily="18" charset="0"/>
                <a:cs typeface="Times New Roman" panose="02020603050405020304" pitchFamily="18" charset="0"/>
              </a:rPr>
              <a:t>Lock Upgrade: </a:t>
            </a:r>
            <a:r>
              <a:rPr lang="en-US" kern="0" dirty="0" smtClean="0">
                <a:latin typeface="Times New Roman" panose="02020603050405020304" pitchFamily="18" charset="0"/>
                <a:cs typeface="Times New Roman" panose="02020603050405020304" pitchFamily="18" charset="0"/>
              </a:rPr>
              <a:t>This is the process in which a shared lock is upgraded to an exclusive lock.</a:t>
            </a:r>
            <a:r>
              <a:rPr lang="en-US" b="1" kern="0" dirty="0" smtClean="0">
                <a:latin typeface="Times New Roman" panose="02020603050405020304" pitchFamily="18" charset="0"/>
                <a:cs typeface="Times New Roman" panose="02020603050405020304" pitchFamily="18" charset="0"/>
              </a:rPr>
              <a:t>(Read-Lock -&gt;  Write Lock)</a:t>
            </a:r>
            <a:endParaRPr lang="en-US" b="1"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b="1" kern="0" dirty="0" smtClean="0">
                <a:latin typeface="Times New Roman" panose="02020603050405020304" pitchFamily="18" charset="0"/>
                <a:cs typeface="Times New Roman" panose="02020603050405020304" pitchFamily="18" charset="0"/>
              </a:rPr>
              <a:t>Lock Downgrade: </a:t>
            </a:r>
            <a:r>
              <a:rPr lang="en-US" kern="0" dirty="0" smtClean="0">
                <a:latin typeface="Times New Roman" panose="02020603050405020304" pitchFamily="18" charset="0"/>
                <a:cs typeface="Times New Roman" panose="02020603050405020304" pitchFamily="18" charset="0"/>
              </a:rPr>
              <a:t>This is the process in which an exclusive lock is downgraded to a shared lock.</a:t>
            </a:r>
            <a:r>
              <a:rPr lang="en-US" b="1" kern="0" dirty="0" smtClean="0">
                <a:latin typeface="Times New Roman" panose="02020603050405020304" pitchFamily="18" charset="0"/>
                <a:cs typeface="Times New Roman" panose="02020603050405020304" pitchFamily="18" charset="0"/>
                <a:sym typeface="+mn-ea"/>
              </a:rPr>
              <a:t>(  Write Lock -&gt; Read-Lock )</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rPr>
              <a:t>Lock upgrading can take place only in the growing phase, where as lock downgrading can take place only in the shrinking phase.</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p:txBody>
      </p:sp>
      <p:pic>
        <p:nvPicPr>
          <p:cNvPr id="1026" name="Picture 2" descr="C:\Users\nEW u\Desktop\22.jpg"/>
          <p:cNvPicPr>
            <a:picLocks noChangeAspect="1" noChangeArrowheads="1"/>
          </p:cNvPicPr>
          <p:nvPr/>
        </p:nvPicPr>
        <p:blipFill>
          <a:blip r:embed="rId1"/>
          <a:srcRect/>
          <a:stretch>
            <a:fillRect/>
          </a:stretch>
        </p:blipFill>
        <p:spPr bwMode="auto">
          <a:xfrm>
            <a:off x="3428992" y="1285860"/>
            <a:ext cx="2222511" cy="3089832"/>
          </a:xfrm>
          <a:prstGeom prst="rect">
            <a:avLst/>
          </a:prstGeom>
          <a:noFill/>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Lock Conversions…</a:t>
            </a:r>
            <a:endParaRPr lang="en-US"/>
          </a:p>
        </p:txBody>
      </p:sp>
      <p:sp>
        <p:nvSpPr>
          <p:cNvPr id="3" name="Content Placeholder 2"/>
          <p:cNvSpPr>
            <a:spLocks noGrp="1"/>
          </p:cNvSpPr>
          <p:nvPr>
            <p:ph idx="1"/>
          </p:nvPr>
        </p:nvSpPr>
        <p:spPr/>
        <p:txBody>
          <a:bodyPr>
            <a:normAutofit fontScale="70000"/>
          </a:bodyPr>
          <a:p>
            <a:pPr marL="342900" indent="-342900" algn="just">
              <a:spcBef>
                <a:spcPct val="20000"/>
              </a:spcBef>
              <a:buFont typeface="Wingdings" panose="05000000000000000000" pitchFamily="2" charset="2"/>
              <a:buChar char="Ø"/>
              <a:defRPr/>
            </a:pPr>
            <a:r>
              <a:rPr lang="en-US" sz="2800" kern="0" dirty="0" smtClean="0">
                <a:latin typeface="Times New Roman" panose="02020603050405020304" pitchFamily="18" charset="0"/>
                <a:cs typeface="Times New Roman" panose="02020603050405020304" pitchFamily="18" charset="0"/>
                <a:sym typeface="+mn-ea"/>
              </a:rPr>
              <a:t>Thus, the two-phase locking protocol with lock conversions:</a:t>
            </a:r>
            <a:endParaRPr lang="en-US" sz="2800"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pitchFamily="2" charset="2"/>
              <a:buChar char="Ø"/>
              <a:defRPr/>
            </a:pPr>
            <a:r>
              <a:rPr lang="en-US" sz="2800" kern="0" dirty="0" smtClean="0">
                <a:latin typeface="Times New Roman" panose="02020603050405020304" pitchFamily="18" charset="0"/>
                <a:cs typeface="Times New Roman" panose="02020603050405020304" pitchFamily="18" charset="0"/>
                <a:sym typeface="+mn-ea"/>
              </a:rPr>
              <a:t>First Phase:</a:t>
            </a:r>
            <a:endParaRPr lang="en-US" sz="2800" kern="0" dirty="0" smtClean="0">
              <a:latin typeface="Times New Roman" panose="02020603050405020304" pitchFamily="18" charset="0"/>
              <a:cs typeface="Times New Roman" panose="02020603050405020304" pitchFamily="18" charset="0"/>
            </a:endParaRPr>
          </a:p>
          <a:p>
            <a:pPr marL="1257300" lvl="2" indent="-342900" algn="just">
              <a:spcBef>
                <a:spcPct val="20000"/>
              </a:spcBef>
              <a:buFont typeface="Wingdings" panose="05000000000000000000" pitchFamily="2" charset="2"/>
              <a:buChar char="ü"/>
              <a:defRPr/>
            </a:pPr>
            <a:r>
              <a:rPr lang="en-US" sz="2800" kern="0" dirty="0" smtClean="0">
                <a:latin typeface="Times New Roman" panose="02020603050405020304" pitchFamily="18" charset="0"/>
                <a:cs typeface="Times New Roman" panose="02020603050405020304" pitchFamily="18" charset="0"/>
                <a:sym typeface="+mn-ea"/>
              </a:rPr>
              <a:t>Can acquire a lock-S on item</a:t>
            </a:r>
            <a:endParaRPr lang="en-US" sz="2800" kern="0" dirty="0" smtClean="0">
              <a:latin typeface="Times New Roman" panose="02020603050405020304" pitchFamily="18" charset="0"/>
              <a:cs typeface="Times New Roman" panose="02020603050405020304" pitchFamily="18" charset="0"/>
            </a:endParaRPr>
          </a:p>
          <a:p>
            <a:pPr marL="1257300" lvl="2" indent="-342900" algn="just">
              <a:spcBef>
                <a:spcPct val="20000"/>
              </a:spcBef>
              <a:buFont typeface="Wingdings" panose="05000000000000000000" pitchFamily="2" charset="2"/>
              <a:buChar char="ü"/>
              <a:defRPr/>
            </a:pPr>
            <a:r>
              <a:rPr lang="en-US" sz="2800" kern="0" dirty="0" smtClean="0">
                <a:latin typeface="Times New Roman" panose="02020603050405020304" pitchFamily="18" charset="0"/>
                <a:cs typeface="Times New Roman" panose="02020603050405020304" pitchFamily="18" charset="0"/>
                <a:sym typeface="+mn-ea"/>
              </a:rPr>
              <a:t>Can acquire a lock-X on item</a:t>
            </a:r>
            <a:endParaRPr lang="en-US" sz="2800" kern="0" dirty="0" smtClean="0">
              <a:latin typeface="Times New Roman" panose="02020603050405020304" pitchFamily="18" charset="0"/>
              <a:cs typeface="Times New Roman" panose="02020603050405020304" pitchFamily="18" charset="0"/>
            </a:endParaRPr>
          </a:p>
          <a:p>
            <a:pPr marL="1257300" lvl="2" indent="-342900" algn="just">
              <a:spcBef>
                <a:spcPct val="20000"/>
              </a:spcBef>
              <a:buFont typeface="Wingdings" panose="05000000000000000000" pitchFamily="2" charset="2"/>
              <a:buChar char="ü"/>
              <a:defRPr/>
            </a:pPr>
            <a:r>
              <a:rPr lang="en-US" sz="2800" kern="0" dirty="0" smtClean="0">
                <a:latin typeface="Times New Roman" panose="02020603050405020304" pitchFamily="18" charset="0"/>
                <a:cs typeface="Times New Roman" panose="02020603050405020304" pitchFamily="18" charset="0"/>
                <a:sym typeface="+mn-ea"/>
              </a:rPr>
              <a:t>Can convert a lock-S to a lock-X (upgrade)</a:t>
            </a:r>
            <a:endParaRPr lang="en-US" sz="2800"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pitchFamily="2" charset="2"/>
              <a:buChar char="Ø"/>
              <a:defRPr/>
            </a:pPr>
            <a:r>
              <a:rPr lang="en-US" sz="2800" kern="0" dirty="0" smtClean="0">
                <a:latin typeface="Times New Roman" panose="02020603050405020304" pitchFamily="18" charset="0"/>
                <a:cs typeface="Times New Roman" panose="02020603050405020304" pitchFamily="18" charset="0"/>
                <a:sym typeface="+mn-ea"/>
              </a:rPr>
              <a:t>Second Phase:</a:t>
            </a:r>
            <a:endParaRPr lang="en-US" sz="2800" kern="0" dirty="0" smtClean="0">
              <a:latin typeface="Times New Roman" panose="02020603050405020304" pitchFamily="18" charset="0"/>
              <a:cs typeface="Times New Roman" panose="02020603050405020304" pitchFamily="18" charset="0"/>
            </a:endParaRPr>
          </a:p>
          <a:p>
            <a:pPr marL="1257300" lvl="2" indent="-342900" algn="just">
              <a:spcBef>
                <a:spcPct val="20000"/>
              </a:spcBef>
              <a:buFont typeface="Wingdings" panose="05000000000000000000" pitchFamily="2" charset="2"/>
              <a:buChar char="ü"/>
              <a:defRPr/>
            </a:pPr>
            <a:r>
              <a:rPr lang="en-US" sz="2800" kern="0" dirty="0" smtClean="0">
                <a:latin typeface="Times New Roman" panose="02020603050405020304" pitchFamily="18" charset="0"/>
                <a:cs typeface="Times New Roman" panose="02020603050405020304" pitchFamily="18" charset="0"/>
                <a:sym typeface="+mn-ea"/>
              </a:rPr>
              <a:t>Can release a lock-S</a:t>
            </a:r>
            <a:endParaRPr lang="en-US" sz="2800" kern="0" dirty="0" smtClean="0">
              <a:latin typeface="Times New Roman" panose="02020603050405020304" pitchFamily="18" charset="0"/>
              <a:cs typeface="Times New Roman" panose="02020603050405020304" pitchFamily="18" charset="0"/>
            </a:endParaRPr>
          </a:p>
          <a:p>
            <a:pPr marL="1257300" lvl="2" indent="-342900" algn="just">
              <a:spcBef>
                <a:spcPct val="20000"/>
              </a:spcBef>
              <a:buFont typeface="Wingdings" panose="05000000000000000000" pitchFamily="2" charset="2"/>
              <a:buChar char="ü"/>
              <a:defRPr/>
            </a:pPr>
            <a:r>
              <a:rPr lang="en-US" sz="2800" kern="0" dirty="0" smtClean="0">
                <a:latin typeface="Times New Roman" panose="02020603050405020304" pitchFamily="18" charset="0"/>
                <a:cs typeface="Times New Roman" panose="02020603050405020304" pitchFamily="18" charset="0"/>
                <a:sym typeface="+mn-ea"/>
              </a:rPr>
              <a:t>Can release a lock-X</a:t>
            </a:r>
            <a:endParaRPr lang="en-US" sz="2800" kern="0" dirty="0" smtClean="0">
              <a:latin typeface="Times New Roman" panose="02020603050405020304" pitchFamily="18" charset="0"/>
              <a:cs typeface="Times New Roman" panose="02020603050405020304" pitchFamily="18" charset="0"/>
            </a:endParaRPr>
          </a:p>
          <a:p>
            <a:pPr marL="1257300" lvl="2" indent="-342900" algn="just">
              <a:spcBef>
                <a:spcPct val="20000"/>
              </a:spcBef>
              <a:buFont typeface="Wingdings" panose="05000000000000000000" pitchFamily="2" charset="2"/>
              <a:buChar char="ü"/>
              <a:defRPr/>
            </a:pPr>
            <a:r>
              <a:rPr lang="en-US" sz="2800" kern="0" dirty="0" smtClean="0">
                <a:latin typeface="Times New Roman" panose="02020603050405020304" pitchFamily="18" charset="0"/>
                <a:cs typeface="Times New Roman" panose="02020603050405020304" pitchFamily="18" charset="0"/>
                <a:sym typeface="+mn-ea"/>
              </a:rPr>
              <a:t>Can convert a lock-X to a lock-S (downgrade)</a:t>
            </a:r>
            <a:endParaRPr lang="en-US" sz="2800"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sz="2800" kern="0" dirty="0" smtClean="0">
                <a:latin typeface="Times New Roman" panose="02020603050405020304" pitchFamily="18" charset="0"/>
                <a:cs typeface="Times New Roman" panose="02020603050405020304" pitchFamily="18" charset="0"/>
                <a:sym typeface="+mn-ea"/>
              </a:rPr>
              <a:t>Like the basic two-phase locking protocol, two-phase locking with lock conversion generates only conflict-</a:t>
            </a:r>
            <a:r>
              <a:rPr lang="en-US" sz="2800" kern="0" dirty="0" err="1" smtClean="0">
                <a:latin typeface="Times New Roman" panose="02020603050405020304" pitchFamily="18" charset="0"/>
                <a:cs typeface="Times New Roman" panose="02020603050405020304" pitchFamily="18" charset="0"/>
                <a:sym typeface="+mn-ea"/>
              </a:rPr>
              <a:t>serializable</a:t>
            </a:r>
            <a:r>
              <a:rPr lang="en-US" sz="2800" kern="0" dirty="0" smtClean="0">
                <a:latin typeface="Times New Roman" panose="02020603050405020304" pitchFamily="18" charset="0"/>
                <a:cs typeface="Times New Roman" panose="02020603050405020304" pitchFamily="18" charset="0"/>
                <a:sym typeface="+mn-ea"/>
              </a:rPr>
              <a:t> schedules and transactions can be serialized by their lock points.</a:t>
            </a:r>
            <a:endParaRPr lang="en-US" sz="2800"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sz="2800" kern="0" dirty="0" smtClean="0">
                <a:latin typeface="Times New Roman" panose="02020603050405020304" pitchFamily="18" charset="0"/>
                <a:cs typeface="Times New Roman" panose="02020603050405020304" pitchFamily="18" charset="0"/>
                <a:sym typeface="+mn-ea"/>
              </a:rPr>
              <a:t>If the exclusive locks are held until the end of the transaction, then the schedules became cascade-less.</a:t>
            </a:r>
            <a:endParaRPr lang="en-US" sz="2800"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sz="2800" kern="0" dirty="0" smtClean="0">
              <a:latin typeface="Times New Roman" panose="02020603050405020304" pitchFamily="18" charset="0"/>
              <a:cs typeface="Times New Roman" panose="02020603050405020304" pitchFamily="18" charset="0"/>
            </a:endParaRPr>
          </a:p>
          <a:p>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Timestamp Method</a:t>
            </a:r>
            <a:endParaRPr lang="en-US"/>
          </a:p>
        </p:txBody>
      </p:sp>
      <p:sp>
        <p:nvSpPr>
          <p:cNvPr id="4" name="Content Placeholder 2"/>
          <p:cNvSpPr txBox="1"/>
          <p:nvPr/>
        </p:nvSpPr>
        <p:spPr bwMode="auto">
          <a:xfrm>
            <a:off x="1298866" y="1397456"/>
            <a:ext cx="7858180" cy="5204342"/>
          </a:xfrm>
          <a:prstGeom prst="rect">
            <a:avLst/>
          </a:prstGeom>
          <a:noFill/>
          <a:ln w="9525">
            <a:noFill/>
            <a:miter lim="800000"/>
          </a:ln>
        </p:spPr>
        <p:txBody>
          <a:bodyPr/>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rPr>
              <a:t>A timestamp is atag that can be attached to any transaction or any data item,which denotes specific time or which the transaction or data item had been activated in any way.</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rPr>
              <a:t>Methods to Implement Time stamp:</a:t>
            </a:r>
            <a:endParaRPr lang="en-US" kern="0" dirty="0" smtClean="0">
              <a:latin typeface="Times New Roman" panose="02020603050405020304" pitchFamily="18" charset="0"/>
              <a:cs typeface="Times New Roman" panose="02020603050405020304" pitchFamily="18" charset="0"/>
            </a:endParaRPr>
          </a:p>
          <a:p>
            <a:pPr marL="1257300" lvl="2" indent="-342900" algn="just">
              <a:spcBef>
                <a:spcPct val="20000"/>
              </a:spcBef>
              <a:buFont typeface="Wingdings" panose="05000000000000000000" pitchFamily="2" charset="2"/>
              <a:buAutoNum type="arabicPeriod"/>
              <a:defRPr/>
            </a:pPr>
            <a:r>
              <a:rPr lang="en-US" kern="0" dirty="0" smtClean="0">
                <a:latin typeface="Times New Roman" panose="02020603050405020304" pitchFamily="18" charset="0"/>
                <a:cs typeface="Times New Roman" panose="02020603050405020304" pitchFamily="18" charset="0"/>
              </a:rPr>
              <a:t>System Clock as timestamp</a:t>
            </a:r>
            <a:endParaRPr lang="en-US" kern="0" dirty="0" smtClean="0">
              <a:latin typeface="Times New Roman" panose="02020603050405020304" pitchFamily="18" charset="0"/>
              <a:cs typeface="Times New Roman" panose="02020603050405020304" pitchFamily="18" charset="0"/>
            </a:endParaRPr>
          </a:p>
          <a:p>
            <a:pPr marL="1257300" lvl="2" indent="-342900" algn="just">
              <a:spcBef>
                <a:spcPct val="20000"/>
              </a:spcBef>
              <a:buFont typeface="Wingdings" panose="05000000000000000000" pitchFamily="2" charset="2"/>
              <a:buAutoNum type="arabicPeriod"/>
              <a:defRPr/>
            </a:pPr>
            <a:r>
              <a:rPr lang="en-US" kern="0" dirty="0" smtClean="0">
                <a:latin typeface="Times New Roman" panose="02020603050405020304" pitchFamily="18" charset="0"/>
                <a:cs typeface="Times New Roman" panose="02020603050405020304" pitchFamily="18" charset="0"/>
              </a:rPr>
              <a:t>Logical counter that is incremented after a new timestamp has been assigned.</a:t>
            </a:r>
            <a:endParaRPr lang="en-US" kern="0" dirty="0" smtClean="0">
              <a:latin typeface="Times New Roman" panose="02020603050405020304" pitchFamily="18" charset="0"/>
              <a:cs typeface="Times New Roman" panose="02020603050405020304" pitchFamily="18" charset="0"/>
            </a:endParaRPr>
          </a:p>
          <a:p>
            <a:pPr lvl="2" indent="0" algn="just">
              <a:spcBef>
                <a:spcPct val="20000"/>
              </a:spcBef>
              <a:buFont typeface="Wingdings" panose="05000000000000000000" pitchFamily="2" charset="2"/>
              <a:buNone/>
              <a:defRPr/>
            </a:pPr>
            <a:endParaRPr lang="en-US" kern="0" dirty="0" smtClean="0">
              <a:latin typeface="Times New Roman" panose="02020603050405020304" pitchFamily="18" charset="0"/>
              <a:cs typeface="Times New Roman" panose="02020603050405020304" pitchFamily="18" charset="0"/>
            </a:endParaRPr>
          </a:p>
          <a:p>
            <a:pPr lvl="2" indent="0" algn="just">
              <a:spcBef>
                <a:spcPct val="20000"/>
              </a:spcBef>
              <a:buFont typeface="Wingdings" panose="05000000000000000000" pitchFamily="2" charset="2"/>
              <a:buNone/>
              <a:defRPr/>
            </a:pPr>
            <a:endParaRPr lang="en-US" kern="0" dirty="0" smtClean="0">
              <a:latin typeface="Times New Roman" panose="02020603050405020304" pitchFamily="18" charset="0"/>
              <a:cs typeface="Times New Roman" panose="02020603050405020304" pitchFamily="18" charset="0"/>
            </a:endParaRPr>
          </a:p>
          <a:p>
            <a:pPr lvl="2" indent="0" algn="just">
              <a:spcBef>
                <a:spcPct val="20000"/>
              </a:spcBef>
              <a:buFont typeface="Wingdings" panose="05000000000000000000" pitchFamily="2" charset="2"/>
              <a:buNone/>
              <a:defRPr/>
            </a:pPr>
            <a:endParaRPr lang="en-US"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pitchFamily="2" charset="2"/>
              <a:buChar char="ü"/>
              <a:defRPr/>
            </a:pP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p:txBody>
      </p:sp>
      <p:graphicFrame>
        <p:nvGraphicFramePr>
          <p:cNvPr id="5" name="Table 4"/>
          <p:cNvGraphicFramePr/>
          <p:nvPr/>
        </p:nvGraphicFramePr>
        <p:xfrm>
          <a:off x="1885315" y="3689985"/>
          <a:ext cx="6399530" cy="2190115"/>
        </p:xfrm>
        <a:graphic>
          <a:graphicData uri="http://schemas.openxmlformats.org/drawingml/2006/table">
            <a:tbl>
              <a:tblPr firstRow="1" bandRow="1">
                <a:tableStyleId>{5C22544A-7EE6-4342-B048-85BDC9FD1C3A}</a:tableStyleId>
              </a:tblPr>
              <a:tblGrid>
                <a:gridCol w="2151443"/>
                <a:gridCol w="2151442"/>
                <a:gridCol w="2096645"/>
              </a:tblGrid>
              <a:tr h="531495">
                <a:tc>
                  <a:txBody>
                    <a:bodyPr/>
                    <a:p>
                      <a:pPr>
                        <a:buNone/>
                      </a:pPr>
                      <a:r>
                        <a:rPr lang="en-US"/>
                        <a:t>Transaction</a:t>
                      </a:r>
                      <a:endParaRPr lang="en-US"/>
                    </a:p>
                  </a:txBody>
                  <a:tcPr/>
                </a:tc>
                <a:tc>
                  <a:txBody>
                    <a:bodyPr/>
                    <a:p>
                      <a:pPr>
                        <a:buNone/>
                      </a:pPr>
                      <a:r>
                        <a:rPr lang="en-US"/>
                        <a:t>time  by system clock</a:t>
                      </a:r>
                      <a:endParaRPr lang="en-US"/>
                    </a:p>
                  </a:txBody>
                  <a:tcPr/>
                </a:tc>
                <a:tc>
                  <a:txBody>
                    <a:bodyPr/>
                    <a:p>
                      <a:pPr>
                        <a:buNone/>
                      </a:pPr>
                      <a:r>
                        <a:rPr lang="en-US"/>
                        <a:t>Time Stamp</a:t>
                      </a:r>
                      <a:endParaRPr lang="en-US"/>
                    </a:p>
                  </a:txBody>
                  <a:tcPr/>
                </a:tc>
              </a:tr>
              <a:tr h="378460">
                <a:tc>
                  <a:txBody>
                    <a:bodyPr/>
                    <a:p>
                      <a:pPr>
                        <a:buNone/>
                      </a:pPr>
                      <a:r>
                        <a:rPr lang="en-US"/>
                        <a:t>T1</a:t>
                      </a:r>
                      <a:endParaRPr lang="en-US"/>
                    </a:p>
                  </a:txBody>
                  <a:tcPr/>
                </a:tc>
                <a:tc>
                  <a:txBody>
                    <a:bodyPr/>
                    <a:p>
                      <a:pPr>
                        <a:buNone/>
                      </a:pPr>
                      <a:r>
                        <a:rPr lang="en-US"/>
                        <a:t>9.00 a.m</a:t>
                      </a:r>
                      <a:endParaRPr lang="en-US"/>
                    </a:p>
                  </a:txBody>
                  <a:tcPr/>
                </a:tc>
                <a:tc>
                  <a:txBody>
                    <a:bodyPr/>
                    <a:p>
                      <a:pPr>
                        <a:buNone/>
                      </a:pPr>
                      <a:r>
                        <a:rPr lang="en-US"/>
                        <a:t>Ts(1)</a:t>
                      </a:r>
                      <a:endParaRPr lang="en-US"/>
                    </a:p>
                  </a:txBody>
                  <a:tcPr/>
                </a:tc>
              </a:tr>
              <a:tr h="640080">
                <a:tc>
                  <a:txBody>
                    <a:bodyPr/>
                    <a:p>
                      <a:pPr>
                        <a:buNone/>
                      </a:pPr>
                      <a:r>
                        <a:rPr lang="en-US"/>
                        <a:t>.</a:t>
                      </a:r>
                      <a:endParaRPr lang="en-US"/>
                    </a:p>
                    <a:p>
                      <a:pPr>
                        <a:buNone/>
                      </a:pPr>
                      <a:r>
                        <a:rPr lang="en-US"/>
                        <a:t>.</a:t>
                      </a:r>
                      <a:endParaRPr lang="en-US"/>
                    </a:p>
                  </a:txBody>
                  <a:tcPr/>
                </a:tc>
                <a:tc>
                  <a:txBody>
                    <a:bodyPr/>
                    <a:p>
                      <a:pPr>
                        <a:buNone/>
                      </a:pPr>
                      <a:endParaRPr lang="en-US"/>
                    </a:p>
                  </a:txBody>
                  <a:tcPr/>
                </a:tc>
                <a:tc>
                  <a:txBody>
                    <a:bodyPr/>
                    <a:p>
                      <a:pPr>
                        <a:buNone/>
                      </a:pPr>
                      <a:r>
                        <a:rPr lang="en-US"/>
                        <a:t>.</a:t>
                      </a:r>
                      <a:endParaRPr lang="en-US"/>
                    </a:p>
                    <a:p>
                      <a:pPr>
                        <a:buNone/>
                      </a:pPr>
                      <a:r>
                        <a:rPr lang="en-US"/>
                        <a:t>.</a:t>
                      </a:r>
                      <a:endParaRPr lang="en-US"/>
                    </a:p>
                  </a:txBody>
                  <a:tcPr/>
                </a:tc>
              </a:tr>
              <a:tr h="531495">
                <a:tc>
                  <a:txBody>
                    <a:bodyPr/>
                    <a:p>
                      <a:pPr>
                        <a:buNone/>
                      </a:pPr>
                      <a:r>
                        <a:rPr lang="en-US"/>
                        <a:t>T2</a:t>
                      </a:r>
                      <a:endParaRPr lang="en-US"/>
                    </a:p>
                  </a:txBody>
                  <a:tcPr/>
                </a:tc>
                <a:tc>
                  <a:txBody>
                    <a:bodyPr/>
                    <a:p>
                      <a:pPr>
                        <a:buNone/>
                      </a:pPr>
                      <a:r>
                        <a:rPr lang="en-US"/>
                        <a:t>9.05 a.m</a:t>
                      </a:r>
                      <a:endParaRPr lang="en-US"/>
                    </a:p>
                  </a:txBody>
                  <a:tcPr/>
                </a:tc>
                <a:tc>
                  <a:txBody>
                    <a:bodyPr/>
                    <a:p>
                      <a:pPr>
                        <a:buNone/>
                      </a:pPr>
                      <a:r>
                        <a:rPr lang="en-US"/>
                        <a:t>Ts(2)</a:t>
                      </a:r>
                      <a:endParaRPr lang="en-US"/>
                    </a:p>
                  </a:txBody>
                  <a:tcPr/>
                </a:tc>
              </a:tr>
            </a:tbl>
          </a:graphicData>
        </a:graphic>
      </p:graphicFrame>
      <p:sp>
        <p:nvSpPr>
          <p:cNvPr id="6" name="Text Box 5"/>
          <p:cNvSpPr txBox="1"/>
          <p:nvPr/>
        </p:nvSpPr>
        <p:spPr>
          <a:xfrm>
            <a:off x="1811655" y="5841365"/>
            <a:ext cx="7018020" cy="368300"/>
          </a:xfrm>
          <a:prstGeom prst="rect">
            <a:avLst/>
          </a:prstGeom>
          <a:noFill/>
        </p:spPr>
        <p:txBody>
          <a:bodyPr wrap="square" rtlCol="0">
            <a:spAutoFit/>
          </a:bodyPr>
          <a:p>
            <a:r>
              <a:rPr lang="en-US"/>
              <a:t>so Ts(1) &lt; Ts(2)</a:t>
            </a:r>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Timestamp Method</a:t>
            </a:r>
            <a:endParaRPr lang="en-US"/>
          </a:p>
        </p:txBody>
      </p:sp>
      <p:sp>
        <p:nvSpPr>
          <p:cNvPr id="3" name="Content Placeholder 2"/>
          <p:cNvSpPr>
            <a:spLocks noGrp="1"/>
          </p:cNvSpPr>
          <p:nvPr>
            <p:ph idx="1"/>
          </p:nvPr>
        </p:nvSpPr>
        <p:spPr/>
        <p:txBody>
          <a:bodyPr>
            <a:normAutofit lnSpcReduction="10000"/>
          </a:bodyPr>
          <a:p>
            <a:pPr marL="342900" indent="-342900" algn="just">
              <a:spcBef>
                <a:spcPct val="20000"/>
              </a:spcBef>
              <a:buFont typeface="Wingdings" panose="05000000000000000000" pitchFamily="2" charset="2"/>
              <a:buChar char="Ø"/>
              <a:defRPr/>
            </a:pPr>
            <a:r>
              <a:rPr lang="en-US" sz="2800" kern="0" dirty="0" smtClean="0">
                <a:latin typeface="Times New Roman" panose="02020603050405020304" pitchFamily="18" charset="0"/>
                <a:cs typeface="Times New Roman" panose="02020603050405020304" pitchFamily="18" charset="0"/>
                <a:sym typeface="+mn-ea"/>
              </a:rPr>
              <a:t>Timestamp TS (Ti ) is assigned by the database system before the transaction Ti  starts its execution.</a:t>
            </a:r>
            <a:endParaRPr lang="en-US" sz="2800"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sz="2800" kern="0" dirty="0" smtClean="0">
                <a:latin typeface="Times New Roman" panose="02020603050405020304" pitchFamily="18" charset="0"/>
                <a:cs typeface="Times New Roman" panose="02020603050405020304" pitchFamily="18" charset="0"/>
                <a:sym typeface="+mn-ea"/>
              </a:rPr>
              <a:t>The timestamps of the transactions determine the serializability order. Thus, if TS(Ti ) &lt; TS(</a:t>
            </a:r>
            <a:r>
              <a:rPr lang="en-US" sz="2800" kern="0" dirty="0" err="1" smtClean="0">
                <a:latin typeface="Times New Roman" panose="02020603050405020304" pitchFamily="18" charset="0"/>
                <a:cs typeface="Times New Roman" panose="02020603050405020304" pitchFamily="18" charset="0"/>
                <a:sym typeface="+mn-ea"/>
              </a:rPr>
              <a:t>Tj</a:t>
            </a:r>
            <a:r>
              <a:rPr lang="en-US" sz="2800" kern="0" dirty="0" smtClean="0">
                <a:latin typeface="Times New Roman" panose="02020603050405020304" pitchFamily="18" charset="0"/>
                <a:cs typeface="Times New Roman" panose="02020603050405020304" pitchFamily="18" charset="0"/>
                <a:sym typeface="+mn-ea"/>
              </a:rPr>
              <a:t> ), then the system must ensure that the produced schedule is equivalent to a serial schedule in which Ti  appears before </a:t>
            </a:r>
            <a:r>
              <a:rPr lang="en-US" sz="2800" kern="0" dirty="0" err="1" smtClean="0">
                <a:latin typeface="Times New Roman" panose="02020603050405020304" pitchFamily="18" charset="0"/>
                <a:cs typeface="Times New Roman" panose="02020603050405020304" pitchFamily="18" charset="0"/>
                <a:sym typeface="+mn-ea"/>
              </a:rPr>
              <a:t>Tj</a:t>
            </a:r>
            <a:r>
              <a:rPr lang="en-US" sz="2800" kern="0" dirty="0" smtClean="0">
                <a:latin typeface="Times New Roman" panose="02020603050405020304" pitchFamily="18" charset="0"/>
                <a:cs typeface="Times New Roman" panose="02020603050405020304" pitchFamily="18" charset="0"/>
                <a:sym typeface="+mn-ea"/>
              </a:rPr>
              <a:t>.</a:t>
            </a:r>
            <a:endParaRPr lang="en-US" sz="2800"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sz="2800" kern="0" dirty="0" smtClean="0">
                <a:latin typeface="Times New Roman" panose="02020603050405020304" pitchFamily="18" charset="0"/>
                <a:cs typeface="Times New Roman" panose="02020603050405020304" pitchFamily="18" charset="0"/>
                <a:sym typeface="+mn-ea"/>
              </a:rPr>
              <a:t>There are two timestamp values associated with each data item Q:</a:t>
            </a:r>
            <a:endParaRPr lang="en-US" sz="2800"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pitchFamily="2" charset="2"/>
              <a:buChar char="ü"/>
              <a:defRPr/>
            </a:pPr>
            <a:r>
              <a:rPr lang="en-US" sz="2800" b="1" kern="0" dirty="0" smtClean="0">
                <a:latin typeface="Times New Roman" panose="02020603050405020304" pitchFamily="18" charset="0"/>
                <a:cs typeface="Times New Roman" panose="02020603050405020304" pitchFamily="18" charset="0"/>
                <a:sym typeface="+mn-ea"/>
              </a:rPr>
              <a:t>W-Timestamp(Q)</a:t>
            </a:r>
            <a:r>
              <a:rPr lang="en-US" sz="2800" kern="0" dirty="0" smtClean="0">
                <a:latin typeface="Times New Roman" panose="02020603050405020304" pitchFamily="18" charset="0"/>
                <a:cs typeface="Times New Roman" panose="02020603050405020304" pitchFamily="18" charset="0"/>
                <a:sym typeface="+mn-ea"/>
              </a:rPr>
              <a:t>: It denotes the largest timestamp of any transaction that executed write(Q) operation successfully</a:t>
            </a:r>
            <a:endParaRPr lang="en-US" sz="2800"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pitchFamily="2" charset="2"/>
              <a:buChar char="ü"/>
              <a:defRPr/>
            </a:pPr>
            <a:r>
              <a:rPr lang="en-US" sz="2800" b="1" kern="0" dirty="0" smtClean="0">
                <a:latin typeface="Times New Roman" panose="02020603050405020304" pitchFamily="18" charset="0"/>
                <a:cs typeface="Times New Roman" panose="02020603050405020304" pitchFamily="18" charset="0"/>
                <a:sym typeface="+mn-ea"/>
              </a:rPr>
              <a:t>R-Timestamp(Q):</a:t>
            </a:r>
            <a:r>
              <a:rPr lang="en-US" sz="2800" kern="0" dirty="0" smtClean="0">
                <a:latin typeface="Times New Roman" panose="02020603050405020304" pitchFamily="18" charset="0"/>
                <a:cs typeface="Times New Roman" panose="02020603050405020304" pitchFamily="18" charset="0"/>
                <a:sym typeface="+mn-ea"/>
              </a:rPr>
              <a:t> It denotes the largest timestamp of any transaction that executed read(Q) operation successfully</a:t>
            </a:r>
            <a:endParaRPr lang="en-US" sz="2800"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pitchFamily="2" charset="2"/>
              <a:buChar char="ü"/>
              <a:defRPr/>
            </a:pPr>
            <a:endParaRPr lang="en-US" sz="2800"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sz="2800" kern="0" dirty="0" smtClean="0">
              <a:latin typeface="Times New Roman" panose="02020603050405020304" pitchFamily="18" charset="0"/>
              <a:cs typeface="Times New Roman" panose="02020603050405020304" pitchFamily="18" charset="0"/>
            </a:endParaRPr>
          </a:p>
          <a:p>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Timestamp Ordering Protocols</a:t>
            </a:r>
            <a:endParaRPr lang="en-US"/>
          </a:p>
        </p:txBody>
      </p:sp>
      <p:sp>
        <p:nvSpPr>
          <p:cNvPr id="4" name="Content Placeholder 2"/>
          <p:cNvSpPr txBox="1"/>
          <p:nvPr/>
        </p:nvSpPr>
        <p:spPr bwMode="auto">
          <a:xfrm>
            <a:off x="785495" y="1691005"/>
            <a:ext cx="11057890" cy="5360670"/>
          </a:xfrm>
          <a:prstGeom prst="rect">
            <a:avLst/>
          </a:prstGeom>
          <a:noFill/>
          <a:ln w="9525">
            <a:noFill/>
            <a:miter lim="800000"/>
          </a:ln>
        </p:spPr>
        <p:txBody>
          <a:bodyPr/>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rPr>
              <a:t>This ensures that any conflicting read and write operations are executed in timestamp order</a:t>
            </a:r>
            <a:endParaRPr lang="en-US"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pitchFamily="2" charset="2"/>
              <a:buChar char="Ø"/>
              <a:defRPr/>
            </a:pPr>
            <a:r>
              <a:rPr lang="en-US" b="1" i="1" kern="0" dirty="0" smtClean="0">
                <a:latin typeface="Times New Roman" panose="02020603050405020304" pitchFamily="18" charset="0"/>
                <a:cs typeface="Times New Roman" panose="02020603050405020304" pitchFamily="18" charset="0"/>
              </a:rPr>
              <a:t>Suppose transaction Ti  issues read(Q):</a:t>
            </a:r>
            <a:endParaRPr lang="en-US" b="1" i="1" kern="0" dirty="0" smtClean="0">
              <a:latin typeface="Times New Roman" panose="02020603050405020304" pitchFamily="18" charset="0"/>
              <a:cs typeface="Times New Roman" panose="02020603050405020304" pitchFamily="18" charset="0"/>
            </a:endParaRPr>
          </a:p>
          <a:p>
            <a:pPr marL="1257300" lvl="2" indent="-342900" algn="just">
              <a:spcBef>
                <a:spcPct val="20000"/>
              </a:spcBef>
              <a:buFont typeface="Wingdings" panose="05000000000000000000" pitchFamily="2" charset="2"/>
              <a:buChar char="ü"/>
              <a:defRPr/>
            </a:pPr>
            <a:r>
              <a:rPr lang="en-US" kern="0" dirty="0" smtClean="0">
                <a:latin typeface="Times New Roman" panose="02020603050405020304" pitchFamily="18" charset="0"/>
                <a:cs typeface="Times New Roman" panose="02020603050405020304" pitchFamily="18" charset="0"/>
              </a:rPr>
              <a:t>If TS(Ti ) &lt; W-TS(Q), then Ti  needs to read a value of Q that was already overwritten. Hence, the read operation is rejected and Ti  is rolled back.</a:t>
            </a:r>
            <a:endParaRPr lang="en-US" kern="0" dirty="0" smtClean="0">
              <a:latin typeface="Times New Roman" panose="02020603050405020304" pitchFamily="18" charset="0"/>
              <a:cs typeface="Times New Roman" panose="02020603050405020304" pitchFamily="18" charset="0"/>
            </a:endParaRPr>
          </a:p>
          <a:p>
            <a:pPr marL="1257300" lvl="2" indent="-342900" algn="just">
              <a:spcBef>
                <a:spcPct val="20000"/>
              </a:spcBef>
              <a:buFont typeface="Wingdings" panose="05000000000000000000" pitchFamily="2" charset="2"/>
              <a:buChar char="ü"/>
              <a:defRPr/>
            </a:pPr>
            <a:r>
              <a:rPr lang="en-US" kern="0" dirty="0" smtClean="0">
                <a:latin typeface="Times New Roman" panose="02020603050405020304" pitchFamily="18" charset="0"/>
                <a:cs typeface="Times New Roman" panose="02020603050405020304" pitchFamily="18" charset="0"/>
              </a:rPr>
              <a:t>If TS(Ti ) ≥ W-TS(Q), then the read operation is executed, and R-TS(Q) is set to maximum of R-TS(Q) and TS(Ti ).</a:t>
            </a:r>
            <a:endParaRPr lang="en-US"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pitchFamily="2" charset="2"/>
              <a:buChar char="Ø"/>
              <a:defRPr/>
            </a:pPr>
            <a:r>
              <a:rPr lang="en-US" b="1" i="1" kern="0" dirty="0" smtClean="0">
                <a:latin typeface="Times New Roman" panose="02020603050405020304" pitchFamily="18" charset="0"/>
                <a:cs typeface="Times New Roman" panose="02020603050405020304" pitchFamily="18" charset="0"/>
              </a:rPr>
              <a:t>Suppose transaction Ti  issues write(Q):</a:t>
            </a:r>
            <a:endParaRPr lang="en-US" b="1" i="1" kern="0" dirty="0" smtClean="0">
              <a:latin typeface="Times New Roman" panose="02020603050405020304" pitchFamily="18" charset="0"/>
              <a:cs typeface="Times New Roman" panose="02020603050405020304" pitchFamily="18" charset="0"/>
            </a:endParaRPr>
          </a:p>
          <a:p>
            <a:pPr marL="1257300" lvl="2" indent="-342900" algn="just">
              <a:spcBef>
                <a:spcPct val="20000"/>
              </a:spcBef>
              <a:buFont typeface="Wingdings" panose="05000000000000000000" pitchFamily="2" charset="2"/>
              <a:buChar char="ü"/>
              <a:defRPr/>
            </a:pPr>
            <a:r>
              <a:rPr lang="en-US" kern="0" dirty="0" smtClean="0">
                <a:latin typeface="Times New Roman" panose="02020603050405020304" pitchFamily="18" charset="0"/>
                <a:cs typeface="Times New Roman" panose="02020603050405020304" pitchFamily="18" charset="0"/>
              </a:rPr>
              <a:t>If TS(Ti ) &lt; R-TS(Q), then the value of Q that Ti  is producing was needed previously, and the system assumed that the value would never be produced. Hence, the system rejects the write operation and rolls Ti  back.</a:t>
            </a:r>
            <a:endParaRPr lang="en-US" kern="0" dirty="0" smtClean="0">
              <a:latin typeface="Times New Roman" panose="02020603050405020304" pitchFamily="18" charset="0"/>
              <a:cs typeface="Times New Roman" panose="02020603050405020304" pitchFamily="18" charset="0"/>
            </a:endParaRPr>
          </a:p>
          <a:p>
            <a:pPr marL="1257300" lvl="2" indent="-342900" algn="just">
              <a:spcBef>
                <a:spcPct val="20000"/>
              </a:spcBef>
              <a:buFont typeface="Wingdings" panose="05000000000000000000" pitchFamily="2" charset="2"/>
              <a:buChar char="ü"/>
              <a:defRPr/>
            </a:pPr>
            <a:r>
              <a:rPr lang="en-US" kern="0" dirty="0" smtClean="0">
                <a:latin typeface="Times New Roman" panose="02020603050405020304" pitchFamily="18" charset="0"/>
                <a:cs typeface="Times New Roman" panose="02020603050405020304" pitchFamily="18" charset="0"/>
              </a:rPr>
              <a:t>If TS(Ti ) &lt; W-TS(Q), then Ti  is attempting to write an obsolete value of Q. Hence, the system rejects this write operation and rolls Ti  back.</a:t>
            </a:r>
            <a:endParaRPr lang="en-US" kern="0" dirty="0" smtClean="0">
              <a:latin typeface="Times New Roman" panose="02020603050405020304" pitchFamily="18" charset="0"/>
              <a:cs typeface="Times New Roman" panose="02020603050405020304" pitchFamily="18" charset="0"/>
            </a:endParaRPr>
          </a:p>
          <a:p>
            <a:pPr marL="1257300" lvl="2" indent="-342900" algn="just">
              <a:spcBef>
                <a:spcPct val="20000"/>
              </a:spcBef>
              <a:buFont typeface="Wingdings" panose="05000000000000000000" pitchFamily="2" charset="2"/>
              <a:buChar char="ü"/>
              <a:defRPr/>
            </a:pPr>
            <a:r>
              <a:rPr lang="en-US" kern="0" dirty="0" smtClean="0">
                <a:latin typeface="Times New Roman" panose="02020603050405020304" pitchFamily="18" charset="0"/>
                <a:cs typeface="Times New Roman" panose="02020603050405020304" pitchFamily="18" charset="0"/>
              </a:rPr>
              <a:t>Otherwise, the system executes the write operation and sets W-TS (Q) to TS (Ti ).</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Timestamp Ordering Protocols…</a:t>
            </a:r>
            <a:endParaRPr lang="en-US"/>
          </a:p>
        </p:txBody>
      </p:sp>
      <p:sp>
        <p:nvSpPr>
          <p:cNvPr id="3" name="Content Placeholder 2"/>
          <p:cNvSpPr>
            <a:spLocks noGrp="1"/>
          </p:cNvSpPr>
          <p:nvPr>
            <p:ph idx="1"/>
          </p:nvPr>
        </p:nvSpPr>
        <p:spPr/>
        <p:txBody>
          <a:bodyPr>
            <a:normAutofit lnSpcReduction="10000"/>
          </a:bodyPr>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sym typeface="+mn-ea"/>
              </a:rPr>
              <a:t>From the above examples, we can say that the timestamp ordering protocol always ensures conflict serializability. This is because conflicting operations are processed in timestamp order.</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sym typeface="+mn-ea"/>
              </a:rPr>
              <a:t>The protocol ensures freedom from deadlock, since no transaction ever waits</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sym typeface="+mn-ea"/>
              </a:rPr>
              <a:t>However, there is a possibility of starvation of long transactions if a sequence of conflicting short transactions causes repeated restarting of the long transaction</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sym typeface="+mn-ea"/>
              </a:rPr>
              <a:t>If a transaction is found to be getting restarted repeatedly; conflicting transactions need to be temporarily blocked to enable the transaction to finish</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a:p>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Timestamp Ordering Protocols</a:t>
            </a:r>
            <a:endParaRPr lang="en-US"/>
          </a:p>
        </p:txBody>
      </p:sp>
      <p:pic>
        <p:nvPicPr>
          <p:cNvPr id="4" name="Content Placeholder 1" descr="CamScanner 04-25-2022 10.40_1"/>
          <p:cNvPicPr>
            <a:picLocks noGrp="1" noChangeAspect="1"/>
          </p:cNvPicPr>
          <p:nvPr>
            <p:ph idx="1"/>
          </p:nvPr>
        </p:nvPicPr>
        <p:blipFill>
          <a:blip r:embed="rId1"/>
          <a:stretch>
            <a:fillRect/>
          </a:stretch>
        </p:blipFill>
        <p:spPr>
          <a:xfrm>
            <a:off x="1955165" y="1825625"/>
            <a:ext cx="7061200" cy="4351655"/>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Timestamp Ordering Protocols</a:t>
            </a:r>
            <a:endParaRPr lang="en-US"/>
          </a:p>
        </p:txBody>
      </p:sp>
      <p:pic>
        <p:nvPicPr>
          <p:cNvPr id="4" name="Content Placeholder 1" descr="CamScanner 04-25-2022 10.40_2"/>
          <p:cNvPicPr>
            <a:picLocks noGrp="1" noChangeAspect="1"/>
          </p:cNvPicPr>
          <p:nvPr>
            <p:ph idx="1"/>
          </p:nvPr>
        </p:nvPicPr>
        <p:blipFill>
          <a:blip r:embed="rId1"/>
          <a:stretch>
            <a:fillRect/>
          </a:stretch>
        </p:blipFill>
        <p:spPr>
          <a:xfrm>
            <a:off x="1222375" y="1825625"/>
            <a:ext cx="9212580" cy="4351655"/>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b="1" dirty="0" smtClean="0">
                <a:latin typeface="Times New Roman" panose="02020603050405020304" pitchFamily="18" charset="0"/>
                <a:cs typeface="Times New Roman" panose="02020603050405020304" pitchFamily="18" charset="0"/>
                <a:sym typeface="+mn-ea"/>
              </a:rPr>
              <a:t>Example- Find out Which transaction is doing Rollback</a:t>
            </a:r>
            <a:endParaRPr lang="en-US"/>
          </a:p>
        </p:txBody>
      </p:sp>
      <p:pic>
        <p:nvPicPr>
          <p:cNvPr id="1026" name="Picture 2" descr="C:\Users\KIIT\Desktop\p1.png"/>
          <p:cNvPicPr>
            <a:picLocks noGrp="1" noChangeAspect="1" noChangeArrowheads="1"/>
          </p:cNvPicPr>
          <p:nvPr>
            <p:ph idx="1"/>
          </p:nvPr>
        </p:nvPicPr>
        <p:blipFill>
          <a:blip r:embed="rId1"/>
          <a:srcRect/>
          <a:stretch>
            <a:fillRect/>
          </a:stretch>
        </p:blipFill>
        <p:spPr bwMode="auto">
          <a:xfrm>
            <a:off x="1989455" y="2004060"/>
            <a:ext cx="8213725" cy="3705860"/>
          </a:xfrm>
          <a:prstGeom prst="rect">
            <a:avLst/>
          </a:prstGeom>
          <a:noFill/>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b="1" dirty="0" smtClean="0">
                <a:latin typeface="Times New Roman" panose="02020603050405020304" pitchFamily="18" charset="0"/>
                <a:cs typeface="Times New Roman" panose="02020603050405020304" pitchFamily="18" charset="0"/>
                <a:sym typeface="+mn-ea"/>
              </a:rPr>
              <a:t>Example- Find out Which transaction is doing Rollback</a:t>
            </a:r>
            <a:endParaRPr lang="en-US"/>
          </a:p>
        </p:txBody>
      </p:sp>
      <p:pic>
        <p:nvPicPr>
          <p:cNvPr id="4" name="Content Placeholder 1" descr="t2"/>
          <p:cNvPicPr>
            <a:picLocks noGrp="1" noChangeAspect="1"/>
          </p:cNvPicPr>
          <p:nvPr>
            <p:ph idx="1"/>
          </p:nvPr>
        </p:nvPicPr>
        <p:blipFill>
          <a:blip r:embed="rId1"/>
          <a:stretch>
            <a:fillRect/>
          </a:stretch>
        </p:blipFill>
        <p:spPr>
          <a:xfrm>
            <a:off x="2282190" y="1832610"/>
            <a:ext cx="7992110" cy="4205605"/>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b="1" dirty="0" smtClean="0">
                <a:latin typeface="Times New Roman" panose="02020603050405020304" pitchFamily="18" charset="0"/>
                <a:cs typeface="Times New Roman" panose="02020603050405020304" pitchFamily="18" charset="0"/>
                <a:sym typeface="+mn-ea"/>
              </a:rPr>
              <a:t>Example- Find out Which transaction is doing Rollback</a:t>
            </a:r>
            <a:br>
              <a:rPr lang="en-US" b="1" dirty="0" smtClean="0">
                <a:latin typeface="Times New Roman" panose="02020603050405020304" pitchFamily="18" charset="0"/>
                <a:cs typeface="Times New Roman" panose="02020603050405020304" pitchFamily="18" charset="0"/>
              </a:rPr>
            </a:br>
            <a:endParaRPr lang="en-US"/>
          </a:p>
        </p:txBody>
      </p:sp>
      <p:pic>
        <p:nvPicPr>
          <p:cNvPr id="4" name="Content Placeholder 1" descr="t1"/>
          <p:cNvPicPr>
            <a:picLocks noGrp="1" noChangeAspect="1"/>
          </p:cNvPicPr>
          <p:nvPr>
            <p:ph idx="1"/>
          </p:nvPr>
        </p:nvPicPr>
        <p:blipFill>
          <a:blip r:embed="rId1"/>
          <a:stretch>
            <a:fillRect/>
          </a:stretch>
        </p:blipFill>
        <p:spPr>
          <a:xfrm>
            <a:off x="2060575" y="1691005"/>
            <a:ext cx="8375015" cy="4410710"/>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Timestamp Ordering Protocols…</a:t>
            </a:r>
            <a:endParaRPr lang="en-US"/>
          </a:p>
        </p:txBody>
      </p:sp>
      <p:graphicFrame>
        <p:nvGraphicFramePr>
          <p:cNvPr id="4" name="Table 3"/>
          <p:cNvGraphicFramePr/>
          <p:nvPr/>
        </p:nvGraphicFramePr>
        <p:xfrm>
          <a:off x="1741170" y="2226945"/>
          <a:ext cx="3020060" cy="1463040"/>
        </p:xfrm>
        <a:graphic>
          <a:graphicData uri="http://schemas.openxmlformats.org/drawingml/2006/table">
            <a:tbl>
              <a:tblPr firstRow="1" bandRow="1">
                <a:tableStyleId>{5C22544A-7EE6-4342-B048-85BDC9FD1C3A}</a:tableStyleId>
              </a:tblPr>
              <a:tblGrid>
                <a:gridCol w="1510030"/>
                <a:gridCol w="1510030"/>
              </a:tblGrid>
              <a:tr h="365760">
                <a:tc>
                  <a:txBody>
                    <a:bodyPr/>
                    <a:p>
                      <a:pPr>
                        <a:buNone/>
                      </a:pPr>
                      <a:r>
                        <a:rPr lang="en-US"/>
                        <a:t>T1</a:t>
                      </a:r>
                      <a:endParaRPr lang="en-US"/>
                    </a:p>
                  </a:txBody>
                  <a:tcPr/>
                </a:tc>
                <a:tc>
                  <a:txBody>
                    <a:bodyPr/>
                    <a:p>
                      <a:pPr>
                        <a:buNone/>
                      </a:pPr>
                      <a:r>
                        <a:rPr lang="en-US"/>
                        <a:t>T2</a:t>
                      </a:r>
                      <a:endParaRPr lang="en-US"/>
                    </a:p>
                  </a:txBody>
                  <a:tcPr/>
                </a:tc>
              </a:tr>
              <a:tr h="365760">
                <a:tc>
                  <a:txBody>
                    <a:bodyPr/>
                    <a:p>
                      <a:pPr>
                        <a:buNone/>
                      </a:pPr>
                      <a:r>
                        <a:rPr lang="en-US"/>
                        <a:t>R(A)</a:t>
                      </a:r>
                      <a:endParaRPr lang="en-US"/>
                    </a:p>
                  </a:txBody>
                  <a:tcPr/>
                </a:tc>
                <a:tc>
                  <a:txBody>
                    <a:bodyPr/>
                    <a:p>
                      <a:pPr>
                        <a:buNone/>
                      </a:pPr>
                      <a:endParaRPr lang="en-US"/>
                    </a:p>
                  </a:txBody>
                  <a:tcPr/>
                </a:tc>
              </a:tr>
              <a:tr h="365760">
                <a:tc>
                  <a:txBody>
                    <a:bodyPr/>
                    <a:p>
                      <a:pPr>
                        <a:buNone/>
                      </a:pPr>
                      <a:endParaRPr lang="en-US"/>
                    </a:p>
                  </a:txBody>
                  <a:tcPr/>
                </a:tc>
                <a:tc>
                  <a:txBody>
                    <a:bodyPr/>
                    <a:p>
                      <a:pPr>
                        <a:buNone/>
                      </a:pPr>
                      <a:r>
                        <a:rPr lang="en-US"/>
                        <a:t>W(A)</a:t>
                      </a:r>
                      <a:endParaRPr lang="en-US"/>
                    </a:p>
                  </a:txBody>
                  <a:tcPr/>
                </a:tc>
              </a:tr>
              <a:tr h="365760">
                <a:tc>
                  <a:txBody>
                    <a:bodyPr/>
                    <a:p>
                      <a:pPr>
                        <a:buNone/>
                      </a:pPr>
                      <a:r>
                        <a:rPr lang="en-US"/>
                        <a:t>W(A)</a:t>
                      </a:r>
                      <a:endParaRPr lang="en-US"/>
                    </a:p>
                  </a:txBody>
                  <a:tcPr/>
                </a:tc>
                <a:tc>
                  <a:txBody>
                    <a:bodyPr/>
                    <a:p>
                      <a:pPr>
                        <a:buNone/>
                      </a:pPr>
                      <a:endParaRPr lang="en-US"/>
                    </a:p>
                  </a:txBody>
                  <a:tcPr/>
                </a:tc>
              </a:tr>
            </a:tbl>
          </a:graphicData>
        </a:graphic>
      </p:graphicFrame>
      <p:graphicFrame>
        <p:nvGraphicFramePr>
          <p:cNvPr id="5" name="Content Placeholder 4"/>
          <p:cNvGraphicFramePr>
            <a:graphicFrameLocks noGrp="1"/>
          </p:cNvGraphicFramePr>
          <p:nvPr>
            <p:ph idx="1"/>
          </p:nvPr>
        </p:nvGraphicFramePr>
        <p:xfrm>
          <a:off x="1497331" y="4082415"/>
          <a:ext cx="3172772" cy="1463040"/>
        </p:xfrm>
        <a:graphic>
          <a:graphicData uri="http://schemas.openxmlformats.org/drawingml/2006/table">
            <a:tbl>
              <a:tblPr firstRow="1" bandRow="1">
                <a:tableStyleId>{5C22544A-7EE6-4342-B048-85BDC9FD1C3A}</a:tableStyleId>
              </a:tblPr>
              <a:tblGrid>
                <a:gridCol w="811707"/>
                <a:gridCol w="2361065"/>
              </a:tblGrid>
              <a:tr h="365760">
                <a:tc>
                  <a:txBody>
                    <a:bodyPr/>
                    <a:p>
                      <a:pPr>
                        <a:buNone/>
                      </a:pPr>
                      <a:r>
                        <a:rPr lang="en-US" dirty="0"/>
                        <a:t>T1</a:t>
                      </a:r>
                      <a:endParaRPr lang="en-US" dirty="0"/>
                    </a:p>
                  </a:txBody>
                  <a:tcPr/>
                </a:tc>
                <a:tc>
                  <a:txBody>
                    <a:bodyPr/>
                    <a:p>
                      <a:pPr>
                        <a:buNone/>
                      </a:pPr>
                      <a:r>
                        <a:rPr lang="en-US"/>
                        <a:t>T2</a:t>
                      </a:r>
                      <a:endParaRPr lang="en-US"/>
                    </a:p>
                  </a:txBody>
                  <a:tcPr/>
                </a:tc>
              </a:tr>
              <a:tr h="365760">
                <a:tc>
                  <a:txBody>
                    <a:bodyPr/>
                    <a:p>
                      <a:pPr>
                        <a:buNone/>
                      </a:pPr>
                      <a:r>
                        <a:rPr lang="en-US"/>
                        <a:t>R(A)</a:t>
                      </a:r>
                      <a:endParaRPr lang="en-US"/>
                    </a:p>
                  </a:txBody>
                  <a:tcPr/>
                </a:tc>
                <a:tc>
                  <a:txBody>
                    <a:bodyPr/>
                    <a:p>
                      <a:pPr>
                        <a:buNone/>
                      </a:pPr>
                      <a:endParaRPr lang="en-US" dirty="0"/>
                    </a:p>
                  </a:txBody>
                  <a:tcPr/>
                </a:tc>
              </a:tr>
              <a:tr h="365760">
                <a:tc>
                  <a:txBody>
                    <a:bodyPr/>
                    <a:p>
                      <a:pPr>
                        <a:buNone/>
                      </a:pPr>
                      <a:endParaRPr lang="en-US"/>
                    </a:p>
                  </a:txBody>
                  <a:tcPr/>
                </a:tc>
                <a:tc>
                  <a:txBody>
                    <a:bodyPr/>
                    <a:p>
                      <a:pPr>
                        <a:buNone/>
                      </a:pPr>
                      <a:r>
                        <a:rPr lang="en-US"/>
                        <a:t>R(A)</a:t>
                      </a:r>
                      <a:endParaRPr lang="en-US"/>
                    </a:p>
                  </a:txBody>
                  <a:tcPr/>
                </a:tc>
              </a:tr>
              <a:tr h="365760">
                <a:tc>
                  <a:txBody>
                    <a:bodyPr/>
                    <a:p>
                      <a:pPr>
                        <a:buNone/>
                      </a:pPr>
                      <a:r>
                        <a:rPr lang="en-US"/>
                        <a:t>W(A)</a:t>
                      </a:r>
                      <a:endParaRPr lang="en-US"/>
                    </a:p>
                  </a:txBody>
                  <a:tcPr/>
                </a:tc>
                <a:tc>
                  <a:txBody>
                    <a:bodyPr/>
                    <a:p>
                      <a:pPr>
                        <a:buNone/>
                      </a:pPr>
                      <a:endParaRPr lang="en-US" dirty="0"/>
                    </a:p>
                  </a:txBody>
                  <a:tcPr/>
                </a:tc>
              </a:tr>
            </a:tbl>
          </a:graphicData>
        </a:graphic>
      </p:graphicFrame>
      <p:sp>
        <p:nvSpPr>
          <p:cNvPr id="6" name="Text Box 5"/>
          <p:cNvSpPr txBox="1"/>
          <p:nvPr/>
        </p:nvSpPr>
        <p:spPr>
          <a:xfrm>
            <a:off x="5055870" y="2259330"/>
            <a:ext cx="4614892" cy="1477328"/>
          </a:xfrm>
          <a:prstGeom prst="rect">
            <a:avLst/>
          </a:prstGeom>
          <a:noFill/>
        </p:spPr>
        <p:txBody>
          <a:bodyPr wrap="square" rtlCol="0">
            <a:spAutoFit/>
          </a:bodyPr>
          <a:p>
            <a:r>
              <a:rPr lang="en-US" dirty="0"/>
              <a:t>Here the order is T1 -&gt;T2, so in the above example R(A)-&gt;W(A) is correct . but after that W(A)-&gt; W(A) is not correct because first T1 then T2 will do the work. Reject and </a:t>
            </a:r>
            <a:r>
              <a:rPr lang="en-US" dirty="0" smtClean="0"/>
              <a:t>rollback</a:t>
            </a:r>
            <a:r>
              <a:rPr lang="en-US" dirty="0"/>
              <a:t>.</a:t>
            </a:r>
            <a:endParaRPr 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b="1" dirty="0" smtClean="0">
                <a:latin typeface="Times New Roman" panose="02020603050405020304" pitchFamily="18" charset="0"/>
                <a:cs typeface="Times New Roman" panose="02020603050405020304" pitchFamily="18" charset="0"/>
                <a:sym typeface="+mn-ea"/>
              </a:rPr>
              <a:t>Problems with Timestamp Ordering Protocols…</a:t>
            </a:r>
            <a:endParaRPr lang="en-US"/>
          </a:p>
        </p:txBody>
      </p:sp>
      <p:sp>
        <p:nvSpPr>
          <p:cNvPr id="4" name="Content Placeholder 2"/>
          <p:cNvSpPr txBox="1"/>
          <p:nvPr/>
        </p:nvSpPr>
        <p:spPr bwMode="auto">
          <a:xfrm>
            <a:off x="786130" y="1691005"/>
            <a:ext cx="9686925" cy="5215255"/>
          </a:xfrm>
          <a:prstGeom prst="rect">
            <a:avLst/>
          </a:prstGeom>
          <a:noFill/>
          <a:ln w="9525">
            <a:noFill/>
            <a:miter lim="800000"/>
          </a:ln>
        </p:spPr>
        <p:txBody>
          <a:bodyPr/>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rPr>
              <a:t>Suppose Ti  aborts, but </a:t>
            </a:r>
            <a:r>
              <a:rPr lang="en-US" kern="0" dirty="0" err="1" smtClean="0">
                <a:latin typeface="Times New Roman" panose="02020603050405020304" pitchFamily="18" charset="0"/>
                <a:cs typeface="Times New Roman" panose="02020603050405020304" pitchFamily="18" charset="0"/>
              </a:rPr>
              <a:t>Tj</a:t>
            </a:r>
            <a:r>
              <a:rPr lang="en-US" kern="0" dirty="0" smtClean="0">
                <a:latin typeface="Times New Roman" panose="02020603050405020304" pitchFamily="18" charset="0"/>
                <a:cs typeface="Times New Roman" panose="02020603050405020304" pitchFamily="18" charset="0"/>
              </a:rPr>
              <a:t>  has read a data item written by Ti . Then, </a:t>
            </a:r>
            <a:r>
              <a:rPr lang="en-US" kern="0" dirty="0" err="1" smtClean="0">
                <a:latin typeface="Times New Roman" panose="02020603050405020304" pitchFamily="18" charset="0"/>
                <a:cs typeface="Times New Roman" panose="02020603050405020304" pitchFamily="18" charset="0"/>
              </a:rPr>
              <a:t>Tj</a:t>
            </a:r>
            <a:r>
              <a:rPr lang="en-US" kern="0" dirty="0" smtClean="0">
                <a:latin typeface="Times New Roman" panose="02020603050405020304" pitchFamily="18" charset="0"/>
                <a:cs typeface="Times New Roman" panose="02020603050405020304" pitchFamily="18" charset="0"/>
              </a:rPr>
              <a:t>  must abort; if </a:t>
            </a:r>
            <a:r>
              <a:rPr lang="en-US" kern="0" dirty="0" err="1" smtClean="0">
                <a:latin typeface="Times New Roman" panose="02020603050405020304" pitchFamily="18" charset="0"/>
                <a:cs typeface="Times New Roman" panose="02020603050405020304" pitchFamily="18" charset="0"/>
              </a:rPr>
              <a:t>Tj</a:t>
            </a:r>
            <a:r>
              <a:rPr lang="en-US" kern="0" dirty="0" smtClean="0">
                <a:latin typeface="Times New Roman" panose="02020603050405020304" pitchFamily="18" charset="0"/>
                <a:cs typeface="Times New Roman" panose="02020603050405020304" pitchFamily="18" charset="0"/>
              </a:rPr>
              <a:t>  had been allowed to omit earlier, the schedule is not recoverable. Further, any transaction that has read a data item written by </a:t>
            </a:r>
            <a:r>
              <a:rPr lang="en-US" kern="0" dirty="0" err="1" smtClean="0">
                <a:latin typeface="Times New Roman" panose="02020603050405020304" pitchFamily="18" charset="0"/>
                <a:cs typeface="Times New Roman" panose="02020603050405020304" pitchFamily="18" charset="0"/>
              </a:rPr>
              <a:t>Tj</a:t>
            </a:r>
            <a:r>
              <a:rPr lang="en-US" kern="0" dirty="0" smtClean="0">
                <a:latin typeface="Times New Roman" panose="02020603050405020304" pitchFamily="18" charset="0"/>
                <a:cs typeface="Times New Roman" panose="02020603050405020304" pitchFamily="18" charset="0"/>
              </a:rPr>
              <a:t>  must abort. This can lead to </a:t>
            </a:r>
            <a:r>
              <a:rPr lang="en-US" b="1" kern="0" dirty="0" smtClean="0">
                <a:latin typeface="Times New Roman" panose="02020603050405020304" pitchFamily="18" charset="0"/>
                <a:cs typeface="Times New Roman" panose="02020603050405020304" pitchFamily="18" charset="0"/>
              </a:rPr>
              <a:t>cascading rollback</a:t>
            </a:r>
            <a:r>
              <a:rPr lang="en-US" kern="0" dirty="0" smtClean="0">
                <a:latin typeface="Times New Roman" panose="02020603050405020304" pitchFamily="18" charset="0"/>
                <a:cs typeface="Times New Roman" panose="02020603050405020304" pitchFamily="18" charset="0"/>
              </a:rPr>
              <a:t>; i.e. chain of rollbacks.</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rPr>
              <a:t>The solutions to this type of problem are:</a:t>
            </a:r>
            <a:endParaRPr lang="en-US"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pitchFamily="2" charset="2"/>
              <a:buChar char="ü"/>
              <a:defRPr/>
            </a:pPr>
            <a:r>
              <a:rPr lang="en-US" kern="0" dirty="0" smtClean="0">
                <a:latin typeface="Times New Roman" panose="02020603050405020304" pitchFamily="18" charset="0"/>
                <a:cs typeface="Times New Roman" panose="02020603050405020304" pitchFamily="18" charset="0"/>
              </a:rPr>
              <a:t>A transaction is structured in such a way that its writes are performed at the end of its processing. At the same time, all writes of a transaction form an atomic action; i.e. no transaction may execute while a transaction is being written, or</a:t>
            </a:r>
            <a:endParaRPr lang="en-US"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pitchFamily="2" charset="2"/>
              <a:buChar char="ü"/>
              <a:defRPr/>
            </a:pPr>
            <a:r>
              <a:rPr lang="en-US" kern="0" dirty="0" smtClean="0">
                <a:latin typeface="Times New Roman" panose="02020603050405020304" pitchFamily="18" charset="0"/>
                <a:cs typeface="Times New Roman" panose="02020603050405020304" pitchFamily="18" charset="0"/>
              </a:rPr>
              <a:t>Wait for the data to be committed before reading it.</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Thomas write Rule</a:t>
            </a:r>
            <a:endParaRPr lang="en-US"/>
          </a:p>
        </p:txBody>
      </p:sp>
      <p:sp>
        <p:nvSpPr>
          <p:cNvPr id="3" name="Content Placeholder 2"/>
          <p:cNvSpPr>
            <a:spLocks noGrp="1"/>
          </p:cNvSpPr>
          <p:nvPr>
            <p:ph idx="1"/>
          </p:nvPr>
        </p:nvSpPr>
        <p:spPr/>
        <p:txBody>
          <a:bodyPr>
            <a:normAutofit fontScale="90000" lnSpcReduction="10000"/>
          </a:bodyPr>
          <a:p>
            <a:pPr marL="342900" indent="-342900" algn="just">
              <a:spcBef>
                <a:spcPct val="20000"/>
              </a:spcBef>
              <a:buFont typeface="Wingdings" panose="05000000000000000000" pitchFamily="2" charset="2"/>
              <a:buChar char="Ø"/>
              <a:defRPr/>
            </a:pPr>
            <a:r>
              <a:rPr lang="en-US" sz="2800" kern="0" dirty="0" smtClean="0">
                <a:latin typeface="Times New Roman" panose="02020603050405020304" pitchFamily="18" charset="0"/>
                <a:cs typeface="Times New Roman" panose="02020603050405020304" pitchFamily="18" charset="0"/>
                <a:sym typeface="+mn-ea"/>
              </a:rPr>
              <a:t>Thomas Write Rule provides the guarantee of serializability order for the protocol. It improves the Basic Timestamp Ordering Algorithm.</a:t>
            </a:r>
            <a:endParaRPr lang="en-US" sz="2800"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sz="2800" kern="0" dirty="0" smtClean="0">
                <a:latin typeface="Times New Roman" panose="02020603050405020304" pitchFamily="18" charset="0"/>
                <a:cs typeface="Times New Roman" panose="02020603050405020304" pitchFamily="18" charset="0"/>
                <a:sym typeface="+mn-ea"/>
              </a:rPr>
              <a:t>The basic Thomas write rules are as follows:</a:t>
            </a:r>
            <a:endParaRPr lang="en-US" sz="2800"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mj-lt"/>
              <a:buAutoNum type="arabicPeriod"/>
              <a:defRPr/>
            </a:pPr>
            <a:r>
              <a:rPr lang="en-US" sz="2800" kern="0" dirty="0" smtClean="0">
                <a:latin typeface="Times New Roman" panose="02020603050405020304" pitchFamily="18" charset="0"/>
                <a:cs typeface="Times New Roman" panose="02020603050405020304" pitchFamily="18" charset="0"/>
                <a:sym typeface="+mn-ea"/>
              </a:rPr>
              <a:t>If TS(T) &lt; R_TS(X) then transaction T is aborted and rolled back, and operation is rejected.</a:t>
            </a:r>
            <a:endParaRPr lang="en-US" sz="2800"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mj-lt"/>
              <a:buAutoNum type="arabicPeriod"/>
              <a:defRPr/>
            </a:pPr>
            <a:r>
              <a:rPr lang="en-US" sz="2800" kern="0" dirty="0" err="1" smtClean="0">
                <a:latin typeface="Times New Roman" panose="02020603050405020304" pitchFamily="18" charset="0"/>
                <a:cs typeface="Times New Roman" panose="02020603050405020304" pitchFamily="18" charset="0"/>
                <a:sym typeface="+mn-ea"/>
              </a:rPr>
              <a:t>oIf</a:t>
            </a:r>
            <a:r>
              <a:rPr lang="en-US" sz="2800" kern="0" dirty="0" smtClean="0">
                <a:latin typeface="Times New Roman" panose="02020603050405020304" pitchFamily="18" charset="0"/>
                <a:cs typeface="Times New Roman" panose="02020603050405020304" pitchFamily="18" charset="0"/>
                <a:sym typeface="+mn-ea"/>
              </a:rPr>
              <a:t> TS(T) &lt; W_TS(X) then don't execute the </a:t>
            </a:r>
            <a:r>
              <a:rPr lang="en-US" sz="2800" kern="0" dirty="0" err="1" smtClean="0">
                <a:latin typeface="Times New Roman" panose="02020603050405020304" pitchFamily="18" charset="0"/>
                <a:cs typeface="Times New Roman" panose="02020603050405020304" pitchFamily="18" charset="0"/>
                <a:sym typeface="+mn-ea"/>
              </a:rPr>
              <a:t>W_item</a:t>
            </a:r>
            <a:r>
              <a:rPr lang="en-US" sz="2800" kern="0" dirty="0" smtClean="0">
                <a:latin typeface="Times New Roman" panose="02020603050405020304" pitchFamily="18" charset="0"/>
                <a:cs typeface="Times New Roman" panose="02020603050405020304" pitchFamily="18" charset="0"/>
                <a:sym typeface="+mn-ea"/>
              </a:rPr>
              <a:t>(X) operation of the transaction and continue processing.</a:t>
            </a:r>
            <a:endParaRPr lang="en-US" sz="2800"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mj-lt"/>
              <a:buAutoNum type="arabicPeriod"/>
              <a:defRPr/>
            </a:pPr>
            <a:r>
              <a:rPr lang="en-US" sz="2800" kern="0" dirty="0" smtClean="0">
                <a:latin typeface="Times New Roman" panose="02020603050405020304" pitchFamily="18" charset="0"/>
                <a:cs typeface="Times New Roman" panose="02020603050405020304" pitchFamily="18" charset="0"/>
                <a:sym typeface="+mn-ea"/>
              </a:rPr>
              <a:t>If neither condition 1 nor condition 2 occurs, then allowed to execute the WRITE operation by transaction Ti and set W_TS(X) to TS(T).</a:t>
            </a:r>
            <a:endParaRPr lang="en-US" sz="2800"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sz="2800" kern="0" dirty="0" smtClean="0">
                <a:latin typeface="Times New Roman" panose="02020603050405020304" pitchFamily="18" charset="0"/>
                <a:cs typeface="Times New Roman" panose="02020603050405020304" pitchFamily="18" charset="0"/>
                <a:sym typeface="+mn-ea"/>
              </a:rPr>
              <a:t>If we use the Thomas write rule then some </a:t>
            </a:r>
            <a:r>
              <a:rPr lang="en-US" sz="2800" kern="0" dirty="0" err="1" smtClean="0">
                <a:latin typeface="Times New Roman" panose="02020603050405020304" pitchFamily="18" charset="0"/>
                <a:cs typeface="Times New Roman" panose="02020603050405020304" pitchFamily="18" charset="0"/>
                <a:sym typeface="+mn-ea"/>
              </a:rPr>
              <a:t>serializable</a:t>
            </a:r>
            <a:r>
              <a:rPr lang="en-US" sz="2800" kern="0" dirty="0" smtClean="0">
                <a:latin typeface="Times New Roman" panose="02020603050405020304" pitchFamily="18" charset="0"/>
                <a:cs typeface="Times New Roman" panose="02020603050405020304" pitchFamily="18" charset="0"/>
                <a:sym typeface="+mn-ea"/>
              </a:rPr>
              <a:t> schedule can be permitted that does not conflict </a:t>
            </a:r>
            <a:r>
              <a:rPr lang="en-US" sz="2800" kern="0" dirty="0" err="1" smtClean="0">
                <a:latin typeface="Times New Roman" panose="02020603050405020304" pitchFamily="18" charset="0"/>
                <a:cs typeface="Times New Roman" panose="02020603050405020304" pitchFamily="18" charset="0"/>
                <a:sym typeface="+mn-ea"/>
              </a:rPr>
              <a:t>serializable</a:t>
            </a:r>
            <a:r>
              <a:rPr lang="en-US" sz="2800" kern="0" dirty="0" smtClean="0">
                <a:latin typeface="Times New Roman" panose="02020603050405020304" pitchFamily="18" charset="0"/>
                <a:cs typeface="Times New Roman" panose="02020603050405020304" pitchFamily="18" charset="0"/>
                <a:sym typeface="+mn-ea"/>
              </a:rPr>
              <a:t> as illustrate by the schedule in a given figure:</a:t>
            </a:r>
            <a:endParaRPr lang="en-US" sz="2800" kern="0" dirty="0" smtClean="0">
              <a:latin typeface="Times New Roman" panose="02020603050405020304" pitchFamily="18" charset="0"/>
              <a:cs typeface="Times New Roman" panose="02020603050405020304" pitchFamily="18" charset="0"/>
            </a:endParaRPr>
          </a:p>
          <a:p>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Thomas write Rule</a:t>
            </a:r>
            <a:endParaRPr lang="en-US"/>
          </a:p>
        </p:txBody>
      </p:sp>
      <p:pic>
        <p:nvPicPr>
          <p:cNvPr id="4" name="Content Placeholder 3" descr="IMG_256"/>
          <p:cNvPicPr>
            <a:picLocks noGrp="1" noChangeAspect="1"/>
          </p:cNvPicPr>
          <p:nvPr>
            <p:ph idx="1"/>
          </p:nvPr>
        </p:nvPicPr>
        <p:blipFill>
          <a:blip r:embed="rId1"/>
          <a:stretch>
            <a:fillRect/>
          </a:stretch>
        </p:blipFill>
        <p:spPr>
          <a:xfrm>
            <a:off x="1143000" y="1649730"/>
            <a:ext cx="2876550" cy="1428750"/>
          </a:xfrm>
          <a:prstGeom prst="rect">
            <a:avLst/>
          </a:prstGeom>
          <a:noFill/>
          <a:ln w="9525">
            <a:noFill/>
          </a:ln>
        </p:spPr>
      </p:pic>
      <p:sp>
        <p:nvSpPr>
          <p:cNvPr id="5" name="Text Box 4"/>
          <p:cNvSpPr txBox="1"/>
          <p:nvPr/>
        </p:nvSpPr>
        <p:spPr>
          <a:xfrm>
            <a:off x="1125855" y="3317240"/>
            <a:ext cx="7334885" cy="2306955"/>
          </a:xfrm>
          <a:prstGeom prst="rect">
            <a:avLst/>
          </a:prstGeom>
          <a:noFill/>
        </p:spPr>
        <p:txBody>
          <a:bodyPr wrap="square" rtlCol="0">
            <a:spAutoFit/>
          </a:bodyPr>
          <a:p>
            <a:pPr algn="just"/>
            <a:r>
              <a:rPr lang="en-US"/>
              <a:t>Figure: A Serializable Schedule that is not Conflict Serializable</a:t>
            </a:r>
            <a:endParaRPr lang="en-US"/>
          </a:p>
          <a:p>
            <a:pPr algn="just"/>
            <a:r>
              <a:rPr lang="en-US"/>
              <a:t>In the above figure, T1's read and precedes T1's write of the same data item. This schedule does not conflict serializable.</a:t>
            </a:r>
            <a:endParaRPr lang="en-US"/>
          </a:p>
          <a:p>
            <a:pPr algn="just"/>
            <a:endParaRPr lang="en-US"/>
          </a:p>
          <a:p>
            <a:pPr algn="just"/>
            <a:r>
              <a:rPr lang="en-US"/>
              <a:t>Thomas write rule checks that T2's write is never seen by any transaction. If we delete the write operation in transaction T2, then conflict serializable schedule can be obtained which is shown in below figure.</a:t>
            </a:r>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Thomas write Rule</a:t>
            </a:r>
            <a:endParaRPr lang="en-US"/>
          </a:p>
        </p:txBody>
      </p:sp>
      <p:pic>
        <p:nvPicPr>
          <p:cNvPr id="4" name="Picture 2" descr="IMG_257"/>
          <p:cNvPicPr>
            <a:picLocks noGrp="1" noChangeAspect="1"/>
          </p:cNvPicPr>
          <p:nvPr>
            <p:ph idx="1"/>
          </p:nvPr>
        </p:nvPicPr>
        <p:blipFill>
          <a:blip r:embed="rId1"/>
          <a:stretch>
            <a:fillRect/>
          </a:stretch>
        </p:blipFill>
        <p:spPr>
          <a:xfrm>
            <a:off x="1518920" y="1971675"/>
            <a:ext cx="4277360" cy="1938655"/>
          </a:xfrm>
          <a:prstGeom prst="rect">
            <a:avLst/>
          </a:prstGeom>
          <a:noFill/>
          <a:ln w="9525">
            <a:noFill/>
          </a:ln>
        </p:spPr>
      </p:pic>
      <p:sp>
        <p:nvSpPr>
          <p:cNvPr id="5" name="Text Box 4"/>
          <p:cNvSpPr txBox="1"/>
          <p:nvPr/>
        </p:nvSpPr>
        <p:spPr>
          <a:xfrm>
            <a:off x="993775" y="4074795"/>
            <a:ext cx="7466965" cy="1477328"/>
          </a:xfrm>
          <a:prstGeom prst="rect">
            <a:avLst/>
          </a:prstGeom>
          <a:noFill/>
        </p:spPr>
        <p:txBody>
          <a:bodyPr wrap="square" rtlCol="0">
            <a:spAutoFit/>
          </a:bodyPr>
          <a:p>
            <a:r>
              <a:rPr lang="en-US" dirty="0"/>
              <a:t>Figure: A Conflict </a:t>
            </a:r>
            <a:r>
              <a:rPr lang="en-US" dirty="0" err="1"/>
              <a:t>Serializable</a:t>
            </a:r>
            <a:r>
              <a:rPr lang="en-US" dirty="0"/>
              <a:t> </a:t>
            </a:r>
            <a:r>
              <a:rPr lang="en-US" dirty="0" smtClean="0"/>
              <a:t>Schedule</a:t>
            </a:r>
            <a:endParaRPr lang="en-US" dirty="0" smtClean="0"/>
          </a:p>
          <a:p>
            <a:endParaRPr lang="en-US" dirty="0" smtClean="0"/>
          </a:p>
          <a:p>
            <a:endParaRPr lang="en-US" dirty="0" smtClean="0"/>
          </a:p>
          <a:p>
            <a:endParaRPr lang="en-US" dirty="0" smtClean="0"/>
          </a:p>
          <a:p>
            <a:r>
              <a:rPr lang="en-US" dirty="0" smtClean="0"/>
              <a:t>Link: </a:t>
            </a:r>
            <a:r>
              <a:rPr lang="en-US" dirty="0" smtClean="0"/>
              <a:t>time stamp: https://www.youtube.com/watch?v=h60vaqrXHO8</a:t>
            </a:r>
            <a:endParaRPr 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Recovery System</a:t>
            </a:r>
            <a:endParaRPr lang="en-US"/>
          </a:p>
        </p:txBody>
      </p:sp>
      <p:sp>
        <p:nvSpPr>
          <p:cNvPr id="3" name="Content Placeholder 2"/>
          <p:cNvSpPr>
            <a:spLocks noGrp="1"/>
          </p:cNvSpPr>
          <p:nvPr>
            <p:ph idx="1"/>
          </p:nvPr>
        </p:nvSpPr>
        <p:spPr/>
        <p:txBody>
          <a:bodyPr/>
          <a:p>
            <a:pPr marL="342900" indent="-342900" algn="just">
              <a:spcBef>
                <a:spcPct val="20000"/>
              </a:spcBef>
              <a:buFont typeface="Wingdings" panose="05000000000000000000" pitchFamily="2" charset="2"/>
              <a:buChar char="Ø"/>
              <a:defRPr/>
            </a:pPr>
            <a:r>
              <a:rPr lang="en-US" sz="2800" kern="0" dirty="0" smtClean="0">
                <a:latin typeface="Times New Roman" panose="02020603050405020304" pitchFamily="18" charset="0"/>
                <a:cs typeface="Times New Roman" panose="02020603050405020304" pitchFamily="18" charset="0"/>
                <a:sym typeface="+mn-ea"/>
              </a:rPr>
              <a:t>The recovery manager of a database system is responsible for ensuring two important properties of transactions:</a:t>
            </a:r>
            <a:endParaRPr lang="en-US" sz="2800"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pitchFamily="2" charset="2"/>
              <a:buChar char="ü"/>
              <a:defRPr/>
            </a:pPr>
            <a:r>
              <a:rPr lang="en-US" sz="2800" kern="0" dirty="0" smtClean="0">
                <a:latin typeface="Times New Roman" panose="02020603050405020304" pitchFamily="18" charset="0"/>
                <a:cs typeface="Times New Roman" panose="02020603050405020304" pitchFamily="18" charset="0"/>
                <a:sym typeface="+mn-ea"/>
              </a:rPr>
              <a:t>Atomicity</a:t>
            </a:r>
            <a:endParaRPr lang="en-US" sz="2800"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pitchFamily="2" charset="2"/>
              <a:buChar char="ü"/>
              <a:defRPr/>
            </a:pPr>
            <a:r>
              <a:rPr lang="en-US" sz="2800" kern="0" dirty="0" smtClean="0">
                <a:latin typeface="Times New Roman" panose="02020603050405020304" pitchFamily="18" charset="0"/>
                <a:cs typeface="Times New Roman" panose="02020603050405020304" pitchFamily="18" charset="0"/>
                <a:sym typeface="+mn-ea"/>
              </a:rPr>
              <a:t>Durability</a:t>
            </a:r>
            <a:endParaRPr lang="en-US" sz="2800"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sz="2800" kern="0" dirty="0" smtClean="0">
                <a:latin typeface="Times New Roman" panose="02020603050405020304" pitchFamily="18" charset="0"/>
                <a:cs typeface="Times New Roman" panose="02020603050405020304" pitchFamily="18" charset="0"/>
                <a:sym typeface="+mn-ea"/>
              </a:rPr>
              <a:t>It ensures the atomicity by undoing the actions of transactions that do not commit.</a:t>
            </a:r>
            <a:endParaRPr lang="en-US" sz="2800"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sz="2800" kern="0" dirty="0" smtClean="0">
                <a:latin typeface="Times New Roman" panose="02020603050405020304" pitchFamily="18" charset="0"/>
                <a:cs typeface="Times New Roman" panose="02020603050405020304" pitchFamily="18" charset="0"/>
                <a:sym typeface="+mn-ea"/>
              </a:rPr>
              <a:t>It ensures the durability by making sure that all actions of committed transactions survive in case of system crashes and media failures.</a:t>
            </a:r>
            <a:endParaRPr lang="en-US" sz="2800" kern="0" dirty="0" smtClean="0">
              <a:latin typeface="Times New Roman" panose="02020603050405020304" pitchFamily="18" charset="0"/>
              <a:cs typeface="Times New Roman" panose="02020603050405020304" pitchFamily="18" charset="0"/>
            </a:endParaRPr>
          </a:p>
          <a:p>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Log-Based Recovery</a:t>
            </a:r>
            <a:endParaRPr lang="en-US"/>
          </a:p>
        </p:txBody>
      </p:sp>
      <p:sp>
        <p:nvSpPr>
          <p:cNvPr id="3" name="Content Placeholder 2"/>
          <p:cNvSpPr>
            <a:spLocks noGrp="1"/>
          </p:cNvSpPr>
          <p:nvPr>
            <p:ph idx="1"/>
          </p:nvPr>
        </p:nvSpPr>
        <p:spPr/>
        <p:txBody>
          <a:bodyPr>
            <a:noAutofit/>
          </a:bodyPr>
          <a:p>
            <a:pPr marL="342900" indent="-342900" algn="just">
              <a:spcBef>
                <a:spcPct val="20000"/>
              </a:spcBef>
              <a:buFont typeface="Wingdings" panose="05000000000000000000" pitchFamily="2" charset="2"/>
              <a:buChar char="Ø"/>
              <a:defRPr/>
            </a:pPr>
            <a:r>
              <a:rPr lang="en-US" sz="2000" kern="0" dirty="0" smtClean="0">
                <a:latin typeface="Times New Roman" panose="02020603050405020304" pitchFamily="18" charset="0"/>
                <a:cs typeface="Times New Roman" panose="02020603050405020304" pitchFamily="18" charset="0"/>
                <a:sym typeface="+mn-ea"/>
              </a:rPr>
              <a:t>Log is a sequence of log records, recording all the update activities in the database. It is kept on stable storage</a:t>
            </a:r>
            <a:endParaRPr lang="en-US" sz="2000"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sz="2000" kern="0" dirty="0" smtClean="0">
                <a:latin typeface="Times New Roman" panose="02020603050405020304" pitchFamily="18" charset="0"/>
                <a:cs typeface="Times New Roman" panose="02020603050405020304" pitchFamily="18" charset="0"/>
                <a:sym typeface="+mn-ea"/>
              </a:rPr>
              <a:t>There are several types of log records. An update log record describes a single database write. It has the following fields:</a:t>
            </a:r>
            <a:endParaRPr lang="en-US" sz="2000"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pitchFamily="2" charset="2"/>
              <a:buChar char="ü"/>
              <a:defRPr/>
            </a:pPr>
            <a:r>
              <a:rPr lang="en-US" sz="2000" b="1" kern="0" dirty="0" smtClean="0">
                <a:latin typeface="Times New Roman" panose="02020603050405020304" pitchFamily="18" charset="0"/>
                <a:cs typeface="Times New Roman" panose="02020603050405020304" pitchFamily="18" charset="0"/>
                <a:sym typeface="+mn-ea"/>
              </a:rPr>
              <a:t>Transaction Identifier : </a:t>
            </a:r>
            <a:r>
              <a:rPr lang="en-US" sz="2000" kern="0" dirty="0" smtClean="0">
                <a:latin typeface="Times New Roman" panose="02020603050405020304" pitchFamily="18" charset="0"/>
                <a:cs typeface="Times New Roman" panose="02020603050405020304" pitchFamily="18" charset="0"/>
                <a:sym typeface="+mn-ea"/>
              </a:rPr>
              <a:t>This is the unique identifier of the transaction that performed the write operation</a:t>
            </a:r>
            <a:endParaRPr lang="en-US" sz="2000"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pitchFamily="2" charset="2"/>
              <a:buChar char="ü"/>
              <a:defRPr/>
            </a:pPr>
            <a:r>
              <a:rPr lang="en-US" sz="2000" b="1" kern="0" dirty="0" smtClean="0">
                <a:latin typeface="Times New Roman" panose="02020603050405020304" pitchFamily="18" charset="0"/>
                <a:cs typeface="Times New Roman" panose="02020603050405020304" pitchFamily="18" charset="0"/>
                <a:sym typeface="+mn-ea"/>
              </a:rPr>
              <a:t>Data-item Identifier :</a:t>
            </a:r>
            <a:r>
              <a:rPr lang="en-US" sz="2000" kern="0" dirty="0" smtClean="0">
                <a:latin typeface="Times New Roman" panose="02020603050405020304" pitchFamily="18" charset="0"/>
                <a:cs typeface="Times New Roman" panose="02020603050405020304" pitchFamily="18" charset="0"/>
                <a:sym typeface="+mn-ea"/>
              </a:rPr>
              <a:t> This is the unique identifier of the data item written. Typically, it is the location on disk of the data item</a:t>
            </a:r>
            <a:endParaRPr lang="en-US" sz="2000"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pitchFamily="2" charset="2"/>
              <a:buChar char="ü"/>
              <a:defRPr/>
            </a:pPr>
            <a:r>
              <a:rPr lang="en-US" sz="2000" b="1" kern="0" dirty="0" smtClean="0">
                <a:latin typeface="Times New Roman" panose="02020603050405020304" pitchFamily="18" charset="0"/>
                <a:cs typeface="Times New Roman" panose="02020603050405020304" pitchFamily="18" charset="0"/>
                <a:sym typeface="+mn-ea"/>
              </a:rPr>
              <a:t>Old Value: </a:t>
            </a:r>
            <a:r>
              <a:rPr lang="en-US" sz="2000" kern="0" dirty="0" smtClean="0">
                <a:latin typeface="Times New Roman" panose="02020603050405020304" pitchFamily="18" charset="0"/>
                <a:cs typeface="Times New Roman" panose="02020603050405020304" pitchFamily="18" charset="0"/>
                <a:sym typeface="+mn-ea"/>
              </a:rPr>
              <a:t>This is the value of the data item prior to the write operation</a:t>
            </a:r>
            <a:endParaRPr lang="en-US" sz="2000"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pitchFamily="2" charset="2"/>
              <a:buChar char="ü"/>
              <a:defRPr/>
            </a:pPr>
            <a:r>
              <a:rPr lang="en-US" sz="2000" b="1" kern="0" dirty="0" smtClean="0">
                <a:latin typeface="Times New Roman" panose="02020603050405020304" pitchFamily="18" charset="0"/>
                <a:cs typeface="Times New Roman" panose="02020603050405020304" pitchFamily="18" charset="0"/>
                <a:sym typeface="+mn-ea"/>
              </a:rPr>
              <a:t>New Value: </a:t>
            </a:r>
            <a:r>
              <a:rPr lang="en-US" sz="2000" kern="0" dirty="0" smtClean="0">
                <a:latin typeface="Times New Roman" panose="02020603050405020304" pitchFamily="18" charset="0"/>
                <a:cs typeface="Times New Roman" panose="02020603050405020304" pitchFamily="18" charset="0"/>
                <a:sym typeface="+mn-ea"/>
              </a:rPr>
              <a:t>This is the value that the data item will have after the write operation</a:t>
            </a:r>
            <a:endParaRPr lang="en-US" sz="2000"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sz="2000" kern="0" dirty="0" smtClean="0">
                <a:latin typeface="Times New Roman" panose="02020603050405020304" pitchFamily="18" charset="0"/>
                <a:cs typeface="Times New Roman" panose="02020603050405020304" pitchFamily="18" charset="0"/>
                <a:sym typeface="+mn-ea"/>
              </a:rPr>
              <a:t>Various types of log records are:</a:t>
            </a:r>
            <a:endParaRPr lang="en-US" sz="2000"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pitchFamily="2" charset="2"/>
              <a:buChar char="ü"/>
              <a:defRPr/>
            </a:pPr>
            <a:r>
              <a:rPr lang="en-US" sz="2000" kern="0" dirty="0" smtClean="0">
                <a:latin typeface="Times New Roman" panose="02020603050405020304" pitchFamily="18" charset="0"/>
                <a:cs typeface="Times New Roman" panose="02020603050405020304" pitchFamily="18" charset="0"/>
                <a:sym typeface="+mn-ea"/>
              </a:rPr>
              <a:t>&lt;Ti  start&gt;: Transaction Ti  has started</a:t>
            </a:r>
            <a:endParaRPr lang="en-US" sz="2000"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pitchFamily="2" charset="2"/>
              <a:buChar char="ü"/>
              <a:defRPr/>
            </a:pPr>
            <a:r>
              <a:rPr lang="en-US" sz="2000" kern="0" dirty="0" smtClean="0">
                <a:latin typeface="Times New Roman" panose="02020603050405020304" pitchFamily="18" charset="0"/>
                <a:cs typeface="Times New Roman" panose="02020603050405020304" pitchFamily="18" charset="0"/>
                <a:sym typeface="+mn-ea"/>
              </a:rPr>
              <a:t>&lt;Ti , </a:t>
            </a:r>
            <a:r>
              <a:rPr lang="en-US" sz="2000" kern="0" dirty="0" err="1" smtClean="0">
                <a:latin typeface="Times New Roman" panose="02020603050405020304" pitchFamily="18" charset="0"/>
                <a:cs typeface="Times New Roman" panose="02020603050405020304" pitchFamily="18" charset="0"/>
                <a:sym typeface="+mn-ea"/>
              </a:rPr>
              <a:t>xj</a:t>
            </a:r>
            <a:r>
              <a:rPr lang="en-US" sz="2000" kern="0" dirty="0" smtClean="0">
                <a:latin typeface="Times New Roman" panose="02020603050405020304" pitchFamily="18" charset="0"/>
                <a:cs typeface="Times New Roman" panose="02020603050405020304" pitchFamily="18" charset="0"/>
                <a:sym typeface="+mn-ea"/>
              </a:rPr>
              <a:t> ,v1,v2&gt;: Transaction Ti  has performed a write operation on the data item </a:t>
            </a:r>
            <a:r>
              <a:rPr lang="en-US" sz="2000" kern="0" dirty="0" err="1" smtClean="0">
                <a:latin typeface="Times New Roman" panose="02020603050405020304" pitchFamily="18" charset="0"/>
                <a:cs typeface="Times New Roman" panose="02020603050405020304" pitchFamily="18" charset="0"/>
                <a:sym typeface="+mn-ea"/>
              </a:rPr>
              <a:t>xj</a:t>
            </a:r>
            <a:r>
              <a:rPr lang="en-US" sz="2000" kern="0" dirty="0" smtClean="0">
                <a:latin typeface="Times New Roman" panose="02020603050405020304" pitchFamily="18" charset="0"/>
                <a:cs typeface="Times New Roman" panose="02020603050405020304" pitchFamily="18" charset="0"/>
                <a:sym typeface="+mn-ea"/>
              </a:rPr>
              <a:t> . This data item </a:t>
            </a:r>
            <a:r>
              <a:rPr lang="en-US" sz="2000" kern="0" dirty="0" err="1" smtClean="0">
                <a:latin typeface="Times New Roman" panose="02020603050405020304" pitchFamily="18" charset="0"/>
                <a:cs typeface="Times New Roman" panose="02020603050405020304" pitchFamily="18" charset="0"/>
                <a:sym typeface="+mn-ea"/>
              </a:rPr>
              <a:t>xj</a:t>
            </a:r>
            <a:r>
              <a:rPr lang="en-US" sz="2000" kern="0" dirty="0" smtClean="0">
                <a:latin typeface="Times New Roman" panose="02020603050405020304" pitchFamily="18" charset="0"/>
                <a:cs typeface="Times New Roman" panose="02020603050405020304" pitchFamily="18" charset="0"/>
                <a:sym typeface="+mn-ea"/>
              </a:rPr>
              <a:t>  had value v1  before the write, and will have value v2  after the write</a:t>
            </a:r>
            <a:endParaRPr lang="en-US" sz="2000"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pitchFamily="2" charset="2"/>
              <a:buChar char="ü"/>
              <a:defRPr/>
            </a:pPr>
            <a:r>
              <a:rPr lang="en-US" sz="2000" kern="0" dirty="0" smtClean="0">
                <a:latin typeface="Times New Roman" panose="02020603050405020304" pitchFamily="18" charset="0"/>
                <a:cs typeface="Times New Roman" panose="02020603050405020304" pitchFamily="18" charset="0"/>
                <a:sym typeface="+mn-ea"/>
              </a:rPr>
              <a:t>&lt;Ti  commit&gt;: Transaction Ti  has committed</a:t>
            </a:r>
            <a:endParaRPr lang="en-US" sz="2000" kern="0" dirty="0" smtClean="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Log-Based Recovery…</a:t>
            </a:r>
            <a:endParaRPr lang="en-US"/>
          </a:p>
        </p:txBody>
      </p:sp>
      <p:sp>
        <p:nvSpPr>
          <p:cNvPr id="3" name="Content Placeholder 2"/>
          <p:cNvSpPr>
            <a:spLocks noGrp="1"/>
          </p:cNvSpPr>
          <p:nvPr>
            <p:ph idx="1"/>
          </p:nvPr>
        </p:nvSpPr>
        <p:spPr/>
        <p:txBody>
          <a:bodyPr/>
          <a:p>
            <a:pPr marL="800100" lvl="1" indent="-342900" algn="just">
              <a:spcBef>
                <a:spcPct val="20000"/>
              </a:spcBef>
              <a:buFont typeface="Wingdings" panose="05000000000000000000" pitchFamily="2" charset="2"/>
              <a:buChar char="ü"/>
              <a:defRPr/>
            </a:pPr>
            <a:r>
              <a:rPr lang="en-US" sz="2800" kern="0" dirty="0" smtClean="0">
                <a:latin typeface="Times New Roman" panose="02020603050405020304" pitchFamily="18" charset="0"/>
                <a:cs typeface="Times New Roman" panose="02020603050405020304" pitchFamily="18" charset="0"/>
                <a:sym typeface="+mn-ea"/>
              </a:rPr>
              <a:t>&lt;Ti  abort&gt;: Transaction Ti  has aborted</a:t>
            </a:r>
            <a:endParaRPr lang="en-US" sz="2800"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sz="2800" kern="0" dirty="0" smtClean="0">
                <a:latin typeface="Times New Roman" panose="02020603050405020304" pitchFamily="18" charset="0"/>
                <a:cs typeface="Times New Roman" panose="02020603050405020304" pitchFamily="18" charset="0"/>
                <a:sym typeface="+mn-ea"/>
              </a:rPr>
              <a:t>When a transaction performs a write operation, it is essential that the </a:t>
            </a:r>
            <a:r>
              <a:rPr lang="en-US" sz="2800" b="1" kern="0" dirty="0" smtClean="0">
                <a:latin typeface="Times New Roman" panose="02020603050405020304" pitchFamily="18" charset="0"/>
                <a:cs typeface="Times New Roman" panose="02020603050405020304" pitchFamily="18" charset="0"/>
                <a:sym typeface="+mn-ea"/>
              </a:rPr>
              <a:t>log record for that write be created before the database is modified</a:t>
            </a:r>
            <a:r>
              <a:rPr lang="en-US" sz="2800" kern="0" dirty="0" smtClean="0">
                <a:latin typeface="Times New Roman" panose="02020603050405020304" pitchFamily="18" charset="0"/>
                <a:cs typeface="Times New Roman" panose="02020603050405020304" pitchFamily="18" charset="0"/>
                <a:sym typeface="+mn-ea"/>
              </a:rPr>
              <a:t>.</a:t>
            </a:r>
            <a:endParaRPr lang="en-US" sz="2800"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sz="2800" kern="0" dirty="0" smtClean="0">
                <a:latin typeface="Times New Roman" panose="02020603050405020304" pitchFamily="18" charset="0"/>
                <a:cs typeface="Times New Roman" panose="02020603050405020304" pitchFamily="18" charset="0"/>
                <a:sym typeface="+mn-ea"/>
              </a:rPr>
              <a:t>For log records to be useful for recovery from system and disk failures, the log must reside in stable storage.</a:t>
            </a:r>
            <a:endParaRPr lang="en-US" sz="2800"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sz="2800" kern="0" dirty="0" smtClean="0">
                <a:latin typeface="Times New Roman" panose="02020603050405020304" pitchFamily="18" charset="0"/>
                <a:cs typeface="Times New Roman" panose="02020603050405020304" pitchFamily="18" charset="0"/>
                <a:sym typeface="+mn-ea"/>
              </a:rPr>
              <a:t>The </a:t>
            </a:r>
            <a:r>
              <a:rPr lang="en-US" sz="2800" b="1" kern="0" dirty="0" smtClean="0">
                <a:latin typeface="Times New Roman" panose="02020603050405020304" pitchFamily="18" charset="0"/>
                <a:cs typeface="Times New Roman" panose="02020603050405020304" pitchFamily="18" charset="0"/>
                <a:sym typeface="+mn-ea"/>
              </a:rPr>
              <a:t>log contains a complete record of all database activities</a:t>
            </a:r>
            <a:r>
              <a:rPr lang="en-US" sz="2800" kern="0" dirty="0" smtClean="0">
                <a:latin typeface="Times New Roman" panose="02020603050405020304" pitchFamily="18" charset="0"/>
                <a:cs typeface="Times New Roman" panose="02020603050405020304" pitchFamily="18" charset="0"/>
                <a:sym typeface="+mn-ea"/>
              </a:rPr>
              <a:t>.</a:t>
            </a:r>
            <a:endParaRPr lang="en-US" sz="2800" kern="0" dirty="0" smtClean="0">
              <a:latin typeface="Times New Roman" panose="02020603050405020304" pitchFamily="18" charset="0"/>
              <a:cs typeface="Times New Roman" panose="02020603050405020304" pitchFamily="18" charset="0"/>
            </a:endParaRPr>
          </a:p>
          <a:p>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Database Modification</a:t>
            </a:r>
            <a:endParaRPr lang="en-US"/>
          </a:p>
        </p:txBody>
      </p:sp>
      <p:sp>
        <p:nvSpPr>
          <p:cNvPr id="3" name="Content Placeholder 2"/>
          <p:cNvSpPr>
            <a:spLocks noGrp="1"/>
          </p:cNvSpPr>
          <p:nvPr>
            <p:ph idx="1"/>
          </p:nvPr>
        </p:nvSpPr>
        <p:spPr/>
        <p:txBody>
          <a:bodyPr>
            <a:normAutofit lnSpcReduction="20000"/>
          </a:bodyPr>
          <a:p>
            <a:pPr marL="342900" indent="-342900" algn="just">
              <a:spcBef>
                <a:spcPct val="20000"/>
              </a:spcBef>
              <a:buFont typeface="Wingdings" panose="05000000000000000000" pitchFamily="2" charset="2"/>
              <a:buChar char="Ø"/>
              <a:defRPr/>
            </a:pPr>
            <a:r>
              <a:rPr lang="en-US" sz="2800" kern="0" dirty="0" smtClean="0">
                <a:latin typeface="Times New Roman" panose="02020603050405020304" pitchFamily="18" charset="0"/>
                <a:cs typeface="Times New Roman" panose="02020603050405020304" pitchFamily="18" charset="0"/>
                <a:sym typeface="+mn-ea"/>
              </a:rPr>
              <a:t>This scheme ensures transaction atomicity by recording all the database modifications in the log, but deferring the execution of all write operations of a transaction until the transaction partially commits.</a:t>
            </a:r>
            <a:endParaRPr lang="en-US" sz="2800"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sz="2800" kern="0" dirty="0" smtClean="0">
                <a:latin typeface="Times New Roman" panose="02020603050405020304" pitchFamily="18" charset="0"/>
                <a:cs typeface="Times New Roman" panose="02020603050405020304" pitchFamily="18" charset="0"/>
                <a:sym typeface="+mn-ea"/>
              </a:rPr>
              <a:t>The execution of transaction Ti  proceeds as follows:</a:t>
            </a:r>
            <a:endParaRPr lang="en-US" sz="2800"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pitchFamily="2" charset="2"/>
              <a:buChar char="ü"/>
              <a:defRPr/>
            </a:pPr>
            <a:r>
              <a:rPr lang="en-US" sz="2800" kern="0" dirty="0" smtClean="0">
                <a:latin typeface="Times New Roman" panose="02020603050405020304" pitchFamily="18" charset="0"/>
                <a:cs typeface="Times New Roman" panose="02020603050405020304" pitchFamily="18" charset="0"/>
                <a:sym typeface="+mn-ea"/>
              </a:rPr>
              <a:t>Before Ti  starts its execution, a record &lt;Ti  start&gt; is written to the log.</a:t>
            </a:r>
            <a:endParaRPr lang="en-US" sz="2800"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pitchFamily="2" charset="2"/>
              <a:buChar char="ü"/>
              <a:defRPr/>
            </a:pPr>
            <a:r>
              <a:rPr lang="en-US" sz="2800" kern="0" dirty="0" smtClean="0">
                <a:latin typeface="Times New Roman" panose="02020603050405020304" pitchFamily="18" charset="0"/>
                <a:cs typeface="Times New Roman" panose="02020603050405020304" pitchFamily="18" charset="0"/>
                <a:sym typeface="+mn-ea"/>
              </a:rPr>
              <a:t>A write(X) operation by Ti  results in the writing of a new record to the log as &lt;Ti , X, V&gt;, where V is the new value of X. For this scheme, the old value is not required.</a:t>
            </a:r>
            <a:endParaRPr lang="en-US" sz="2800"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pitchFamily="2" charset="2"/>
              <a:buChar char="ü"/>
              <a:defRPr/>
            </a:pPr>
            <a:r>
              <a:rPr lang="en-US" sz="2800" kern="0" dirty="0" smtClean="0">
                <a:latin typeface="Times New Roman" panose="02020603050405020304" pitchFamily="18" charset="0"/>
                <a:cs typeface="Times New Roman" panose="02020603050405020304" pitchFamily="18" charset="0"/>
                <a:sym typeface="+mn-ea"/>
              </a:rPr>
              <a:t>When Ti  partially commits, a record &lt;Ti  commit&gt; is written to the log.</a:t>
            </a:r>
            <a:endParaRPr lang="en-US" sz="2800" kern="0" dirty="0" smtClean="0">
              <a:latin typeface="Times New Roman" panose="02020603050405020304" pitchFamily="18" charset="0"/>
              <a:cs typeface="Times New Roman" panose="02020603050405020304" pitchFamily="18" charset="0"/>
            </a:endParaRPr>
          </a:p>
          <a:p>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Database Modification…</a:t>
            </a:r>
            <a:endParaRPr lang="en-US"/>
          </a:p>
        </p:txBody>
      </p:sp>
      <p:sp>
        <p:nvSpPr>
          <p:cNvPr id="3" name="Content Placeholder 2"/>
          <p:cNvSpPr>
            <a:spLocks noGrp="1"/>
          </p:cNvSpPr>
          <p:nvPr>
            <p:ph idx="1"/>
          </p:nvPr>
        </p:nvSpPr>
        <p:spPr/>
        <p:txBody>
          <a:bodyPr>
            <a:normAutofit lnSpcReduction="20000"/>
          </a:bodyPr>
          <a:p>
            <a:pPr marL="342900" indent="-342900" algn="just">
              <a:spcBef>
                <a:spcPct val="20000"/>
              </a:spcBef>
              <a:buFont typeface="Wingdings" panose="05000000000000000000" pitchFamily="2" charset="2"/>
              <a:buChar char="Ø"/>
              <a:defRPr/>
            </a:pPr>
            <a:r>
              <a:rPr lang="en-US" sz="2800" kern="0" dirty="0" smtClean="0">
                <a:latin typeface="Times New Roman" panose="02020603050405020304" pitchFamily="18" charset="0"/>
                <a:cs typeface="Times New Roman" panose="02020603050405020304" pitchFamily="18" charset="0"/>
                <a:sym typeface="+mn-ea"/>
              </a:rPr>
              <a:t>There are two approaches to modify the database:</a:t>
            </a:r>
            <a:endParaRPr lang="en-US" sz="2800" kern="0" dirty="0" smtClean="0">
              <a:latin typeface="Times New Roman" panose="02020603050405020304" pitchFamily="18" charset="0"/>
              <a:cs typeface="Times New Roman" panose="02020603050405020304" pitchFamily="18" charset="0"/>
            </a:endParaRPr>
          </a:p>
          <a:p>
            <a:pPr marL="0" indent="0" algn="just">
              <a:spcBef>
                <a:spcPct val="20000"/>
              </a:spcBef>
              <a:buFont typeface="Wingdings" panose="05000000000000000000" pitchFamily="2" charset="2"/>
              <a:buNone/>
              <a:defRPr/>
            </a:pPr>
            <a:r>
              <a:rPr lang="en-US" sz="2800" b="1" kern="0" dirty="0" smtClean="0">
                <a:latin typeface="Times New Roman" panose="02020603050405020304" pitchFamily="18" charset="0"/>
                <a:cs typeface="Times New Roman" panose="02020603050405020304" pitchFamily="18" charset="0"/>
                <a:sym typeface="+mn-ea"/>
              </a:rPr>
              <a:t>1. Deferred database modification:</a:t>
            </a:r>
            <a:endParaRPr lang="en-US" sz="2800" b="1"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pitchFamily="2" charset="2"/>
              <a:buChar char="Ø"/>
              <a:defRPr/>
            </a:pPr>
            <a:r>
              <a:rPr lang="en-US" sz="2800" kern="0" dirty="0" smtClean="0">
                <a:latin typeface="Times New Roman" panose="02020603050405020304" pitchFamily="18" charset="0"/>
                <a:cs typeface="Times New Roman" panose="02020603050405020304" pitchFamily="18" charset="0"/>
                <a:sym typeface="+mn-ea"/>
              </a:rPr>
              <a:t>The deferred modification technique occurs if the transaction does not modify the database until it has committed.</a:t>
            </a:r>
            <a:endParaRPr lang="en-US" sz="2800"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pitchFamily="2" charset="2"/>
              <a:buChar char="Ø"/>
              <a:defRPr/>
            </a:pPr>
            <a:r>
              <a:rPr lang="en-US" sz="2800" kern="0" dirty="0" smtClean="0">
                <a:latin typeface="Times New Roman" panose="02020603050405020304" pitchFamily="18" charset="0"/>
                <a:cs typeface="Times New Roman" panose="02020603050405020304" pitchFamily="18" charset="0"/>
                <a:sym typeface="+mn-ea"/>
              </a:rPr>
              <a:t>In this method, all the logs are created and stored in the stable storage, and the database is updated when a transaction commits.</a:t>
            </a:r>
            <a:endParaRPr lang="en-US" sz="2800" kern="0" dirty="0" smtClean="0">
              <a:latin typeface="Times New Roman" panose="02020603050405020304" pitchFamily="18" charset="0"/>
              <a:cs typeface="Times New Roman" panose="02020603050405020304" pitchFamily="18" charset="0"/>
            </a:endParaRPr>
          </a:p>
          <a:p>
            <a:pPr marL="0" lvl="0" indent="0" algn="just">
              <a:spcBef>
                <a:spcPct val="20000"/>
              </a:spcBef>
              <a:buFont typeface="Wingdings" panose="05000000000000000000" pitchFamily="2" charset="2"/>
              <a:buNone/>
              <a:defRPr/>
            </a:pPr>
            <a:r>
              <a:rPr lang="en-US" sz="2800" b="1" kern="0" dirty="0" smtClean="0">
                <a:latin typeface="Times New Roman" panose="02020603050405020304" pitchFamily="18" charset="0"/>
                <a:cs typeface="Times New Roman" panose="02020603050405020304" pitchFamily="18" charset="0"/>
                <a:sym typeface="+mn-ea"/>
              </a:rPr>
              <a:t>2. Immediate database modification:</a:t>
            </a:r>
            <a:endParaRPr lang="en-US" sz="2800" b="1"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pitchFamily="2" charset="2"/>
              <a:buChar char="Ø"/>
              <a:defRPr/>
            </a:pPr>
            <a:r>
              <a:rPr lang="en-US" sz="2800" kern="0" dirty="0" smtClean="0">
                <a:latin typeface="Times New Roman" panose="02020603050405020304" pitchFamily="18" charset="0"/>
                <a:cs typeface="Times New Roman" panose="02020603050405020304" pitchFamily="18" charset="0"/>
                <a:sym typeface="+mn-ea"/>
              </a:rPr>
              <a:t>The Immediate modification technique occurs if database modification occurs while the transaction is still active.</a:t>
            </a:r>
            <a:endParaRPr lang="en-US" sz="2800"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pitchFamily="2" charset="2"/>
              <a:buChar char="Ø"/>
              <a:defRPr/>
            </a:pPr>
            <a:r>
              <a:rPr lang="en-US" sz="2800" kern="0" dirty="0" smtClean="0">
                <a:latin typeface="Times New Roman" panose="02020603050405020304" pitchFamily="18" charset="0"/>
                <a:cs typeface="Times New Roman" panose="02020603050405020304" pitchFamily="18" charset="0"/>
                <a:sym typeface="+mn-ea"/>
              </a:rPr>
              <a:t>In this technique, the database is modified immediately after every operation. It follows an actual database modification.</a:t>
            </a:r>
            <a:endParaRPr lang="en-US" sz="2800"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sz="2800" kern="0" dirty="0" smtClean="0">
              <a:latin typeface="Times New Roman" panose="02020603050405020304" pitchFamily="18" charset="0"/>
              <a:cs typeface="Times New Roman" panose="02020603050405020304" pitchFamily="18" charset="0"/>
            </a:endParaRPr>
          </a:p>
          <a:p>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Recovery using Log records</a:t>
            </a:r>
            <a:endParaRPr lang="en-US"/>
          </a:p>
        </p:txBody>
      </p:sp>
      <p:sp>
        <p:nvSpPr>
          <p:cNvPr id="3" name="Content Placeholder 2"/>
          <p:cNvSpPr>
            <a:spLocks noGrp="1"/>
          </p:cNvSpPr>
          <p:nvPr>
            <p:ph idx="1"/>
          </p:nvPr>
        </p:nvSpPr>
        <p:spPr/>
        <p:txBody>
          <a:bodyPr/>
          <a:p>
            <a:pPr marL="342900" indent="-342900" algn="just">
              <a:spcBef>
                <a:spcPct val="20000"/>
              </a:spcBef>
              <a:buFont typeface="Wingdings" panose="05000000000000000000" pitchFamily="2" charset="2"/>
              <a:buChar char="Ø"/>
              <a:defRPr/>
            </a:pPr>
            <a:r>
              <a:rPr lang="en-US" sz="2800" kern="0" dirty="0" smtClean="0">
                <a:latin typeface="Times New Roman" panose="02020603050405020304" pitchFamily="18" charset="0"/>
                <a:cs typeface="Times New Roman" panose="02020603050405020304" pitchFamily="18" charset="0"/>
                <a:sym typeface="+mn-ea"/>
              </a:rPr>
              <a:t>When the system is crashed, then the system consults the log to find which transactions need to be undone and which need to be redone.</a:t>
            </a:r>
            <a:endParaRPr lang="en-US" sz="2800"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sz="2800"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charset="0"/>
              <a:buChar char="ü"/>
              <a:defRPr/>
            </a:pPr>
            <a:r>
              <a:rPr lang="en-US" sz="2800" kern="0" dirty="0" smtClean="0">
                <a:latin typeface="Times New Roman" panose="02020603050405020304" pitchFamily="18" charset="0"/>
                <a:cs typeface="Times New Roman" panose="02020603050405020304" pitchFamily="18" charset="0"/>
                <a:sym typeface="+mn-ea"/>
              </a:rPr>
              <a:t>If the log contains the record &lt;Ti, Start&gt; and &lt;Ti, Commit&gt; or &lt;Ti, Commit&gt;, then the Transaction Ti needs to be redone.</a:t>
            </a:r>
            <a:endParaRPr lang="en-US" sz="2800"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charset="0"/>
              <a:buChar char="ü"/>
              <a:defRPr/>
            </a:pPr>
            <a:r>
              <a:rPr lang="en-US" sz="2800" kern="0" dirty="0" smtClean="0">
                <a:latin typeface="Times New Roman" panose="02020603050405020304" pitchFamily="18" charset="0"/>
                <a:cs typeface="Times New Roman" panose="02020603050405020304" pitchFamily="18" charset="0"/>
                <a:sym typeface="+mn-ea"/>
              </a:rPr>
              <a:t>If log contains record&lt;Tn, Start&gt; but does not contain the record either &lt;Ti, commit&gt; or &lt;Ti, abort&gt;, then the Transaction Ti needs to be undone.</a:t>
            </a:r>
            <a:endParaRPr lang="en-US" sz="2800" kern="0" dirty="0" smtClean="0">
              <a:latin typeface="Times New Roman" panose="02020603050405020304" pitchFamily="18" charset="0"/>
              <a:cs typeface="Times New Roman" panose="02020603050405020304" pitchFamily="18" charset="0"/>
            </a:endParaRPr>
          </a:p>
          <a:p>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Deferred Database Modification...</a:t>
            </a:r>
            <a:endParaRPr lang="en-US"/>
          </a:p>
        </p:txBody>
      </p:sp>
      <p:sp>
        <p:nvSpPr>
          <p:cNvPr id="4" name="Content Placeholder 2"/>
          <p:cNvSpPr txBox="1"/>
          <p:nvPr/>
        </p:nvSpPr>
        <p:spPr bwMode="auto">
          <a:xfrm>
            <a:off x="785786" y="1571933"/>
            <a:ext cx="7858180" cy="5286412"/>
          </a:xfrm>
          <a:prstGeom prst="rect">
            <a:avLst/>
          </a:prstGeom>
          <a:noFill/>
          <a:ln w="9525">
            <a:noFill/>
            <a:miter lim="800000"/>
          </a:ln>
        </p:spPr>
        <p:txBody>
          <a:bodyPr/>
          <a:p>
            <a:pPr marL="342900" indent="-342900" algn="just">
              <a:spcBef>
                <a:spcPct val="20000"/>
              </a:spcBef>
              <a:buFont typeface="Wingdings" panose="05000000000000000000" pitchFamily="2" charset="2"/>
              <a:buChar char="Ø"/>
              <a:defRPr/>
            </a:pPr>
            <a:r>
              <a:rPr lang="en-US" b="1" kern="0" dirty="0" smtClean="0">
                <a:latin typeface="Times New Roman" panose="02020603050405020304" pitchFamily="18" charset="0"/>
                <a:cs typeface="Times New Roman" panose="02020603050405020304" pitchFamily="18" charset="0"/>
              </a:rPr>
              <a:t>Case-1: Crash occurs just before &lt;T1  commit&gt;</a:t>
            </a:r>
            <a:endParaRPr lang="en-US" b="1"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rPr>
              <a:t>When the system recovers, no redo actions need to be taken, because no commit record appears in the log. The log records of the incomplete transaction T1  can be deleted from the log</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b="1" kern="0" dirty="0" smtClean="0">
                <a:latin typeface="Times New Roman" panose="02020603050405020304" pitchFamily="18" charset="0"/>
                <a:cs typeface="Times New Roman" panose="02020603050405020304" pitchFamily="18" charset="0"/>
              </a:rPr>
              <a:t>Case-2 Crash occurs just after &lt;T1  commit&gt;</a:t>
            </a:r>
            <a:endParaRPr lang="en-US" b="1"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rPr>
              <a:t>When the system recovers, the operation redo(T1) is performed since the record &lt;T1  commit&gt; appears in the log</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p:txBody>
      </p:sp>
      <p:pic>
        <p:nvPicPr>
          <p:cNvPr id="2050" name="Picture 2" descr="C:\Users\nEW u\Desktop\11.jpg"/>
          <p:cNvPicPr>
            <a:picLocks noChangeAspect="1" noChangeArrowheads="1"/>
          </p:cNvPicPr>
          <p:nvPr/>
        </p:nvPicPr>
        <p:blipFill>
          <a:blip r:embed="rId1"/>
          <a:srcRect/>
          <a:stretch>
            <a:fillRect/>
          </a:stretch>
        </p:blipFill>
        <p:spPr bwMode="auto">
          <a:xfrm>
            <a:off x="3571868" y="2021827"/>
            <a:ext cx="1714512" cy="1146580"/>
          </a:xfrm>
          <a:prstGeom prst="rect">
            <a:avLst/>
          </a:prstGeom>
          <a:noFill/>
        </p:spPr>
      </p:pic>
      <p:pic>
        <p:nvPicPr>
          <p:cNvPr id="2051" name="Picture 3" descr="C:\Users\nEW u\Desktop\22.jpg"/>
          <p:cNvPicPr>
            <a:picLocks noChangeAspect="1" noChangeArrowheads="1"/>
          </p:cNvPicPr>
          <p:nvPr/>
        </p:nvPicPr>
        <p:blipFill>
          <a:blip r:embed="rId2"/>
          <a:srcRect/>
          <a:stretch>
            <a:fillRect/>
          </a:stretch>
        </p:blipFill>
        <p:spPr bwMode="auto">
          <a:xfrm>
            <a:off x="3657817" y="4450719"/>
            <a:ext cx="1557125" cy="1285884"/>
          </a:xfrm>
          <a:prstGeom prst="rect">
            <a:avLst/>
          </a:prstGeom>
          <a:noFill/>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Deferred Database Modification...</a:t>
            </a:r>
            <a:endParaRPr lang="en-US"/>
          </a:p>
        </p:txBody>
      </p:sp>
      <p:sp>
        <p:nvSpPr>
          <p:cNvPr id="4" name="Content Placeholder 2"/>
          <p:cNvSpPr txBox="1"/>
          <p:nvPr/>
        </p:nvSpPr>
        <p:spPr bwMode="auto">
          <a:xfrm>
            <a:off x="1090586" y="1335078"/>
            <a:ext cx="7858180" cy="5286412"/>
          </a:xfrm>
          <a:prstGeom prst="rect">
            <a:avLst/>
          </a:prstGeom>
          <a:noFill/>
          <a:ln w="9525">
            <a:noFill/>
            <a:miter lim="800000"/>
          </a:ln>
        </p:spPr>
        <p:txBody>
          <a:bodyPr/>
          <a:p>
            <a:pPr marL="342900" indent="-342900" algn="just">
              <a:spcBef>
                <a:spcPct val="20000"/>
              </a:spcBef>
              <a:buFont typeface="Wingdings" panose="05000000000000000000" pitchFamily="2" charset="2"/>
              <a:buChar char="Ø"/>
              <a:defRPr/>
            </a:pPr>
            <a:r>
              <a:rPr lang="en-US" b="1" kern="0" dirty="0" smtClean="0">
                <a:latin typeface="Times New Roman" panose="02020603050405020304" pitchFamily="18" charset="0"/>
                <a:cs typeface="Times New Roman" panose="02020603050405020304" pitchFamily="18" charset="0"/>
              </a:rPr>
              <a:t>Case-3: Crash occurs just before &lt;T2  commit&gt;</a:t>
            </a:r>
            <a:endParaRPr lang="en-US" b="1"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b="1"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b="1"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defRPr/>
            </a:pP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rPr>
              <a:t>When the system recovers, the operation redo(T1) is performed since the record &lt;T1  commit&gt; appears in the log. The log records of the incomplete transaction T2  can be deleted from the log.</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b="1" kern="0" dirty="0" smtClean="0">
                <a:latin typeface="Times New Roman" panose="02020603050405020304" pitchFamily="18" charset="0"/>
                <a:cs typeface="Times New Roman" panose="02020603050405020304" pitchFamily="18" charset="0"/>
              </a:rPr>
              <a:t>Case-4: Crash occurs just after &lt;T2  commit&gt;</a:t>
            </a:r>
            <a:endParaRPr lang="en-US" b="1"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rPr>
              <a:t>When the system recovers, two commit records </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defRPr/>
            </a:pPr>
            <a:r>
              <a:rPr lang="en-US" kern="0" dirty="0" smtClean="0">
                <a:latin typeface="Times New Roman" panose="02020603050405020304" pitchFamily="18" charset="0"/>
                <a:cs typeface="Times New Roman" panose="02020603050405020304" pitchFamily="18" charset="0"/>
              </a:rPr>
              <a:t>      are found in the log. Thus, the system must perform </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defRPr/>
            </a:pPr>
            <a:r>
              <a:rPr lang="en-US" kern="0" dirty="0" smtClean="0">
                <a:latin typeface="Times New Roman" panose="02020603050405020304" pitchFamily="18" charset="0"/>
                <a:cs typeface="Times New Roman" panose="02020603050405020304" pitchFamily="18" charset="0"/>
              </a:rPr>
              <a:t>      operations redo(T1) and redo(T2) in the order in which </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defRPr/>
            </a:pPr>
            <a:r>
              <a:rPr lang="en-US" kern="0" dirty="0" smtClean="0">
                <a:latin typeface="Times New Roman" panose="02020603050405020304" pitchFamily="18" charset="0"/>
                <a:cs typeface="Times New Roman" panose="02020603050405020304" pitchFamily="18" charset="0"/>
              </a:rPr>
              <a:t>      their commit records appear in the log.</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p:txBody>
      </p:sp>
      <p:pic>
        <p:nvPicPr>
          <p:cNvPr id="1026" name="Picture 2" descr="C:\Users\nEW u\Desktop\11.jpg"/>
          <p:cNvPicPr>
            <a:picLocks noChangeAspect="1" noChangeArrowheads="1"/>
          </p:cNvPicPr>
          <p:nvPr/>
        </p:nvPicPr>
        <p:blipFill>
          <a:blip r:embed="rId1"/>
          <a:srcRect/>
          <a:stretch>
            <a:fillRect/>
          </a:stretch>
        </p:blipFill>
        <p:spPr bwMode="auto">
          <a:xfrm>
            <a:off x="3876668" y="1784972"/>
            <a:ext cx="1643074" cy="1841566"/>
          </a:xfrm>
          <a:prstGeom prst="rect">
            <a:avLst/>
          </a:prstGeom>
          <a:noFill/>
        </p:spPr>
      </p:pic>
      <p:pic>
        <p:nvPicPr>
          <p:cNvPr id="1027" name="Picture 3" descr="C:\Users\nEW u\Desktop\22.jpg"/>
          <p:cNvPicPr>
            <a:picLocks noChangeAspect="1" noChangeArrowheads="1"/>
          </p:cNvPicPr>
          <p:nvPr/>
        </p:nvPicPr>
        <p:blipFill>
          <a:blip r:embed="rId2"/>
          <a:srcRect/>
          <a:stretch>
            <a:fillRect/>
          </a:stretch>
        </p:blipFill>
        <p:spPr bwMode="auto">
          <a:xfrm>
            <a:off x="6948502" y="4389638"/>
            <a:ext cx="1714512" cy="2176979"/>
          </a:xfrm>
          <a:prstGeom prst="rect">
            <a:avLst/>
          </a:prstGeom>
          <a:noFill/>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Immediate Database Modification</a:t>
            </a:r>
            <a:endParaRPr lang="en-US"/>
          </a:p>
        </p:txBody>
      </p:sp>
      <p:sp>
        <p:nvSpPr>
          <p:cNvPr id="3" name="Content Placeholder 2"/>
          <p:cNvSpPr>
            <a:spLocks noGrp="1"/>
          </p:cNvSpPr>
          <p:nvPr>
            <p:ph idx="1"/>
          </p:nvPr>
        </p:nvSpPr>
        <p:spPr/>
        <p:txBody>
          <a:bodyPr>
            <a:normAutofit fontScale="80000"/>
          </a:bodyPr>
          <a:p>
            <a:pPr marL="342900" indent="-342900" algn="just">
              <a:spcBef>
                <a:spcPct val="20000"/>
              </a:spcBef>
              <a:buFont typeface="Wingdings" panose="05000000000000000000" pitchFamily="2" charset="2"/>
              <a:buChar char="Ø"/>
              <a:defRPr/>
            </a:pPr>
            <a:r>
              <a:rPr lang="en-US" sz="2800" kern="0" dirty="0" smtClean="0">
                <a:latin typeface="Times New Roman" panose="02020603050405020304" pitchFamily="18" charset="0"/>
                <a:cs typeface="Times New Roman" panose="02020603050405020304" pitchFamily="18" charset="0"/>
                <a:sym typeface="+mn-ea"/>
              </a:rPr>
              <a:t>This scheme allows database modifications to be output to the database while the transaction is still in the active state. Data modifications written by active transactions are called </a:t>
            </a:r>
            <a:r>
              <a:rPr lang="en-US" sz="2800" b="1" kern="0" dirty="0" smtClean="0">
                <a:latin typeface="Times New Roman" panose="02020603050405020304" pitchFamily="18" charset="0"/>
                <a:cs typeface="Times New Roman" panose="02020603050405020304" pitchFamily="18" charset="0"/>
                <a:sym typeface="+mn-ea"/>
              </a:rPr>
              <a:t>uncommitted modifications.</a:t>
            </a:r>
            <a:endParaRPr lang="en-US" sz="2800" b="1"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sz="2800" kern="0" dirty="0" smtClean="0">
                <a:latin typeface="Times New Roman" panose="02020603050405020304" pitchFamily="18" charset="0"/>
                <a:cs typeface="Times New Roman" panose="02020603050405020304" pitchFamily="18" charset="0"/>
                <a:sym typeface="+mn-ea"/>
              </a:rPr>
              <a:t>In the event of a crash or a transaction failure, the system must use the old-value field of the log records to restore the modified data items to the value they had prior to the start of the transaction. The undo operation accomplishes this restoration</a:t>
            </a:r>
            <a:endParaRPr lang="en-US" sz="2800"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sz="2800" kern="0" dirty="0" smtClean="0">
                <a:latin typeface="Times New Roman" panose="02020603050405020304" pitchFamily="18" charset="0"/>
                <a:cs typeface="Times New Roman" panose="02020603050405020304" pitchFamily="18" charset="0"/>
                <a:sym typeface="+mn-ea"/>
              </a:rPr>
              <a:t>The execution of transaction Ti  proceeds as follows:</a:t>
            </a:r>
            <a:endParaRPr lang="en-US" sz="2800"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pitchFamily="2" charset="2"/>
              <a:buChar char="ü"/>
              <a:defRPr/>
            </a:pPr>
            <a:r>
              <a:rPr lang="en-US" sz="2800" kern="0" dirty="0" smtClean="0">
                <a:latin typeface="Times New Roman" panose="02020603050405020304" pitchFamily="18" charset="0"/>
                <a:cs typeface="Times New Roman" panose="02020603050405020304" pitchFamily="18" charset="0"/>
                <a:sym typeface="+mn-ea"/>
              </a:rPr>
              <a:t>Before Ti  starts its execution, the system writes the record &lt;Ti  start&gt; to the log</a:t>
            </a:r>
            <a:endParaRPr lang="en-US" sz="2800"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pitchFamily="2" charset="2"/>
              <a:buChar char="ü"/>
              <a:defRPr/>
            </a:pPr>
            <a:r>
              <a:rPr lang="en-US" sz="2800" kern="0" dirty="0" smtClean="0">
                <a:latin typeface="Times New Roman" panose="02020603050405020304" pitchFamily="18" charset="0"/>
                <a:cs typeface="Times New Roman" panose="02020603050405020304" pitchFamily="18" charset="0"/>
                <a:sym typeface="+mn-ea"/>
              </a:rPr>
              <a:t>During its execution, any write(X) operation by Ti  is preceded by the writing of the appropriate new update record to the log</a:t>
            </a:r>
            <a:endParaRPr lang="en-US" sz="2800"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pitchFamily="2" charset="2"/>
              <a:buChar char="ü"/>
              <a:defRPr/>
            </a:pPr>
            <a:r>
              <a:rPr lang="en-US" sz="2800" kern="0" dirty="0" smtClean="0">
                <a:latin typeface="Times New Roman" panose="02020603050405020304" pitchFamily="18" charset="0"/>
                <a:cs typeface="Times New Roman" panose="02020603050405020304" pitchFamily="18" charset="0"/>
                <a:sym typeface="+mn-ea"/>
              </a:rPr>
              <a:t>When Ti  partially commits, the system writes the record	&lt;Ti  commit&gt; to the log</a:t>
            </a:r>
            <a:endParaRPr lang="en-US" sz="2800"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sz="2800"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sz="2800" kern="0" dirty="0" smtClean="0">
              <a:latin typeface="Times New Roman" panose="02020603050405020304" pitchFamily="18" charset="0"/>
              <a:cs typeface="Times New Roman" panose="02020603050405020304" pitchFamily="18" charset="0"/>
            </a:endParaRPr>
          </a:p>
          <a:p>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Immediate Database Modification…</a:t>
            </a:r>
            <a:endParaRPr lang="en-US"/>
          </a:p>
        </p:txBody>
      </p:sp>
      <p:sp>
        <p:nvSpPr>
          <p:cNvPr id="4" name="Content Placeholder 2"/>
          <p:cNvSpPr txBox="1"/>
          <p:nvPr/>
        </p:nvSpPr>
        <p:spPr bwMode="auto">
          <a:xfrm>
            <a:off x="1466850" y="3631881"/>
            <a:ext cx="7500938" cy="3103733"/>
          </a:xfrm>
          <a:prstGeom prst="rect">
            <a:avLst/>
          </a:prstGeom>
          <a:noFill/>
          <a:ln w="9525">
            <a:noFill/>
            <a:miter lim="800000"/>
          </a:ln>
        </p:spPr>
        <p:txBody>
          <a:bodyPr/>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rPr>
              <a:t>The recovery scheme uses two recovery procedures:</a:t>
            </a:r>
            <a:endParaRPr lang="en-US"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pitchFamily="2" charset="2"/>
              <a:buChar char="ü"/>
              <a:defRPr/>
            </a:pPr>
            <a:r>
              <a:rPr lang="en-US" kern="0" dirty="0" smtClean="0">
                <a:latin typeface="Times New Roman" panose="02020603050405020304" pitchFamily="18" charset="0"/>
                <a:cs typeface="Times New Roman" panose="02020603050405020304" pitchFamily="18" charset="0"/>
              </a:rPr>
              <a:t>Undo(Ti ): It restores the value of all data items updated by transaction Ti  to the old values.</a:t>
            </a:r>
            <a:endParaRPr lang="en-US"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pitchFamily="2" charset="2"/>
              <a:buChar char="ü"/>
              <a:defRPr/>
            </a:pPr>
            <a:r>
              <a:rPr lang="en-US" kern="0" dirty="0" smtClean="0">
                <a:latin typeface="Times New Roman" panose="02020603050405020304" pitchFamily="18" charset="0"/>
                <a:cs typeface="Times New Roman" panose="02020603050405020304" pitchFamily="18" charset="0"/>
              </a:rPr>
              <a:t>Redo(Ti ): It sets the value of all data items updated by transaction Ti  to the new values.</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rPr>
              <a:t>The undo and redo operations must be idempotent.</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rPr>
              <a:t>Transaction Ti  needs to be undone if the log contains the record &lt;Ti  start&gt;, but doesn’t contain the record &lt;Ti  commit&gt;.</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rPr>
              <a:t>Transaction Ti  needs to be redone if the log contains both the record &lt;Ti  start&gt; and the record &lt;Ti  commit&gt;.</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p:txBody>
      </p:sp>
      <p:pic>
        <p:nvPicPr>
          <p:cNvPr id="2050" name="Picture 2" descr="C:\Users\nEW u\Desktop\22.jpg"/>
          <p:cNvPicPr>
            <a:picLocks noChangeAspect="1" noChangeArrowheads="1"/>
          </p:cNvPicPr>
          <p:nvPr/>
        </p:nvPicPr>
        <p:blipFill>
          <a:blip r:embed="rId1"/>
          <a:srcRect/>
          <a:stretch>
            <a:fillRect/>
          </a:stretch>
        </p:blipFill>
        <p:spPr bwMode="auto">
          <a:xfrm>
            <a:off x="4153867" y="1488742"/>
            <a:ext cx="2118573" cy="2071702"/>
          </a:xfrm>
          <a:prstGeom prst="rect">
            <a:avLst/>
          </a:prstGeom>
          <a:noFill/>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Immediate Database Modification…</a:t>
            </a:r>
            <a:endParaRPr lang="en-US"/>
          </a:p>
        </p:txBody>
      </p:sp>
      <p:sp>
        <p:nvSpPr>
          <p:cNvPr id="4" name="Content Placeholder 2"/>
          <p:cNvSpPr txBox="1"/>
          <p:nvPr/>
        </p:nvSpPr>
        <p:spPr bwMode="auto">
          <a:xfrm>
            <a:off x="979170" y="1508760"/>
            <a:ext cx="9391015" cy="5215255"/>
          </a:xfrm>
          <a:prstGeom prst="rect">
            <a:avLst/>
          </a:prstGeom>
          <a:noFill/>
          <a:ln w="9525">
            <a:noFill/>
            <a:miter lim="800000"/>
          </a:ln>
        </p:spPr>
        <p:txBody>
          <a:bodyPr/>
          <a:p>
            <a:pPr marL="342900" indent="-342900" algn="just">
              <a:spcBef>
                <a:spcPct val="20000"/>
              </a:spcBef>
              <a:buFont typeface="Wingdings" panose="05000000000000000000" pitchFamily="2" charset="2"/>
              <a:buChar char="Ø"/>
              <a:defRPr/>
            </a:pPr>
            <a:r>
              <a:rPr lang="en-US" b="1" kern="0" dirty="0" smtClean="0">
                <a:latin typeface="Times New Roman" panose="02020603050405020304" pitchFamily="18" charset="0"/>
                <a:cs typeface="Times New Roman" panose="02020603050405020304" pitchFamily="18" charset="0"/>
              </a:rPr>
              <a:t>Case-1: Crash occurs just before &lt;T1  commit&gt;</a:t>
            </a:r>
            <a:endParaRPr lang="en-US" b="1"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rPr>
              <a:t>When the system recovers, it finds the record &lt;T1  start&gt; in the log, but no corresponding &lt;T1  commit&gt; record. Thus, T1  must be undone, so an undo(T1) is performed</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b="1" kern="0" dirty="0" smtClean="0">
                <a:latin typeface="Times New Roman" panose="02020603050405020304" pitchFamily="18" charset="0"/>
                <a:cs typeface="Times New Roman" panose="02020603050405020304" pitchFamily="18" charset="0"/>
              </a:rPr>
              <a:t>Case-2 Crash occurs just after &lt;T1  commit&gt;</a:t>
            </a:r>
            <a:endParaRPr lang="en-US" b="1"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rPr>
              <a:t>When the system recovers, the operation redo(T1) must be performed since the log contains both the record &lt;T1  start&gt; and the record &lt;T1  commit&gt;</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p:txBody>
      </p:sp>
      <p:pic>
        <p:nvPicPr>
          <p:cNvPr id="3074" name="Picture 2" descr="C:\Users\nEW u\Desktop\11.jpg"/>
          <p:cNvPicPr>
            <a:picLocks noChangeAspect="1" noChangeArrowheads="1"/>
          </p:cNvPicPr>
          <p:nvPr/>
        </p:nvPicPr>
        <p:blipFill>
          <a:blip r:embed="rId1"/>
          <a:srcRect/>
          <a:stretch>
            <a:fillRect/>
          </a:stretch>
        </p:blipFill>
        <p:spPr bwMode="auto">
          <a:xfrm>
            <a:off x="3764915" y="2008505"/>
            <a:ext cx="2299335" cy="1046480"/>
          </a:xfrm>
          <a:prstGeom prst="rect">
            <a:avLst/>
          </a:prstGeom>
          <a:noFill/>
        </p:spPr>
      </p:pic>
      <p:pic>
        <p:nvPicPr>
          <p:cNvPr id="3075" name="Picture 3" descr="C:\Users\nEW u\Desktop\22.jpg"/>
          <p:cNvPicPr>
            <a:picLocks noChangeAspect="1" noChangeArrowheads="1"/>
          </p:cNvPicPr>
          <p:nvPr/>
        </p:nvPicPr>
        <p:blipFill>
          <a:blip r:embed="rId2"/>
          <a:srcRect/>
          <a:stretch>
            <a:fillRect/>
          </a:stretch>
        </p:blipFill>
        <p:spPr bwMode="auto">
          <a:xfrm>
            <a:off x="3764915" y="4509770"/>
            <a:ext cx="2324735" cy="1205865"/>
          </a:xfrm>
          <a:prstGeom prst="rect">
            <a:avLst/>
          </a:prstGeom>
          <a:noFill/>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Immediate Database Modification…</a:t>
            </a:r>
            <a:endParaRPr lang="en-US"/>
          </a:p>
        </p:txBody>
      </p:sp>
      <p:sp>
        <p:nvSpPr>
          <p:cNvPr id="4" name="Content Placeholder 2"/>
          <p:cNvSpPr txBox="1"/>
          <p:nvPr/>
        </p:nvSpPr>
        <p:spPr bwMode="auto">
          <a:xfrm>
            <a:off x="1207744" y="1499854"/>
            <a:ext cx="7500938" cy="500066"/>
          </a:xfrm>
          <a:prstGeom prst="rect">
            <a:avLst/>
          </a:prstGeom>
          <a:noFill/>
          <a:ln w="9525">
            <a:noFill/>
            <a:miter lim="800000"/>
          </a:ln>
        </p:spPr>
        <p:txBody>
          <a:bodyPr/>
          <a:p>
            <a:pPr marL="342900" indent="-342900" algn="just">
              <a:spcBef>
                <a:spcPct val="20000"/>
              </a:spcBef>
              <a:buFont typeface="Wingdings" panose="05000000000000000000" pitchFamily="2" charset="2"/>
              <a:buChar char="Ø"/>
              <a:defRPr/>
            </a:pPr>
            <a:r>
              <a:rPr lang="en-US" b="1" kern="0" dirty="0" smtClean="0">
                <a:latin typeface="Times New Roman" panose="02020603050405020304" pitchFamily="18" charset="0"/>
                <a:cs typeface="Times New Roman" panose="02020603050405020304" pitchFamily="18" charset="0"/>
              </a:rPr>
              <a:t>Case-3: Crash occurs just before &lt;T2  commit&gt;</a:t>
            </a:r>
            <a:endParaRPr lang="en-US" b="1"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b="1" kern="0" dirty="0" smtClean="0">
              <a:latin typeface="Times New Roman" panose="02020603050405020304" pitchFamily="18" charset="0"/>
              <a:cs typeface="Times New Roman" panose="02020603050405020304" pitchFamily="18" charset="0"/>
            </a:endParaRPr>
          </a:p>
          <a:p>
            <a:pPr marL="342900" indent="-342900" algn="just">
              <a:spcBef>
                <a:spcPct val="20000"/>
              </a:spcBef>
              <a:defRPr/>
            </a:pPr>
            <a:endParaRPr lang="en-US" kern="0" dirty="0" smtClean="0">
              <a:latin typeface="Times New Roman" panose="02020603050405020304" pitchFamily="18" charset="0"/>
              <a:cs typeface="Times New Roman" panose="02020603050405020304" pitchFamily="18" charset="0"/>
            </a:endParaRPr>
          </a:p>
        </p:txBody>
      </p:sp>
      <p:pic>
        <p:nvPicPr>
          <p:cNvPr id="4098" name="Picture 2" descr="C:\Users\nEW u\Desktop\11.jpg"/>
          <p:cNvPicPr>
            <a:picLocks noChangeAspect="1" noChangeArrowheads="1"/>
          </p:cNvPicPr>
          <p:nvPr/>
        </p:nvPicPr>
        <p:blipFill>
          <a:blip r:embed="rId1"/>
          <a:srcRect/>
          <a:stretch>
            <a:fillRect/>
          </a:stretch>
        </p:blipFill>
        <p:spPr bwMode="auto">
          <a:xfrm>
            <a:off x="6779908" y="1999920"/>
            <a:ext cx="1854364" cy="1571636"/>
          </a:xfrm>
          <a:prstGeom prst="rect">
            <a:avLst/>
          </a:prstGeom>
          <a:noFill/>
        </p:spPr>
      </p:pic>
      <p:sp>
        <p:nvSpPr>
          <p:cNvPr id="16" name="Content Placeholder 2"/>
          <p:cNvSpPr txBox="1"/>
          <p:nvPr/>
        </p:nvSpPr>
        <p:spPr bwMode="auto">
          <a:xfrm>
            <a:off x="1207764" y="1857044"/>
            <a:ext cx="5429268" cy="2000264"/>
          </a:xfrm>
          <a:prstGeom prst="rect">
            <a:avLst/>
          </a:prstGeom>
          <a:noFill/>
          <a:ln w="9525">
            <a:noFill/>
            <a:miter lim="800000"/>
          </a:ln>
        </p:spPr>
        <p:txBody>
          <a:bodyPr/>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rPr>
              <a:t>When the system recovers, two recovery actions need to be taken. The undo(T2) must be performed, because the record &lt;T2  start&gt; appears in the log, but there is no record &lt;T2 commit&gt;. The operation redo(T1) must be performed since the log contains both the record &lt;T1  start&gt; and the record &lt;T1 commit&gt;. </a:t>
            </a:r>
            <a:endParaRPr lang="en-US" kern="0" dirty="0" smtClean="0">
              <a:latin typeface="Times New Roman" panose="02020603050405020304" pitchFamily="18" charset="0"/>
              <a:cs typeface="Times New Roman" panose="02020603050405020304" pitchFamily="18" charset="0"/>
            </a:endParaRPr>
          </a:p>
        </p:txBody>
      </p:sp>
      <p:sp>
        <p:nvSpPr>
          <p:cNvPr id="17" name="Content Placeholder 2"/>
          <p:cNvSpPr txBox="1"/>
          <p:nvPr/>
        </p:nvSpPr>
        <p:spPr bwMode="auto">
          <a:xfrm>
            <a:off x="1207744" y="4285936"/>
            <a:ext cx="5429288" cy="1928826"/>
          </a:xfrm>
          <a:prstGeom prst="rect">
            <a:avLst/>
          </a:prstGeom>
          <a:noFill/>
          <a:ln w="9525">
            <a:noFill/>
            <a:miter lim="800000"/>
          </a:ln>
        </p:spPr>
        <p:txBody>
          <a:bodyPr/>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rPr>
              <a:t>When the system recovers, both T1  and T2  need to be redone, since the records &lt;T1  start&gt; and &lt;T1  commit&gt; appear in the log, as do the records &lt;T2  start&gt; and &lt;T2  commit&gt;</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p:txBody>
      </p:sp>
      <p:sp>
        <p:nvSpPr>
          <p:cNvPr id="18" name="Content Placeholder 2"/>
          <p:cNvSpPr txBox="1"/>
          <p:nvPr/>
        </p:nvSpPr>
        <p:spPr bwMode="auto">
          <a:xfrm>
            <a:off x="1207744" y="3928746"/>
            <a:ext cx="7500938" cy="500066"/>
          </a:xfrm>
          <a:prstGeom prst="rect">
            <a:avLst/>
          </a:prstGeom>
          <a:noFill/>
          <a:ln w="9525">
            <a:noFill/>
            <a:miter lim="800000"/>
          </a:ln>
        </p:spPr>
        <p:txBody>
          <a:bodyPr/>
          <a:p>
            <a:pPr marL="342900" indent="-342900" algn="just">
              <a:spcBef>
                <a:spcPct val="20000"/>
              </a:spcBef>
              <a:buFont typeface="Wingdings" panose="05000000000000000000" pitchFamily="2" charset="2"/>
              <a:buChar char="Ø"/>
              <a:defRPr/>
            </a:pPr>
            <a:r>
              <a:rPr lang="en-US" b="1" kern="0" dirty="0" smtClean="0">
                <a:latin typeface="Times New Roman" panose="02020603050405020304" pitchFamily="18" charset="0"/>
                <a:cs typeface="Times New Roman" panose="02020603050405020304" pitchFamily="18" charset="0"/>
              </a:rPr>
              <a:t>Case-4: Crash occurs just after &lt;T2  commit&gt;</a:t>
            </a:r>
            <a:endParaRPr lang="en-US" b="1"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b="1"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b="1" kern="0" dirty="0" smtClean="0">
              <a:latin typeface="Times New Roman" panose="02020603050405020304" pitchFamily="18" charset="0"/>
              <a:cs typeface="Times New Roman" panose="02020603050405020304" pitchFamily="18" charset="0"/>
            </a:endParaRPr>
          </a:p>
          <a:p>
            <a:pPr marL="342900" indent="-342900" algn="just">
              <a:spcBef>
                <a:spcPct val="20000"/>
              </a:spcBef>
              <a:defRPr/>
            </a:pPr>
            <a:endParaRPr lang="en-US" kern="0" dirty="0" smtClean="0">
              <a:latin typeface="Times New Roman" panose="02020603050405020304" pitchFamily="18" charset="0"/>
              <a:cs typeface="Times New Roman" panose="02020603050405020304" pitchFamily="18" charset="0"/>
            </a:endParaRPr>
          </a:p>
        </p:txBody>
      </p:sp>
      <p:pic>
        <p:nvPicPr>
          <p:cNvPr id="4099" name="Picture 3" descr="C:\Users\nEW u\Desktop\11.jpg"/>
          <p:cNvPicPr>
            <a:picLocks noChangeAspect="1" noChangeArrowheads="1"/>
          </p:cNvPicPr>
          <p:nvPr/>
        </p:nvPicPr>
        <p:blipFill>
          <a:blip r:embed="rId2"/>
          <a:srcRect/>
          <a:stretch>
            <a:fillRect/>
          </a:stretch>
        </p:blipFill>
        <p:spPr bwMode="auto">
          <a:xfrm>
            <a:off x="6851346" y="4143059"/>
            <a:ext cx="1714512" cy="1659959"/>
          </a:xfrm>
          <a:prstGeom prst="rect">
            <a:avLst/>
          </a:prstGeom>
          <a:noFill/>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Checkpoints</a:t>
            </a:r>
            <a:endParaRPr lang="en-US"/>
          </a:p>
        </p:txBody>
      </p:sp>
      <p:sp>
        <p:nvSpPr>
          <p:cNvPr id="4" name="Content Placeholder 2"/>
          <p:cNvSpPr txBox="1"/>
          <p:nvPr/>
        </p:nvSpPr>
        <p:spPr bwMode="auto">
          <a:xfrm>
            <a:off x="857250" y="1642745"/>
            <a:ext cx="10496550" cy="5215255"/>
          </a:xfrm>
          <a:prstGeom prst="rect">
            <a:avLst/>
          </a:prstGeom>
          <a:noFill/>
          <a:ln w="9525">
            <a:noFill/>
            <a:miter lim="800000"/>
          </a:ln>
        </p:spPr>
        <p:txBody>
          <a:bodyPr/>
          <a:p>
            <a:pPr marL="342900" indent="-342900" algn="just">
              <a:spcBef>
                <a:spcPct val="20000"/>
              </a:spcBef>
              <a:buFont typeface="Wingdings" panose="05000000000000000000" pitchFamily="2" charset="2"/>
              <a:buChar char="Ø"/>
              <a:defRPr/>
            </a:pPr>
            <a:r>
              <a:rPr lang="en-IN" kern="0" dirty="0" smtClean="0">
                <a:latin typeface="Times New Roman" panose="02020603050405020304" pitchFamily="18" charset="0"/>
                <a:cs typeface="Times New Roman" panose="02020603050405020304" pitchFamily="18" charset="0"/>
              </a:rPr>
              <a:t>The checkpoint is a type of mechanism where all the previous logs are removed from the system and permanently stored in the storage disk.</a:t>
            </a:r>
            <a:endParaRPr lang="en-IN"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IN" kern="0" dirty="0" smtClean="0">
                <a:latin typeface="Times New Roman" panose="02020603050405020304" pitchFamily="18" charset="0"/>
                <a:cs typeface="Times New Roman" panose="02020603050405020304" pitchFamily="18" charset="0"/>
              </a:rPr>
              <a:t>The checkpoint is like a bookmark. While the execution of the transaction, such checkpoints are marked, and the transaction is executed then using the steps of the transaction, the log files will be created.</a:t>
            </a:r>
            <a:endParaRPr lang="en-IN"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IN" kern="0" dirty="0" smtClean="0">
                <a:latin typeface="Times New Roman" panose="02020603050405020304" pitchFamily="18" charset="0"/>
                <a:cs typeface="Times New Roman" panose="02020603050405020304" pitchFamily="18" charset="0"/>
              </a:rPr>
              <a:t>When it reaches to the checkpoint, then the transaction will be updated into the database, and till that point, the entire log file will be removed from the file. Then the log file is updated with the new step of transaction till next checkpoint and so on.</a:t>
            </a:r>
            <a:endParaRPr lang="en-IN"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IN" kern="0" dirty="0" smtClean="0">
                <a:latin typeface="Times New Roman" panose="02020603050405020304" pitchFamily="18" charset="0"/>
                <a:cs typeface="Times New Roman" panose="02020603050405020304" pitchFamily="18" charset="0"/>
              </a:rPr>
              <a:t>The checkpoint is used to declare a point before which the DBMS was in the consistent state, and all transactions were committed.</a:t>
            </a:r>
            <a:endParaRPr lang="en-IN"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ü"/>
              <a:defRPr/>
            </a:pPr>
            <a:endParaRPr lang="en-IN" kern="0" dirty="0" smtClean="0">
              <a:latin typeface="Times New Roman" panose="02020603050405020304" pitchFamily="18" charset="0"/>
              <a:cs typeface="Times New Roman" panose="02020603050405020304" pitchFamily="18" charset="0"/>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Recovery using Checkpoint</a:t>
            </a:r>
            <a:endParaRPr lang="en-US"/>
          </a:p>
        </p:txBody>
      </p:sp>
      <p:pic>
        <p:nvPicPr>
          <p:cNvPr id="4" name="Content Placeholder 1"/>
          <p:cNvPicPr>
            <a:picLocks noGrp="1" noChangeAspect="1"/>
          </p:cNvPicPr>
          <p:nvPr>
            <p:ph idx="1"/>
          </p:nvPr>
        </p:nvPicPr>
        <p:blipFill>
          <a:blip r:embed="rId1"/>
          <a:stretch>
            <a:fillRect/>
          </a:stretch>
        </p:blipFill>
        <p:spPr>
          <a:xfrm>
            <a:off x="2075815" y="1691005"/>
            <a:ext cx="6485255" cy="3827145"/>
          </a:xfrm>
          <a:prstGeom prst="rect">
            <a:avLst/>
          </a:prstGeom>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smtClean="0">
                <a:latin typeface="Times New Roman" panose="02020603050405020304" pitchFamily="18" charset="0"/>
                <a:cs typeface="Times New Roman" panose="02020603050405020304" pitchFamily="18" charset="0"/>
                <a:sym typeface="+mn-ea"/>
              </a:rPr>
              <a:t>Checkpoints</a:t>
            </a:r>
            <a:endParaRPr lang="en-US"/>
          </a:p>
        </p:txBody>
      </p:sp>
      <p:sp>
        <p:nvSpPr>
          <p:cNvPr id="3" name="Content Placeholder 2"/>
          <p:cNvSpPr>
            <a:spLocks noGrp="1"/>
          </p:cNvSpPr>
          <p:nvPr>
            <p:ph idx="1"/>
          </p:nvPr>
        </p:nvSpPr>
        <p:spPr/>
        <p:txBody>
          <a:bodyPr>
            <a:normAutofit fontScale="70000"/>
          </a:bodyPr>
          <a:p>
            <a:pPr marL="342900" indent="-342900" algn="just">
              <a:spcBef>
                <a:spcPct val="20000"/>
              </a:spcBef>
              <a:buFont typeface="Wingdings" panose="05000000000000000000" pitchFamily="2" charset="2"/>
              <a:buChar char="ü"/>
              <a:defRPr/>
            </a:pPr>
            <a:r>
              <a:rPr lang="en-IN" kern="0" dirty="0" smtClean="0">
                <a:latin typeface="Times New Roman" panose="02020603050405020304" pitchFamily="18" charset="0"/>
                <a:cs typeface="Times New Roman" panose="02020603050405020304" pitchFamily="18" charset="0"/>
                <a:sym typeface="+mn-ea"/>
              </a:rPr>
              <a:t>The recovery system reads log files from the end to start. It reads log files from T4 to T1.</a:t>
            </a:r>
            <a:endParaRPr lang="en-IN"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ü"/>
              <a:defRPr/>
            </a:pPr>
            <a:r>
              <a:rPr lang="en-IN" kern="0" dirty="0" smtClean="0">
                <a:latin typeface="Times New Roman" panose="02020603050405020304" pitchFamily="18" charset="0"/>
                <a:cs typeface="Times New Roman" panose="02020603050405020304" pitchFamily="18" charset="0"/>
                <a:sym typeface="+mn-ea"/>
              </a:rPr>
              <a:t>Recovery system maintains two lists, a redo-list, and an undo-list.</a:t>
            </a:r>
            <a:endParaRPr lang="en-IN"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ü"/>
              <a:defRPr/>
            </a:pPr>
            <a:r>
              <a:rPr lang="en-IN" kern="0" dirty="0" smtClean="0">
                <a:latin typeface="Times New Roman" panose="02020603050405020304" pitchFamily="18" charset="0"/>
                <a:cs typeface="Times New Roman" panose="02020603050405020304" pitchFamily="18" charset="0"/>
                <a:sym typeface="+mn-ea"/>
              </a:rPr>
              <a:t>The transaction is put into redo state if the recovery system sees a log with </a:t>
            </a:r>
            <a:r>
              <a:rPr lang="en-IN" b="1" kern="0" dirty="0" smtClean="0">
                <a:latin typeface="Times New Roman" panose="02020603050405020304" pitchFamily="18" charset="0"/>
                <a:cs typeface="Times New Roman" panose="02020603050405020304" pitchFamily="18" charset="0"/>
                <a:sym typeface="+mn-ea"/>
              </a:rPr>
              <a:t>&lt;Tn, Start&gt; and &lt;Tn, Commit&gt; or just &lt;Tn, Commit&gt;</a:t>
            </a:r>
            <a:r>
              <a:rPr lang="en-IN" kern="0" dirty="0" smtClean="0">
                <a:latin typeface="Times New Roman" panose="02020603050405020304" pitchFamily="18" charset="0"/>
                <a:cs typeface="Times New Roman" panose="02020603050405020304" pitchFamily="18" charset="0"/>
                <a:sym typeface="+mn-ea"/>
              </a:rPr>
              <a:t>. In the redo-list and their previous list, all the transactions are removed and then redone before saving their logs.</a:t>
            </a:r>
            <a:endParaRPr lang="en-IN"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ü"/>
              <a:defRPr/>
            </a:pPr>
            <a:r>
              <a:rPr lang="en-IN" kern="0" dirty="0" smtClean="0">
                <a:latin typeface="Times New Roman" panose="02020603050405020304" pitchFamily="18" charset="0"/>
                <a:cs typeface="Times New Roman" panose="02020603050405020304" pitchFamily="18" charset="0"/>
                <a:sym typeface="+mn-ea"/>
              </a:rPr>
              <a:t>For example: In the log file, transaction T2 and T3 will have</a:t>
            </a:r>
            <a:r>
              <a:rPr lang="en-IN" b="1" kern="0" dirty="0" smtClean="0">
                <a:latin typeface="Times New Roman" panose="02020603050405020304" pitchFamily="18" charset="0"/>
                <a:cs typeface="Times New Roman" panose="02020603050405020304" pitchFamily="18" charset="0"/>
                <a:sym typeface="+mn-ea"/>
              </a:rPr>
              <a:t> &lt;Tn, Start&gt; and &lt;Tn, Commit&gt;.</a:t>
            </a:r>
            <a:r>
              <a:rPr lang="en-IN" kern="0" dirty="0" smtClean="0">
                <a:latin typeface="Times New Roman" panose="02020603050405020304" pitchFamily="18" charset="0"/>
                <a:cs typeface="Times New Roman" panose="02020603050405020304" pitchFamily="18" charset="0"/>
                <a:sym typeface="+mn-ea"/>
              </a:rPr>
              <a:t> The T1 transaction will have only &lt;Tn, commit&gt; in the log file. That's why the transaction is committed after the checkpoint is crossed. Hence it puts T1, T2 and T3 transaction into redo list.</a:t>
            </a:r>
            <a:endParaRPr lang="en-IN"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ü"/>
              <a:defRPr/>
            </a:pPr>
            <a:r>
              <a:rPr lang="en-IN" kern="0" dirty="0" smtClean="0">
                <a:latin typeface="Times New Roman" panose="02020603050405020304" pitchFamily="18" charset="0"/>
                <a:cs typeface="Times New Roman" panose="02020603050405020304" pitchFamily="18" charset="0"/>
                <a:sym typeface="+mn-ea"/>
              </a:rPr>
              <a:t>The transaction is put into undo state if the recovery system sees a log with &lt;Tn, Start&gt; but no commit or abort log found. In the undo-list, all the transactions are undone, and their logs are removed.</a:t>
            </a:r>
            <a:endParaRPr lang="en-IN"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ü"/>
              <a:defRPr/>
            </a:pPr>
            <a:r>
              <a:rPr lang="en-IN" kern="0" dirty="0" smtClean="0">
                <a:latin typeface="Times New Roman" panose="02020603050405020304" pitchFamily="18" charset="0"/>
                <a:cs typeface="Times New Roman" panose="02020603050405020304" pitchFamily="18" charset="0"/>
                <a:sym typeface="+mn-ea"/>
              </a:rPr>
              <a:t>For example: Transaction T4 will have &lt;Tn, Start&gt;. So T4 will be put into undo list since this transaction is not yet complete and failed amid.</a:t>
            </a:r>
            <a:endParaRPr lang="en-IN" kern="0" dirty="0" smtClean="0">
              <a:latin typeface="Times New Roman" panose="02020603050405020304" pitchFamily="18" charset="0"/>
              <a:cs typeface="Times New Roman" panose="02020603050405020304" pitchFamily="18" charset="0"/>
            </a:endParaRPr>
          </a:p>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34233</Words>
  <Application>WPS Presentation</Application>
  <PresentationFormat>Widescreen</PresentationFormat>
  <Paragraphs>1191</Paragraphs>
  <Slides>82</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82</vt:i4>
      </vt:variant>
    </vt:vector>
  </HeadingPairs>
  <TitlesOfParts>
    <vt:vector size="93" baseType="lpstr">
      <vt:lpstr>Arial</vt:lpstr>
      <vt:lpstr>SimSun</vt:lpstr>
      <vt:lpstr>Wingdings</vt:lpstr>
      <vt:lpstr>Times New Roman</vt:lpstr>
      <vt:lpstr>Calibri Light</vt:lpstr>
      <vt:lpstr>Calibri</vt:lpstr>
      <vt:lpstr>Microsoft YaHei</vt:lpstr>
      <vt:lpstr>Arial Unicode MS</vt:lpstr>
      <vt:lpstr>Wingdings</vt:lpstr>
      <vt:lpstr>Arial</vt:lpstr>
      <vt:lpstr>Office Theme</vt:lpstr>
      <vt:lpstr>Transaction Processing and Error Recovery</vt:lpstr>
      <vt:lpstr>Transaction Concept</vt:lpstr>
      <vt:lpstr>Transaction Concept</vt:lpstr>
      <vt:lpstr>Required  Properties of a Transaction</vt:lpstr>
      <vt:lpstr>Required  Properties of a Transaction(contd..)</vt:lpstr>
      <vt:lpstr>Required  Properties of a Transaction(contd..)</vt:lpstr>
      <vt:lpstr>ACID Properties</vt:lpstr>
      <vt:lpstr>Transaction States</vt:lpstr>
      <vt:lpstr>Transaction States</vt:lpstr>
      <vt:lpstr>Concurrent Execution</vt:lpstr>
      <vt:lpstr>Schedule &amp; Serial Schedule</vt:lpstr>
      <vt:lpstr>Serial Schedule…</vt:lpstr>
      <vt:lpstr>Concurrent Schedule</vt:lpstr>
      <vt:lpstr>Serializability</vt:lpstr>
      <vt:lpstr>Serializability</vt:lpstr>
      <vt:lpstr>Conflict Serializability</vt:lpstr>
      <vt:lpstr>Conflict Serializability…</vt:lpstr>
      <vt:lpstr>Conflict Serializability…</vt:lpstr>
      <vt:lpstr>Conflict Serializability…</vt:lpstr>
      <vt:lpstr>Conflict Serializability…</vt:lpstr>
      <vt:lpstr>Testing for Conflict Serializability</vt:lpstr>
      <vt:lpstr>Testing for Conflict Serializability</vt:lpstr>
      <vt:lpstr>PowerPoint 演示文稿</vt:lpstr>
      <vt:lpstr>PowerPoint 演示文稿</vt:lpstr>
      <vt:lpstr>PowerPoint 演示文稿</vt:lpstr>
      <vt:lpstr>Concurrency Control</vt:lpstr>
      <vt:lpstr>Need of Concurrency Control</vt:lpstr>
      <vt:lpstr>1. Lost update problem</vt:lpstr>
      <vt:lpstr>Dirty Read Problem</vt:lpstr>
      <vt:lpstr>2. Dirty Read Problem - Example</vt:lpstr>
      <vt:lpstr>3. Inconsistent Retrievals / unrepeatable read Problem/Incorrect Summary Problem</vt:lpstr>
      <vt:lpstr>Unrepeatable read - Example </vt:lpstr>
      <vt:lpstr>Unrepeatable read - Example </vt:lpstr>
      <vt:lpstr>Concurrency Control Protocol</vt:lpstr>
      <vt:lpstr>Lock-Based Protocols</vt:lpstr>
      <vt:lpstr>Lock-Based Protocols</vt:lpstr>
      <vt:lpstr>Lock-Based Protocols</vt:lpstr>
      <vt:lpstr>Lock-Based Protocols</vt:lpstr>
      <vt:lpstr>Lock-Based Protocols</vt:lpstr>
      <vt:lpstr>Basic Rules for Locking</vt:lpstr>
      <vt:lpstr>Working of Locking</vt:lpstr>
      <vt:lpstr>Problem in shared and Exclusive locking</vt:lpstr>
      <vt:lpstr>Two-Phase Locking Protocol</vt:lpstr>
      <vt:lpstr>Two-Phase Locking Protocol…</vt:lpstr>
      <vt:lpstr>2PL locking</vt:lpstr>
      <vt:lpstr>Variations of Two-Phase Locking Protocol</vt:lpstr>
      <vt:lpstr>Two-Phase Locking Protocol</vt:lpstr>
      <vt:lpstr>Two-Phase Locking Protocol</vt:lpstr>
      <vt:lpstr>Two-Phase Locking Protocol</vt:lpstr>
      <vt:lpstr>Two-Phase Locking Protocol</vt:lpstr>
      <vt:lpstr>Two-Phase Locking Protocol</vt:lpstr>
      <vt:lpstr>Lock Conversions</vt:lpstr>
      <vt:lpstr>Lock Conversions…</vt:lpstr>
      <vt:lpstr>Timestamp Method</vt:lpstr>
      <vt:lpstr>Timestamp Method</vt:lpstr>
      <vt:lpstr>Timestamp Ordering Protocols</vt:lpstr>
      <vt:lpstr>Timestamp Ordering Protocols…</vt:lpstr>
      <vt:lpstr>Timestamp Ordering Protocols</vt:lpstr>
      <vt:lpstr>Timestamp Ordering Protocols</vt:lpstr>
      <vt:lpstr>Example- Find out Which transaction is doing Rollback</vt:lpstr>
      <vt:lpstr>Example- Find out Which transaction is doing Rollback</vt:lpstr>
      <vt:lpstr>Example- Find out Which transaction is doing Rollback </vt:lpstr>
      <vt:lpstr>Timestamp Ordering Protocols…</vt:lpstr>
      <vt:lpstr>Problems with Timestamp Ordering Protocols…</vt:lpstr>
      <vt:lpstr>Thomas write Rule</vt:lpstr>
      <vt:lpstr>Thomas write Rule</vt:lpstr>
      <vt:lpstr>Thomas write Rule</vt:lpstr>
      <vt:lpstr>Recovery System</vt:lpstr>
      <vt:lpstr>Log-Based Recovery</vt:lpstr>
      <vt:lpstr>Log-Based Recovery…</vt:lpstr>
      <vt:lpstr>Database Modification</vt:lpstr>
      <vt:lpstr>Database Modification…</vt:lpstr>
      <vt:lpstr>Recovery using Log records</vt:lpstr>
      <vt:lpstr>Deferred Database Modification...</vt:lpstr>
      <vt:lpstr>Deferred Database Modification...</vt:lpstr>
      <vt:lpstr>Immediate Database Modification</vt:lpstr>
      <vt:lpstr>Immediate Database Modification…</vt:lpstr>
      <vt:lpstr>Immediate Database Modification…</vt:lpstr>
      <vt:lpstr>Immediate Database Modification…</vt:lpstr>
      <vt:lpstr>Checkpoints</vt:lpstr>
      <vt:lpstr>Recovery using Checkpoint</vt:lpstr>
      <vt:lpstr>Checkpoints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KIIT0001</dc:creator>
  <cp:lastModifiedBy>Vishal Meena</cp:lastModifiedBy>
  <cp:revision>8</cp:revision>
  <dcterms:created xsi:type="dcterms:W3CDTF">2024-03-10T08:05:00Z</dcterms:created>
  <dcterms:modified xsi:type="dcterms:W3CDTF">2025-03-26T08:19:28Z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3EC452BABE97474D978C183A30D55500_11</vt:lpwstr>
  </property>
  <property fmtid="{D5CDD505-2E9C-101B-9397-08002B2CF9AE}" pid="3" name="KSOProductBuildVer">
    <vt:lpwstr>1033-12.2.0.20326</vt:lpwstr>
  </property>
</Properties>
</file>