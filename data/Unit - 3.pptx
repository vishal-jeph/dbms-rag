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58" r:id="rId24"/>
    <p:sldId id="359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22" r:id="rId76"/>
    <p:sldId id="330" r:id="rId77"/>
    <p:sldId id="331" r:id="rId78"/>
    <p:sldId id="332" r:id="rId79"/>
    <p:sldId id="437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6" r:id="rId101"/>
    <p:sldId id="357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Relational Database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Unit - 3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Database</a:t>
            </a:r>
            <a:r>
              <a:rPr spc="-6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Design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356870" marR="10795" indent="-34480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First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characterize fully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data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requirements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prospective database users,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usually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involves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textual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descriptions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(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Requirement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Analysis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).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marR="8890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Next,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choose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ER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model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translate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these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requirements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into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4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conceptual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schema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marR="9525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logical design phase,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map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high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level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conceptual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schema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onto the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implementation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model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system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will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be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used.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implementation</a:t>
            </a:r>
            <a:r>
              <a:rPr sz="28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model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typically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Relational</a:t>
            </a:r>
            <a:r>
              <a:rPr sz="2800" b="1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20" dirty="0">
                <a:latin typeface="Times New Roman" panose="02020603050405020304"/>
                <a:cs typeface="Times New Roman" panose="02020603050405020304"/>
                <a:sym typeface="+mn-ea"/>
              </a:rPr>
              <a:t>model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marR="8890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Finally,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use the resulting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system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specific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database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schema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subsequent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physical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design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phase,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which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physical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specified.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designing a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schema,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major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pitfalls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should</a:t>
            </a:r>
            <a:r>
              <a:rPr sz="2800" spc="-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avoided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Redundancy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: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means</a:t>
            </a:r>
            <a:r>
              <a:rPr sz="28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repetition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information.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marR="5080" lvl="1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Incompleteness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: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means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certain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aspects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enterprise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may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not 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modeled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due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difficulty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complexity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Problems encountered with bad schema designs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12065" indent="0">
              <a:lnSpc>
                <a:spcPct val="100000"/>
              </a:lnSpc>
              <a:spcBef>
                <a:spcPts val="1345"/>
              </a:spcBef>
              <a:buNone/>
              <a:tabLst>
                <a:tab pos="356870" algn="l"/>
                <a:tab pos="357505" algn="l"/>
              </a:tabLst>
            </a:pPr>
            <a:r>
              <a:rPr sz="2800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Bad</a:t>
            </a:r>
            <a:r>
              <a:rPr sz="2800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800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Design/Concept</a:t>
            </a:r>
            <a:r>
              <a:rPr sz="2800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9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Anomalies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6465" lvl="1" indent="-457200">
              <a:lnSpc>
                <a:spcPct val="100000"/>
              </a:lnSpc>
              <a:spcBef>
                <a:spcPts val="955"/>
              </a:spcBef>
              <a:tabLst>
                <a:tab pos="756285" algn="l"/>
                <a:tab pos="756920" algn="l"/>
              </a:tabLst>
            </a:pPr>
            <a:r>
              <a:rPr sz="2800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Insertion </a:t>
            </a:r>
            <a:r>
              <a:rPr sz="2800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Anomaly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6465" lvl="1" indent="-457200">
              <a:lnSpc>
                <a:spcPct val="100000"/>
              </a:lnSpc>
              <a:spcBef>
                <a:spcPts val="840"/>
              </a:spcBef>
              <a:tabLst>
                <a:tab pos="756285" algn="l"/>
                <a:tab pos="756920" algn="l"/>
              </a:tabLst>
            </a:pPr>
            <a:r>
              <a:rPr sz="2800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Updation</a:t>
            </a:r>
            <a:r>
              <a:rPr sz="2800" spc="-4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Anomaly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6465" lvl="1" indent="-457200">
              <a:lnSpc>
                <a:spcPct val="100000"/>
              </a:lnSpc>
              <a:spcBef>
                <a:spcPts val="845"/>
              </a:spcBef>
              <a:tabLst>
                <a:tab pos="756285" algn="l"/>
                <a:tab pos="756920" algn="l"/>
              </a:tabLst>
            </a:pPr>
            <a:r>
              <a:rPr sz="2800" spc="-1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Deletion</a:t>
            </a:r>
            <a:r>
              <a:rPr sz="2800" spc="-3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2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Anomaly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Bad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Database</a:t>
            </a:r>
            <a:r>
              <a:rPr spc="-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Design/Concept</a:t>
            </a:r>
            <a:r>
              <a:rPr spc="2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8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Anomalies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marR="5080" indent="-34480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 anomalies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are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problems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relations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that occur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due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to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redundancy </a:t>
            </a:r>
            <a:r>
              <a:rPr sz="20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the relations. These anomalies </a:t>
            </a: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affect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process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inserting, deleting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updating</a:t>
            </a:r>
            <a:r>
              <a:rPr sz="2000"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in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 relations.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56870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000" spc="4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intension</a:t>
            </a:r>
            <a:r>
              <a:rPr sz="2000" spc="45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000" spc="4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relational</a:t>
            </a:r>
            <a:r>
              <a:rPr sz="2000" spc="4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000" spc="4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theory</a:t>
            </a:r>
            <a:r>
              <a:rPr sz="2000" spc="4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000" spc="4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000" spc="4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eliminate</a:t>
            </a:r>
            <a:r>
              <a:rPr sz="2000" spc="4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anomalies</a:t>
            </a:r>
            <a:r>
              <a:rPr sz="2000" spc="4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from</a:t>
            </a:r>
            <a:r>
              <a:rPr 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occurring</a:t>
            </a:r>
            <a:r>
              <a:rPr sz="20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endParaRPr lang="en-US" sz="20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20195" y="3429209"/>
          <a:ext cx="6936740" cy="3105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3950"/>
                <a:gridCol w="1012189"/>
                <a:gridCol w="1315085"/>
                <a:gridCol w="1440814"/>
                <a:gridCol w="1047750"/>
                <a:gridCol w="987425"/>
              </a:tblGrid>
              <a:tr h="310007">
                <a:tc>
                  <a:txBody>
                    <a:bodyPr/>
                    <a:p>
                      <a:pPr marL="69850">
                        <a:lnSpc>
                          <a:spcPts val="2100"/>
                        </a:lnSpc>
                      </a:pPr>
                      <a:r>
                        <a:rPr sz="1800" b="1" spc="-20" dirty="0">
                          <a:latin typeface="Times New Roman" panose="02020603050405020304"/>
                          <a:cs typeface="Times New Roman" panose="02020603050405020304"/>
                        </a:rPr>
                        <a:t>Name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169545" algn="ctr">
                        <a:lnSpc>
                          <a:spcPts val="2100"/>
                        </a:lnSpc>
                      </a:pPr>
                      <a:r>
                        <a:rPr sz="18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Course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206375" algn="ctr">
                        <a:lnSpc>
                          <a:spcPts val="2100"/>
                        </a:lnSpc>
                      </a:pPr>
                      <a:r>
                        <a:rPr sz="1800" b="1" spc="-10" dirty="0">
                          <a:latin typeface="Times New Roman" panose="02020603050405020304"/>
                          <a:cs typeface="Times New Roman" panose="02020603050405020304"/>
                        </a:rPr>
                        <a:t>Phone_no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>
                        <a:lnSpc>
                          <a:spcPts val="2100"/>
                        </a:lnSpc>
                      </a:pPr>
                      <a:r>
                        <a:rPr sz="1800" b="1" spc="-5" dirty="0">
                          <a:latin typeface="Times New Roman" panose="02020603050405020304"/>
                          <a:cs typeface="Times New Roman" panose="02020603050405020304"/>
                        </a:rPr>
                        <a:t>Major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>
                        <a:lnSpc>
                          <a:spcPts val="2100"/>
                        </a:lnSpc>
                      </a:pPr>
                      <a:r>
                        <a:rPr sz="1800" b="1" spc="-15" dirty="0">
                          <a:latin typeface="Times New Roman" panose="02020603050405020304"/>
                          <a:cs typeface="Times New Roman" panose="02020603050405020304"/>
                        </a:rPr>
                        <a:t>Prof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2390">
                        <a:lnSpc>
                          <a:spcPts val="2100"/>
                        </a:lnSpc>
                      </a:pPr>
                      <a:r>
                        <a:rPr sz="1800" b="1" spc="-10" dirty="0">
                          <a:latin typeface="Times New Roman" panose="02020603050405020304"/>
                          <a:cs typeface="Times New Roman" panose="02020603050405020304"/>
                        </a:rPr>
                        <a:t>Grade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9140">
                <a:tc>
                  <a:txBody>
                    <a:bodyPr/>
                    <a:p>
                      <a:pPr marL="69850">
                        <a:lnSpc>
                          <a:spcPts val="2100"/>
                        </a:lnSpc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Mahesh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ts val="2100"/>
                        </a:lnSpc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353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ts val="2100"/>
                        </a:lnSpc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1234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71755">
                        <a:lnSpc>
                          <a:spcPts val="2100"/>
                        </a:lnSpc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Comp</a:t>
                      </a:r>
                      <a:r>
                        <a:rPr sz="18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sc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71755">
                        <a:lnSpc>
                          <a:spcPts val="2100"/>
                        </a:lnSpc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Alok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72390">
                        <a:lnSpc>
                          <a:spcPts val="2100"/>
                        </a:lnSpc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10228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Nitish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329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2435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Chemistry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Pratap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9998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Mahesh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328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1234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Comp</a:t>
                      </a:r>
                      <a:r>
                        <a:rPr sz="18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sc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Samuel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0302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Harish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456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4665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Physics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20" dirty="0">
                          <a:latin typeface="Times New Roman" panose="02020603050405020304"/>
                          <a:cs typeface="Times New Roman" panose="02020603050405020304"/>
                        </a:rPr>
                        <a:t>James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0291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Pranshu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293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4437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Decision</a:t>
                      </a: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 sc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Sachin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9998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Prateek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491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8788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Math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Saurav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0277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Prateek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356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8788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Math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Sunil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5" dirty="0">
                          <a:latin typeface="Times New Roman" panose="02020603050405020304"/>
                          <a:cs typeface="Times New Roman" panose="02020603050405020304"/>
                        </a:rPr>
                        <a:t>prog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9990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Mahesh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492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1234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Comp</a:t>
                      </a:r>
                      <a:r>
                        <a:rPr sz="18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sc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Paresh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5" dirty="0">
                          <a:latin typeface="Times New Roman" panose="02020603050405020304"/>
                          <a:cs typeface="Times New Roman" panose="02020603050405020304"/>
                        </a:rPr>
                        <a:t>prog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0153">
                <a:tc>
                  <a:txBody>
                    <a:bodyPr/>
                    <a:p>
                      <a:pPr marL="698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Sumit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15621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379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15938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4575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English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7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Rakesh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23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Bad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Database</a:t>
            </a:r>
            <a:r>
              <a:rPr spc="-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Design/Concept</a:t>
            </a:r>
            <a:r>
              <a:rPr spc="2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8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Anomalies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marR="10160" indent="-344805" algn="just">
              <a:lnSpc>
                <a:spcPct val="101000"/>
              </a:lnSpc>
              <a:spcBef>
                <a:spcPts val="8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Insertion Anomaly: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It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 the anomaly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which the user cannot insert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fact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about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entity until he/she has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an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additional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fact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about another 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entity.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other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words,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there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circumstances</a:t>
            </a:r>
            <a:r>
              <a:rPr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which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certain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facts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recorded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all.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algn="just">
              <a:lnSpc>
                <a:spcPct val="100000"/>
              </a:lnSpc>
              <a:spcBef>
                <a:spcPts val="410"/>
              </a:spcBef>
            </a:pP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Ex:</a:t>
            </a:r>
            <a:r>
              <a:rPr b="1"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85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cannot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record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new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prof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details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without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assigning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course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him.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665"/>
            <a:ext cx="10515600" cy="5682615"/>
          </a:xfrm>
        </p:spPr>
        <p:txBody>
          <a:bodyPr>
            <a:normAutofit fontScale="90000"/>
          </a:bodyPr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Deletion</a:t>
            </a:r>
            <a:r>
              <a:rPr b="1" spc="20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Anomaly:</a:t>
            </a:r>
            <a:r>
              <a:rPr b="1"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2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anomaly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22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spc="2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deletion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2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facts</a:t>
            </a:r>
            <a:r>
              <a:rPr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about</a:t>
            </a:r>
            <a:r>
              <a:rPr spc="2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an</a:t>
            </a:r>
            <a:r>
              <a:rPr lang="en-US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entity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automatically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deleted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fact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another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entity.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>
              <a:lnSpc>
                <a:spcPct val="100000"/>
              </a:lnSpc>
              <a:spcBef>
                <a:spcPts val="430"/>
              </a:spcBef>
            </a:pP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Ex:</a:t>
            </a:r>
            <a:r>
              <a:rPr b="1"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pc="2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pc="2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want</a:t>
            </a:r>
            <a:r>
              <a:rPr spc="22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pc="2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delete</a:t>
            </a:r>
            <a:r>
              <a:rPr spc="2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information</a:t>
            </a:r>
            <a:r>
              <a:rPr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about</a:t>
            </a:r>
            <a:r>
              <a:rPr spc="22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course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293,</a:t>
            </a:r>
            <a:r>
              <a:rPr spc="20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automatically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lang="en-US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information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prof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Sachin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will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deleted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not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our</a:t>
            </a:r>
            <a:r>
              <a:rPr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interest.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5080" indent="-344805" algn="just">
              <a:lnSpc>
                <a:spcPct val="100000"/>
              </a:lnSpc>
              <a:buFont typeface="Wingdings" panose="05000000000000000000"/>
              <a:buChar char=""/>
              <a:tabLst>
                <a:tab pos="3575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Updation Anomaly: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It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anomaly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which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modification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specific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 requires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modification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all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records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which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that value occurs.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other words, the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same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data can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expressed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multiple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rows.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Therefore,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updates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table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may</a:t>
            </a:r>
            <a:r>
              <a:rPr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result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logical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inconsistencies.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9525" algn="just">
              <a:lnSpc>
                <a:spcPct val="100000"/>
              </a:lnSpc>
              <a:spcBef>
                <a:spcPts val="440"/>
              </a:spcBef>
            </a:pP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Ex: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 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updation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to the </a:t>
            </a:r>
            <a:r>
              <a:rPr i="1" dirty="0">
                <a:latin typeface="Times New Roman" panose="02020603050405020304"/>
                <a:cs typeface="Times New Roman" panose="02020603050405020304"/>
                <a:sym typeface="+mn-ea"/>
              </a:rPr>
              <a:t>phone_no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Mahesh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done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single</a:t>
            </a:r>
            <a:r>
              <a:rPr spc="4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row 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only, 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pc="1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updation</a:t>
            </a:r>
            <a:r>
              <a:rPr spc="1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process</a:t>
            </a:r>
            <a:r>
              <a:rPr spc="1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will</a:t>
            </a:r>
            <a:r>
              <a:rPr spc="1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put</a:t>
            </a:r>
            <a:r>
              <a:rPr spc="1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pc="1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</a:t>
            </a:r>
            <a:r>
              <a:rPr spc="1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inconsistent</a:t>
            </a:r>
            <a:r>
              <a:rPr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state</a:t>
            </a:r>
            <a:r>
              <a:rPr spc="1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so</a:t>
            </a:r>
            <a:r>
              <a:rPr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that </a:t>
            </a:r>
            <a:r>
              <a:rPr spc="-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i="1" spc="5" dirty="0">
                <a:latin typeface="Times New Roman" panose="02020603050405020304"/>
                <a:cs typeface="Times New Roman" panose="02020603050405020304"/>
                <a:sym typeface="+mn-ea"/>
              </a:rPr>
              <a:t>phone_no</a:t>
            </a:r>
            <a:r>
              <a:rPr i="1"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Mahesh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will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give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conflicting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answers.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dirty="0">
                <a:solidFill>
                  <a:srgbClr val="000000"/>
                </a:solidFill>
                <a:sym typeface="+mn-ea"/>
              </a:rPr>
              <a:t> 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7890"/>
          </a:xfrm>
        </p:spPr>
        <p:txBody>
          <a:bodyPr>
            <a:normAutofit fontScale="80000"/>
          </a:bodyPr>
          <a:p>
            <a:pPr marL="356870" indent="-344805" algn="just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b="1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b="1" spc="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the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building</a:t>
            </a:r>
            <a:r>
              <a:rPr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block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normalization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principles.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8255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dependency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(FD) is a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set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constraints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between two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a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relation.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dependency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says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that if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two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tuples have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same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values for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attributes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A1,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A2,...,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An,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then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those two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tuples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must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have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to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have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same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attributes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B1,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B2,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...,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Bn.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In other words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 uniquely determines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 B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 there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were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several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tuples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that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had the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same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then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all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these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tuples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will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have an identical value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B.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That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is,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if </a:t>
            </a: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t1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t2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are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two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tuples </a:t>
            </a: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 R where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t1(A) = t2(A),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then </a:t>
            </a:r>
            <a:r>
              <a:rPr b="1" spc="20" dirty="0">
                <a:latin typeface="Times New Roman" panose="02020603050405020304"/>
                <a:cs typeface="Times New Roman" panose="02020603050405020304"/>
                <a:sym typeface="+mn-ea"/>
              </a:rPr>
              <a:t>we </a:t>
            </a:r>
            <a:r>
              <a:rPr b="1" spc="-25" dirty="0">
                <a:latin typeface="Times New Roman" panose="02020603050405020304"/>
                <a:cs typeface="Times New Roman" panose="02020603050405020304"/>
                <a:sym typeface="+mn-ea"/>
              </a:rPr>
              <a:t>must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have 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t1(B)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= 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 t2(B).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8255" indent="-344805" algn="just">
              <a:lnSpc>
                <a:spcPct val="100000"/>
              </a:lnSpc>
              <a:spcBef>
                <a:spcPts val="44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pc="1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relationship</a:t>
            </a:r>
            <a:r>
              <a:rPr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pc="1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exists</a:t>
            </a:r>
            <a:r>
              <a:rPr spc="1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between</a:t>
            </a:r>
            <a:r>
              <a:rPr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pc="1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attributes. </a:t>
            </a:r>
            <a:r>
              <a:rPr spc="-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It typically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exists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between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primary </a:t>
            </a:r>
            <a:r>
              <a:rPr b="1" spc="-20" dirty="0">
                <a:latin typeface="Times New Roman" panose="02020603050405020304"/>
                <a:cs typeface="Times New Roman" panose="02020603050405020304"/>
                <a:sym typeface="+mn-ea"/>
              </a:rPr>
              <a:t>key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non-key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within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table.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8255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dependency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is represented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by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arrow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sign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(→)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that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is,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X→Y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where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X functionally determines </a:t>
            </a:r>
            <a:r>
              <a:rPr b="1" spc="-125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pc="-125" dirty="0">
                <a:latin typeface="Times New Roman" panose="02020603050405020304"/>
                <a:cs typeface="Times New Roman" panose="02020603050405020304"/>
                <a:sym typeface="+mn-ea"/>
              </a:rPr>
              <a:t>.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 left-hand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side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attributes determine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values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right-hand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side.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dirty="0">
                <a:solidFill>
                  <a:srgbClr val="000000"/>
                </a:solidFill>
                <a:sym typeface="+mn-ea"/>
              </a:rPr>
              <a:t> 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356870" indent="-344805" algn="just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Example: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415290" indent="-40322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41592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Suppose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have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student</a:t>
            </a:r>
            <a:r>
              <a:rPr b="1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table</a:t>
            </a:r>
            <a:r>
              <a:rPr b="1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with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attributes: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i="1" dirty="0">
                <a:latin typeface="Times New Roman" panose="02020603050405020304"/>
                <a:cs typeface="Times New Roman" panose="02020603050405020304"/>
                <a:sym typeface="+mn-ea"/>
              </a:rPr>
              <a:t>Stu_Id,</a:t>
            </a:r>
            <a:r>
              <a:rPr b="1" i="1" spc="-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i="1" spc="5" dirty="0">
                <a:latin typeface="Times New Roman" panose="02020603050405020304"/>
                <a:cs typeface="Times New Roman" panose="02020603050405020304"/>
                <a:sym typeface="+mn-ea"/>
              </a:rPr>
              <a:t>Stu_Name,</a:t>
            </a:r>
            <a:r>
              <a:rPr b="1" i="1"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i="1" dirty="0">
                <a:latin typeface="Times New Roman" panose="02020603050405020304"/>
                <a:cs typeface="Times New Roman" panose="02020603050405020304"/>
                <a:sym typeface="+mn-ea"/>
              </a:rPr>
              <a:t>Stu_Age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5715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415925" algn="l"/>
              </a:tabLst>
            </a:pPr>
            <a:r>
              <a:rPr dirty="0">
                <a:sym typeface="+mn-ea"/>
              </a:rPr>
              <a:t>	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Here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Stu_Id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 uniquely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identifies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Stu_Name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student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table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because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we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know 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student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id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we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tell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 student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name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associated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with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it.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This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known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written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155700" algn="just">
              <a:lnSpc>
                <a:spcPct val="100000"/>
              </a:lnSpc>
              <a:spcBef>
                <a:spcPts val="43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Stu_Id</a:t>
            </a:r>
            <a:r>
              <a:rPr b="1" spc="3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-&gt;Stu_Name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70485" algn="just">
              <a:lnSpc>
                <a:spcPct val="100000"/>
              </a:lnSpc>
              <a:spcBef>
                <a:spcPts val="435"/>
              </a:spcBef>
            </a:pP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words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say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Stu_Name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functionally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dependent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Stu_Id..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dirty="0">
                <a:solidFill>
                  <a:srgbClr val="000000"/>
                </a:solidFill>
                <a:sym typeface="+mn-ea"/>
              </a:rPr>
              <a:t> 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Advantages</a:t>
            </a:r>
            <a:r>
              <a:rPr sz="2800" b="1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b="1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 panose="05000000000000000000"/>
              <a:buChar char=""/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marR="5080" lvl="1" indent="-344805">
              <a:lnSpc>
                <a:spcPct val="100000"/>
              </a:lnSpc>
              <a:buAutoNum type="arabicPeriod"/>
              <a:tabLst>
                <a:tab pos="813435" algn="l"/>
                <a:tab pos="8147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spc="2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spc="2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avoids</a:t>
            </a:r>
            <a:r>
              <a:rPr sz="2800"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z="2800"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redundancy</a:t>
            </a:r>
            <a:r>
              <a:rPr sz="2800" spc="2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where</a:t>
            </a:r>
            <a:r>
              <a:rPr sz="2800"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sz="2800" b="1" spc="2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z="2800" b="1"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should </a:t>
            </a:r>
            <a:r>
              <a:rPr sz="2800" b="1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5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repeated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at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multiple</a:t>
            </a:r>
            <a:r>
              <a:rPr sz="28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locations</a:t>
            </a:r>
            <a:r>
              <a:rPr sz="28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3435" algn="l"/>
                <a:tab pos="8147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maintains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the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quality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 in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813435" algn="l"/>
                <a:tab pos="8147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allows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clearly</a:t>
            </a:r>
            <a:r>
              <a:rPr sz="2800" b="1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defined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meanings</a:t>
            </a:r>
            <a:r>
              <a:rPr sz="2800"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constraints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3435" algn="l"/>
                <a:tab pos="8147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helps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identifying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bad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designs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3435" algn="l"/>
                <a:tab pos="8147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expresses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facts</a:t>
            </a:r>
            <a:r>
              <a:rPr sz="28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about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design.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dirty="0">
                <a:solidFill>
                  <a:srgbClr val="000000"/>
                </a:solidFill>
                <a:sym typeface="+mn-ea"/>
              </a:rPr>
              <a:t> 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0" dirty="0">
                <a:latin typeface="Times New Roman" panose="02020603050405020304"/>
                <a:cs typeface="Times New Roman" panose="02020603050405020304"/>
                <a:sym typeface="+mn-ea"/>
              </a:rPr>
              <a:t>Testing</a:t>
            </a:r>
            <a:r>
              <a:rPr sz="20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000"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000" b="1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Dependency:</a:t>
            </a:r>
            <a:r>
              <a:rPr sz="2000" b="1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Good</a:t>
            </a:r>
            <a:r>
              <a:rPr sz="2000" b="1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NOT)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000" b="1"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ho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20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35" dirty="0">
                <a:latin typeface="Times New Roman" panose="02020603050405020304"/>
                <a:cs typeface="Times New Roman" panose="02020603050405020304"/>
                <a:sym typeface="+mn-ea"/>
              </a:rPr>
              <a:t>G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ood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-&gt;C</a:t>
            </a:r>
            <a:r>
              <a:rPr sz="2000" b="1" spc="4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(Holds</a:t>
            </a:r>
            <a:r>
              <a:rPr sz="20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good)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3234055">
              <a:lnSpc>
                <a:spcPct val="120000"/>
              </a:lnSpc>
              <a:spcBef>
                <a:spcPts val="5"/>
              </a:spcBef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-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&gt;</a:t>
            </a:r>
            <a:r>
              <a:rPr sz="2000" b="1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(Not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z="2000" spc="-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good) </a:t>
            </a:r>
            <a:r>
              <a:rPr sz="20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endParaRPr sz="2000" spc="-434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0" marR="3234055" indent="0">
              <a:lnSpc>
                <a:spcPct val="120000"/>
              </a:lnSpc>
              <a:spcBef>
                <a:spcPts val="5"/>
              </a:spcBef>
              <a:buFont typeface="Times New Roman" panose="02020603050405020304"/>
              <a:buNone/>
              <a:tabLst>
                <a:tab pos="241300" algn="l"/>
              </a:tabLst>
            </a:pP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4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r>
              <a:rPr sz="2000" b="1" spc="15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ho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lang="en-US"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g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ood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endParaRPr sz="20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0" marR="3234055" indent="0">
              <a:lnSpc>
                <a:spcPct val="120000"/>
              </a:lnSpc>
              <a:spcBef>
                <a:spcPts val="5"/>
              </a:spcBef>
              <a:buFont typeface="Times New Roman" panose="02020603050405020304"/>
              <a:buNone/>
              <a:tabLst>
                <a:tab pos="241300" algn="l"/>
              </a:tabLst>
            </a:pPr>
            <a:r>
              <a:rPr sz="2000" b="1" spc="5" dirty="0">
                <a:latin typeface="Times New Roman" panose="02020603050405020304"/>
                <a:cs typeface="Times New Roman" panose="02020603050405020304"/>
                <a:sym typeface="+mn-ea"/>
              </a:rPr>
              <a:t>Q.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sz="2000" b="1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000"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above</a:t>
            </a:r>
            <a:r>
              <a:rPr sz="2000" b="1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option</a:t>
            </a:r>
            <a:r>
              <a:rPr sz="20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correct</a:t>
            </a:r>
            <a:r>
              <a:rPr sz="2000" b="1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(FD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z="2000" b="1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good.)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0" marR="3234055" indent="0">
              <a:lnSpc>
                <a:spcPct val="120000"/>
              </a:lnSpc>
              <a:spcBef>
                <a:spcPts val="5"/>
              </a:spcBef>
              <a:buFont typeface="Times New Roman" panose="02020603050405020304"/>
              <a:buNone/>
              <a:tabLst>
                <a:tab pos="241300" algn="l"/>
              </a:tabLst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625470" y="4348733"/>
          <a:ext cx="6511925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575"/>
                <a:gridCol w="1298575"/>
                <a:gridCol w="1298575"/>
                <a:gridCol w="1298575"/>
                <a:gridCol w="1298575"/>
              </a:tblGrid>
              <a:tr h="365759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334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65887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334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633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334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65759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33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823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33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dirty="0">
                <a:solidFill>
                  <a:srgbClr val="000000"/>
                </a:solidFill>
                <a:sym typeface="+mn-ea"/>
              </a:rPr>
              <a:t> 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b="1" spc="-30" dirty="0">
                <a:latin typeface="Times New Roman" panose="02020603050405020304"/>
                <a:cs typeface="Times New Roman" panose="02020603050405020304"/>
                <a:sym typeface="+mn-ea"/>
              </a:rPr>
              <a:t>Testing</a:t>
            </a:r>
            <a:r>
              <a:rPr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b="1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Dependency:</a:t>
            </a:r>
            <a:r>
              <a:rPr b="1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Good</a:t>
            </a:r>
            <a:r>
              <a:rPr b="1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NOT)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1.</a:t>
            </a:r>
            <a:r>
              <a:rPr b="1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XY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Z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&amp;&amp;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Z-&gt;Y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430"/>
              </a:spcBef>
              <a:buNone/>
            </a:pP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2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r>
              <a:rPr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YZ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-&gt;X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&amp;&amp;</a:t>
            </a:r>
            <a:r>
              <a:rPr spc="-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5" dirty="0">
                <a:latin typeface="Times New Roman" panose="02020603050405020304"/>
                <a:cs typeface="Times New Roman" panose="02020603050405020304"/>
                <a:sym typeface="+mn-ea"/>
              </a:rPr>
              <a:t>Y-&gt;Z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marR="3898900" indent="0">
              <a:lnSpc>
                <a:spcPct val="120000"/>
              </a:lnSpc>
              <a:spcBef>
                <a:spcPts val="5"/>
              </a:spcBef>
              <a:buNone/>
            </a:pP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3.</a:t>
            </a:r>
            <a:r>
              <a:rPr spc="-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YZ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-&gt;X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&amp;&amp;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X-&gt;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Z </a:t>
            </a:r>
            <a:endParaRPr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0" marR="3898900" indent="0">
              <a:lnSpc>
                <a:spcPct val="120000"/>
              </a:lnSpc>
              <a:spcBef>
                <a:spcPts val="5"/>
              </a:spcBef>
              <a:buNone/>
            </a:pP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4.XZ</a:t>
            </a:r>
            <a:r>
              <a:rPr spc="-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pc="-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pc="-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&amp;&amp;</a:t>
            </a:r>
            <a:r>
              <a:rPr spc="-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pc="-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-&gt;Z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Q.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b="1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above</a:t>
            </a:r>
            <a:r>
              <a:rPr b="1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option</a:t>
            </a: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correct</a:t>
            </a:r>
            <a:r>
              <a:rPr b="1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(FD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b="1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good.)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63365" y="4946903"/>
          <a:ext cx="3914775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575"/>
                <a:gridCol w="1298575"/>
                <a:gridCol w="1298575"/>
              </a:tblGrid>
              <a:tr h="365759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Z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65887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633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65759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823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dirty="0">
                <a:solidFill>
                  <a:srgbClr val="000000"/>
                </a:solidFill>
                <a:sym typeface="+mn-ea"/>
              </a:rPr>
              <a:t> 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b="1" spc="-30" dirty="0">
                <a:latin typeface="Times New Roman" panose="02020603050405020304"/>
                <a:cs typeface="Times New Roman" panose="02020603050405020304"/>
                <a:sym typeface="+mn-ea"/>
              </a:rPr>
              <a:t>Testing</a:t>
            </a:r>
            <a:r>
              <a:rPr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b="1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Dependency:</a:t>
            </a:r>
            <a:r>
              <a:rPr b="1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Good</a:t>
            </a:r>
            <a:r>
              <a:rPr b="1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NOT)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530"/>
              </a:spcBef>
              <a:buNone/>
            </a:pP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1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r>
              <a:rPr spc="-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-&gt;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&amp;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&amp;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B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pc="-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2.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pc="4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&amp;&amp;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CA-&gt;B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3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&gt;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&amp;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&amp;</a:t>
            </a:r>
            <a:r>
              <a:rPr spc="-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-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&gt;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4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1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&amp;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&amp;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B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&gt;A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Q.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b="1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above</a:t>
            </a:r>
            <a:r>
              <a:rPr b="1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option</a:t>
            </a: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correct</a:t>
            </a:r>
            <a:r>
              <a:rPr b="1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(FD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b="1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good.)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506850" y="4713858"/>
          <a:ext cx="3914775" cy="1477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575"/>
                <a:gridCol w="1298575"/>
                <a:gridCol w="1298575"/>
              </a:tblGrid>
              <a:tr h="365760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65887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887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66013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dirty="0">
                <a:solidFill>
                  <a:srgbClr val="000000"/>
                </a:solidFill>
                <a:sym typeface="+mn-ea"/>
              </a:rPr>
              <a:t> 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Note</a:t>
            </a:r>
            <a:r>
              <a:rPr b="1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: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pc="-85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never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find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out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by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help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data.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241300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Generally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depends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upon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Steps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Checking FD: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B)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435"/>
              </a:spcBef>
              <a:buSzPct val="94000"/>
              <a:buAutoNum type="arabicPeriod"/>
              <a:tabLst>
                <a:tab pos="186690" algn="l"/>
              </a:tabLst>
            </a:pPr>
            <a:r>
              <a:rPr spc="-65" dirty="0">
                <a:latin typeface="Times New Roman" panose="02020603050405020304"/>
                <a:cs typeface="Times New Roman" panose="02020603050405020304"/>
                <a:sym typeface="+mn-ea"/>
              </a:rPr>
              <a:t>You</a:t>
            </a:r>
            <a:r>
              <a:rPr spc="1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must</a:t>
            </a:r>
            <a:r>
              <a:rPr spc="1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check</a:t>
            </a:r>
            <a:r>
              <a:rPr spc="1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value</a:t>
            </a:r>
            <a:r>
              <a:rPr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20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pc="1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pc="1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1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values</a:t>
            </a:r>
            <a:r>
              <a:rPr spc="1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1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unique</a:t>
            </a:r>
            <a:r>
              <a:rPr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pc="1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FD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good.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86055" indent="-173990">
              <a:lnSpc>
                <a:spcPct val="100000"/>
              </a:lnSpc>
              <a:spcBef>
                <a:spcPts val="430"/>
              </a:spcBef>
              <a:buSzPct val="94000"/>
              <a:buAutoNum type="arabicPeriod"/>
              <a:tabLst>
                <a:tab pos="186690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values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also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good.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  <a:spcBef>
                <a:spcPts val="435"/>
              </a:spcBef>
              <a:buSzPct val="94000"/>
              <a:buAutoNum type="arabicPeriod"/>
              <a:tabLst>
                <a:tab pos="186690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values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get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different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values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doesnot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good.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5" dirty="0">
                <a:solidFill>
                  <a:srgbClr val="000000"/>
                </a:solidFill>
                <a:sym typeface="+mn-ea"/>
              </a:rPr>
              <a:t>Types</a:t>
            </a:r>
            <a:r>
              <a:rPr spc="-2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2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Functional Dependency</a:t>
            </a:r>
            <a:r>
              <a:rPr spc="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(FD)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indent="-34480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b="1" spc="-2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b="1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non-trivial</a:t>
            </a:r>
            <a:r>
              <a:rPr b="1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b="1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Multivalued</a:t>
            </a:r>
            <a:r>
              <a:rPr b="1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356870" algn="l"/>
                <a:tab pos="357505" algn="l"/>
              </a:tabLst>
            </a:pPr>
            <a:r>
              <a:rPr b="1" spc="-25" dirty="0">
                <a:latin typeface="Times New Roman" panose="02020603050405020304"/>
                <a:cs typeface="Times New Roman" panose="02020603050405020304"/>
                <a:sym typeface="+mn-ea"/>
              </a:rPr>
              <a:t>Transitive</a:t>
            </a:r>
            <a:r>
              <a:rPr b="1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40" dirty="0">
                <a:solidFill>
                  <a:srgbClr val="000000"/>
                </a:solidFill>
                <a:sym typeface="+mn-ea"/>
              </a:rPr>
              <a:t>Trivial</a:t>
            </a:r>
            <a:r>
              <a:rPr spc="-5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FDs</a:t>
            </a:r>
            <a:r>
              <a:rPr spc="-1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and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spc="-25" dirty="0">
                <a:solidFill>
                  <a:srgbClr val="000000"/>
                </a:solidFill>
                <a:sym typeface="+mn-ea"/>
              </a:rPr>
              <a:t>Non-Trivial </a:t>
            </a:r>
            <a:r>
              <a:rPr spc="-5" dirty="0">
                <a:solidFill>
                  <a:srgbClr val="000000"/>
                </a:solidFill>
                <a:sym typeface="+mn-ea"/>
              </a:rPr>
              <a:t>FDs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356870" indent="-344805" algn="just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000" b="1" spc="-2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FDs: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000"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0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0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X→Y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0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0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20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000"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0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0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0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lang="en-US"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subset</a:t>
            </a:r>
            <a:r>
              <a:rPr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equal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0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X.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following</a:t>
            </a:r>
            <a:r>
              <a:rPr sz="20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also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trivial:</a:t>
            </a:r>
            <a:r>
              <a:rPr sz="2000" spc="-11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A-&gt;A</a:t>
            </a:r>
            <a:r>
              <a:rPr sz="2000" spc="-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&amp;</a:t>
            </a:r>
            <a:r>
              <a:rPr sz="20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B-&gt;B</a:t>
            </a:r>
            <a:endParaRPr sz="2000" spc="-1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469265" lvl="1" indent="0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None/>
              <a:tabLst>
                <a:tab pos="814705" algn="l"/>
              </a:tabLst>
            </a:pP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For exampl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e-1,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{Name,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Course}→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Course.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If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records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have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same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values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on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both the </a:t>
            </a: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Name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Course attributes, then they obviously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have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0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sz="20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Course.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41300" indent="0" algn="just">
              <a:lnSpc>
                <a:spcPct val="100000"/>
              </a:lnSpc>
              <a:spcBef>
                <a:spcPts val="435"/>
              </a:spcBef>
              <a:buNone/>
            </a:pPr>
            <a:r>
              <a:rPr sz="20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2000" b="1" spc="-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exampl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e-2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814070" marR="5080" lvl="1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{Student_Id,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Student_Name}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z="20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Student_Id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is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dependency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as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Student_Id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subset</a:t>
            </a:r>
            <a:r>
              <a:rPr sz="2000" spc="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{Student_Id,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Student_Name}.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makes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sense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because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if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know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values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Student_Id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 Student_Name</a:t>
            </a:r>
            <a:r>
              <a:rPr sz="20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then the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value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of</a:t>
            </a: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Student_Id</a:t>
            </a:r>
            <a:r>
              <a:rPr sz="2000" spc="-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z="20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uniquely</a:t>
            </a:r>
            <a:r>
              <a:rPr sz="2000" spc="-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determined.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814070" marR="8890" lvl="1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Also,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Student_Id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-&gt;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Student_Id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&amp;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Student_Name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-&gt;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Student_Name are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too.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20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hold</a:t>
            </a:r>
            <a:r>
              <a:rPr sz="20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20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  <a:sym typeface="+mn-ea"/>
              </a:rPr>
              <a:t>instances.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endParaRPr lang="en-US"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40" dirty="0">
                <a:solidFill>
                  <a:srgbClr val="000000"/>
                </a:solidFill>
                <a:sym typeface="+mn-ea"/>
              </a:rPr>
              <a:t>Trivial</a:t>
            </a:r>
            <a:r>
              <a:rPr spc="-5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FDs</a:t>
            </a:r>
            <a:r>
              <a:rPr spc="-1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and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spc="-25" dirty="0">
                <a:solidFill>
                  <a:srgbClr val="000000"/>
                </a:solidFill>
                <a:sym typeface="+mn-ea"/>
              </a:rPr>
              <a:t>Non-Trivial </a:t>
            </a:r>
            <a:r>
              <a:rPr spc="-5" dirty="0">
                <a:solidFill>
                  <a:srgbClr val="000000"/>
                </a:solidFill>
                <a:sym typeface="+mn-ea"/>
              </a:rPr>
              <a:t>FDs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indent="-344805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600" b="1" spc="-20" dirty="0">
                <a:latin typeface="Times New Roman" panose="02020603050405020304"/>
                <a:cs typeface="Times New Roman" panose="02020603050405020304"/>
                <a:sym typeface="+mn-ea"/>
              </a:rPr>
              <a:t>Non-Trivial</a:t>
            </a:r>
            <a:r>
              <a:rPr sz="16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FDs: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16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16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16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1600" spc="1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X-&gt;Y</a:t>
            </a:r>
            <a:r>
              <a:rPr sz="16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z="1600" spc="1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true</a:t>
            </a:r>
            <a:r>
              <a:rPr sz="1600"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where</a:t>
            </a:r>
            <a:r>
              <a:rPr sz="16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z="1600"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16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z="1600" spc="1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16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subset</a:t>
            </a:r>
            <a:r>
              <a:rPr sz="1600" spc="1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1600" spc="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lang="en-US" sz="16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this</a:t>
            </a:r>
            <a:r>
              <a:rPr sz="16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16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called</a:t>
            </a:r>
            <a:r>
              <a:rPr sz="16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non</a:t>
            </a:r>
            <a:r>
              <a:rPr sz="16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16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16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example,</a:t>
            </a:r>
            <a:r>
              <a:rPr sz="16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Prof→Grade.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marR="63500" lvl="1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Non-trivial</a:t>
            </a:r>
            <a:r>
              <a:rPr sz="1600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FDs</a:t>
            </a:r>
            <a:r>
              <a:rPr sz="1600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z="1600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given</a:t>
            </a:r>
            <a:r>
              <a:rPr sz="1600" spc="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implicitly</a:t>
            </a:r>
            <a:r>
              <a:rPr sz="16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16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16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form</a:t>
            </a:r>
            <a:r>
              <a:rPr sz="16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1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16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constraints</a:t>
            </a:r>
            <a:r>
              <a:rPr sz="1600"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when </a:t>
            </a:r>
            <a:r>
              <a:rPr sz="16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designing</a:t>
            </a:r>
            <a:r>
              <a:rPr sz="16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16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database.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16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1600" b="1" spc="-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example: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  <a:sym typeface="+mn-ea"/>
              </a:rPr>
              <a:t>An</a:t>
            </a:r>
            <a:r>
              <a:rPr sz="16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employee</a:t>
            </a:r>
            <a:r>
              <a:rPr sz="16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table</a:t>
            </a:r>
            <a:r>
              <a:rPr sz="16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with</a:t>
            </a:r>
            <a:r>
              <a:rPr sz="16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three</a:t>
            </a:r>
            <a:r>
              <a:rPr sz="16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attributes:</a:t>
            </a:r>
            <a:r>
              <a:rPr sz="16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emp_id,</a:t>
            </a:r>
            <a:r>
              <a:rPr sz="16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emp_name,</a:t>
            </a:r>
            <a:r>
              <a:rPr sz="16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emp_address.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following</a:t>
            </a:r>
            <a:r>
              <a:rPr sz="16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z="16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non-trivial: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indent="-34480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3435" algn="l"/>
                <a:tab pos="814705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emp_id</a:t>
            </a:r>
            <a:r>
              <a:rPr sz="16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emp_name</a:t>
            </a:r>
            <a:r>
              <a:rPr sz="16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(emp_name</a:t>
            </a:r>
            <a:r>
              <a:rPr sz="16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16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z="16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subset</a:t>
            </a:r>
            <a:r>
              <a:rPr sz="16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16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emp_id)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14070" indent="-34480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3435" algn="l"/>
                <a:tab pos="814705" algn="l"/>
              </a:tabLst>
            </a:pP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emp_id</a:t>
            </a:r>
            <a:r>
              <a:rPr sz="16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-&gt; emp_address</a:t>
            </a:r>
            <a:r>
              <a:rPr sz="16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(emp_address</a:t>
            </a:r>
            <a:r>
              <a:rPr sz="16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16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z="16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subset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16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emp_id)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indent="0">
              <a:lnSpc>
                <a:spcPct val="100000"/>
              </a:lnSpc>
              <a:buNone/>
            </a:pPr>
            <a:r>
              <a:rPr sz="16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Completely</a:t>
            </a:r>
            <a:r>
              <a:rPr sz="1600" b="1" spc="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non</a:t>
            </a:r>
            <a:r>
              <a:rPr sz="1600"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FD: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41300" indent="0">
              <a:lnSpc>
                <a:spcPct val="100000"/>
              </a:lnSpc>
              <a:spcBef>
                <a:spcPts val="435"/>
              </a:spcBef>
              <a:buNone/>
              <a:tabLst>
                <a:tab pos="573849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16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16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z="1600" spc="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X-&gt;Y</a:t>
            </a:r>
            <a:r>
              <a:rPr sz="16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z="1600" spc="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true</a:t>
            </a:r>
            <a:r>
              <a:rPr sz="16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where</a:t>
            </a:r>
            <a:r>
              <a:rPr sz="16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z="16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intersection</a:t>
            </a:r>
            <a:r>
              <a:rPr sz="16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16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null</a:t>
            </a:r>
            <a:r>
              <a:rPr lang="en-US"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z="16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this</a:t>
            </a:r>
            <a:r>
              <a:rPr sz="1600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lang="en-US"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said 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16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 completely</a:t>
            </a:r>
            <a:r>
              <a:rPr sz="16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non</a:t>
            </a:r>
            <a:r>
              <a:rPr sz="16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trivial</a:t>
            </a:r>
            <a:r>
              <a:rPr sz="16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</a:t>
            </a:r>
            <a:r>
              <a:rPr sz="16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600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endParaRPr lang="en-US"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Multivalued</a:t>
            </a:r>
            <a:r>
              <a:rPr spc="-5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dependency</a:t>
            </a:r>
            <a:r>
              <a:rPr spc="-3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in </a:t>
            </a:r>
            <a:r>
              <a:rPr spc="5" dirty="0">
                <a:solidFill>
                  <a:srgbClr val="000000"/>
                </a:solidFill>
                <a:sym typeface="+mn-ea"/>
              </a:rPr>
              <a:t>DBMS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spc="5" dirty="0">
                <a:solidFill>
                  <a:srgbClr val="000000"/>
                </a:solidFill>
                <a:sym typeface="+mn-ea"/>
              </a:rPr>
              <a:t>(-&gt;&gt;):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Multivalued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b="1" spc="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 DBMS: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8255" indent="-344805">
              <a:lnSpc>
                <a:spcPct val="100000"/>
              </a:lnSpc>
              <a:buFont typeface="Wingdings" panose="05000000000000000000"/>
              <a:buChar char=""/>
              <a:tabLst>
                <a:tab pos="356870" algn="l"/>
                <a:tab pos="35750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Multivalued</a:t>
            </a:r>
            <a:r>
              <a:rPr spc="40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pc="3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occurs</a:t>
            </a:r>
            <a:r>
              <a:rPr spc="4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when</a:t>
            </a:r>
            <a:r>
              <a:rPr spc="4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there</a:t>
            </a:r>
            <a:r>
              <a:rPr spc="4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pc="4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more</a:t>
            </a:r>
            <a:r>
              <a:rPr spc="40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than</a:t>
            </a:r>
            <a:r>
              <a:rPr spc="4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one</a:t>
            </a:r>
            <a:r>
              <a:rPr spc="3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independent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multivalued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table.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5080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"/>
              <a:tabLst>
                <a:tab pos="356870" algn="l"/>
                <a:tab pos="357505" algn="l"/>
                <a:tab pos="1460500" algn="l"/>
                <a:tab pos="1948180" algn="l"/>
                <a:tab pos="2951480" algn="l"/>
                <a:tab pos="3949065" algn="l"/>
                <a:tab pos="4217035" algn="l"/>
                <a:tab pos="4778375" algn="l"/>
                <a:tab pos="6082665" algn="l"/>
                <a:tab pos="7134225" algn="l"/>
              </a:tabLst>
            </a:pP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b="1" spc="30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b="1" spc="-60" dirty="0">
                <a:latin typeface="Times New Roman" panose="02020603050405020304"/>
                <a:cs typeface="Times New Roman" panose="02020603050405020304"/>
                <a:sym typeface="+mn-ea"/>
              </a:rPr>
              <a:t>m</a:t>
            </a:r>
            <a:r>
              <a:rPr b="1" spc="-25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le: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	C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si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er	a	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k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e	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m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nu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ac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u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	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m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spc="-160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	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h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ich  produces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colors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(Black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spc="-10" dirty="0">
                <a:latin typeface="Times New Roman" panose="02020603050405020304"/>
                <a:cs typeface="Times New Roman" panose="02020603050405020304"/>
                <a:sym typeface="+mn-ea"/>
              </a:rPr>
              <a:t>red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each</a:t>
            </a:r>
            <a:r>
              <a:rPr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model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every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year.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object 3"/>
          <p:cNvGraphicFramePr>
            <a:graphicFrameLocks noGrp="1"/>
          </p:cNvGraphicFramePr>
          <p:nvPr/>
        </p:nvGraphicFramePr>
        <p:xfrm>
          <a:off x="6095949" y="4324204"/>
          <a:ext cx="4253865" cy="2266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3680"/>
                <a:gridCol w="1856105"/>
                <a:gridCol w="894080"/>
              </a:tblGrid>
              <a:tr h="328930">
                <a:tc>
                  <a:txBody>
                    <a:bodyPr/>
                    <a:p>
                      <a:pPr marL="31750">
                        <a:lnSpc>
                          <a:spcPts val="1965"/>
                        </a:lnSpc>
                      </a:pPr>
                      <a:r>
                        <a:rPr sz="1800" b="1" spc="-15" dirty="0">
                          <a:latin typeface="Times New Roman" panose="02020603050405020304"/>
                          <a:cs typeface="Times New Roman" panose="02020603050405020304"/>
                        </a:rPr>
                        <a:t>bike_model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356870">
                        <a:lnSpc>
                          <a:spcPts val="1965"/>
                        </a:lnSpc>
                      </a:pPr>
                      <a:r>
                        <a:rPr sz="1800" b="1" spc="-15" dirty="0">
                          <a:latin typeface="Times New Roman" panose="02020603050405020304"/>
                          <a:cs typeface="Times New Roman" panose="02020603050405020304"/>
                        </a:rPr>
                        <a:t>manuf_year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330200">
                        <a:lnSpc>
                          <a:spcPts val="1965"/>
                        </a:lnSpc>
                      </a:pPr>
                      <a:r>
                        <a:rPr sz="18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color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329142">
                <a:tc>
                  <a:txBody>
                    <a:bodyPr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5" dirty="0">
                          <a:latin typeface="Times New Roman" panose="02020603050405020304"/>
                          <a:cs typeface="Times New Roman" panose="02020603050405020304"/>
                        </a:rPr>
                        <a:t>M1001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568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2007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Black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</a:tr>
              <a:tr h="329479">
                <a:tc>
                  <a:txBody>
                    <a:bodyPr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M1001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568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2007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Red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</a:tr>
              <a:tr h="329142">
                <a:tc>
                  <a:txBody>
                    <a:bodyPr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5" dirty="0">
                          <a:latin typeface="Times New Roman" panose="02020603050405020304"/>
                          <a:cs typeface="Times New Roman" panose="02020603050405020304"/>
                        </a:rPr>
                        <a:t>M2012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568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2008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Black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</a:tr>
              <a:tr h="329543">
                <a:tc>
                  <a:txBody>
                    <a:bodyPr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M2012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568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2008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Red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</a:tr>
              <a:tr h="329205">
                <a:tc>
                  <a:txBody>
                    <a:bodyPr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5" dirty="0">
                          <a:latin typeface="Times New Roman" panose="02020603050405020304"/>
                          <a:cs typeface="Times New Roman" panose="02020603050405020304"/>
                        </a:rPr>
                        <a:t>M2222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568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2009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Black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</a:tr>
              <a:tr h="291372">
                <a:tc>
                  <a:txBody>
                    <a:bodyPr/>
                    <a:p>
                      <a:pPr marL="31750">
                        <a:lnSpc>
                          <a:spcPts val="209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M2222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56870">
                        <a:lnSpc>
                          <a:spcPts val="2090"/>
                        </a:lnSpc>
                        <a:spcBef>
                          <a:spcPts val="105"/>
                        </a:spcBef>
                      </a:pPr>
                      <a:r>
                        <a:rPr sz="1800" spc="10" dirty="0">
                          <a:latin typeface="Times New Roman" panose="02020603050405020304"/>
                          <a:cs typeface="Times New Roman" panose="02020603050405020304"/>
                        </a:rPr>
                        <a:t>2009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p>
                      <a:pPr marL="330200">
                        <a:lnSpc>
                          <a:spcPts val="209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Red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333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Multivalued</a:t>
            </a:r>
            <a:r>
              <a:rPr spc="-5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dependency</a:t>
            </a:r>
            <a:r>
              <a:rPr spc="-3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in </a:t>
            </a:r>
            <a:r>
              <a:rPr spc="5" dirty="0">
                <a:solidFill>
                  <a:srgbClr val="000000"/>
                </a:solidFill>
                <a:sym typeface="+mn-ea"/>
              </a:rPr>
              <a:t>DBMS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spc="5" dirty="0">
                <a:solidFill>
                  <a:srgbClr val="000000"/>
                </a:solidFill>
                <a:sym typeface="+mn-ea"/>
              </a:rPr>
              <a:t>(-&gt;&gt;):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marR="5080" indent="-344805" algn="just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Here columns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manuf_year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and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color are independent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each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other</a:t>
            </a:r>
            <a:r>
              <a:rPr spc="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and dependent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bike_model.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this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case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these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columns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said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to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be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multivalued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dependent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bike_model.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These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represented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like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this: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bike_model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-&gt;&gt;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manuf_year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bike_model -&gt;&gt;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color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30" dirty="0">
                <a:solidFill>
                  <a:srgbClr val="000000"/>
                </a:solidFill>
                <a:sym typeface="+mn-ea"/>
              </a:rPr>
              <a:t>Transitive</a:t>
            </a:r>
            <a:r>
              <a:rPr spc="-1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spc="-105" dirty="0">
                <a:solidFill>
                  <a:srgbClr val="000000"/>
                </a:solidFill>
                <a:sym typeface="+mn-ea"/>
              </a:rPr>
              <a:t> </a:t>
            </a:r>
            <a:r>
              <a:rPr spc="5" dirty="0">
                <a:solidFill>
                  <a:srgbClr val="000000"/>
                </a:solidFill>
                <a:sym typeface="+mn-ea"/>
              </a:rPr>
              <a:t>in</a:t>
            </a:r>
            <a:r>
              <a:rPr spc="-60" dirty="0">
                <a:solidFill>
                  <a:srgbClr val="000000"/>
                </a:solidFill>
                <a:sym typeface="+mn-ea"/>
              </a:rPr>
              <a:t> </a:t>
            </a:r>
            <a:r>
              <a:rPr spc="10" dirty="0">
                <a:solidFill>
                  <a:srgbClr val="000000"/>
                </a:solidFill>
                <a:sym typeface="+mn-ea"/>
              </a:rPr>
              <a:t>DBMS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356870" marR="8890" indent="-34480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said</a:t>
            </a:r>
            <a:r>
              <a:rPr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transitive</a:t>
            </a:r>
            <a:r>
              <a:rPr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indirectly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formed</a:t>
            </a:r>
            <a:r>
              <a:rPr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by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two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dependencies.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e.g.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pc="2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pc="2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Z</a:t>
            </a:r>
            <a:r>
              <a:rPr spc="25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2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transitive</a:t>
            </a:r>
            <a:r>
              <a:rPr spc="2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2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following</a:t>
            </a:r>
            <a:r>
              <a:rPr spc="2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three</a:t>
            </a:r>
            <a:r>
              <a:rPr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25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8270" indent="0">
              <a:lnSpc>
                <a:spcPct val="100000"/>
              </a:lnSpc>
              <a:buNone/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hold</a:t>
            </a:r>
            <a:r>
              <a:rPr spc="-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true: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827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X-&gt;Y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8270" indent="0">
              <a:lnSpc>
                <a:spcPct val="100000"/>
              </a:lnSpc>
              <a:spcBef>
                <a:spcPts val="430"/>
              </a:spcBef>
              <a:buNone/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does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-&gt;X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827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pc="-60" dirty="0">
                <a:latin typeface="Times New Roman" panose="02020603050405020304"/>
                <a:cs typeface="Times New Roman" panose="02020603050405020304"/>
                <a:sym typeface="+mn-ea"/>
              </a:rPr>
              <a:t>Y-&gt;Z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12065" marR="6985" indent="0" algn="just">
              <a:lnSpc>
                <a:spcPct val="100000"/>
              </a:lnSpc>
              <a:buNone/>
            </a:pP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Note: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 transitive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only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occur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three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of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more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attributes.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This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helps us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normalizing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the database in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3NF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(3rd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Normal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Form).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30" dirty="0">
                <a:solidFill>
                  <a:srgbClr val="000000"/>
                </a:solidFill>
                <a:sym typeface="+mn-ea"/>
              </a:rPr>
              <a:t>Transitive</a:t>
            </a:r>
            <a:r>
              <a:rPr spc="-1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dependency</a:t>
            </a:r>
            <a:r>
              <a:rPr spc="-105" dirty="0">
                <a:solidFill>
                  <a:srgbClr val="000000"/>
                </a:solidFill>
                <a:sym typeface="+mn-ea"/>
              </a:rPr>
              <a:t> </a:t>
            </a:r>
            <a:r>
              <a:rPr spc="5" dirty="0">
                <a:solidFill>
                  <a:srgbClr val="000000"/>
                </a:solidFill>
                <a:sym typeface="+mn-ea"/>
              </a:rPr>
              <a:t>in</a:t>
            </a:r>
            <a:r>
              <a:rPr spc="-60" dirty="0">
                <a:solidFill>
                  <a:srgbClr val="000000"/>
                </a:solidFill>
                <a:sym typeface="+mn-ea"/>
              </a:rPr>
              <a:t> </a:t>
            </a:r>
            <a:r>
              <a:rPr spc="10" dirty="0">
                <a:solidFill>
                  <a:srgbClr val="000000"/>
                </a:solidFill>
                <a:sym typeface="+mn-ea"/>
              </a:rPr>
              <a:t>DBMS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299085" indent="-287020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{Book}</a:t>
            </a:r>
            <a:r>
              <a:rPr sz="24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-&gt;{Author}</a:t>
            </a:r>
            <a:r>
              <a:rPr sz="24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(if</a:t>
            </a:r>
            <a:r>
              <a:rPr sz="24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z="24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know</a:t>
            </a:r>
            <a:r>
              <a:rPr sz="24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4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book,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20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z="24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  <a:sym typeface="+mn-ea"/>
              </a:rPr>
              <a:t>knows</a:t>
            </a:r>
            <a:r>
              <a:rPr sz="24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the author</a:t>
            </a:r>
            <a:r>
              <a:rPr sz="24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  <a:sym typeface="+mn-ea"/>
              </a:rPr>
              <a:t>name)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99085" indent="-287020">
              <a:lnSpc>
                <a:spcPct val="100000"/>
              </a:lnSpc>
              <a:spcBef>
                <a:spcPts val="43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{Author}</a:t>
            </a:r>
            <a:r>
              <a:rPr sz="24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does</a:t>
            </a:r>
            <a:r>
              <a:rPr sz="24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5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z="24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-&gt;{Book}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99085" indent="-28702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{Author}</a:t>
            </a:r>
            <a:r>
              <a:rPr sz="24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-&gt;</a:t>
            </a:r>
            <a:r>
              <a:rPr sz="24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{Author_age}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99085" marR="5080" indent="-287020" algn="just">
              <a:lnSpc>
                <a:spcPct val="100000"/>
              </a:lnSpc>
              <a:spcBef>
                <a:spcPts val="435"/>
              </a:spcBef>
              <a:buFont typeface="Arial MT"/>
              <a:buChar char="•"/>
              <a:tabLst>
                <a:tab pos="299720" algn="l"/>
              </a:tabLst>
            </a:pP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Therefore as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per the rule </a:t>
            </a:r>
            <a:r>
              <a:rPr sz="24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transitive dependency: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{Book} -&gt;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{Author_age}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 should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hold,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that </a:t>
            </a:r>
            <a:r>
              <a:rPr sz="2400" spc="-15" dirty="0">
                <a:latin typeface="Times New Roman" panose="02020603050405020304"/>
                <a:cs typeface="Times New Roman" panose="02020603050405020304"/>
                <a:sym typeface="+mn-ea"/>
              </a:rPr>
              <a:t>makes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sense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because </a:t>
            </a:r>
            <a:r>
              <a:rPr sz="2400" spc="10" dirty="0">
                <a:latin typeface="Times New Roman" panose="02020603050405020304"/>
                <a:cs typeface="Times New Roman" panose="02020603050405020304"/>
                <a:sym typeface="+mn-ea"/>
              </a:rPr>
              <a:t>if </a:t>
            </a:r>
            <a:r>
              <a:rPr sz="2400" spc="-20" dirty="0">
                <a:latin typeface="Times New Roman" panose="02020603050405020304"/>
                <a:cs typeface="Times New Roman" panose="02020603050405020304"/>
                <a:sym typeface="+mn-ea"/>
              </a:rPr>
              <a:t>we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know the </a:t>
            </a:r>
            <a:r>
              <a:rPr sz="2400" spc="5" dirty="0">
                <a:latin typeface="Times New Roman" panose="02020603050405020304"/>
                <a:cs typeface="Times New Roman" panose="02020603050405020304"/>
                <a:sym typeface="+mn-ea"/>
              </a:rPr>
              <a:t>book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name we </a:t>
            </a:r>
            <a:r>
              <a:rPr sz="2400" spc="-10" dirty="0">
                <a:latin typeface="Times New Roman" panose="02020603050405020304"/>
                <a:cs typeface="Times New Roman" panose="02020603050405020304"/>
                <a:sym typeface="+mn-ea"/>
              </a:rPr>
              <a:t>can </a:t>
            </a:r>
            <a:r>
              <a:rPr sz="2400" spc="5" dirty="0">
                <a:latin typeface="Times New Roman" panose="02020603050405020304"/>
                <a:cs typeface="Times New Roman" panose="02020603050405020304"/>
                <a:sym typeface="+mn-ea"/>
              </a:rPr>
              <a:t>know </a:t>
            </a:r>
            <a:r>
              <a:rPr sz="24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4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author’s</a:t>
            </a:r>
            <a:r>
              <a:rPr sz="24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  <a:sym typeface="+mn-ea"/>
              </a:rPr>
              <a:t>age.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 sz="24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759960" y="4048125"/>
          <a:ext cx="6418580" cy="2560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965"/>
                <a:gridCol w="2132965"/>
                <a:gridCol w="2132965"/>
              </a:tblGrid>
              <a:tr h="1004697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Book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Author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Author_age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811656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20" dirty="0">
                          <a:latin typeface="Times New Roman" panose="02020603050405020304"/>
                          <a:cs typeface="Times New Roman" panose="02020603050405020304"/>
                        </a:rPr>
                        <a:t>Game</a:t>
                      </a: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800" spc="-10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Thrones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5" dirty="0">
                          <a:latin typeface="Times New Roman" panose="02020603050405020304"/>
                          <a:cs typeface="Times New Roman" panose="02020603050405020304"/>
                        </a:rPr>
                        <a:t>George</a:t>
                      </a:r>
                      <a:r>
                        <a:rPr sz="1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R.</a:t>
                      </a:r>
                      <a:r>
                        <a:rPr sz="1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R.</a:t>
                      </a:r>
                      <a:r>
                        <a:rPr sz="1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Martin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772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Harry</a:t>
                      </a:r>
                      <a:r>
                        <a:rPr sz="1800" spc="-9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Potter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J.</a:t>
                      </a:r>
                      <a:r>
                        <a:rPr sz="1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K.</a:t>
                      </a:r>
                      <a:r>
                        <a:rPr sz="1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Rowling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49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65810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10" dirty="0">
                          <a:latin typeface="Times New Roman" panose="02020603050405020304"/>
                          <a:cs typeface="Times New Roman" panose="02020603050405020304"/>
                        </a:rPr>
                        <a:t>Dying</a:t>
                      </a:r>
                      <a:r>
                        <a:rPr sz="1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5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/>
                          <a:cs typeface="Times New Roman" panose="02020603050405020304"/>
                        </a:rPr>
                        <a:t>Light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R.</a:t>
                      </a:r>
                      <a:r>
                        <a:rPr sz="18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R.</a:t>
                      </a:r>
                      <a:r>
                        <a:rPr sz="18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800" dirty="0">
                          <a:latin typeface="Times New Roman" panose="02020603050405020304"/>
                          <a:cs typeface="Times New Roman" panose="02020603050405020304"/>
                        </a:rPr>
                        <a:t>Martin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25" dirty="0">
                <a:solidFill>
                  <a:srgbClr val="000000"/>
                </a:solidFill>
                <a:sym typeface="+mn-ea"/>
              </a:rPr>
              <a:t>Armstrong’s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spc="-10" dirty="0">
                <a:solidFill>
                  <a:srgbClr val="000000"/>
                </a:solidFill>
                <a:sym typeface="+mn-ea"/>
              </a:rPr>
              <a:t>Inference</a:t>
            </a:r>
            <a:r>
              <a:rPr spc="-2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Axioms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marR="11430" indent="-344805">
              <a:lnSpc>
                <a:spcPct val="101000"/>
              </a:lnSpc>
              <a:spcBef>
                <a:spcPts val="7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inference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axioms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or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rules allow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users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infer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FDs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satisfied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by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relation.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5080" indent="-344805">
              <a:lnSpc>
                <a:spcPct val="101000"/>
              </a:lnSpc>
              <a:spcBef>
                <a:spcPts val="38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Let</a:t>
            </a:r>
            <a:r>
              <a:rPr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pc="2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(X,</a:t>
            </a:r>
            <a:r>
              <a:rPr spc="2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25" dirty="0">
                <a:latin typeface="Times New Roman" panose="02020603050405020304"/>
                <a:cs typeface="Times New Roman" panose="02020603050405020304"/>
                <a:sym typeface="+mn-ea"/>
              </a:rPr>
              <a:t>Y,</a:t>
            </a:r>
            <a:r>
              <a:rPr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Z,</a:t>
            </a:r>
            <a:r>
              <a:rPr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W)</a:t>
            </a:r>
            <a:r>
              <a:rPr spc="2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where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X,</a:t>
            </a:r>
            <a:r>
              <a:rPr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25" dirty="0">
                <a:latin typeface="Times New Roman" panose="02020603050405020304"/>
                <a:cs typeface="Times New Roman" panose="02020603050405020304"/>
                <a:sym typeface="+mn-ea"/>
              </a:rPr>
              <a:t>Y,</a:t>
            </a:r>
            <a:r>
              <a:rPr spc="-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Z,</a:t>
            </a:r>
            <a:r>
              <a:rPr spc="22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pc="22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spc="1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pc="2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arbitrary</a:t>
            </a:r>
            <a:r>
              <a:rPr spc="1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subsets</a:t>
            </a:r>
            <a:r>
              <a:rPr spc="25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2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2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universal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schema</a:t>
            </a:r>
            <a:r>
              <a:rPr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25" dirty="0">
                <a:solidFill>
                  <a:srgbClr val="000000"/>
                </a:solidFill>
                <a:sym typeface="+mn-ea"/>
              </a:rPr>
              <a:t>Armstrong’s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spc="-10" dirty="0">
                <a:solidFill>
                  <a:srgbClr val="000000"/>
                </a:solidFill>
                <a:sym typeface="+mn-ea"/>
              </a:rPr>
              <a:t>Inference</a:t>
            </a:r>
            <a:r>
              <a:rPr spc="-2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Axioms</a:t>
            </a:r>
            <a:r>
              <a:rPr lang="en-US" spc="-5" dirty="0">
                <a:solidFill>
                  <a:srgbClr val="000000"/>
                </a:solidFill>
                <a:sym typeface="+mn-ea"/>
              </a:rPr>
              <a:t>(Primary rules)</a:t>
            </a:r>
            <a:endParaRPr lang="en-US" spc="-5" dirty="0">
              <a:solidFill>
                <a:srgbClr val="00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Axiom of Reflexivity: If A is a set of attributes and B is a subset of A, then A holds B. If B⊆A then A→B. This property is trivial property.</a:t>
            </a:r>
            <a:endParaRPr lang="en-US"/>
          </a:p>
          <a:p>
            <a:r>
              <a:rPr lang="en-US"/>
              <a:t>Axiom of Augmentation: If A→B holds and Y is the attribute set, then AY→BY also holds. That is adding attributes to dependencies, does not change the basic dependencies. If A→B, then AC→BC for any C.</a:t>
            </a:r>
            <a:endParaRPr lang="en-US"/>
          </a:p>
          <a:p>
            <a:r>
              <a:rPr lang="en-US"/>
              <a:t>Axiom of Transitivity: Same as the transitive rule in algebra, if A→B holds and B→C holds, then A→C also holds. A→B is called A functionally which determines B. If X→Y and Y→Z, then X→Z.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Secondary Rules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/>
              <a:t>Union: If A→B holds and A→C holds, then A→BC holds. If X→Y and X→Z then X→YZ.</a:t>
            </a:r>
            <a:endParaRPr lang="en-US"/>
          </a:p>
          <a:p>
            <a:r>
              <a:rPr lang="en-US"/>
              <a:t>Composition: If A→B and X→Y hold, then AX→BY holds.</a:t>
            </a:r>
            <a:endParaRPr lang="en-US"/>
          </a:p>
          <a:p>
            <a:r>
              <a:rPr lang="en-US"/>
              <a:t>Decomposition: If A→BC holds then A→B and A→C hold. If X→YZ then X→Y and X→Z.</a:t>
            </a:r>
            <a:endParaRPr lang="en-US"/>
          </a:p>
          <a:p>
            <a:r>
              <a:rPr lang="en-US"/>
              <a:t>Pseudo Transitivity: If A→B holds and BC→D holds, then AC→D holds. If X→Y and YZ→W then XZ→W.</a:t>
            </a:r>
            <a:endParaRPr lang="en-US"/>
          </a:p>
          <a:p>
            <a:r>
              <a:rPr lang="en-US"/>
              <a:t>Self Determination: It is similar to the Axiom of Reflexivity, i.e. A→A for any A.</a:t>
            </a:r>
            <a:endParaRPr lang="en-US"/>
          </a:p>
          <a:p>
            <a:r>
              <a:rPr lang="en-US"/>
              <a:t>Extensivity: Extensivity is a case of augmentation. If AC→A, and A→B, then AC→B. Similarly, AC→ABC and ABC→BC. This leads to AC→BC.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Exam</a:t>
            </a:r>
            <a:r>
              <a:rPr spc="-15" dirty="0">
                <a:solidFill>
                  <a:srgbClr val="000000"/>
                </a:solidFill>
                <a:sym typeface="+mn-ea"/>
              </a:rPr>
              <a:t>p</a:t>
            </a:r>
            <a:r>
              <a:rPr dirty="0">
                <a:solidFill>
                  <a:srgbClr val="000000"/>
                </a:solidFill>
                <a:sym typeface="+mn-ea"/>
              </a:rPr>
              <a:t>l</a:t>
            </a:r>
            <a:r>
              <a:rPr spc="10" dirty="0">
                <a:solidFill>
                  <a:srgbClr val="000000"/>
                </a:solidFill>
                <a:sym typeface="+mn-ea"/>
              </a:rPr>
              <a:t>e</a:t>
            </a:r>
            <a:r>
              <a:rPr dirty="0">
                <a:solidFill>
                  <a:srgbClr val="000000"/>
                </a:solidFill>
                <a:sym typeface="+mn-ea"/>
              </a:rPr>
              <a:t>:</a:t>
            </a:r>
            <a:r>
              <a:rPr spc="-204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Armst</a:t>
            </a:r>
            <a:r>
              <a:rPr spc="-70" dirty="0">
                <a:solidFill>
                  <a:srgbClr val="000000"/>
                </a:solidFill>
                <a:sym typeface="+mn-ea"/>
              </a:rPr>
              <a:t>r</a:t>
            </a:r>
            <a:r>
              <a:rPr dirty="0">
                <a:solidFill>
                  <a:srgbClr val="000000"/>
                </a:solidFill>
                <a:sym typeface="+mn-ea"/>
              </a:rPr>
              <a:t>o</a:t>
            </a:r>
            <a:r>
              <a:rPr spc="-15" dirty="0">
                <a:solidFill>
                  <a:srgbClr val="000000"/>
                </a:solidFill>
                <a:sym typeface="+mn-ea"/>
              </a:rPr>
              <a:t>n</a:t>
            </a:r>
            <a:r>
              <a:rPr dirty="0">
                <a:solidFill>
                  <a:srgbClr val="000000"/>
                </a:solidFill>
                <a:sym typeface="+mn-ea"/>
              </a:rPr>
              <a:t>g</a:t>
            </a:r>
            <a:r>
              <a:rPr spc="-145" dirty="0">
                <a:solidFill>
                  <a:srgbClr val="000000"/>
                </a:solidFill>
                <a:sym typeface="+mn-ea"/>
              </a:rPr>
              <a:t>’</a:t>
            </a:r>
            <a:r>
              <a:rPr dirty="0">
                <a:solidFill>
                  <a:srgbClr val="000000"/>
                </a:solidFill>
                <a:sym typeface="+mn-ea"/>
              </a:rPr>
              <a:t>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indent="-344805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Example: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Consider</a:t>
            </a:r>
            <a:r>
              <a:rPr spc="2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r>
              <a:rPr spc="2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pc="2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2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75" dirty="0">
                <a:latin typeface="Times New Roman" panose="02020603050405020304"/>
                <a:cs typeface="Times New Roman" panose="02020603050405020304"/>
                <a:sym typeface="+mn-ea"/>
              </a:rPr>
              <a:t>(P,</a:t>
            </a:r>
            <a:r>
              <a:rPr spc="2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Q,</a:t>
            </a:r>
            <a:r>
              <a:rPr spc="2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R,</a:t>
            </a:r>
            <a:r>
              <a:rPr spc="2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S,</a:t>
            </a:r>
            <a:r>
              <a:rPr spc="2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85" dirty="0">
                <a:latin typeface="Times New Roman" panose="02020603050405020304"/>
                <a:cs typeface="Times New Roman" panose="02020603050405020304"/>
                <a:sym typeface="+mn-ea"/>
              </a:rPr>
              <a:t>T, 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U)</a:t>
            </a:r>
            <a:r>
              <a:rPr spc="2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having</a:t>
            </a:r>
            <a:r>
              <a:rPr spc="2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2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2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lang="en-US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(FD).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  <p:sp>
        <p:nvSpPr>
          <p:cNvPr id="4" name="object 3"/>
          <p:cNvSpPr txBox="1"/>
          <p:nvPr/>
        </p:nvSpPr>
        <p:spPr>
          <a:xfrm>
            <a:off x="2960319" y="3130930"/>
            <a:ext cx="876935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8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Q  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QR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 </a:t>
            </a:r>
            <a:r>
              <a:rPr sz="1800" b="1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QR</a:t>
            </a:r>
            <a:r>
              <a:rPr sz="18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U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4344670" y="3130930"/>
            <a:ext cx="876300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marR="5080" indent="5715">
              <a:lnSpc>
                <a:spcPct val="120000"/>
              </a:lnSpc>
              <a:spcBef>
                <a:spcPts val="10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800" b="1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R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Q → T 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PR</a:t>
            </a:r>
            <a:r>
              <a:rPr sz="18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U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2960319" y="4448428"/>
            <a:ext cx="5067935" cy="167258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p>
            <a:pPr marL="356870" indent="-344805">
              <a:lnSpc>
                <a:spcPct val="100000"/>
              </a:lnSpc>
              <a:spcBef>
                <a:spcPts val="53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Calculate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some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members</a:t>
            </a:r>
            <a:r>
              <a:rPr sz="18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Axioms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follows,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Times New Roman" panose="02020603050405020304"/>
              <a:buAutoNum type="arabicPeriod"/>
              <a:tabLst>
                <a:tab pos="241300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8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241300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PR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241300" algn="l"/>
              </a:tabLst>
            </a:pP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QR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SU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241300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PR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SU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Exam</a:t>
            </a:r>
            <a:r>
              <a:rPr spc="-15" dirty="0">
                <a:solidFill>
                  <a:srgbClr val="000000"/>
                </a:solidFill>
                <a:sym typeface="+mn-ea"/>
              </a:rPr>
              <a:t>p</a:t>
            </a:r>
            <a:r>
              <a:rPr dirty="0">
                <a:solidFill>
                  <a:srgbClr val="000000"/>
                </a:solidFill>
                <a:sym typeface="+mn-ea"/>
              </a:rPr>
              <a:t>l</a:t>
            </a:r>
            <a:r>
              <a:rPr spc="10" dirty="0">
                <a:solidFill>
                  <a:srgbClr val="000000"/>
                </a:solidFill>
                <a:sym typeface="+mn-ea"/>
              </a:rPr>
              <a:t>e</a:t>
            </a:r>
            <a:r>
              <a:rPr dirty="0">
                <a:solidFill>
                  <a:srgbClr val="000000"/>
                </a:solidFill>
                <a:sym typeface="+mn-ea"/>
              </a:rPr>
              <a:t>:</a:t>
            </a:r>
            <a:r>
              <a:rPr spc="-204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Armst</a:t>
            </a:r>
            <a:r>
              <a:rPr spc="-70" dirty="0">
                <a:solidFill>
                  <a:srgbClr val="000000"/>
                </a:solidFill>
                <a:sym typeface="+mn-ea"/>
              </a:rPr>
              <a:t>r</a:t>
            </a:r>
            <a:r>
              <a:rPr dirty="0">
                <a:solidFill>
                  <a:srgbClr val="000000"/>
                </a:solidFill>
                <a:sym typeface="+mn-ea"/>
              </a:rPr>
              <a:t>o</a:t>
            </a:r>
            <a:r>
              <a:rPr spc="-15" dirty="0">
                <a:solidFill>
                  <a:srgbClr val="000000"/>
                </a:solidFill>
                <a:sym typeface="+mn-ea"/>
              </a:rPr>
              <a:t>n</a:t>
            </a:r>
            <a:r>
              <a:rPr dirty="0">
                <a:solidFill>
                  <a:srgbClr val="000000"/>
                </a:solidFill>
                <a:sym typeface="+mn-ea"/>
              </a:rPr>
              <a:t>g</a:t>
            </a:r>
            <a:r>
              <a:rPr spc="-145" dirty="0">
                <a:solidFill>
                  <a:srgbClr val="000000"/>
                </a:solidFill>
                <a:sym typeface="+mn-ea"/>
              </a:rPr>
              <a:t>’</a:t>
            </a:r>
            <a:r>
              <a:rPr dirty="0">
                <a:solidFill>
                  <a:srgbClr val="000000"/>
                </a:solidFill>
                <a:sym typeface="+mn-ea"/>
              </a:rPr>
              <a:t>s</a:t>
            </a:r>
            <a:endParaRPr lang="en-US"/>
          </a:p>
        </p:txBody>
      </p:sp>
      <p:pic>
        <p:nvPicPr>
          <p:cNvPr id="7" name="object 7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838200" y="1825625"/>
            <a:ext cx="105162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Logical</a:t>
            </a:r>
            <a:r>
              <a:rPr spc="-3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Implication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6870" marR="5080" indent="-34480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Given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relation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schema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 and a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 </a:t>
            </a:r>
            <a:r>
              <a:rPr spc="-75" dirty="0">
                <a:latin typeface="Times New Roman" panose="02020603050405020304"/>
                <a:cs typeface="Times New Roman" panose="02020603050405020304"/>
                <a:sym typeface="+mn-ea"/>
              </a:rPr>
              <a:t>F.</a:t>
            </a:r>
            <a:r>
              <a:rPr spc="3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Let</a:t>
            </a:r>
            <a:r>
              <a:rPr spc="4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FD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X→Y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is not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75" dirty="0">
                <a:latin typeface="Times New Roman" panose="02020603050405020304"/>
                <a:cs typeface="Times New Roman" panose="02020603050405020304"/>
                <a:sym typeface="+mn-ea"/>
              </a:rPr>
              <a:t>F.</a:t>
            </a:r>
            <a:r>
              <a:rPr spc="3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said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to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logically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imply X→Y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for every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relation r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on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relation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schema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 that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satisfies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FD in </a:t>
            </a:r>
            <a:r>
              <a:rPr spc="-70" dirty="0">
                <a:latin typeface="Times New Roman" panose="02020603050405020304"/>
                <a:cs typeface="Times New Roman" panose="02020603050405020304"/>
                <a:sym typeface="+mn-ea"/>
              </a:rPr>
              <a:t>F,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relation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also satisfies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X→Y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logically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implies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X→Y</a:t>
            </a:r>
            <a:r>
              <a:rPr spc="-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written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as: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F|=X→Y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4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Let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 =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(A,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D)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{A→B,</a:t>
            </a:r>
            <a:r>
              <a:rPr spc="-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A→C,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BC→D}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8270" indent="0">
              <a:lnSpc>
                <a:spcPct val="100000"/>
              </a:lnSpc>
              <a:spcBef>
                <a:spcPts val="430"/>
              </a:spcBef>
              <a:buNone/>
            </a:pP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F|=A→D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128270" indent="0">
              <a:lnSpc>
                <a:spcPct val="100000"/>
              </a:lnSpc>
              <a:spcBef>
                <a:spcPts val="455"/>
              </a:spcBef>
              <a:buNone/>
            </a:pP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Given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{A→B,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C→D}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with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pc="-5" dirty="0">
                <a:latin typeface="Cambria Math" panose="02040503050406030204"/>
                <a:cs typeface="Cambria Math" panose="02040503050406030204"/>
                <a:sym typeface="+mn-ea"/>
              </a:rPr>
              <a:t>⊆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show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F|=A→D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spc="-10" dirty="0">
                <a:solidFill>
                  <a:srgbClr val="000000"/>
                </a:solidFill>
                <a:sym typeface="+mn-ea"/>
              </a:rPr>
              <a:t>Closure/Closure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on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a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attribute</a:t>
            </a:r>
            <a:r>
              <a:rPr spc="-4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Set/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10" dirty="0">
                <a:solidFill>
                  <a:srgbClr val="000000"/>
                </a:solidFill>
                <a:sym typeface="+mn-ea"/>
              </a:rPr>
              <a:t>Closure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4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Attribute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Set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433070" marR="17780" indent="-34480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33070" algn="l"/>
                <a:tab pos="4337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</a:t>
            </a:r>
            <a:r>
              <a:rPr spc="2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Closure</a:t>
            </a:r>
            <a:r>
              <a:rPr spc="2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2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</a:t>
            </a:r>
            <a:r>
              <a:rPr spc="2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</a:t>
            </a:r>
            <a:r>
              <a:rPr spc="25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2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'A'</a:t>
            </a:r>
            <a:r>
              <a:rPr b="1" spc="2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pc="2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pc="2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defined</a:t>
            </a:r>
            <a:r>
              <a:rPr spc="2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pc="2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2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2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2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attributes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functionally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defined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from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it.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433070" indent="-344805">
              <a:lnSpc>
                <a:spcPts val="1995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433070" algn="l"/>
                <a:tab pos="43370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Denoted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by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b="1" spc="-7" baseline="25000" dirty="0">
                <a:latin typeface="Times New Roman" panose="02020603050405020304"/>
                <a:cs typeface="Times New Roman" panose="02020603050405020304"/>
                <a:sym typeface="+mn-ea"/>
              </a:rPr>
              <a:t>+.</a:t>
            </a:r>
            <a:endParaRPr baseline="25000">
              <a:latin typeface="Times New Roman" panose="02020603050405020304"/>
              <a:cs typeface="Times New Roman" panose="02020603050405020304"/>
            </a:endParaRPr>
          </a:p>
          <a:p>
            <a:pPr marL="433070" indent="-344805">
              <a:lnSpc>
                <a:spcPts val="1755"/>
              </a:lnSpc>
              <a:buSzPct val="150000"/>
              <a:buFont typeface="Wingdings" panose="05000000000000000000"/>
              <a:buChar char=""/>
              <a:tabLst>
                <a:tab pos="4337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Closure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means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directly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indirectly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which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attribute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we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found.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433070" indent="-344805">
              <a:lnSpc>
                <a:spcPct val="100000"/>
              </a:lnSpc>
              <a:spcBef>
                <a:spcPts val="385"/>
              </a:spcBef>
              <a:buSzPct val="150000"/>
              <a:buFont typeface="Wingdings" panose="05000000000000000000"/>
              <a:buChar char=""/>
              <a:tabLst>
                <a:tab pos="4337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Examples:</a:t>
            </a:r>
            <a:r>
              <a:rPr b="1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1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32740" marR="6598920" indent="0">
              <a:lnSpc>
                <a:spcPct val="120000"/>
              </a:lnSpc>
              <a:spcBef>
                <a:spcPts val="5"/>
              </a:spcBef>
              <a:buNone/>
            </a:pP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,B,C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)  </a:t>
            </a:r>
            <a:r>
              <a:rPr lang="en-US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A-&gt;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lang="en-US" spc="5" dirty="0">
                <a:latin typeface="Times New Roman" panose="02020603050405020304"/>
                <a:cs typeface="Times New Roman" panose="02020603050405020304"/>
                <a:sym typeface="+mn-ea"/>
              </a:rPr>
              <a:t>, 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B-&gt;C</a:t>
            </a:r>
            <a:r>
              <a:rPr lang="en-US" spc="5"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385"/>
              </a:spcBef>
              <a:buNone/>
            </a:pPr>
            <a:r>
              <a:rPr lang="en-US" spc="-5" dirty="0">
                <a:latin typeface="Times New Roman" panose="02020603050405020304"/>
                <a:cs typeface="Times New Roman" panose="02020603050405020304"/>
                <a:sym typeface="+mn-ea"/>
              </a:rPr>
              <a:t>  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Find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(A)+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?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433070" indent="-344805">
              <a:lnSpc>
                <a:spcPct val="100000"/>
              </a:lnSpc>
              <a:spcBef>
                <a:spcPts val="385"/>
              </a:spcBef>
              <a:buSzPct val="150000"/>
              <a:buFont typeface="Wingdings" panose="05000000000000000000"/>
              <a:buChar char=""/>
              <a:tabLst>
                <a:tab pos="4337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Ans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: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17170" indent="0">
              <a:lnSpc>
                <a:spcPct val="100000"/>
              </a:lnSpc>
              <a:spcBef>
                <a:spcPts val="385"/>
              </a:spcBef>
              <a:buNone/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+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469900" indent="0">
              <a:lnSpc>
                <a:spcPct val="100000"/>
              </a:lnSpc>
              <a:spcBef>
                <a:spcPts val="385"/>
              </a:spcBef>
              <a:buNone/>
              <a:tabLst>
                <a:tab pos="1335405" algn="l"/>
              </a:tabLst>
            </a:pP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AB	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(A-&gt;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B)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469900" indent="0">
              <a:lnSpc>
                <a:spcPct val="100000"/>
              </a:lnSpc>
              <a:spcBef>
                <a:spcPts val="385"/>
              </a:spcBef>
              <a:buNone/>
            </a:pP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b="1"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b="1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b="1" spc="-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b="1" spc="-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-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&gt;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C)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10" dirty="0">
                <a:solidFill>
                  <a:srgbClr val="000000"/>
                </a:solidFill>
                <a:sym typeface="+mn-ea"/>
              </a:rPr>
              <a:t>Closure</a:t>
            </a:r>
            <a:r>
              <a:rPr dirty="0">
                <a:solidFill>
                  <a:srgbClr val="000000"/>
                </a:solidFill>
                <a:sym typeface="+mn-ea"/>
              </a:rPr>
              <a:t> of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</a:t>
            </a:r>
            <a:r>
              <a:rPr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Set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5" dirty="0">
                <a:solidFill>
                  <a:srgbClr val="000000"/>
                </a:solidFill>
                <a:sym typeface="+mn-ea"/>
              </a:rPr>
              <a:t> Dependencies</a:t>
            </a:r>
            <a:endParaRPr lang="en-US"/>
          </a:p>
        </p:txBody>
      </p:sp>
      <p:sp>
        <p:nvSpPr>
          <p:cNvPr id="4" name="object 2"/>
          <p:cNvSpPr txBox="1">
            <a:spLocks noGrp="1"/>
          </p:cNvSpPr>
          <p:nvPr/>
        </p:nvSpPr>
        <p:spPr>
          <a:xfrm>
            <a:off x="1698625" y="1691005"/>
            <a:ext cx="8491220" cy="16751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imes New Roman" panose="02020603050405020304"/>
                <a:ea typeface="+mn-ea"/>
                <a:cs typeface="Times New Roman" panose="020206030504050203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35"/>
              </a:spcBef>
            </a:pPr>
            <a:r>
              <a:rPr spc="-10" dirty="0"/>
              <a:t>Example-2</a:t>
            </a:r>
            <a:endParaRPr spc="-10" dirty="0"/>
          </a:p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spc="-5" dirty="0"/>
              <a:t>R(ABCDEF)</a:t>
            </a:r>
            <a:endParaRPr spc="-5" dirty="0"/>
          </a:p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dirty="0"/>
              <a:t>{</a:t>
            </a:r>
            <a:r>
              <a:rPr spc="-100" dirty="0"/>
              <a:t> </a:t>
            </a:r>
            <a:r>
              <a:rPr spc="-15" dirty="0"/>
              <a:t>A-</a:t>
            </a:r>
            <a:r>
              <a:rPr spc="5" dirty="0"/>
              <a:t> </a:t>
            </a:r>
            <a:r>
              <a:rPr dirty="0"/>
              <a:t>&gt;</a:t>
            </a:r>
            <a:r>
              <a:rPr spc="-10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,</a:t>
            </a:r>
            <a:r>
              <a:rPr spc="5" dirty="0"/>
              <a:t> </a:t>
            </a:r>
            <a:r>
              <a:rPr spc="-5" dirty="0"/>
              <a:t>C-&gt; </a:t>
            </a:r>
            <a:r>
              <a:rPr dirty="0"/>
              <a:t>DE,</a:t>
            </a:r>
            <a:r>
              <a:rPr spc="-114" dirty="0"/>
              <a:t> </a:t>
            </a:r>
            <a:r>
              <a:rPr spc="-15" dirty="0"/>
              <a:t>AC</a:t>
            </a:r>
            <a:r>
              <a:rPr spc="25" dirty="0"/>
              <a:t> </a:t>
            </a:r>
            <a:r>
              <a:rPr spc="-40" dirty="0"/>
              <a:t>-&gt;F,</a:t>
            </a:r>
            <a:r>
              <a:rPr spc="-15" dirty="0"/>
              <a:t> </a:t>
            </a:r>
            <a:r>
              <a:rPr dirty="0"/>
              <a:t>D </a:t>
            </a:r>
            <a:r>
              <a:rPr spc="-40" dirty="0"/>
              <a:t>-&gt;AF,</a:t>
            </a:r>
            <a:r>
              <a:rPr spc="30" dirty="0"/>
              <a:t> </a:t>
            </a:r>
            <a:r>
              <a:rPr dirty="0"/>
              <a:t>E</a:t>
            </a:r>
            <a:r>
              <a:rPr spc="-15" dirty="0"/>
              <a:t> </a:t>
            </a:r>
            <a:r>
              <a:rPr spc="-5" dirty="0"/>
              <a:t>-&gt;CF}</a:t>
            </a:r>
            <a:endParaRPr spc="-5" dirty="0"/>
          </a:p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b="1" spc="-5" dirty="0">
                <a:latin typeface="Times New Roman" panose="02020603050405020304"/>
                <a:cs typeface="Times New Roman" panose="02020603050405020304"/>
              </a:rPr>
              <a:t>Find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</a:rPr>
              <a:t>(D)</a:t>
            </a:r>
            <a:r>
              <a:rPr sz="1800" b="1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b="1" spc="195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(DE)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b="1" spc="-15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baseline="25000" dirty="0">
                <a:latin typeface="Times New Roman" panose="02020603050405020304"/>
                <a:cs typeface="Times New Roman" panose="02020603050405020304"/>
              </a:rPr>
              <a:t>?</a:t>
            </a:r>
            <a:endParaRPr sz="1800" baseline="25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435"/>
              </a:spcBef>
            </a:pPr>
            <a:r>
              <a:rPr b="1" spc="-10" dirty="0">
                <a:latin typeface="Times New Roman" panose="02020603050405020304"/>
                <a:cs typeface="Times New Roman" panose="02020603050405020304"/>
              </a:rPr>
              <a:t>Ans</a:t>
            </a:r>
            <a:r>
              <a:rPr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b="1" spc="-5" dirty="0">
                <a:latin typeface="Times New Roman" panose="02020603050405020304"/>
                <a:cs typeface="Times New Roman" panose="02020603050405020304"/>
              </a:rPr>
              <a:t> (D)</a:t>
            </a:r>
            <a:r>
              <a:rPr sz="1800" b="1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b="1" spc="187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4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/>
              <a:t>D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754376" y="3338572"/>
            <a:ext cx="82423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=ADF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DF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3797045" y="3338572"/>
            <a:ext cx="836294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(D-&gt;AF)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3180">
              <a:lnSpc>
                <a:spcPct val="100000"/>
              </a:lnSpc>
              <a:spcBef>
                <a:spcPts val="43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8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)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1698447" y="4325556"/>
            <a:ext cx="1822450" cy="13436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35"/>
              </a:spcBef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(DE)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b="1" spc="179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DE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65480">
              <a:lnSpc>
                <a:spcPct val="100000"/>
              </a:lnSpc>
              <a:spcBef>
                <a:spcPts val="43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ADEF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65480">
              <a:lnSpc>
                <a:spcPct val="100000"/>
              </a:lnSpc>
              <a:spcBef>
                <a:spcPts val="43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ACDEF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65480">
              <a:lnSpc>
                <a:spcPct val="100000"/>
              </a:lnSpc>
              <a:spcBef>
                <a:spcPts val="43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EF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3934205" y="4655943"/>
            <a:ext cx="964565" cy="10128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530"/>
              </a:spcBef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AF)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(E-&gt;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CF)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52070">
              <a:lnSpc>
                <a:spcPct val="100000"/>
              </a:lnSpc>
              <a:spcBef>
                <a:spcPts val="43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(A-&gt;B)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10" dirty="0">
                <a:solidFill>
                  <a:srgbClr val="000000"/>
                </a:solidFill>
                <a:sym typeface="+mn-ea"/>
              </a:rPr>
              <a:t>Closure</a:t>
            </a:r>
            <a:r>
              <a:rPr dirty="0">
                <a:solidFill>
                  <a:srgbClr val="000000"/>
                </a:solidFill>
                <a:sym typeface="+mn-ea"/>
              </a:rPr>
              <a:t> of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</a:t>
            </a:r>
            <a:r>
              <a:rPr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Set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5" dirty="0">
                <a:solidFill>
                  <a:srgbClr val="000000"/>
                </a:solidFill>
                <a:sym typeface="+mn-ea"/>
              </a:rPr>
              <a:t> Dependencies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356870" marR="5080" indent="-344805" algn="just">
              <a:lnSpc>
                <a:spcPct val="101000"/>
              </a:lnSpc>
              <a:spcBef>
                <a:spcPts val="8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Given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set F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dependencies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for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schema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R, we define F 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+, 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closure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-75" dirty="0">
                <a:latin typeface="Times New Roman" panose="02020603050405020304"/>
                <a:cs typeface="Times New Roman" panose="02020603050405020304"/>
                <a:sym typeface="+mn-ea"/>
              </a:rPr>
              <a:t>F,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to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set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all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functional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that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logically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implied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by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70" dirty="0">
                <a:latin typeface="Times New Roman" panose="02020603050405020304"/>
                <a:cs typeface="Times New Roman" panose="02020603050405020304"/>
                <a:sym typeface="+mn-ea"/>
              </a:rPr>
              <a:t>F.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Mathematically,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0" marR="86995" indent="0" algn="ctr">
              <a:lnSpc>
                <a:spcPct val="100000"/>
              </a:lnSpc>
              <a:spcBef>
                <a:spcPts val="290"/>
              </a:spcBef>
              <a:buNone/>
              <a:tabLst>
                <a:tab pos="325755" algn="l"/>
              </a:tabLst>
            </a:pPr>
            <a:r>
              <a:rPr sz="2800" i="1" dirty="0">
                <a:latin typeface="Arial" panose="020B0604020202020204"/>
                <a:cs typeface="Arial" panose="020B0604020202020204"/>
                <a:sym typeface="+mn-ea"/>
              </a:rPr>
              <a:t>F	</a:t>
            </a:r>
            <a:r>
              <a:rPr sz="2800" b="1" spc="-5" dirty="0">
                <a:latin typeface="Arial" panose="020B0604020202020204"/>
                <a:cs typeface="Arial" panose="020B0604020202020204"/>
                <a:sym typeface="+mn-ea"/>
              </a:rPr>
              <a:t>={X</a:t>
            </a:r>
            <a:r>
              <a:rPr sz="2800" spc="-5" dirty="0">
                <a:latin typeface="Lucida Sans Unicode" panose="020B0602030504020204"/>
                <a:cs typeface="Lucida Sans Unicode" panose="020B0602030504020204"/>
                <a:sym typeface="+mn-ea"/>
              </a:rPr>
              <a:t>→</a:t>
            </a:r>
            <a:r>
              <a:rPr sz="2800" b="1" spc="-5" dirty="0">
                <a:latin typeface="Arial" panose="020B0604020202020204"/>
                <a:cs typeface="Arial" panose="020B0604020202020204"/>
                <a:sym typeface="+mn-ea"/>
              </a:rPr>
              <a:t>Y/F</a:t>
            </a:r>
            <a:r>
              <a:rPr sz="2800" spc="-5" dirty="0">
                <a:latin typeface="Lucida Sans Unicode" panose="020B0602030504020204"/>
                <a:cs typeface="Lucida Sans Unicode" panose="020B0602030504020204"/>
                <a:sym typeface="+mn-ea"/>
              </a:rPr>
              <a:t>|=</a:t>
            </a:r>
            <a:r>
              <a:rPr sz="2800" b="1" spc="-5" dirty="0">
                <a:latin typeface="Arial" panose="020B0604020202020204"/>
                <a:cs typeface="Arial" panose="020B0604020202020204"/>
                <a:sym typeface="+mn-ea"/>
              </a:rPr>
              <a:t>X</a:t>
            </a:r>
            <a:r>
              <a:rPr sz="2800" spc="-5" dirty="0">
                <a:latin typeface="Lucida Sans Unicode" panose="020B0602030504020204"/>
                <a:cs typeface="Lucida Sans Unicode" panose="020B0602030504020204"/>
                <a:sym typeface="+mn-ea"/>
              </a:rPr>
              <a:t>→</a:t>
            </a:r>
            <a:r>
              <a:rPr sz="2800" b="1" spc="-5" dirty="0">
                <a:latin typeface="Arial" panose="020B0604020202020204"/>
                <a:cs typeface="Arial" panose="020B0604020202020204"/>
                <a:sym typeface="+mn-ea"/>
              </a:rPr>
              <a:t>Y}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356870" indent="-344805">
              <a:lnSpc>
                <a:spcPct val="100000"/>
              </a:lnSpc>
              <a:spcBef>
                <a:spcPts val="55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2800" spc="-75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generate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FDs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derived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from </a:t>
            </a:r>
            <a:r>
              <a:rPr sz="2800" spc="-70" dirty="0">
                <a:latin typeface="Times New Roman" panose="02020603050405020304"/>
                <a:cs typeface="Times New Roman" panose="02020603050405020304"/>
                <a:sym typeface="+mn-ea"/>
              </a:rPr>
              <a:t>F,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steps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First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apply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inference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axioms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single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and use the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lang="en-US"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whenever</a:t>
            </a:r>
            <a:r>
              <a:rPr sz="28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applicable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Second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z="2800" spc="1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apply</a:t>
            </a:r>
            <a:r>
              <a:rPr sz="2800"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inference</a:t>
            </a:r>
            <a:r>
              <a:rPr sz="2800" spc="1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axioms</a:t>
            </a:r>
            <a:r>
              <a:rPr sz="2800" spc="1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1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800" spc="1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combinations</a:t>
            </a:r>
            <a:r>
              <a:rPr sz="2800" spc="1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1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z="2800" spc="1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lang="en-US"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use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dependencies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whenever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applicable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Next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apply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inference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axioms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combinations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three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lang="en-US"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use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FDs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when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necessary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  <a:tab pos="814705" algn="l"/>
              </a:tabLst>
            </a:pP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Proceed</a:t>
            </a:r>
            <a:r>
              <a:rPr sz="2800" b="1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this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  <a:sym typeface="+mn-ea"/>
              </a:rPr>
              <a:t>manner</a:t>
            </a:r>
            <a:r>
              <a:rPr sz="2800" b="1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many</a:t>
            </a:r>
            <a:r>
              <a:rPr sz="28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different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there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F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10" dirty="0">
                <a:solidFill>
                  <a:srgbClr val="000000"/>
                </a:solidFill>
                <a:sym typeface="+mn-ea"/>
              </a:rPr>
              <a:t>Closure</a:t>
            </a:r>
            <a:r>
              <a:rPr dirty="0">
                <a:solidFill>
                  <a:srgbClr val="000000"/>
                </a:solidFill>
                <a:sym typeface="+mn-ea"/>
              </a:rPr>
              <a:t> of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</a:t>
            </a:r>
            <a:r>
              <a:rPr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Set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5" dirty="0">
                <a:solidFill>
                  <a:srgbClr val="000000"/>
                </a:solidFill>
                <a:sym typeface="+mn-ea"/>
              </a:rPr>
              <a:t> Dependencies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356870" indent="-34480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Let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R=(A,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C)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and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F={A→B,</a:t>
            </a:r>
            <a:r>
              <a:rPr spc="-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A→C}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 panose="05000000000000000000"/>
              <a:buChar char=""/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128270" marR="5715" indent="0" algn="just">
              <a:lnSpc>
                <a:spcPct val="100000"/>
              </a:lnSpc>
              <a:buNone/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+ =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{A→A,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B→B, C→C, A→B,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A→C, A→BC, A→AB, A→AC, AB→A,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AB→B,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AB→AB,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AC→A,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AC→C,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AC→AC,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BC→B,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BC→C,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BC→BC,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ABC→AB,</a:t>
            </a:r>
            <a:r>
              <a:rPr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ABC→AC,</a:t>
            </a:r>
            <a:r>
              <a:rPr spc="-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ABC→BC,</a:t>
            </a:r>
            <a:r>
              <a:rPr spc="-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ABC→ABC}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pc="-190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-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→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X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→</a:t>
            </a:r>
            <a:r>
              <a:rPr spc="-250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-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→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Y}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Uses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Closure: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5080" indent="-344805">
              <a:lnSpc>
                <a:spcPct val="107000"/>
              </a:lnSpc>
              <a:spcBef>
                <a:spcPts val="27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Computing</a:t>
            </a:r>
            <a:r>
              <a:rPr spc="3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pc="3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two</a:t>
            </a:r>
            <a:r>
              <a:rPr spc="3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sets</a:t>
            </a:r>
            <a:r>
              <a:rPr spc="3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3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3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pc="3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3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pc="3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G</a:t>
            </a:r>
            <a:r>
              <a:rPr spc="3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pc="3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equivalent</a:t>
            </a:r>
            <a:r>
              <a:rPr spc="3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: </a:t>
            </a:r>
            <a:r>
              <a:rPr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When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+=G+,</a:t>
            </a:r>
            <a:r>
              <a:rPr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sets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G are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equivalent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F={W→X,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60" dirty="0">
                <a:latin typeface="Times New Roman" panose="02020603050405020304"/>
                <a:cs typeface="Times New Roman" panose="02020603050405020304"/>
                <a:sym typeface="+mn-ea"/>
              </a:rPr>
              <a:t>X→Y,</a:t>
            </a:r>
            <a:r>
              <a:rPr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W→XY}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G=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{W→X,</a:t>
            </a:r>
            <a:r>
              <a:rPr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70" dirty="0">
                <a:latin typeface="Times New Roman" panose="02020603050405020304"/>
                <a:cs typeface="Times New Roman" panose="02020603050405020304"/>
                <a:sym typeface="+mn-ea"/>
              </a:rPr>
              <a:t>W→Y,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X→Y}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15" dirty="0">
                <a:solidFill>
                  <a:srgbClr val="000000"/>
                </a:solidFill>
                <a:sym typeface="+mn-ea"/>
              </a:rPr>
              <a:t>Closure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2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a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Set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9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Attributes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5355"/>
          </a:xfrm>
        </p:spPr>
        <p:txBody>
          <a:bodyPr>
            <a:normAutofit fontScale="70000"/>
          </a:bodyPr>
          <a:p>
            <a:pPr marL="356870" marR="5080" indent="-344805" algn="just">
              <a:lnSpc>
                <a:spcPct val="100000"/>
              </a:lnSpc>
              <a:spcBef>
                <a:spcPts val="9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Given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attributes X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dependencies </a:t>
            </a:r>
            <a:r>
              <a:rPr spc="-75" dirty="0">
                <a:latin typeface="Times New Roman" panose="02020603050405020304"/>
                <a:cs typeface="Times New Roman" panose="02020603050405020304"/>
                <a:sym typeface="+mn-ea"/>
              </a:rPr>
              <a:t>F,</a:t>
            </a:r>
            <a:r>
              <a:rPr spc="-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closure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attributes X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under </a:t>
            </a:r>
            <a:r>
              <a:rPr spc="-75" dirty="0">
                <a:latin typeface="Times New Roman" panose="02020603050405020304"/>
                <a:cs typeface="Times New Roman" panose="02020603050405020304"/>
                <a:sym typeface="+mn-ea"/>
              </a:rPr>
              <a:t>F,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denoted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as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X +, is the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set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A that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can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derived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from X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by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applying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Armstrong’s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Inference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Axioms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to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75" dirty="0">
                <a:latin typeface="Times New Roman" panose="02020603050405020304"/>
                <a:cs typeface="Times New Roman" panose="02020603050405020304"/>
                <a:sym typeface="+mn-ea"/>
              </a:rPr>
              <a:t>F.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closure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always</a:t>
            </a:r>
            <a:r>
              <a:rPr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non</a:t>
            </a:r>
            <a:r>
              <a:rPr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empty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set.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 algn="just">
              <a:lnSpc>
                <a:spcPct val="100000"/>
              </a:lnSpc>
              <a:spcBef>
                <a:spcPts val="41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 =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(A,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D)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and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{A→C,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B→D}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4447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{A}+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C},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{B}+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{B,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{C}+={C},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{D}+={D},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53365" indent="0">
              <a:lnSpc>
                <a:spcPct val="100000"/>
              </a:lnSpc>
              <a:spcBef>
                <a:spcPts val="1780"/>
              </a:spcBef>
              <a:buNone/>
            </a:pP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B}+</a:t>
            </a:r>
            <a:r>
              <a:rPr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C}+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C},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{A,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D}+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53365" indent="0">
              <a:lnSpc>
                <a:spcPct val="100000"/>
              </a:lnSpc>
              <a:spcBef>
                <a:spcPts val="1440"/>
              </a:spcBef>
              <a:buNone/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{B,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C}+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{B,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{B,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D}+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{B,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{C, D}+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{C,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53365" indent="0">
              <a:lnSpc>
                <a:spcPct val="100000"/>
              </a:lnSpc>
              <a:spcBef>
                <a:spcPts val="1440"/>
              </a:spcBef>
              <a:buNone/>
            </a:pP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C}+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D}+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253365" indent="0">
              <a:lnSpc>
                <a:spcPct val="100000"/>
              </a:lnSpc>
              <a:spcBef>
                <a:spcPts val="1445"/>
              </a:spcBef>
              <a:buNone/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{B,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D}+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 {B,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D},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{A,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D}+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698500" indent="0">
              <a:lnSpc>
                <a:spcPct val="100000"/>
              </a:lnSpc>
              <a:spcBef>
                <a:spcPts val="1055"/>
              </a:spcBef>
              <a:buNone/>
            </a:pP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R 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-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45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Z)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{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→</a:t>
            </a:r>
            <a:r>
              <a:rPr spc="-245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pc="-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Y→Z}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15" dirty="0">
                <a:solidFill>
                  <a:srgbClr val="000000"/>
                </a:solidFill>
                <a:sym typeface="+mn-ea"/>
              </a:rPr>
              <a:t>Closure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2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a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Set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19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Attributes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356870" indent="-344805" algn="just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Uses</a:t>
            </a:r>
            <a:r>
              <a:rPr sz="28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b="1" spc="-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Closure: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marR="5080" lvl="1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b="1" spc="-30" dirty="0">
                <a:latin typeface="Times New Roman" panose="02020603050405020304"/>
                <a:cs typeface="Times New Roman" panose="02020603050405020304"/>
                <a:sym typeface="+mn-ea"/>
              </a:rPr>
              <a:t>Testing</a:t>
            </a:r>
            <a:r>
              <a:rPr sz="2800" b="1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2800" b="1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key</a:t>
            </a:r>
            <a:r>
              <a:rPr sz="2800" b="1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:</a:t>
            </a:r>
            <a:r>
              <a:rPr sz="2800" b="1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75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test</a:t>
            </a:r>
            <a:r>
              <a:rPr sz="28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whether</a:t>
            </a:r>
            <a:r>
              <a:rPr sz="2800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z="2800"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key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8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not,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z="28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+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computed.</a:t>
            </a:r>
            <a:r>
              <a:rPr sz="2800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z="2800"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2800" spc="-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11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key</a:t>
            </a:r>
            <a:r>
              <a:rPr sz="2800" spc="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iff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z="2800" spc="1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+</a:t>
            </a:r>
            <a:r>
              <a:rPr sz="28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contains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attributes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R.</a:t>
            </a:r>
            <a:r>
              <a:rPr sz="2800" spc="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z="2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candidate</a:t>
            </a:r>
            <a:r>
              <a:rPr sz="2800" spc="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key</a:t>
            </a:r>
            <a:r>
              <a:rPr sz="2800" spc="11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none </a:t>
            </a:r>
            <a:r>
              <a:rPr sz="2800" spc="-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its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subsets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 a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key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b="1" spc="-30" dirty="0">
                <a:latin typeface="Times New Roman" panose="02020603050405020304"/>
                <a:cs typeface="Times New Roman" panose="02020603050405020304"/>
                <a:sym typeface="+mn-ea"/>
              </a:rPr>
              <a:t>Testing</a:t>
            </a:r>
            <a:r>
              <a:rPr sz="2800" b="1" spc="1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b="1" spc="101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dependencies:</a:t>
            </a:r>
            <a:r>
              <a:rPr sz="2800" b="1" spc="9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75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10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check</a:t>
            </a:r>
            <a:r>
              <a:rPr sz="2800" spc="9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whether</a:t>
            </a:r>
            <a:r>
              <a:rPr sz="2800" spc="9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  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X→Y</a:t>
            </a:r>
            <a:r>
              <a:rPr sz="2800" spc="-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not,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just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check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800" spc="-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z="2800" spc="-5" dirty="0">
                <a:latin typeface="Cambria Math" panose="02040503050406030204"/>
                <a:cs typeface="Cambria Math" panose="02040503050406030204"/>
                <a:sym typeface="+mn-ea"/>
              </a:rPr>
              <a:t>⊆</a:t>
            </a:r>
            <a:r>
              <a:rPr sz="2800" spc="50" dirty="0">
                <a:latin typeface="Cambria Math" panose="02040503050406030204"/>
                <a:cs typeface="Cambria Math" panose="020405030504060302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X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+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065" indent="0" algn="just">
              <a:lnSpc>
                <a:spcPct val="100000"/>
              </a:lnSpc>
              <a:spcBef>
                <a:spcPts val="410"/>
              </a:spcBef>
              <a:buFont typeface="Wingdings" panose="05000000000000000000"/>
              <a:buNone/>
              <a:tabLst>
                <a:tab pos="357505" algn="l"/>
              </a:tabLst>
            </a:pPr>
            <a:r>
              <a:rPr lang="en-US"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Q -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Given</a:t>
            </a:r>
            <a:r>
              <a:rPr sz="2800" spc="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R=(A,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z="2800" spc="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C,</a:t>
            </a:r>
            <a:r>
              <a:rPr sz="2800" spc="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D)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2800" spc="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F={AB→C,</a:t>
            </a:r>
            <a:r>
              <a:rPr sz="2800" spc="1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B→D,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D→B},</a:t>
            </a:r>
            <a:r>
              <a:rPr sz="2800" spc="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find</a:t>
            </a:r>
            <a:r>
              <a:rPr sz="2800" spc="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candidate</a:t>
            </a:r>
            <a:r>
              <a:rPr sz="2800" spc="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keys</a:t>
            </a:r>
            <a:r>
              <a:rPr lang="en-US"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relation.</a:t>
            </a:r>
            <a:r>
              <a:rPr sz="28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How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many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candidate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keys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this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relation?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10" dirty="0">
                <a:solidFill>
                  <a:srgbClr val="000000"/>
                </a:solidFill>
                <a:sym typeface="+mn-ea"/>
              </a:rPr>
              <a:t>Redundant</a:t>
            </a:r>
            <a:r>
              <a:rPr spc="3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2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Dependencies</a:t>
            </a:r>
            <a:endParaRPr lang="en-US"/>
          </a:p>
        </p:txBody>
      </p:sp>
      <p:pic>
        <p:nvPicPr>
          <p:cNvPr id="7" name="object 7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729740" y="1691005"/>
            <a:ext cx="8731885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10" dirty="0">
                <a:solidFill>
                  <a:srgbClr val="000000"/>
                </a:solidFill>
                <a:sym typeface="+mn-ea"/>
              </a:rPr>
              <a:t>Redundant</a:t>
            </a:r>
            <a:r>
              <a:rPr spc="3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2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Dependencies</a:t>
            </a:r>
            <a:endParaRPr lang="en-US"/>
          </a:p>
        </p:txBody>
      </p:sp>
      <p:pic>
        <p:nvPicPr>
          <p:cNvPr id="7" name="object 7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459230" y="1825625"/>
            <a:ext cx="92722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>
                <a:solidFill>
                  <a:srgbClr val="000000"/>
                </a:solidFill>
                <a:sym typeface="+mn-ea"/>
              </a:rPr>
              <a:t>Redundant</a:t>
            </a:r>
            <a:r>
              <a:rPr spc="-20" dirty="0">
                <a:solidFill>
                  <a:srgbClr val="000000"/>
                </a:solidFill>
                <a:sym typeface="+mn-ea"/>
              </a:rPr>
              <a:t> </a:t>
            </a:r>
            <a:r>
              <a:rPr spc="5" dirty="0">
                <a:solidFill>
                  <a:srgbClr val="000000"/>
                </a:solidFill>
                <a:sym typeface="+mn-ea"/>
              </a:rPr>
              <a:t>functional</a:t>
            </a:r>
            <a:r>
              <a:rPr spc="-6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Dependencies</a:t>
            </a:r>
            <a:r>
              <a:rPr spc="-40" dirty="0">
                <a:solidFill>
                  <a:srgbClr val="000000"/>
                </a:solidFill>
                <a:sym typeface="+mn-ea"/>
              </a:rPr>
              <a:t> </a:t>
            </a:r>
            <a:r>
              <a:rPr spc="5" dirty="0">
                <a:solidFill>
                  <a:srgbClr val="000000"/>
                </a:solidFill>
                <a:sym typeface="+mn-ea"/>
              </a:rPr>
              <a:t>(</a:t>
            </a:r>
            <a:r>
              <a:rPr spc="5" dirty="0">
                <a:solidFill>
                  <a:srgbClr val="FF0000"/>
                </a:solidFill>
                <a:sym typeface="+mn-ea"/>
              </a:rPr>
              <a:t>other</a:t>
            </a:r>
            <a:r>
              <a:rPr spc="-95" dirty="0">
                <a:solidFill>
                  <a:srgbClr val="FF0000"/>
                </a:solidFill>
                <a:sym typeface="+mn-ea"/>
              </a:rPr>
              <a:t> </a:t>
            </a:r>
            <a:r>
              <a:rPr spc="15" dirty="0">
                <a:solidFill>
                  <a:srgbClr val="FF0000"/>
                </a:solidFill>
                <a:sym typeface="+mn-ea"/>
              </a:rPr>
              <a:t>way</a:t>
            </a:r>
            <a:r>
              <a:rPr spc="-50" dirty="0">
                <a:solidFill>
                  <a:srgbClr val="FF0000"/>
                </a:solidFill>
                <a:sym typeface="+mn-ea"/>
              </a:rPr>
              <a:t> </a:t>
            </a:r>
            <a:r>
              <a:rPr spc="5" dirty="0">
                <a:solidFill>
                  <a:srgbClr val="FF0000"/>
                </a:solidFill>
                <a:sym typeface="+mn-ea"/>
              </a:rPr>
              <a:t>to</a:t>
            </a:r>
            <a:r>
              <a:rPr dirty="0">
                <a:solidFill>
                  <a:srgbClr val="FF0000"/>
                </a:solidFill>
                <a:sym typeface="+mn-ea"/>
              </a:rPr>
              <a:t> </a:t>
            </a:r>
            <a:r>
              <a:rPr spc="10" dirty="0">
                <a:solidFill>
                  <a:srgbClr val="FF0000"/>
                </a:solidFill>
                <a:sym typeface="+mn-ea"/>
              </a:rPr>
              <a:t>find</a:t>
            </a:r>
            <a:r>
              <a:rPr spc="-50" dirty="0">
                <a:solidFill>
                  <a:srgbClr val="FF0000"/>
                </a:solidFill>
                <a:sym typeface="+mn-ea"/>
              </a:rPr>
              <a:t> </a:t>
            </a:r>
            <a:r>
              <a:rPr spc="5" dirty="0">
                <a:solidFill>
                  <a:srgbClr val="FF0000"/>
                </a:solidFill>
                <a:sym typeface="+mn-ea"/>
              </a:rPr>
              <a:t>out</a:t>
            </a:r>
            <a:r>
              <a:rPr spc="5" dirty="0">
                <a:solidFill>
                  <a:srgbClr val="000000"/>
                </a:solidFill>
                <a:sym typeface="+mn-ea"/>
              </a:rPr>
              <a:t>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1235"/>
          </a:xfrm>
        </p:spPr>
        <p:txBody>
          <a:bodyPr>
            <a:normAutofit fontScale="80000"/>
          </a:bodyPr>
          <a:p>
            <a:pPr marL="356870" marR="5715" indent="-34480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functional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 the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set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 redundant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if it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can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derived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from the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other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dependencies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set.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redundant FD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can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detected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using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following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steps: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Step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1:</a:t>
            </a:r>
            <a:r>
              <a:rPr sz="2800" spc="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Start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with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of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(FDs).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>
              <a:lnSpc>
                <a:spcPct val="100000"/>
              </a:lnSpc>
              <a:spcBef>
                <a:spcPts val="4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Step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2: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Remove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and create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of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FDs  S'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-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>
              <a:lnSpc>
                <a:spcPct val="100000"/>
              </a:lnSpc>
              <a:spcBef>
                <a:spcPts val="4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Step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3: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40" dirty="0">
                <a:latin typeface="Times New Roman" panose="02020603050405020304"/>
                <a:cs typeface="Times New Roman" panose="02020603050405020304"/>
                <a:sym typeface="+mn-ea"/>
              </a:rPr>
              <a:t>Test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whether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derived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from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FDs in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S';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by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using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of</a:t>
            </a:r>
            <a:r>
              <a:rPr lang="en-US"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Armstrong's</a:t>
            </a:r>
            <a:r>
              <a:rPr sz="2800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axioms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derived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rules.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>
              <a:lnSpc>
                <a:spcPct val="100000"/>
              </a:lnSpc>
              <a:spcBef>
                <a:spcPts val="4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Step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4: </a:t>
            </a:r>
            <a:r>
              <a:rPr sz="28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so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derived,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redundant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,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hence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S'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z="2800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S.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Otherwise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replace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into	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S';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so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now</a:t>
            </a:r>
            <a:r>
              <a:rPr sz="2800" spc="-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S'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+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f.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Step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5: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Repeat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steps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2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4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FDs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Armstrong's</a:t>
            </a:r>
            <a:r>
              <a:rPr sz="2800"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axioms</a:t>
            </a:r>
            <a:r>
              <a:rPr sz="28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28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derived</a:t>
            </a:r>
            <a:r>
              <a:rPr sz="28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rules,</a:t>
            </a:r>
            <a:r>
              <a:rPr sz="2800" spc="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z="28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discussed</a:t>
            </a:r>
            <a:r>
              <a:rPr sz="28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previous</a:t>
            </a:r>
            <a:r>
              <a:rPr sz="28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section,</a:t>
            </a:r>
            <a:r>
              <a:rPr sz="28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can</a:t>
            </a:r>
            <a:r>
              <a:rPr lang="en-US"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used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find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redundant</a:t>
            </a:r>
            <a:r>
              <a:rPr sz="2800" spc="-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FDs.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Exam</a:t>
            </a:r>
            <a:r>
              <a:rPr spc="-15" dirty="0">
                <a:solidFill>
                  <a:srgbClr val="000000"/>
                </a:solidFill>
                <a:sym typeface="+mn-ea"/>
              </a:rPr>
              <a:t>p</a:t>
            </a:r>
            <a:r>
              <a:rPr dirty="0">
                <a:solidFill>
                  <a:srgbClr val="000000"/>
                </a:solidFill>
                <a:sym typeface="+mn-ea"/>
              </a:rPr>
              <a:t>le</a:t>
            </a:r>
            <a:endParaRPr lang="en-US"/>
          </a:p>
        </p:txBody>
      </p:sp>
      <p:sp>
        <p:nvSpPr>
          <p:cNvPr id="4" name="object 2"/>
          <p:cNvSpPr txBox="1"/>
          <p:nvPr/>
        </p:nvSpPr>
        <p:spPr>
          <a:xfrm>
            <a:off x="1164590" y="1691005"/>
            <a:ext cx="10311765" cy="30206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p>
            <a:pPr marL="356870" indent="-344805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example,</a:t>
            </a:r>
            <a:r>
              <a:rPr sz="18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suppose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following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FDs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given</a:t>
            </a:r>
            <a:r>
              <a:rPr sz="1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 the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algorithm: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00050" marR="6491605" indent="69850" algn="just">
              <a:lnSpc>
                <a:spcPct val="120000"/>
              </a:lnSpc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8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 -&gt;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AX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469900" algn="just">
              <a:lnSpc>
                <a:spcPct val="100000"/>
              </a:lnSpc>
              <a:spcBef>
                <a:spcPts val="435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ZB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6870" marR="5080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870" algn="l"/>
                <a:tab pos="357505" algn="l"/>
                <a:tab pos="160083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Because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ZB	-&gt;</a:t>
            </a:r>
            <a:r>
              <a:rPr sz="18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8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derived</a:t>
            </a:r>
            <a:r>
              <a:rPr sz="18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other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FDs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set,</a:t>
            </a:r>
            <a:r>
              <a:rPr sz="18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8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shown</a:t>
            </a:r>
            <a:r>
              <a:rPr sz="18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redundant.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following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argument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given: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 panose="05000000000000000000"/>
              <a:buChar char=""/>
            </a:pP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tati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ield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ZB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B -&gt;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X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and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AX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pseudo-transitivity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rule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yield</a:t>
            </a:r>
            <a:r>
              <a:rPr sz="1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AB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25" dirty="0">
                <a:latin typeface="Times New Roman" panose="02020603050405020304"/>
                <a:cs typeface="Times New Roman" panose="02020603050405020304"/>
              </a:rPr>
              <a:t>Y.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ZB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8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tra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sit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ield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ZB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Canonical</a:t>
            </a:r>
            <a:r>
              <a:rPr dirty="0">
                <a:solidFill>
                  <a:srgbClr val="000000"/>
                </a:solidFill>
                <a:sym typeface="+mn-ea"/>
              </a:rPr>
              <a:t> Cover</a:t>
            </a:r>
            <a:r>
              <a:rPr spc="-9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/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Minimal</a:t>
            </a:r>
            <a:r>
              <a:rPr spc="-1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Cover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356870" marR="7620" indent="-34480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Canonical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Cover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/</a:t>
            </a:r>
            <a:r>
              <a:rPr sz="28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Minimal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Cover: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given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F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FDs,</a:t>
            </a:r>
            <a:r>
              <a:rPr sz="2800" spc="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canonical </a:t>
            </a:r>
            <a:r>
              <a:rPr sz="28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cover,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denoted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by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Fc ,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FDs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where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following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conditions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satisfied: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Fc</a:t>
            </a:r>
            <a:r>
              <a:rPr sz="2800" spc="4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equivalent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Every</a:t>
            </a:r>
            <a:r>
              <a:rPr sz="2800" spc="6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z="2800" spc="6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1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Fc   </a:t>
            </a:r>
            <a:r>
              <a:rPr sz="2800" spc="4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6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simple.</a:t>
            </a:r>
            <a:r>
              <a:rPr sz="2800" spc="6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800" spc="6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is,</a:t>
            </a:r>
            <a:r>
              <a:rPr sz="2800" spc="6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6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RHS</a:t>
            </a:r>
            <a:r>
              <a:rPr sz="2800" spc="6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every</a:t>
            </a:r>
            <a:r>
              <a:rPr sz="2800" spc="6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Fc</a:t>
            </a:r>
            <a:r>
              <a:rPr sz="2800" spc="4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has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only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one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attribute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No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Fc</a:t>
            </a:r>
            <a:r>
              <a:rPr sz="2800" spc="4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redundant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470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determinant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LHS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every</a:t>
            </a:r>
            <a:r>
              <a:rPr sz="2800" spc="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FD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Fc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irreducible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 =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(A,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B,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C)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and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{A→{B,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C},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B→C,</a:t>
            </a:r>
            <a:r>
              <a:rPr sz="2800" spc="-11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A→B,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{A,</a:t>
            </a:r>
            <a:r>
              <a:rPr sz="2800" spc="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B}→C}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Fc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=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{A→B,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B→C}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870" algn="l"/>
                <a:tab pos="357505" algn="l"/>
                <a:tab pos="793115" algn="l"/>
                <a:tab pos="1852930" algn="l"/>
                <a:tab pos="2543175" algn="l"/>
                <a:tab pos="3490595" algn="l"/>
                <a:tab pos="3954145" algn="l"/>
                <a:tab pos="5064760" algn="l"/>
                <a:tab pos="6478905" algn="l"/>
                <a:tab pos="7362825" algn="l"/>
              </a:tabLst>
            </a:pP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	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ca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non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ic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	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v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	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tai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	t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h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	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un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ti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	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nd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ies	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w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t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hou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	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lang="en-US"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redundancy,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therefore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finding the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key</a:t>
            </a:r>
            <a:r>
              <a:rPr sz="2800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relation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becomes</a:t>
            </a:r>
            <a:r>
              <a:rPr sz="2800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efficient.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Canonical</a:t>
            </a:r>
            <a:r>
              <a:rPr dirty="0">
                <a:solidFill>
                  <a:srgbClr val="000000"/>
                </a:solidFill>
                <a:sym typeface="+mn-ea"/>
              </a:rPr>
              <a:t> Cover</a:t>
            </a:r>
            <a:r>
              <a:rPr spc="-9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/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Minimal</a:t>
            </a:r>
            <a:r>
              <a:rPr spc="-1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Cover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356870" marR="6985" indent="-34480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Sometimes</a:t>
            </a:r>
            <a:r>
              <a:rPr sz="2800" b="1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b="1" spc="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b="1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Sets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20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not</a:t>
            </a:r>
            <a:r>
              <a:rPr sz="2800" b="1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able</a:t>
            </a:r>
            <a:r>
              <a:rPr sz="2800" b="1" spc="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reduce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800"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b="1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has </a:t>
            </a:r>
            <a:r>
              <a:rPr sz="2800" b="1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following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properties,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 panose="05000000000000000000"/>
              <a:buChar char=""/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lvl="1" indent="-344805">
              <a:lnSpc>
                <a:spcPct val="100000"/>
              </a:lnSpc>
              <a:buAutoNum type="arabicPeriod"/>
              <a:tabLst>
                <a:tab pos="813435" algn="l"/>
                <a:tab pos="81470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Right-hand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side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functional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holds</a:t>
            </a:r>
            <a:r>
              <a:rPr sz="2800" spc="-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only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one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attribute.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4070" marR="5080" lvl="1" indent="-344805">
              <a:lnSpc>
                <a:spcPct val="100000"/>
              </a:lnSpc>
              <a:spcBef>
                <a:spcPts val="435"/>
              </a:spcBef>
              <a:buFont typeface="Times New Roman" panose="02020603050405020304"/>
              <a:buAutoNum type="arabicPeriod"/>
              <a:tabLst>
                <a:tab pos="869315" algn="l"/>
                <a:tab pos="869950" algn="l"/>
              </a:tabLst>
            </a:pPr>
            <a:r>
              <a:rPr sz="2800" dirty="0">
                <a:sym typeface="+mn-ea"/>
              </a:rPr>
              <a:t>	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3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Left-hand</a:t>
            </a:r>
            <a:r>
              <a:rPr sz="2800" spc="3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side</a:t>
            </a:r>
            <a:r>
              <a:rPr sz="2800" spc="3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3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3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spc="3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spc="3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cannot</a:t>
            </a:r>
            <a:r>
              <a:rPr sz="2800" spc="3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spc="3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reduced,</a:t>
            </a:r>
            <a:r>
              <a:rPr sz="2800" spc="3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 </a:t>
            </a:r>
            <a:r>
              <a:rPr sz="28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changes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the entire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content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set.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72490" lvl="1" indent="-40322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871855" algn="l"/>
                <a:tab pos="87312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Reducing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any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may</a:t>
            </a:r>
            <a:r>
              <a:rPr sz="2800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change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content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set.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 panose="02020603050405020304"/>
              <a:buAutoNum type="arabicPeriod"/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z="2800" spc="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spc="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z="2800"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with</a:t>
            </a:r>
            <a:r>
              <a:rPr sz="2800" spc="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above</a:t>
            </a:r>
            <a:r>
              <a:rPr sz="2800" spc="8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three</a:t>
            </a:r>
            <a:r>
              <a:rPr sz="28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properties</a:t>
            </a:r>
            <a:r>
              <a:rPr sz="2800" spc="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are</a:t>
            </a:r>
            <a:r>
              <a:rPr sz="2800" spc="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also</a:t>
            </a:r>
            <a:r>
              <a:rPr sz="2800" spc="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called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Canonical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Minimal.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Canonical</a:t>
            </a:r>
            <a:r>
              <a:rPr dirty="0">
                <a:solidFill>
                  <a:srgbClr val="000000"/>
                </a:solidFill>
                <a:sym typeface="+mn-ea"/>
              </a:rPr>
              <a:t> Cover</a:t>
            </a:r>
            <a:r>
              <a:rPr spc="-9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/</a:t>
            </a:r>
            <a:r>
              <a:rPr spc="-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Minimal</a:t>
            </a:r>
            <a:r>
              <a:rPr spc="-1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Cover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356870" marR="7620" indent="-34480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Whenever</a:t>
            </a:r>
            <a:r>
              <a:rPr spc="4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user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updates 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database,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system must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check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whether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any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dependencies are getting violated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this process.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If there is a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violation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 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new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database state,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the system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must roll back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.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Working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with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huge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 can cause unnecessary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added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computational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time.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This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where</a:t>
            </a:r>
            <a:r>
              <a:rPr spc="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canonical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cover</a:t>
            </a:r>
            <a:r>
              <a:rPr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comes</a:t>
            </a:r>
            <a:r>
              <a:rPr spc="6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into</a:t>
            </a:r>
            <a:r>
              <a:rPr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35" dirty="0">
                <a:latin typeface="Times New Roman" panose="02020603050405020304"/>
                <a:cs typeface="Times New Roman" panose="02020603050405020304"/>
                <a:sym typeface="+mn-ea"/>
              </a:rPr>
              <a:t>play.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canonical</a:t>
            </a:r>
            <a:r>
              <a:rPr spc="2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cover</a:t>
            </a:r>
            <a:r>
              <a:rPr spc="2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1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pc="1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20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1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b="1" spc="20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b="1" spc="1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b="1" spc="1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simplified</a:t>
            </a:r>
            <a:r>
              <a:rPr b="1" spc="2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b="1" spc="2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lang="en-US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dependencies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has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b="1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b="1" spc="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closure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  <a:sym typeface="+mn-ea"/>
              </a:rPr>
              <a:t>original</a:t>
            </a:r>
            <a:r>
              <a:rPr b="1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b="1"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70" dirty="0">
                <a:latin typeface="Times New Roman" panose="02020603050405020304"/>
                <a:cs typeface="Times New Roman" panose="02020603050405020304"/>
                <a:sym typeface="+mn-ea"/>
              </a:rPr>
              <a:t>F</a:t>
            </a:r>
            <a:r>
              <a:rPr spc="-70" dirty="0">
                <a:latin typeface="Times New Roman" panose="02020603050405020304"/>
                <a:cs typeface="Times New Roman" panose="02020603050405020304"/>
                <a:sym typeface="+mn-ea"/>
              </a:rPr>
              <a:t>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7505" algn="l"/>
              </a:tabLst>
            </a:pPr>
            <a:r>
              <a:rPr b="1" spc="-5" dirty="0">
                <a:latin typeface="Times New Roman" panose="02020603050405020304"/>
                <a:cs typeface="Times New Roman" panose="02020603050405020304"/>
                <a:sym typeface="+mn-ea"/>
              </a:rPr>
              <a:t>Extraneous attributes: </a:t>
            </a:r>
            <a:r>
              <a:rPr spc="-20" dirty="0">
                <a:latin typeface="Times New Roman" panose="02020603050405020304"/>
                <a:cs typeface="Times New Roman" panose="02020603050405020304"/>
                <a:sym typeface="+mn-ea"/>
              </a:rPr>
              <a:t>An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attribute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a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 dependency is said </a:t>
            </a:r>
            <a:r>
              <a:rPr spc="-15" dirty="0">
                <a:latin typeface="Times New Roman" panose="02020603050405020304"/>
                <a:cs typeface="Times New Roman" panose="02020603050405020304"/>
                <a:sym typeface="+mn-ea"/>
              </a:rPr>
              <a:t>to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extraneous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if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we can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remove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 it without 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changing the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closure </a:t>
            </a:r>
            <a:r>
              <a:rPr spc="5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set</a:t>
            </a:r>
            <a:r>
              <a:rPr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pc="1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pc="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dirty="0">
                <a:latin typeface="Times New Roman" panose="02020603050405020304"/>
                <a:cs typeface="Times New Roman" panose="02020603050405020304"/>
                <a:sym typeface="+mn-ea"/>
              </a:rPr>
              <a:t>dependencies.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>
                <a:solidFill>
                  <a:srgbClr val="000000"/>
                </a:solidFill>
                <a:sym typeface="+mn-ea"/>
              </a:rPr>
              <a:t>Canonical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Cover</a:t>
            </a:r>
            <a:r>
              <a:rPr spc="-3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/ </a:t>
            </a:r>
            <a:r>
              <a:rPr spc="-5" dirty="0">
                <a:solidFill>
                  <a:srgbClr val="000000"/>
                </a:solidFill>
                <a:sym typeface="+mn-ea"/>
              </a:rPr>
              <a:t>Minimal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10" dirty="0">
                <a:solidFill>
                  <a:srgbClr val="000000"/>
                </a:solidFill>
                <a:sym typeface="+mn-ea"/>
              </a:rPr>
              <a:t>Cover/Irreducibe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set</a:t>
            </a:r>
            <a:r>
              <a:rPr spc="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spc="-20" dirty="0">
                <a:solidFill>
                  <a:srgbClr val="000000"/>
                </a:solidFill>
                <a:sym typeface="+mn-ea"/>
              </a:rPr>
              <a:t>FD</a:t>
            </a:r>
            <a:endParaRPr lang="en-US"/>
          </a:p>
        </p:txBody>
      </p:sp>
      <p:sp>
        <p:nvSpPr>
          <p:cNvPr id="4" name="object 2"/>
          <p:cNvSpPr txBox="1"/>
          <p:nvPr/>
        </p:nvSpPr>
        <p:spPr>
          <a:xfrm>
            <a:off x="864870" y="1840865"/>
            <a:ext cx="10489565" cy="300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3717925">
              <a:lnSpc>
                <a:spcPct val="12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356870" algn="l"/>
                <a:tab pos="35750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xa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le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R(WXYZ)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X-&gt;</a:t>
            </a:r>
            <a:r>
              <a:rPr sz="18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3921760">
              <a:lnSpc>
                <a:spcPts val="2590"/>
              </a:lnSpc>
              <a:spcBef>
                <a:spcPts val="160"/>
              </a:spcBef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WZ</a:t>
            </a:r>
            <a:r>
              <a:rPr sz="18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-&gt;XY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Y-&gt;WXZ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751840">
              <a:lnSpc>
                <a:spcPts val="2590"/>
              </a:lnSpc>
              <a:spcBef>
                <a:spcPts val="1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Find the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canonical Cover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Minimal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Comer.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endParaRPr sz="1800" spc="-434" dirty="0">
              <a:latin typeface="Times New Roman" panose="02020603050405020304"/>
              <a:cs typeface="Times New Roman" panose="02020603050405020304"/>
            </a:endParaRPr>
          </a:p>
          <a:p>
            <a:pPr marL="12700" marR="751840">
              <a:lnSpc>
                <a:spcPts val="2590"/>
              </a:lnSpc>
              <a:spcBef>
                <a:spcPts val="10"/>
              </a:spcBef>
            </a:pPr>
            <a:endParaRPr sz="1800" spc="-434" dirty="0">
              <a:latin typeface="Times New Roman" panose="02020603050405020304"/>
              <a:cs typeface="Times New Roman" panose="02020603050405020304"/>
            </a:endParaRPr>
          </a:p>
          <a:p>
            <a:pPr marL="12700" marR="751840">
              <a:lnSpc>
                <a:spcPts val="2590"/>
              </a:lnSpc>
              <a:spcBef>
                <a:spcPts val="10"/>
              </a:spcBef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Ans: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2590"/>
              </a:lnSpc>
              <a:spcBef>
                <a:spcPts val="5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Step-1: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right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side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contain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attribute.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X-&gt;W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WZ-&gt;X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4148455">
              <a:lnSpc>
                <a:spcPct val="120000"/>
              </a:lnSpc>
              <a:spcBef>
                <a:spcPts val="5"/>
              </a:spcBef>
            </a:pP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&gt;Y  </a:t>
            </a: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Y-&gt;W 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Y-&gt;X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Y-&gt;Z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>
                <a:solidFill>
                  <a:srgbClr val="000000"/>
                </a:solidFill>
                <a:sym typeface="+mn-ea"/>
              </a:rPr>
              <a:t>Canonical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Cover</a:t>
            </a:r>
            <a:r>
              <a:rPr spc="-3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/ </a:t>
            </a:r>
            <a:r>
              <a:rPr spc="-5" dirty="0">
                <a:solidFill>
                  <a:srgbClr val="000000"/>
                </a:solidFill>
                <a:sym typeface="+mn-ea"/>
              </a:rPr>
              <a:t>Minimal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10" dirty="0">
                <a:solidFill>
                  <a:srgbClr val="000000"/>
                </a:solidFill>
                <a:sym typeface="+mn-ea"/>
              </a:rPr>
              <a:t>Cover/Irreducibe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set</a:t>
            </a:r>
            <a:r>
              <a:rPr spc="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spc="-20" dirty="0">
                <a:solidFill>
                  <a:srgbClr val="000000"/>
                </a:solidFill>
                <a:sym typeface="+mn-ea"/>
              </a:rPr>
              <a:t>FD</a:t>
            </a:r>
            <a:endParaRPr lang="en-US"/>
          </a:p>
        </p:txBody>
      </p:sp>
      <p:sp>
        <p:nvSpPr>
          <p:cNvPr id="5" name="object 2"/>
          <p:cNvSpPr txBox="1"/>
          <p:nvPr/>
        </p:nvSpPr>
        <p:spPr>
          <a:xfrm>
            <a:off x="838200" y="1503680"/>
            <a:ext cx="10306050" cy="49606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p>
            <a:pPr marL="635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Step-2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Find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out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Closure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0"/>
              </a:spcBef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X-&gt;W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5"/>
              </a:spcBef>
            </a:pPr>
            <a:r>
              <a:rPr sz="1800" spc="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800" spc="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60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XW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 marR="55880">
              <a:lnSpc>
                <a:spcPct val="100000"/>
              </a:lnSpc>
              <a:spcBef>
                <a:spcPts val="430"/>
              </a:spcBef>
              <a:tabLst>
                <a:tab pos="44767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7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getting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second</a:t>
            </a:r>
            <a:r>
              <a:rPr sz="18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closure</a:t>
            </a:r>
            <a:r>
              <a:rPr sz="1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after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hiding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X-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X-&gt;W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essetial.)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</a:pP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WZ-&gt;X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WZ-&gt;</a:t>
            </a:r>
            <a:r>
              <a:rPr sz="18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(WZ)</a:t>
            </a:r>
            <a:r>
              <a:rPr sz="1800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225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WZXY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 marR="57785">
              <a:lnSpc>
                <a:spcPct val="100000"/>
              </a:lnSpc>
              <a:spcBef>
                <a:spcPts val="435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(WZ)</a:t>
            </a:r>
            <a:r>
              <a:rPr sz="1800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292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WZXY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(In</a:t>
            </a:r>
            <a:r>
              <a:rPr sz="18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sexond</a:t>
            </a:r>
            <a:r>
              <a:rPr sz="1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8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getting</a:t>
            </a:r>
            <a:r>
              <a:rPr sz="18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1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valuse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8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WZ-&gt;</a:t>
            </a:r>
            <a:r>
              <a:rPr sz="18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8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essetial</a:t>
            </a:r>
            <a:r>
              <a:rPr sz="1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remove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list)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5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(WZ)+=</a:t>
            </a:r>
            <a:r>
              <a:rPr sz="1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WZ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5"/>
              </a:spcBef>
            </a:pPr>
            <a:r>
              <a:rPr sz="1800" b="1" spc="-18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800" b="1" spc="-19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8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sz="1800" b="1" spc="-3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800" b="1" spc="-17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&gt;Z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22" baseline="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YZXZ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5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YXZW</a:t>
            </a:r>
            <a:r>
              <a:rPr sz="1800" spc="4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(Y-&gt;W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not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essetialk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remove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list)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=YZ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63500">
              <a:lnSpc>
                <a:spcPct val="100000"/>
              </a:lnSpc>
              <a:spcBef>
                <a:spcPts val="435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7" baseline="25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=YXW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dirty="0">
                <a:solidFill>
                  <a:srgbClr val="000000"/>
                </a:solidFill>
                <a:sym typeface="+mn-ea"/>
              </a:rPr>
              <a:t>Canonical</a:t>
            </a:r>
            <a:r>
              <a:rPr spc="-2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Cover</a:t>
            </a:r>
            <a:r>
              <a:rPr spc="-3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/ </a:t>
            </a:r>
            <a:r>
              <a:rPr spc="-5" dirty="0">
                <a:solidFill>
                  <a:srgbClr val="000000"/>
                </a:solidFill>
                <a:sym typeface="+mn-ea"/>
              </a:rPr>
              <a:t>Minimal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10" dirty="0">
                <a:solidFill>
                  <a:srgbClr val="000000"/>
                </a:solidFill>
                <a:sym typeface="+mn-ea"/>
              </a:rPr>
              <a:t>Cover/Irreducibe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set</a:t>
            </a:r>
            <a:r>
              <a:rPr spc="15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of</a:t>
            </a:r>
            <a:r>
              <a:rPr spc="-5" dirty="0">
                <a:solidFill>
                  <a:srgbClr val="000000"/>
                </a:solidFill>
                <a:sym typeface="+mn-ea"/>
              </a:rPr>
              <a:t> </a:t>
            </a:r>
            <a:r>
              <a:rPr spc="-20" dirty="0">
                <a:solidFill>
                  <a:srgbClr val="000000"/>
                </a:solidFill>
                <a:sym typeface="+mn-ea"/>
              </a:rPr>
              <a:t>FD</a:t>
            </a:r>
            <a:endParaRPr lang="en-US"/>
          </a:p>
        </p:txBody>
      </p:sp>
      <p:sp>
        <p:nvSpPr>
          <p:cNvPr id="4" name="object 2"/>
          <p:cNvSpPr txBox="1"/>
          <p:nvPr/>
        </p:nvSpPr>
        <p:spPr>
          <a:xfrm>
            <a:off x="838200" y="1913255"/>
            <a:ext cx="10116820" cy="30321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p>
            <a:pPr marL="508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Step-3: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50800" marR="3559810">
              <a:lnSpc>
                <a:spcPct val="120000"/>
              </a:lnSpc>
            </a:pP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Y-&gt;W 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&gt;Y  </a:t>
            </a: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Y-&gt;X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50800">
              <a:lnSpc>
                <a:spcPct val="100000"/>
              </a:lnSpc>
              <a:spcBef>
                <a:spcPts val="435"/>
              </a:spcBef>
            </a:pP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Y-&gt;Z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50800" marR="43180">
              <a:lnSpc>
                <a:spcPts val="2590"/>
              </a:lnSpc>
              <a:spcBef>
                <a:spcPts val="16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Step-4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(Checl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left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side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double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attribute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value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(WX)</a:t>
            </a:r>
            <a:r>
              <a:rPr sz="1800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WZYX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50800" marR="3580130">
              <a:lnSpc>
                <a:spcPts val="2590"/>
              </a:lnSpc>
              <a:spcBef>
                <a:spcPts val="5"/>
              </a:spcBef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spc="-15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800" spc="-7" baseline="25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Z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08585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So,</a:t>
            </a:r>
            <a:r>
              <a:rPr sz="18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WZ-&gt;</a:t>
            </a:r>
            <a:r>
              <a:rPr sz="18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essetial.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Times New Roman" panose="02020603050405020304"/>
              <a:cs typeface="Times New Roman" panose="02020603050405020304"/>
            </a:endParaRPr>
          </a:p>
          <a:p>
            <a:pPr marL="50800" marR="2990215">
              <a:lnSpc>
                <a:spcPct val="120000"/>
              </a:lnSpc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Step-5: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Union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Y-&gt;W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50800" marR="3559810">
              <a:lnSpc>
                <a:spcPts val="2590"/>
              </a:lnSpc>
              <a:spcBef>
                <a:spcPts val="110"/>
              </a:spcBef>
            </a:pP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&gt;Y  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Y-&gt;XZ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Normalization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Normalization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process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decomposing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or breaking a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 schema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into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fragments (i.e. smaller schemas) R1, R2, ... Rn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such that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following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conditions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hold: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Lossless</a:t>
            </a:r>
            <a:r>
              <a:rPr sz="2800" b="1" spc="10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decomposition:</a:t>
            </a:r>
            <a:r>
              <a:rPr sz="2800" b="1" spc="101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 </a:t>
            </a:r>
            <a:r>
              <a:rPr sz="28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fragments</a:t>
            </a:r>
            <a:r>
              <a:rPr sz="2800" spc="101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should</a:t>
            </a:r>
            <a:r>
              <a:rPr sz="2800" spc="1019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contain  </a:t>
            </a:r>
            <a:r>
              <a:rPr sz="2800" spc="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 </a:t>
            </a:r>
            <a:r>
              <a:rPr sz="28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lang="en-US"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information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original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marR="5080" lvl="1" indent="-342900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preservation: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All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the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functional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dependencies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should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be </a:t>
            </a:r>
            <a:r>
              <a:rPr sz="28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preserved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within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each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fragment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Ri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Good</a:t>
            </a:r>
            <a:r>
              <a:rPr sz="2800" b="1" spc="6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form:</a:t>
            </a:r>
            <a:r>
              <a:rPr sz="2800" b="1" spc="68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Each</a:t>
            </a:r>
            <a:r>
              <a:rPr sz="2800" spc="6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fragment</a:t>
            </a:r>
            <a:r>
              <a:rPr sz="2800" spc="69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Ri</a:t>
            </a:r>
            <a:r>
              <a:rPr sz="2800" spc="690" dirty="0">
                <a:latin typeface="Times New Roman" panose="02020603050405020304"/>
                <a:cs typeface="Times New Roman" panose="02020603050405020304"/>
                <a:sym typeface="+mn-ea"/>
              </a:rPr>
              <a:t> 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should</a:t>
            </a:r>
            <a:r>
              <a:rPr sz="2800" spc="7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spc="6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free</a:t>
            </a:r>
            <a:r>
              <a:rPr sz="2800" spc="6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from</a:t>
            </a:r>
            <a:r>
              <a:rPr sz="2800" spc="6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any</a:t>
            </a:r>
            <a:r>
              <a:rPr sz="2800" spc="7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type</a:t>
            </a:r>
            <a:r>
              <a:rPr sz="2800" spc="69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lang="en-US"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redundancy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353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other</a:t>
            </a:r>
            <a:r>
              <a:rPr sz="2800" spc="4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words,</a:t>
            </a:r>
            <a:r>
              <a:rPr sz="2800" spc="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normalization</a:t>
            </a:r>
            <a:r>
              <a:rPr sz="2800" spc="4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the</a:t>
            </a:r>
            <a:r>
              <a:rPr sz="2800" spc="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process</a:t>
            </a:r>
            <a:r>
              <a:rPr sz="2800" spc="4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refining</a:t>
            </a:r>
            <a:r>
              <a:rPr sz="2800" spc="4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relational</a:t>
            </a:r>
            <a:r>
              <a:rPr sz="2800" spc="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data </a:t>
            </a:r>
            <a:r>
              <a:rPr sz="28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model.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used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because of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following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reasons: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2800" algn="l"/>
                <a:tab pos="8134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improves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design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2800" algn="l"/>
                <a:tab pos="8134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ensures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minimum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redundancy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2800" algn="l"/>
                <a:tab pos="8134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removes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anomalies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for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database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activities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-5" dirty="0">
                <a:solidFill>
                  <a:srgbClr val="000000"/>
                </a:solidFill>
                <a:sym typeface="+mn-ea"/>
              </a:rPr>
              <a:t>Decomposition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5600" algn="l"/>
                <a:tab pos="356235" algn="l"/>
              </a:tabLst>
            </a:pPr>
            <a:r>
              <a:rPr sz="2800" dirty="0">
                <a:sym typeface="+mn-ea"/>
              </a:rPr>
              <a:t>What</a:t>
            </a:r>
            <a:r>
              <a:rPr sz="2800" spc="-10" dirty="0">
                <a:sym typeface="+mn-ea"/>
              </a:rPr>
              <a:t> </a:t>
            </a:r>
            <a:r>
              <a:rPr sz="2800" spc="-5" dirty="0">
                <a:sym typeface="+mn-ea"/>
              </a:rPr>
              <a:t>is</a:t>
            </a:r>
            <a:r>
              <a:rPr sz="2800" spc="-20" dirty="0">
                <a:sym typeface="+mn-ea"/>
              </a:rPr>
              <a:t> </a:t>
            </a:r>
            <a:r>
              <a:rPr sz="2800" spc="-5" dirty="0">
                <a:sym typeface="+mn-ea"/>
              </a:rPr>
              <a:t>Decomposition?</a:t>
            </a:r>
            <a:endParaRPr sz="2800" spc="-5" dirty="0"/>
          </a:p>
          <a:p>
            <a:pPr marL="756285" lvl="1" indent="-287020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"/>
              <a:tabLst>
                <a:tab pos="756285" algn="l"/>
                <a:tab pos="75692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Decomposition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process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breaking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down</a:t>
            </a:r>
            <a:r>
              <a:rPr sz="2800" b="1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parts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or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elements.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"/>
              <a:tabLst>
                <a:tab pos="756285" algn="l"/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replaces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with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collection</a:t>
            </a:r>
            <a:r>
              <a:rPr sz="2800" spc="-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smaller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relations.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"/>
              <a:tabLst>
                <a:tab pos="756285" algn="l"/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breaks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table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into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multiple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tables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database.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"/>
              <a:tabLst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should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always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be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lossless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, because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 confirms that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information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original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can be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accurately reconstructed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based on 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decomposed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relations.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"/>
              <a:tabLst>
                <a:tab pos="75692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800" spc="3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there</a:t>
            </a:r>
            <a:r>
              <a:rPr sz="2800" spc="3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3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no</a:t>
            </a:r>
            <a:r>
              <a:rPr sz="2800" spc="3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proper</a:t>
            </a:r>
            <a:r>
              <a:rPr sz="2800" spc="3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decomposition</a:t>
            </a:r>
            <a:r>
              <a:rPr sz="2800" spc="3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3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3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relation,</a:t>
            </a:r>
            <a:r>
              <a:rPr sz="2800" spc="3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then</a:t>
            </a:r>
            <a:r>
              <a:rPr sz="2800" spc="3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3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may</a:t>
            </a:r>
            <a:r>
              <a:rPr sz="2800" spc="3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lead</a:t>
            </a:r>
            <a:r>
              <a:rPr sz="2800" spc="3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lang="en-US"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problems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like</a:t>
            </a:r>
            <a:r>
              <a:rPr sz="2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loss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information.</a:t>
            </a:r>
            <a:endParaRPr sz="2800" spc="-5" dirty="0"/>
          </a:p>
          <a:p>
            <a:pPr marL="355600" indent="-34353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Following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are the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properties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Decomposition,</a:t>
            </a:r>
            <a:endParaRPr sz="2800" b="0" spc="-5" dirty="0">
              <a:latin typeface="Times New Roman" panose="02020603050405020304"/>
              <a:cs typeface="Times New Roman" panose="02020603050405020304"/>
            </a:endParaRPr>
          </a:p>
          <a:p>
            <a:pPr marL="812800" indent="-3435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812800" algn="l"/>
                <a:tab pos="8134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Lossless Decomposition</a:t>
            </a:r>
            <a:endParaRPr sz="2800" b="0" spc="-5" dirty="0">
              <a:latin typeface="Times New Roman" panose="02020603050405020304"/>
              <a:cs typeface="Times New Roman" panose="02020603050405020304"/>
            </a:endParaRPr>
          </a:p>
          <a:p>
            <a:pPr marL="812800" indent="-34353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2800" algn="l"/>
                <a:tab pos="8134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Dependency</a:t>
            </a:r>
            <a:r>
              <a:rPr sz="2800"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Preservation</a:t>
            </a:r>
            <a:endParaRPr sz="2800" b="0" dirty="0">
              <a:latin typeface="Times New Roman" panose="02020603050405020304"/>
              <a:cs typeface="Times New Roman" panose="02020603050405020304"/>
            </a:endParaRPr>
          </a:p>
          <a:p>
            <a:pPr marL="812800" indent="-34353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2800" algn="l"/>
                <a:tab pos="8134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Lack</a:t>
            </a:r>
            <a:r>
              <a:rPr sz="28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Data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Redundancy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4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Decomposition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5600" algn="l"/>
                <a:tab pos="35623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Lossless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Decomposition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marR="7620" lvl="1" indent="-342900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812800" algn="l"/>
                <a:tab pos="8134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Decomposition</a:t>
            </a:r>
            <a:r>
              <a:rPr sz="2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must</a:t>
            </a:r>
            <a:r>
              <a:rPr sz="2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be</a:t>
            </a:r>
            <a:r>
              <a:rPr sz="2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lossless.</a:t>
            </a:r>
            <a:r>
              <a:rPr sz="2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means</a:t>
            </a:r>
            <a:r>
              <a:rPr sz="2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information</a:t>
            </a:r>
            <a:r>
              <a:rPr sz="2800" b="1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should</a:t>
            </a:r>
            <a:r>
              <a:rPr sz="2800" b="1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  <a:sym typeface="+mn-ea"/>
              </a:rPr>
              <a:t>not </a:t>
            </a:r>
            <a:r>
              <a:rPr sz="2800" b="1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get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 lost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from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relation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decomposed.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812800" algn="l"/>
                <a:tab pos="8134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gives</a:t>
            </a:r>
            <a:r>
              <a:rPr sz="2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guarantee</a:t>
            </a:r>
            <a:r>
              <a:rPr sz="2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that</a:t>
            </a:r>
            <a:r>
              <a:rPr sz="2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join</a:t>
            </a:r>
            <a:r>
              <a:rPr sz="2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will</a:t>
            </a:r>
            <a:r>
              <a:rPr sz="2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result</a:t>
            </a:r>
            <a:r>
              <a:rPr sz="28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2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1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same</a:t>
            </a:r>
            <a:r>
              <a:rPr sz="2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r>
              <a:rPr sz="2800" spc="1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z="2800" spc="1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was</a:t>
            </a:r>
            <a:r>
              <a:rPr lang="en-US"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decomposed.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5600" indent="-343535" algn="just">
              <a:lnSpc>
                <a:spcPct val="100000"/>
              </a:lnSpc>
              <a:buFont typeface="Wingdings" panose="05000000000000000000"/>
              <a:buChar char=""/>
              <a:tabLst>
                <a:tab pos="35623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Example: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Let's take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'E'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Relational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Schema, With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instance 'e'; 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decomposed</a:t>
            </a:r>
            <a:r>
              <a:rPr sz="2800" spc="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into: </a:t>
            </a:r>
            <a:r>
              <a:rPr sz="2800" spc="-434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E1, E2, E3,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. . . . En;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With instance: e1, e2, e3,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. . . .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en, If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e1 </a:t>
            </a:r>
            <a:r>
              <a:rPr sz="2800" dirty="0">
                <a:latin typeface="Cambria Math" panose="02040503050406030204"/>
                <a:cs typeface="Cambria Math" panose="02040503050406030204"/>
                <a:sym typeface="+mn-ea"/>
              </a:rPr>
              <a:t>⋈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e2 </a:t>
            </a:r>
            <a:r>
              <a:rPr sz="2800" dirty="0">
                <a:latin typeface="Cambria Math" panose="02040503050406030204"/>
                <a:cs typeface="Cambria Math" panose="02040503050406030204"/>
                <a:sym typeface="+mn-ea"/>
              </a:rPr>
              <a:t>⋈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e3 . . . . </a:t>
            </a:r>
            <a:r>
              <a:rPr sz="2800" dirty="0">
                <a:latin typeface="Cambria Math" panose="02040503050406030204"/>
                <a:cs typeface="Cambria Math" panose="02040503050406030204"/>
                <a:sym typeface="+mn-ea"/>
              </a:rPr>
              <a:t>⋈ </a:t>
            </a:r>
            <a:r>
              <a:rPr sz="2800" spc="5" dirty="0">
                <a:latin typeface="Cambria Math" panose="02040503050406030204"/>
                <a:cs typeface="Cambria Math" panose="020405030504060302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en, then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it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called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as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'Lossless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Join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Decomposition'.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4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Decomposition</a:t>
            </a:r>
            <a:endParaRPr lang="en-US"/>
          </a:p>
        </p:txBody>
      </p:sp>
      <p:sp>
        <p:nvSpPr>
          <p:cNvPr id="5" name="object 2"/>
          <p:cNvSpPr txBox="1"/>
          <p:nvPr/>
        </p:nvSpPr>
        <p:spPr>
          <a:xfrm>
            <a:off x="2427249" y="1519173"/>
            <a:ext cx="7701280" cy="1726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decomposition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of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relation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said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be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lossless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if</a:t>
            </a:r>
            <a:r>
              <a:rPr sz="1800" spc="4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4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original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recovered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back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joining the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fragment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Let R be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 base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relation,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which is decomposed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into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R1, R2, ... Rn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decomposition is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lossless iff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R= R1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⋈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R2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Cambria Math" panose="02040503050406030204"/>
                <a:cs typeface="Cambria Math" panose="02040503050406030204"/>
              </a:rPr>
              <a:t>⋈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...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⋈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Rn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In other words,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consecutive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fragments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are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interrelated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primary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foreign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key </a:t>
            </a:r>
            <a:r>
              <a:rPr sz="180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relationships.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0527" y="3800983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 panose="02020603050405020304"/>
                <a:cs typeface="Times New Roman" panose="02020603050405020304"/>
              </a:rPr>
              <a:t>R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924212" y="4130204"/>
          <a:ext cx="785495" cy="122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/>
                <a:gridCol w="389890"/>
              </a:tblGrid>
              <a:tr h="243839">
                <a:tc>
                  <a:txBody>
                    <a:bodyPr/>
                    <a:p>
                      <a:pPr marL="51435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207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1016">
                <a:tc>
                  <a:txBody>
                    <a:bodyPr/>
                    <a:p>
                      <a:pPr marL="5143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3840">
                <a:tc>
                  <a:txBody>
                    <a:bodyPr/>
                    <a:p>
                      <a:pPr marL="51435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3966">
                <a:tc>
                  <a:txBody>
                    <a:bodyPr/>
                    <a:p>
                      <a:pPr marL="51435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6536">
                <a:tc>
                  <a:txBody>
                    <a:bodyPr/>
                    <a:p>
                      <a:pPr marL="51435">
                        <a:lnSpc>
                          <a:spcPts val="176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76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89965" y="4195832"/>
          <a:ext cx="719455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/>
                <a:gridCol w="356870"/>
              </a:tblGrid>
              <a:tr h="384301">
                <a:tc>
                  <a:txBody>
                    <a:bodyPr/>
                    <a:p>
                      <a:pPr marL="4889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4889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4449">
                <a:tc>
                  <a:txBody>
                    <a:bodyPr/>
                    <a:p>
                      <a:pPr marL="48895" marR="198755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  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7785">
                        <a:lnSpc>
                          <a:spcPts val="164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7785">
                        <a:lnSpc>
                          <a:spcPts val="183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989994" y="4172876"/>
          <a:ext cx="862965" cy="1223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625"/>
                <a:gridCol w="428625"/>
              </a:tblGrid>
              <a:tr h="243839">
                <a:tc>
                  <a:txBody>
                    <a:bodyPr/>
                    <a:p>
                      <a:pPr marL="5207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207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1016">
                <a:tc>
                  <a:txBody>
                    <a:bodyPr/>
                    <a:p>
                      <a:pPr marL="5207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3839">
                <a:tc>
                  <a:txBody>
                    <a:bodyPr/>
                    <a:p>
                      <a:pPr marL="5207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43704">
                <a:tc>
                  <a:txBody>
                    <a:bodyPr/>
                    <a:p>
                      <a:pPr marL="5207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36799">
                <a:tc>
                  <a:txBody>
                    <a:bodyPr/>
                    <a:p>
                      <a:pPr marL="52070">
                        <a:lnSpc>
                          <a:spcPts val="176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60960">
                        <a:lnSpc>
                          <a:spcPts val="176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427249" y="5894323"/>
            <a:ext cx="556387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355600" algn="l"/>
                <a:tab pos="3562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Fig.1,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as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R1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⋈</a:t>
            </a:r>
            <a:r>
              <a:rPr sz="18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R2</a:t>
            </a:r>
            <a:r>
              <a:rPr sz="1800" spc="4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R,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decomposition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 lossless.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indent="-343535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355600" algn="l"/>
                <a:tab pos="3562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Fig.2,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as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R1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⋈</a:t>
            </a:r>
            <a:r>
              <a:rPr sz="18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R2</a:t>
            </a:r>
            <a:r>
              <a:rPr sz="1800" spc="4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! =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R,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decomposition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is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lossy.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4081" y="3734180"/>
            <a:ext cx="8140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spc="-7" baseline="-9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800" spc="270" baseline="-9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⋈</a:t>
            </a:r>
            <a:r>
              <a:rPr sz="1800" spc="-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-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spc="-7" baseline="-9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1800" baseline="-9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582418" y="3617006"/>
            <a:ext cx="3569400" cy="189303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705735" y="3493008"/>
            <a:ext cx="3500754" cy="2308860"/>
          </a:xfrm>
          <a:custGeom>
            <a:avLst/>
            <a:gdLst/>
            <a:ahLst/>
            <a:cxnLst/>
            <a:rect l="l" t="t" r="r" b="b"/>
            <a:pathLst>
              <a:path w="3500754" h="2308860">
                <a:moveTo>
                  <a:pt x="0" y="2308860"/>
                </a:moveTo>
                <a:lnTo>
                  <a:pt x="3500628" y="2308860"/>
                </a:lnTo>
                <a:lnTo>
                  <a:pt x="3500628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6" name="object 16"/>
          <p:cNvSpPr txBox="1"/>
          <p:nvPr/>
        </p:nvSpPr>
        <p:spPr>
          <a:xfrm>
            <a:off x="4142105" y="5450586"/>
            <a:ext cx="395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Fi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1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91350" y="3493008"/>
            <a:ext cx="3787140" cy="230886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Times New Roman" panose="02020603050405020304"/>
              <a:cs typeface="Times New Roman" panose="02020603050405020304"/>
            </a:endParaRPr>
          </a:p>
          <a:p>
            <a:pPr marL="625475" algn="ctr">
              <a:lnSpc>
                <a:spcPct val="100000"/>
              </a:lnSpc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Fig</a:t>
            </a:r>
            <a:r>
              <a:rPr sz="1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10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Decomposition...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When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base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relation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schema is decomposed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into 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fragmented relation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schemas,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consecutive relations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should be related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  <a:sym typeface="+mn-ea"/>
              </a:rPr>
              <a:t>by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primary key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-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foreign 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key</a:t>
            </a:r>
            <a:r>
              <a:rPr sz="2800" b="1" dirty="0">
                <a:latin typeface="Times New Roman" panose="02020603050405020304"/>
                <a:cs typeface="Times New Roman" panose="02020603050405020304"/>
                <a:sym typeface="+mn-ea"/>
              </a:rPr>
              <a:t> pair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common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column;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so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that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natural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join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be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possible</a:t>
            </a:r>
            <a:r>
              <a:rPr sz="2800" spc="4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r>
              <a:rPr sz="2800" spc="4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common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column. Thus,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we 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have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to check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whether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common column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is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key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any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relation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or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not: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common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column 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the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key,</a:t>
            </a:r>
            <a:r>
              <a:rPr sz="28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decomposition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lossless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If</a:t>
            </a:r>
            <a:r>
              <a:rPr sz="2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common</a:t>
            </a:r>
            <a:r>
              <a:rPr sz="2800" spc="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column is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 not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key,</a:t>
            </a:r>
            <a:r>
              <a:rPr sz="2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  <a:sym typeface="+mn-ea"/>
              </a:rPr>
              <a:t>decomposition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is</a:t>
            </a:r>
            <a:r>
              <a:rPr sz="2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  <a:sym typeface="+mn-ea"/>
              </a:rPr>
              <a:t>lossy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10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Decomposition...</a:t>
            </a:r>
            <a:endParaRPr lang="en-US"/>
          </a:p>
        </p:txBody>
      </p:sp>
      <p:sp>
        <p:nvSpPr>
          <p:cNvPr id="4" name="object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7637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p>
            <a:pPr marL="0" indent="0">
              <a:lnSpc>
                <a:spcPct val="100000"/>
              </a:lnSpc>
              <a:spcBef>
                <a:spcPts val="530"/>
              </a:spcBef>
              <a:buNone/>
            </a:pPr>
            <a:r>
              <a:rPr dirty="0"/>
              <a:t>Rules/Property</a:t>
            </a:r>
            <a:r>
              <a:rPr spc="-65" dirty="0"/>
              <a:t> </a:t>
            </a:r>
            <a:r>
              <a:rPr dirty="0"/>
              <a:t>:</a:t>
            </a:r>
            <a:r>
              <a:rPr lang="en-US" dirty="0"/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b="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property</a:t>
            </a:r>
            <a:r>
              <a:rPr b="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guarantee</a:t>
            </a:r>
            <a:r>
              <a:rPr b="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b="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extra</a:t>
            </a:r>
            <a:r>
              <a:rPr b="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tuple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generation</a:t>
            </a:r>
            <a:r>
              <a:rPr b="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b="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doesnot</a:t>
            </a:r>
            <a:r>
              <a:rPr b="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occur</a:t>
            </a:r>
            <a:r>
              <a:rPr b="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after </a:t>
            </a:r>
            <a:r>
              <a:rPr b="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decomposition.</a:t>
            </a:r>
            <a:endParaRPr b="0" dirty="0">
              <a:latin typeface="Times New Roman" panose="02020603050405020304"/>
              <a:cs typeface="Times New Roman" panose="02020603050405020304"/>
            </a:endParaRPr>
          </a:p>
          <a:p>
            <a:pPr marL="299085" indent="-287020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299720" algn="l"/>
              </a:tabLst>
            </a:pPr>
            <a:r>
              <a:rPr b="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mandatory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property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must</a:t>
            </a:r>
            <a:r>
              <a:rPr b="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always</a:t>
            </a:r>
            <a:r>
              <a:rPr b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holds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good.</a:t>
            </a:r>
            <a:endParaRPr b="0" spc="-5" dirty="0">
              <a:latin typeface="Times New Roman" panose="02020603050405020304"/>
              <a:cs typeface="Times New Roman" panose="02020603050405020304"/>
            </a:endParaRPr>
          </a:p>
          <a:p>
            <a:pPr marL="299085" marR="6350" indent="-287020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"/>
              <a:tabLst>
                <a:tab pos="299720" algn="l"/>
              </a:tabLst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b="0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b="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relation</a:t>
            </a:r>
            <a:r>
              <a:rPr b="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b="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b="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decomposed</a:t>
            </a:r>
            <a:r>
              <a:rPr b="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b="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b="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b="0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relations</a:t>
            </a:r>
            <a:r>
              <a:rPr b="0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R1</a:t>
            </a:r>
            <a:r>
              <a:rPr b="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b="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R2</a:t>
            </a:r>
            <a:r>
              <a:rPr b="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,then</a:t>
            </a:r>
            <a:r>
              <a:rPr b="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b="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b="0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b="0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lossless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iff:</a:t>
            </a:r>
            <a:endParaRPr b="0" dirty="0">
              <a:latin typeface="Times New Roman" panose="02020603050405020304"/>
              <a:cs typeface="Times New Roman" panose="02020603050405020304"/>
            </a:endParaRPr>
          </a:p>
          <a:p>
            <a:pPr marL="355600" indent="-3435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attribute</a:t>
            </a:r>
            <a:r>
              <a:rPr b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(R1)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U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attribute</a:t>
            </a:r>
            <a:r>
              <a:rPr b="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(R2)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 =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attribute</a:t>
            </a:r>
            <a:r>
              <a:rPr b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(R)</a:t>
            </a:r>
            <a:endParaRPr b="0" dirty="0">
              <a:latin typeface="Times New Roman" panose="02020603050405020304"/>
              <a:cs typeface="Times New Roman" panose="02020603050405020304"/>
            </a:endParaRPr>
          </a:p>
          <a:p>
            <a:pPr marL="355600" indent="-34353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attribute(R1)</a:t>
            </a:r>
            <a:r>
              <a:rPr b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Ʌ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attribute</a:t>
            </a:r>
            <a:r>
              <a:rPr b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(R2)</a:t>
            </a:r>
            <a:r>
              <a:rPr b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!=</a:t>
            </a:r>
            <a:r>
              <a:rPr b="0" spc="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ɸ</a:t>
            </a:r>
            <a:endParaRPr b="0" dirty="0">
              <a:latin typeface="Times New Roman" panose="02020603050405020304"/>
              <a:cs typeface="Times New Roman" panose="02020603050405020304"/>
            </a:endParaRPr>
          </a:p>
          <a:p>
            <a:pPr marL="355600" indent="-343535">
              <a:lnSpc>
                <a:spcPct val="100000"/>
              </a:lnSpc>
              <a:spcBef>
                <a:spcPts val="43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attribute(R1)</a:t>
            </a:r>
            <a:r>
              <a:rPr b="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Ʌ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attribute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(R2)</a:t>
            </a:r>
            <a:r>
              <a:rPr b="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-&gt;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attribute(R1)</a:t>
            </a:r>
            <a:endParaRPr b="0" dirty="0">
              <a:latin typeface="Times New Roman" panose="02020603050405020304"/>
              <a:cs typeface="Times New Roman" panose="02020603050405020304"/>
            </a:endParaRPr>
          </a:p>
          <a:p>
            <a:pPr marL="812800" indent="0">
              <a:lnSpc>
                <a:spcPct val="100000"/>
              </a:lnSpc>
              <a:spcBef>
                <a:spcPts val="430"/>
              </a:spcBef>
              <a:buNone/>
            </a:pPr>
            <a:r>
              <a:rPr dirty="0"/>
              <a:t>or</a:t>
            </a:r>
            <a:endParaRPr dirty="0"/>
          </a:p>
          <a:p>
            <a:pPr marL="29781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attribute(R1)</a:t>
            </a:r>
            <a:r>
              <a:rPr b="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Ʌ</a:t>
            </a:r>
            <a:r>
              <a:rPr b="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attribute</a:t>
            </a:r>
            <a:r>
              <a:rPr b="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(R2)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 -&gt;</a:t>
            </a:r>
            <a:r>
              <a:rPr b="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latin typeface="Times New Roman" panose="02020603050405020304"/>
                <a:cs typeface="Times New Roman" panose="02020603050405020304"/>
              </a:rPr>
              <a:t>attribute(R2)</a:t>
            </a:r>
            <a:endParaRPr b="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5" dirty="0">
                <a:solidFill>
                  <a:srgbClr val="000000"/>
                </a:solidFill>
                <a:sym typeface="+mn-ea"/>
              </a:rPr>
              <a:t> Decomposition(Examples)</a:t>
            </a:r>
            <a:endParaRPr lang="en-US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42970" y="1691005"/>
          <a:ext cx="4872990" cy="131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3485"/>
                <a:gridCol w="1213485"/>
                <a:gridCol w="1213484"/>
                <a:gridCol w="1213485"/>
              </a:tblGrid>
              <a:tr h="434339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434340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434340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q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889250" y="3384550"/>
          <a:ext cx="3064510" cy="1116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8270"/>
                <a:gridCol w="1647189"/>
              </a:tblGrid>
              <a:tr h="365759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72745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074409" y="3384550"/>
          <a:ext cx="3233420" cy="110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7185"/>
                <a:gridCol w="1607185"/>
              </a:tblGrid>
              <a:tr h="365759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q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11650" y="4732655"/>
          <a:ext cx="3735070" cy="184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/>
                <a:gridCol w="929005"/>
                <a:gridCol w="929005"/>
                <a:gridCol w="929005"/>
              </a:tblGrid>
              <a:tr h="365760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65759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q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65759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759"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q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974086" y="4555616"/>
            <a:ext cx="41325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R1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R2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gor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 more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extra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tuple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so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is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 not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as orogina</a:t>
            </a:r>
            <a:r>
              <a:rPr sz="1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table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10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Decomposition...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pSp>
        <p:nvGrpSpPr>
          <p:cNvPr id="4" name="object 2"/>
          <p:cNvGrpSpPr/>
          <p:nvPr/>
        </p:nvGrpSpPr>
        <p:grpSpPr>
          <a:xfrm>
            <a:off x="721360" y="1417320"/>
            <a:ext cx="10107295" cy="5369560"/>
            <a:chOff x="721251" y="1417319"/>
            <a:chExt cx="7851775" cy="5369560"/>
          </a:xfrm>
        </p:grpSpPr>
        <p:pic>
          <p:nvPicPr>
            <p:cNvPr id="5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56487" y="6429754"/>
              <a:ext cx="7716011" cy="356616"/>
            </a:xfrm>
            <a:prstGeom prst="rect">
              <a:avLst/>
            </a:prstGeom>
          </p:spPr>
        </p:pic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251" y="1417319"/>
              <a:ext cx="7481454" cy="49763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10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Decomposition...</a:t>
            </a:r>
            <a:endParaRPr lang="en-US"/>
          </a:p>
        </p:txBody>
      </p:sp>
      <p:pic>
        <p:nvPicPr>
          <p:cNvPr id="7" name="object 7"/>
          <p:cNvPicPr>
            <a:picLocks noChangeAspect="1"/>
          </p:cNvPicPr>
          <p:nvPr>
            <p:ph idx="1"/>
          </p:nvPr>
        </p:nvPicPr>
        <p:blipFill>
          <a:blip r:embed="rId1" cstate="print"/>
          <a:srcRect b="49862"/>
          <a:stretch>
            <a:fillRect/>
          </a:stretch>
        </p:blipFill>
        <p:spPr>
          <a:xfrm>
            <a:off x="838200" y="2489835"/>
            <a:ext cx="10801985" cy="272351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10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Decomposition...</a:t>
            </a:r>
            <a:endParaRPr lang="en-US"/>
          </a:p>
        </p:txBody>
      </p:sp>
      <p:pic>
        <p:nvPicPr>
          <p:cNvPr id="7" name="object 7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838200" y="1551305"/>
            <a:ext cx="90481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10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Decomposition...</a:t>
            </a:r>
            <a:endParaRPr lang="en-US"/>
          </a:p>
        </p:txBody>
      </p:sp>
      <p:pic>
        <p:nvPicPr>
          <p:cNvPr id="7" name="object 7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838835" y="1825625"/>
            <a:ext cx="857948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Lossless</a:t>
            </a:r>
            <a:r>
              <a:rPr spc="-100" dirty="0">
                <a:solidFill>
                  <a:srgbClr val="000000"/>
                </a:solidFill>
                <a:sym typeface="+mn-ea"/>
              </a:rPr>
              <a:t> </a:t>
            </a:r>
            <a:r>
              <a:rPr dirty="0">
                <a:solidFill>
                  <a:srgbClr val="000000"/>
                </a:solidFill>
                <a:sym typeface="+mn-ea"/>
              </a:rPr>
              <a:t>Decomposition...</a:t>
            </a:r>
            <a:endParaRPr lang="en-US"/>
          </a:p>
        </p:txBody>
      </p:sp>
      <p:pic>
        <p:nvPicPr>
          <p:cNvPr id="7" name="object 7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838200" y="1825625"/>
            <a:ext cx="92163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>
                <a:solidFill>
                  <a:srgbClr val="000000"/>
                </a:solidFill>
                <a:sym typeface="+mn-ea"/>
              </a:rPr>
              <a:t>Dependency</a:t>
            </a:r>
            <a:r>
              <a:rPr spc="-50" dirty="0">
                <a:solidFill>
                  <a:srgbClr val="000000"/>
                </a:solidFill>
                <a:sym typeface="+mn-ea"/>
              </a:rPr>
              <a:t> </a:t>
            </a:r>
            <a:r>
              <a:rPr spc="-10" dirty="0">
                <a:solidFill>
                  <a:srgbClr val="000000"/>
                </a:solidFill>
                <a:sym typeface="+mn-ea"/>
              </a:rPr>
              <a:t>Preservation</a:t>
            </a:r>
            <a:endParaRPr lang="en-US"/>
          </a:p>
        </p:txBody>
      </p:sp>
      <p:sp>
        <p:nvSpPr>
          <p:cNvPr id="4" name="object 2"/>
          <p:cNvSpPr txBox="1"/>
          <p:nvPr/>
        </p:nvSpPr>
        <p:spPr>
          <a:xfrm>
            <a:off x="1519834" y="1420748"/>
            <a:ext cx="77019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decomposition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 a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relation schema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with FDs F is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set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fragment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relations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Ri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with FDs Fi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, where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Fi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subset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dependencies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F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include</a:t>
            </a:r>
            <a:r>
              <a:rPr sz="18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18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attributes</a:t>
            </a:r>
            <a:r>
              <a:rPr sz="18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Ri</a:t>
            </a:r>
            <a:r>
              <a:rPr sz="18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18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decomposition</a:t>
            </a:r>
            <a:r>
              <a:rPr sz="18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dependency</a:t>
            </a:r>
            <a:r>
              <a:rPr sz="18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preserving</a:t>
            </a:r>
            <a:r>
              <a:rPr sz="18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if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863039" y="2243404"/>
            <a:ext cx="1016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if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481734" y="2573273"/>
            <a:ext cx="5315585" cy="311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27940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800" spc="20" dirty="0">
                <a:latin typeface="Cambria Math" panose="02040503050406030204"/>
                <a:cs typeface="Cambria Math" panose="02040503050406030204"/>
              </a:rPr>
              <a:t>𝖴</a:t>
            </a:r>
            <a:r>
              <a:rPr sz="1800" spc="2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Fi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)+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+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393700" indent="-34353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393700" algn="l"/>
                <a:tab pos="3943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(A,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B, C)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F={A→B,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B→C,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A→C},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Key=A.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</a:pPr>
            <a:endParaRPr sz="2350">
              <a:latin typeface="Times New Roman" panose="02020603050405020304"/>
              <a:cs typeface="Times New Roman" panose="02020603050405020304"/>
            </a:endParaRPr>
          </a:p>
          <a:p>
            <a:pPr marL="393700" indent="-343535">
              <a:lnSpc>
                <a:spcPct val="100000"/>
              </a:lnSpc>
              <a:buFont typeface="Wingdings" panose="05000000000000000000"/>
              <a:buChar char=""/>
              <a:tabLst>
                <a:tab pos="393700" algn="l"/>
                <a:tab pos="3943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Here,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Key=A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93700" indent="-34353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93700" algn="l"/>
                <a:tab pos="394335" algn="l"/>
                <a:tab pos="1035050" algn="l"/>
                <a:tab pos="2663190" algn="l"/>
                <a:tab pos="3103880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The	decomposition	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is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lossless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because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i="1" spc="-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spc="-7" baseline="-9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800" spc="-15" baseline="-9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⋈</a:t>
            </a:r>
            <a:r>
              <a:rPr sz="18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-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800" spc="-7" baseline="-9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315" baseline="-9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93700" marR="1511935" indent="-343535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93700" algn="l"/>
                <a:tab pos="394335" algn="l"/>
                <a:tab pos="1018540" algn="l"/>
                <a:tab pos="1536700" algn="l"/>
                <a:tab pos="3115945" algn="l"/>
                <a:tab pos="3507740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,	t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	d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ec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po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tion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not 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dependency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preserving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because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93700">
              <a:lnSpc>
                <a:spcPct val="100000"/>
              </a:lnSpc>
              <a:spcBef>
                <a:spcPts val="435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800" i="1" spc="-1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800" baseline="-9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1800" spc="-112" baseline="-9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120" dirty="0">
                <a:latin typeface="Cambria Math" panose="02040503050406030204"/>
                <a:cs typeface="Cambria Math" panose="02040503050406030204"/>
              </a:rPr>
              <a:t>𝖴</a:t>
            </a:r>
            <a:r>
              <a:rPr sz="1800" spc="-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-1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800" spc="52" baseline="-9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800" spc="60" baseline="23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={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6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800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60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C}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868210" y="2749984"/>
          <a:ext cx="1150620" cy="1290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190"/>
                <a:gridCol w="377190"/>
                <a:gridCol w="387985"/>
              </a:tblGrid>
              <a:tr h="257175">
                <a:tc>
                  <a:txBody>
                    <a:bodyPr/>
                    <a:p>
                      <a:pPr marL="7112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71120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7556">
                <a:tc>
                  <a:txBody>
                    <a:bodyPr/>
                    <a:p>
                      <a:pPr marL="8445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8445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marL="9080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7238">
                <a:tc>
                  <a:txBody>
                    <a:bodyPr/>
                    <a:p>
                      <a:pPr marL="8445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8445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9080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7238">
                <a:tc>
                  <a:txBody>
                    <a:bodyPr/>
                    <a:p>
                      <a:pPr marL="8445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8445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L="9080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6793">
                <a:tc>
                  <a:txBody>
                    <a:bodyPr/>
                    <a:p>
                      <a:pPr marL="8445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445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9080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654043" y="5651423"/>
            <a:ext cx="898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!</a:t>
            </a:r>
            <a:r>
              <a:rPr sz="12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baseline="-15000" dirty="0">
                <a:latin typeface="Times New Roman" panose="02020603050405020304"/>
                <a:cs typeface="Times New Roman" panose="02020603050405020304"/>
              </a:rPr>
              <a:t>=	</a:t>
            </a:r>
            <a:r>
              <a:rPr sz="2700" i="1" spc="-7" baseline="-150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+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1734" y="5715431"/>
            <a:ext cx="3836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93700" indent="-34353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93700" algn="l"/>
                <a:tab pos="394335" algn="l"/>
                <a:tab pos="3162935" algn="l"/>
                <a:tab pos="3535045" algn="l"/>
              </a:tabLst>
            </a:pP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Thus,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(</a:t>
            </a:r>
            <a:r>
              <a:rPr sz="1800" i="1" spc="-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800" spc="-7" baseline="-9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800" spc="345" baseline="-9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80" dirty="0">
                <a:latin typeface="Cambria Math" panose="02040503050406030204"/>
                <a:cs typeface="Cambria Math" panose="02040503050406030204"/>
              </a:rPr>
              <a:t>𝖴</a:t>
            </a:r>
            <a:r>
              <a:rPr sz="18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i="1" spc="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1800" spc="7" baseline="-9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800" spc="7" baseline="23000" dirty="0">
                <a:latin typeface="Times New Roman" panose="02020603050405020304"/>
                <a:cs typeface="Times New Roman" panose="02020603050405020304"/>
              </a:rPr>
              <a:t>+	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as	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we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lost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FD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B→C.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99830" y="2375408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R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63719" y="4265058"/>
            <a:ext cx="3306336" cy="231094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513070" y="4039997"/>
            <a:ext cx="1905" cy="2500630"/>
          </a:xfrm>
          <a:custGeom>
            <a:avLst/>
            <a:gdLst/>
            <a:ahLst/>
            <a:cxnLst/>
            <a:rect l="l" t="t" r="r" b="b"/>
            <a:pathLst>
              <a:path w="1904" h="2500629">
                <a:moveTo>
                  <a:pt x="1650" y="0"/>
                </a:moveTo>
                <a:lnTo>
                  <a:pt x="0" y="2500325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spc="-5" dirty="0">
                <a:solidFill>
                  <a:srgbClr val="000000"/>
                </a:solidFill>
                <a:sym typeface="+mn-ea"/>
              </a:rPr>
              <a:t>Guidelines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followed</a:t>
            </a:r>
            <a:r>
              <a:rPr spc="2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in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Designing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Good</a:t>
            </a:r>
            <a:r>
              <a:rPr spc="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Database</a:t>
            </a:r>
            <a:endParaRPr lang="en-US"/>
          </a:p>
        </p:txBody>
      </p:sp>
      <p:sp>
        <p:nvSpPr>
          <p:cNvPr id="4" name="object 2"/>
          <p:cNvSpPr txBox="1"/>
          <p:nvPr/>
        </p:nvSpPr>
        <p:spPr>
          <a:xfrm>
            <a:off x="864235" y="1351280"/>
            <a:ext cx="9957435" cy="389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Guideline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1: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a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relation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schema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it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to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explain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1800" b="1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meaning.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Do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combine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attributes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entity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sets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relationship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sets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into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relation.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marR="5715" lvl="1" indent="-342900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relation schema corresponds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one entity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set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or one relationship set,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then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 meaning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tends to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simple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 clear.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Otherwise, the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corresponds to a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mixture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multiple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entities and relationships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hence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becomes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complex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unclear.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marR="5715" lvl="1" indent="-342900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Only foreign keys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should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used to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refer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other entities. Entity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relationship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attributes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kept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apart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as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much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possible.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marR="6350" lvl="1" indent="-342900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Bottom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Line: design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schemas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be explained easily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relation 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relation.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cases,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semantics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of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attributes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should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interpret.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Guideline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2: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base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relation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schemas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a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way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that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800" b="1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anomalies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such as insertion, deletion,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updation anomalies are removed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 from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relations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marR="6350" lvl="1" indent="-342900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any anomalies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present, note them clearly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make sure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programs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modify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(update)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 database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operate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correctly.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spc="-5" dirty="0">
                <a:solidFill>
                  <a:srgbClr val="000000"/>
                </a:solidFill>
                <a:sym typeface="+mn-ea"/>
              </a:rPr>
              <a:t>Guidelines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followed</a:t>
            </a:r>
            <a:r>
              <a:rPr spc="2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in</a:t>
            </a:r>
            <a:r>
              <a:rPr spc="10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Designing</a:t>
            </a:r>
            <a:r>
              <a:rPr spc="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Good</a:t>
            </a:r>
            <a:r>
              <a:rPr spc="15" dirty="0">
                <a:solidFill>
                  <a:srgbClr val="000000"/>
                </a:solidFill>
                <a:sym typeface="+mn-ea"/>
              </a:rPr>
              <a:t> </a:t>
            </a:r>
            <a:r>
              <a:rPr spc="-5" dirty="0">
                <a:solidFill>
                  <a:srgbClr val="000000"/>
                </a:solidFill>
                <a:sym typeface="+mn-ea"/>
              </a:rPr>
              <a:t>Database</a:t>
            </a:r>
            <a:endParaRPr lang="en-US"/>
          </a:p>
        </p:txBody>
      </p:sp>
      <p:sp>
        <p:nvSpPr>
          <p:cNvPr id="4" name="object 2"/>
          <p:cNvSpPr txBox="1"/>
          <p:nvPr/>
        </p:nvSpPr>
        <p:spPr>
          <a:xfrm>
            <a:off x="864235" y="1691005"/>
            <a:ext cx="10488930" cy="2450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marR="7620" indent="-343535" algn="just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Guideline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3: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Avoid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placing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attributes in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base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relation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whose values 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frequently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NULL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lvl="1" indent="-34353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8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NULLs</a:t>
            </a:r>
            <a:r>
              <a:rPr sz="18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unavoidable,</a:t>
            </a:r>
            <a:r>
              <a:rPr sz="18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make</a:t>
            </a:r>
            <a:r>
              <a:rPr sz="18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sure</a:t>
            </a:r>
            <a:r>
              <a:rPr sz="18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8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they</a:t>
            </a:r>
            <a:r>
              <a:rPr sz="18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apply</a:t>
            </a:r>
            <a:r>
              <a:rPr sz="18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exceptional</a:t>
            </a:r>
            <a:r>
              <a:rPr sz="18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cases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algn="just">
              <a:lnSpc>
                <a:spcPct val="100000"/>
              </a:lnSpc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do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not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apply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majority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 of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tuples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marR="5080" lvl="1" indent="-342900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Attributes that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are NULL frequently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could be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placed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 separate relations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(with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 primary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key).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430"/>
              </a:spcBef>
              <a:buFont typeface="Wingdings" panose="05000000000000000000"/>
              <a:buChar char=""/>
              <a:tabLst>
                <a:tab pos="356235" algn="l"/>
              </a:tabLst>
            </a:pP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Guideline</a:t>
            </a:r>
            <a:r>
              <a:rPr sz="1800" b="1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4:</a:t>
            </a:r>
            <a:r>
              <a:rPr sz="1800" b="1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80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b="1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relation</a:t>
            </a:r>
            <a:r>
              <a:rPr sz="180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schemas</a:t>
            </a:r>
            <a:r>
              <a:rPr sz="18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800" b="1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8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they</a:t>
            </a:r>
            <a:r>
              <a:rPr sz="18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80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800" b="1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joined</a:t>
            </a:r>
            <a:r>
              <a:rPr sz="1800" b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b="1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such </a:t>
            </a:r>
            <a:r>
              <a:rPr sz="1800" b="1" spc="-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way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spurious</a:t>
            </a:r>
            <a:r>
              <a:rPr sz="1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tuples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are generated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12800" marR="8255" lvl="1" indent="-342900" algn="just">
              <a:lnSpc>
                <a:spcPct val="100000"/>
              </a:lnSpc>
              <a:spcBef>
                <a:spcPts val="435"/>
              </a:spcBef>
              <a:buFont typeface="Wingdings" panose="05000000000000000000"/>
              <a:buChar char=""/>
              <a:tabLst>
                <a:tab pos="813435" algn="l"/>
              </a:tabLst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Avoid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relations that contain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matching attributes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that are not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(foreign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key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primary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key)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combinations,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because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joining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on such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attributes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produce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spurious tuples.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CA" altLang="x-none" b="1" i="1">
                <a:latin typeface="Arial" panose="020B0604020202020204" pitchFamily="34" charset="0"/>
                <a:sym typeface="+mn-ea"/>
              </a:rPr>
              <a:t>Normalization</a:t>
            </a:r>
            <a:endParaRPr lang="en-US"/>
          </a:p>
        </p:txBody>
      </p:sp>
      <p:sp>
        <p:nvSpPr>
          <p:cNvPr id="4101" name="Text Box 4"/>
          <p:cNvSpPr txBox="1"/>
          <p:nvPr/>
        </p:nvSpPr>
        <p:spPr>
          <a:xfrm>
            <a:off x="4282758" y="4500563"/>
            <a:ext cx="1606550" cy="96361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sz="2000">
                <a:latin typeface="Times New Roman" panose="02020603050405020304" pitchFamily="18" charset="0"/>
              </a:rPr>
              <a:t>BCNF</a:t>
            </a:r>
            <a:endParaRPr sz="2000">
              <a:latin typeface="Times New Roman" panose="02020603050405020304" pitchFamily="18" charset="0"/>
            </a:endParaRPr>
          </a:p>
        </p:txBody>
      </p:sp>
      <p:sp>
        <p:nvSpPr>
          <p:cNvPr id="4102" name="Text Box 5"/>
          <p:cNvSpPr txBox="1"/>
          <p:nvPr/>
        </p:nvSpPr>
        <p:spPr>
          <a:xfrm>
            <a:off x="3595370" y="3787775"/>
            <a:ext cx="2357438" cy="1714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sz="2000">
                <a:latin typeface="Times New Roman" panose="02020603050405020304" pitchFamily="18" charset="0"/>
              </a:rPr>
              <a:t>3NF</a:t>
            </a:r>
            <a:endParaRPr sz="2000">
              <a:latin typeface="Times New Roman" panose="02020603050405020304" pitchFamily="18" charset="0"/>
            </a:endParaRPr>
          </a:p>
        </p:txBody>
      </p:sp>
      <p:sp>
        <p:nvSpPr>
          <p:cNvPr id="4103" name="Text Box 6"/>
          <p:cNvSpPr txBox="1"/>
          <p:nvPr/>
        </p:nvSpPr>
        <p:spPr>
          <a:xfrm>
            <a:off x="2784158" y="3022600"/>
            <a:ext cx="3214687" cy="2571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sz="2000">
                <a:latin typeface="Times New Roman" panose="02020603050405020304" pitchFamily="18" charset="0"/>
              </a:rPr>
              <a:t>2NF</a:t>
            </a:r>
            <a:endParaRPr sz="2000">
              <a:latin typeface="Times New Roman" panose="02020603050405020304" pitchFamily="18" charset="0"/>
            </a:endParaRPr>
          </a:p>
        </p:txBody>
      </p:sp>
      <p:sp>
        <p:nvSpPr>
          <p:cNvPr id="4" name="Text Box 7"/>
          <p:cNvSpPr txBox="1"/>
          <p:nvPr/>
        </p:nvSpPr>
        <p:spPr>
          <a:xfrm>
            <a:off x="2112010" y="1966595"/>
            <a:ext cx="3933190" cy="371856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sz="2000">
                <a:latin typeface="Times New Roman" panose="02020603050405020304" pitchFamily="18" charset="0"/>
              </a:rPr>
              <a:t>1NF</a:t>
            </a:r>
            <a:endParaRPr sz="2000">
              <a:latin typeface="Times New Roman" panose="02020603050405020304" pitchFamily="18" charset="0"/>
            </a:endParaRPr>
          </a:p>
        </p:txBody>
      </p:sp>
      <p:sp>
        <p:nvSpPr>
          <p:cNvPr id="5" name="Text Box 8"/>
          <p:cNvSpPr txBox="1"/>
          <p:nvPr/>
        </p:nvSpPr>
        <p:spPr>
          <a:xfrm>
            <a:off x="6303645" y="2209800"/>
            <a:ext cx="2971800" cy="33385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sz="2000" i="1">
                <a:latin typeface="Times New Roman" panose="02020603050405020304" pitchFamily="18" charset="0"/>
              </a:rPr>
              <a:t>a relation in BCNF, is also in 3NF</a:t>
            </a:r>
            <a:endParaRPr sz="2000" i="1">
              <a:latin typeface="Times New Roman" panose="02020603050405020304" pitchFamily="18" charset="0"/>
            </a:endParaRPr>
          </a:p>
          <a:p>
            <a:endParaRPr sz="2000" i="1">
              <a:latin typeface="Times New Roman" panose="02020603050405020304" pitchFamily="18" charset="0"/>
            </a:endParaRPr>
          </a:p>
          <a:p>
            <a:r>
              <a:rPr sz="2000" i="1">
                <a:latin typeface="Times New Roman" panose="02020603050405020304" pitchFamily="18" charset="0"/>
              </a:rPr>
              <a:t>a relation in 3NF is also in 2NF</a:t>
            </a:r>
            <a:endParaRPr sz="2000" i="1">
              <a:latin typeface="Times New Roman" panose="02020603050405020304" pitchFamily="18" charset="0"/>
            </a:endParaRPr>
          </a:p>
          <a:p>
            <a:endParaRPr sz="2000" i="1">
              <a:latin typeface="Times New Roman" panose="02020603050405020304" pitchFamily="18" charset="0"/>
            </a:endParaRPr>
          </a:p>
          <a:p>
            <a:r>
              <a:rPr sz="2000" i="1">
                <a:latin typeface="Times New Roman" panose="02020603050405020304" pitchFamily="18" charset="0"/>
              </a:rPr>
              <a:t>a relation in 2NF is also in 1NF</a:t>
            </a:r>
            <a:endParaRPr sz="2000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Normal Forms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1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Normal forms </a:t>
            </a:r>
            <a:endParaRPr lang="en-US" sz="1800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provides a stepwise progression towards the construction of normalized relation schemas, which are free from data redundancies.</a:t>
            </a:r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relation schema is said to be in a particular normal form if it is satisfying certain defined conditions.</a:t>
            </a:r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0" lvl="4" indent="0"/>
            <a:endParaRPr lang="en-CA" altLang="x-none" b="1">
              <a:latin typeface="Times New Roman" panose="02020603050405020304" pitchFamily="18" charset="0"/>
              <a:sym typeface="+mn-ea"/>
            </a:endParaRPr>
          </a:p>
          <a:p>
            <a:pPr marL="762000" lvl="4" indent="0">
              <a:buNone/>
            </a:pPr>
            <a:r>
              <a:rPr lang="en-CA" altLang="x-none" b="1">
                <a:latin typeface="Times New Roman" panose="02020603050405020304" pitchFamily="18" charset="0"/>
                <a:sym typeface="+mn-ea"/>
              </a:rPr>
              <a:t>The </a:t>
            </a:r>
            <a:r>
              <a:rPr lang="en-CA" altLang="x-none" b="1" i="1">
                <a:latin typeface="Times New Roman" panose="02020603050405020304" pitchFamily="18" charset="0"/>
                <a:sym typeface="+mn-ea"/>
              </a:rPr>
              <a:t>objective</a:t>
            </a:r>
            <a:r>
              <a:rPr lang="en-CA" altLang="x-none" b="1">
                <a:latin typeface="Times New Roman" panose="02020603050405020304" pitchFamily="18" charset="0"/>
                <a:sym typeface="+mn-ea"/>
              </a:rPr>
              <a:t> of normalization: </a:t>
            </a:r>
            <a:endParaRPr lang="en-CA" altLang="x-none" b="1">
              <a:latin typeface="Times New Roman" panose="02020603050405020304" pitchFamily="18" charset="0"/>
            </a:endParaRPr>
          </a:p>
          <a:p>
            <a:pPr marL="762000" lvl="4" indent="0">
              <a:buNone/>
            </a:pPr>
            <a:r>
              <a:rPr lang="en-CA" altLang="x-none" b="1">
                <a:latin typeface="Times New Roman" panose="02020603050405020304" pitchFamily="18" charset="0"/>
                <a:sym typeface="+mn-ea"/>
              </a:rPr>
              <a:t>“</a:t>
            </a:r>
            <a:r>
              <a:rPr lang="en-CA" altLang="x-none" b="1" i="1">
                <a:latin typeface="Times New Roman" panose="02020603050405020304" pitchFamily="18" charset="0"/>
                <a:sym typeface="+mn-ea"/>
              </a:rPr>
              <a:t>to create relations where every dependency is on the key, the whole key, and nothing but the key</a:t>
            </a:r>
            <a:r>
              <a:rPr lang="en-CA" altLang="x-none" b="1">
                <a:latin typeface="Times New Roman" panose="02020603050405020304" pitchFamily="18" charset="0"/>
                <a:sym typeface="+mn-ea"/>
              </a:rPr>
              <a:t>”.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1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Normal Form (1NF)</a:t>
            </a:r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relation will be 1NF if it contains an </a:t>
            </a:r>
            <a:r>
              <a:rPr lang="en-US" sz="1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atomic value.</a:t>
            </a:r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states that an attribute of a table cannot hold multiple values. It must hold only single-valued attribute.</a:t>
            </a:r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normal form disallows the multi-valued attribute, composite attribute, and their combinations.</a:t>
            </a:r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1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 Relation EMPLOYEE is not in 1NF because of multi-valued attribute EMP_PHONE.</a:t>
            </a:r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Normal Forms</a:t>
            </a:r>
            <a:endParaRPr lang="en-US"/>
          </a:p>
        </p:txBody>
      </p:sp>
      <p:graphicFrame>
        <p:nvGraphicFramePr>
          <p:cNvPr id="17" name="Content Placeholder 16"/>
          <p:cNvGraphicFramePr>
            <a:graphicFrameLocks noGrp="1"/>
          </p:cNvGraphicFramePr>
          <p:nvPr>
            <p:ph idx="1"/>
          </p:nvPr>
        </p:nvGraphicFramePr>
        <p:xfrm>
          <a:off x="1059815" y="1600200"/>
          <a:ext cx="10695305" cy="2827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7410"/>
                <a:gridCol w="2136775"/>
                <a:gridCol w="2140585"/>
                <a:gridCol w="2139950"/>
                <a:gridCol w="2140585"/>
              </a:tblGrid>
              <a:tr h="2019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Id No</a:t>
                      </a:r>
                      <a:endParaRPr lang="en-US" sz="12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Name</a:t>
                      </a:r>
                      <a:endParaRPr lang="en-US" sz="12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DOB</a:t>
                      </a:r>
                      <a:endParaRPr lang="en-US" sz="12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Subject</a:t>
                      </a:r>
                      <a:endParaRPr lang="en-US" sz="12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Grade</a:t>
                      </a:r>
                      <a:endParaRPr lang="en-US" sz="12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57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960100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Ram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14/11/77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Data Base, Soft Engg,ISDE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B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38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960105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Rishi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10/05/75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Soft Engg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ISDE 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B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B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57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960120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Abhi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1/03/70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BDMS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Soft Engg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Workshop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A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B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9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96015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Ram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09/01/72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DBMS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B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77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960150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VIKASH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21/01/73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DBMS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SOFT ENGGISDE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WORKSHOP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D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B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C</a:t>
                      </a:r>
                      <a:endParaRPr lang="en-US" sz="12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200" b="0">
                          <a:latin typeface="Calibri" panose="020F0502020204030204" charset="0"/>
                          <a:cs typeface="Calibri" panose="020F0502020204030204" charset="0"/>
                        </a:rPr>
                        <a:t>D</a:t>
                      </a:r>
                      <a:endParaRPr lang="en-US" sz="12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1278890" y="4260215"/>
            <a:ext cx="9981565" cy="1936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table subject and grade are known as repeating groups. They have more than one value for each student . The problem arises because each student will study a number of subjects and we need to store their marks in each subject. We have solved the problem by putting those repeating values in to a single cell.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Normal Form (1NF)</a:t>
            </a:r>
            <a:endParaRPr lang="en-US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785786" y="1142984"/>
            <a:ext cx="7858180" cy="5000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repeated values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n-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165" y="1706880"/>
            <a:ext cx="8134350" cy="43116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Normal Form (1NF)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order to store it as a relational database we must the data into INF i.e. we remove the repeating groups . By two ways we can solve the problem.</a:t>
            </a:r>
            <a:endParaRPr lang="en-US" sz="2800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Flattern the table and Change the Key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Decompostion the relation.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Flattern the table and Change the Key</a:t>
            </a:r>
            <a:endParaRPr lang="en-US" sz="2800" b="1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 we can only guess with student has got  an 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grade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in soft Engg in line -2 . We cannot access the data where the primary Key. This cannot be left in the present state because the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id-no which 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the primary key has blank values it it. This is not allowed so, 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next stage is to fill i blanks. 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we can simple copy down the data and fill in the id-no, name, and DOB fields. 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Although it is an improvment , we are facing another problem, i.e the id-no no longer a promary key. so  we have to choose a new primary key .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the below table id-No and Subject is the new primary Key</a:t>
            </a:r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Normal Form (1NF)</a:t>
            </a:r>
            <a:endParaRPr lang="en-US"/>
          </a:p>
        </p:txBody>
      </p:sp>
      <p:pic>
        <p:nvPicPr>
          <p:cNvPr id="4" name="Content Placeholder 1" descr="n-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88795" y="1691005"/>
            <a:ext cx="8019415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Normal Forms</a:t>
            </a:r>
            <a:endParaRPr lang="en-US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2279306" y="1402064"/>
            <a:ext cx="7858180" cy="5000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Decompostion the relation.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alternative approach is to split the table in to two parts. 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part for repeating groups and another is for non repeating groups.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key of the original relation sholud be included in both the relations.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n-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30830" y="2656205"/>
            <a:ext cx="5094605" cy="374713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Normal Form (1NF)</a:t>
            </a:r>
            <a:b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/>
          </a:p>
        </p:txBody>
      </p:sp>
      <p:pic>
        <p:nvPicPr>
          <p:cNvPr id="6" name="Content Placeholder 5" descr="n-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6585" y="1946910"/>
            <a:ext cx="6670675" cy="362077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Partial FD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FD A → B is a partial FD, if some attribute of A can be removed and the FD still holds. That means there is some proper subset of A, C ⊂ A, such that C → B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 attributes(prime attributes): 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 the attributes which are part of some candidate key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Non-key attributes(non-prime attibutes): 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 the attributes which are not part of any candidate key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spcBef>
                <a:spcPct val="20000"/>
              </a:spcBef>
              <a:buNone/>
              <a:defRPr/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is Partial Dependency in DBMS? </a:t>
            </a:r>
            <a:endParaRPr 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spcBef>
                <a:spcPct val="20000"/>
              </a:spcBef>
              <a:buNone/>
              <a:defRPr/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FD (functional dependency) A-&gt;B happens to be a partial dependency if B is functionally dependent on A, and also B can be determined by any other proper subset of A. For instance, we have a relationship like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MO-&gt;N, M-&gt;P, and P-&gt;N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CA" altLang="x-none" b="1"/>
              <a:t>Partial dependency</a:t>
            </a:r>
            <a:endParaRPr b="1"/>
          </a:p>
        </p:txBody>
      </p:sp>
      <p:sp>
        <p:nvSpPr>
          <p:cNvPr id="12293" name="Text Box 88"/>
          <p:cNvSpPr txBox="1"/>
          <p:nvPr/>
        </p:nvSpPr>
        <p:spPr>
          <a:xfrm>
            <a:off x="990600" y="1489075"/>
            <a:ext cx="75438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CA" altLang="x-none">
                <a:latin typeface="Times New Roman" panose="02020603050405020304" pitchFamily="18" charset="0"/>
              </a:rPr>
              <a:t>A </a:t>
            </a:r>
            <a:r>
              <a:rPr lang="en-CA" altLang="x-none" b="1">
                <a:latin typeface="Times New Roman" panose="02020603050405020304" pitchFamily="18" charset="0"/>
              </a:rPr>
              <a:t>partial dependency</a:t>
            </a:r>
            <a:r>
              <a:rPr lang="en-CA" altLang="x-none">
                <a:latin typeface="Times New Roman" panose="02020603050405020304" pitchFamily="18" charset="0"/>
              </a:rPr>
              <a:t> exists when an attribute B is functionally dependent on an attribute A, and A is a component of a multipart candidate key.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12294" name="Text Box 89"/>
          <p:cNvSpPr txBox="1"/>
          <p:nvPr/>
        </p:nvSpPr>
        <p:spPr>
          <a:xfrm>
            <a:off x="990600" y="3429000"/>
            <a:ext cx="1905000" cy="466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en-CA" altLang="x-none" u="sng">
                <a:latin typeface="Times New Roman" panose="02020603050405020304" pitchFamily="18" charset="0"/>
              </a:rPr>
              <a:t>InvNum</a:t>
            </a:r>
            <a:endParaRPr u="sng">
              <a:latin typeface="Times New Roman" panose="02020603050405020304" pitchFamily="18" charset="0"/>
            </a:endParaRPr>
          </a:p>
        </p:txBody>
      </p:sp>
      <p:sp>
        <p:nvSpPr>
          <p:cNvPr id="12295" name="Text Box 90"/>
          <p:cNvSpPr txBox="1"/>
          <p:nvPr/>
        </p:nvSpPr>
        <p:spPr>
          <a:xfrm>
            <a:off x="2895600" y="3429000"/>
            <a:ext cx="1676400" cy="466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en-CA" altLang="x-none" u="sng">
                <a:latin typeface="Times New Roman" panose="02020603050405020304" pitchFamily="18" charset="0"/>
              </a:rPr>
              <a:t>LineNum</a:t>
            </a:r>
            <a:endParaRPr u="sng">
              <a:latin typeface="Times New Roman" panose="02020603050405020304" pitchFamily="18" charset="0"/>
            </a:endParaRPr>
          </a:p>
        </p:txBody>
      </p:sp>
      <p:sp>
        <p:nvSpPr>
          <p:cNvPr id="12296" name="Text Box 91"/>
          <p:cNvSpPr txBox="1"/>
          <p:nvPr/>
        </p:nvSpPr>
        <p:spPr>
          <a:xfrm>
            <a:off x="4572000" y="3429000"/>
            <a:ext cx="990600" cy="466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en-CA" altLang="x-none">
                <a:latin typeface="Times New Roman" panose="02020603050405020304" pitchFamily="18" charset="0"/>
              </a:rPr>
              <a:t>Qty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12297" name="Text Box 92"/>
          <p:cNvSpPr txBox="1"/>
          <p:nvPr/>
        </p:nvSpPr>
        <p:spPr>
          <a:xfrm>
            <a:off x="5562600" y="3429000"/>
            <a:ext cx="1676400" cy="466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/>
            <a:r>
              <a:rPr lang="en-CA" altLang="x-none">
                <a:latin typeface="Times New Roman" panose="02020603050405020304" pitchFamily="18" charset="0"/>
              </a:rPr>
              <a:t>InvDate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12298" name="Freeform 94"/>
          <p:cNvSpPr/>
          <p:nvPr/>
        </p:nvSpPr>
        <p:spPr>
          <a:xfrm>
            <a:off x="3581400" y="3886200"/>
            <a:ext cx="1676400" cy="533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46772500"/>
              </a:cxn>
              <a:cxn ang="0">
                <a:pos x="2147483647" y="846772500"/>
              </a:cxn>
              <a:cxn ang="0">
                <a:pos x="2147483647" y="0"/>
              </a:cxn>
            </a:cxnLst>
            <a:rect l="0" t="0" r="0" b="0"/>
            <a:pathLst>
              <a:path w="1056" h="336">
                <a:moveTo>
                  <a:pt x="0" y="0"/>
                </a:moveTo>
                <a:lnTo>
                  <a:pt x="0" y="336"/>
                </a:lnTo>
                <a:lnTo>
                  <a:pt x="1056" y="336"/>
                </a:lnTo>
                <a:lnTo>
                  <a:pt x="1056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2299" name="Freeform 95"/>
          <p:cNvSpPr/>
          <p:nvPr/>
        </p:nvSpPr>
        <p:spPr>
          <a:xfrm>
            <a:off x="1905000" y="3886200"/>
            <a:ext cx="4495800" cy="533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46772500"/>
              </a:cxn>
              <a:cxn ang="0">
                <a:pos x="2147483647" y="846772500"/>
              </a:cxn>
              <a:cxn ang="0">
                <a:pos x="2147483647" y="0"/>
              </a:cxn>
            </a:cxnLst>
            <a:rect l="0" t="0" r="0" b="0"/>
            <a:pathLst>
              <a:path w="1056" h="336">
                <a:moveTo>
                  <a:pt x="0" y="0"/>
                </a:moveTo>
                <a:lnTo>
                  <a:pt x="0" y="336"/>
                </a:lnTo>
                <a:lnTo>
                  <a:pt x="1056" y="336"/>
                </a:lnTo>
                <a:lnTo>
                  <a:pt x="1056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2300" name="Freeform 96"/>
          <p:cNvSpPr/>
          <p:nvPr/>
        </p:nvSpPr>
        <p:spPr>
          <a:xfrm flipV="1">
            <a:off x="2057400" y="2895600"/>
            <a:ext cx="4495800" cy="533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46772500"/>
              </a:cxn>
              <a:cxn ang="0">
                <a:pos x="2147483647" y="846772500"/>
              </a:cxn>
              <a:cxn ang="0">
                <a:pos x="2147483647" y="0"/>
              </a:cxn>
            </a:cxnLst>
            <a:rect l="0" t="0" r="0" b="0"/>
            <a:pathLst>
              <a:path w="1056" h="336">
                <a:moveTo>
                  <a:pt x="0" y="0"/>
                </a:moveTo>
                <a:lnTo>
                  <a:pt x="0" y="336"/>
                </a:lnTo>
                <a:lnTo>
                  <a:pt x="1056" y="336"/>
                </a:lnTo>
                <a:lnTo>
                  <a:pt x="1056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2301" name="Text Box 97"/>
          <p:cNvSpPr txBox="1"/>
          <p:nvPr/>
        </p:nvSpPr>
        <p:spPr>
          <a:xfrm>
            <a:off x="990600" y="4648200"/>
            <a:ext cx="69342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CA" altLang="x-none">
                <a:latin typeface="Times New Roman" panose="02020603050405020304" pitchFamily="18" charset="0"/>
              </a:rPr>
              <a:t>Candidate keys: {InvNum, LineNum} InvDate is </a:t>
            </a:r>
            <a:r>
              <a:rPr lang="en-CA" altLang="x-none" i="1">
                <a:latin typeface="Times New Roman" panose="02020603050405020304" pitchFamily="18" charset="0"/>
              </a:rPr>
              <a:t>partially dependent</a:t>
            </a:r>
            <a:r>
              <a:rPr lang="en-CA" altLang="x-none">
                <a:latin typeface="Times New Roman" panose="02020603050405020304" pitchFamily="18" charset="0"/>
              </a:rPr>
              <a:t> on {InvNum, LineNum} as </a:t>
            </a:r>
            <a:r>
              <a:rPr lang="en-CA" altLang="x-none">
                <a:solidFill>
                  <a:srgbClr val="FF0000"/>
                </a:solidFill>
                <a:latin typeface="Times New Roman" panose="02020603050405020304" pitchFamily="18" charset="0"/>
              </a:rPr>
              <a:t>InvNum is a determinant of InvDate and InvNum is part of a candidate key</a:t>
            </a:r>
            <a:endParaRPr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2NF (Second Normal Form)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relation is in 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2NF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iff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following two conditions are met simultaneously: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in 1NF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non-key attribute is partially dependent on any key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be in second normal form, a relation must be in 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normal form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relation 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must not contain any partial dependency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relation is in 2NF iff it has 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Partial Dependency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i.e., no non-prime attribute (attributes which are not part of any candidate key) is dependent on any proper subset of any candidate key of the table.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Partial Dependency –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If proper subset of candidate key determines non-prime attribute, it is called partial dependency.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2NF (Second Normal Form)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1 – 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relation STUDENT_COURSE given in Table 3 ,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FD set: {COURSE_NO-&gt;COURSE_NAME}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 Key: {STUD_NO, COURSE_NO}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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FD 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COURSE_NO-&gt;COURSE_NAME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COURSE_NO (proper subset of candidate key) is determining COURSE_NAME (non-prime attribute). Hence, it is partial dependency and relation is not in second normal form.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convert it to second normal form, we will decompose the relation STUDENT_COURSE (STUD_NO, COURSE_NO, COURSE_NAME) as :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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STUDENT_COURSE (STUD_NO, COURSE_NO)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COURSE (COURSE_NO, COURSE_NAME)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2NF (Second Normal Form)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2 – Consider following functional dependencies in relation  R (A,  B , C,  D )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 -&gt; C  [A and B together determine C]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 -&gt; D  [B and C together determine D]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the above relation, AB is the only candidate key and there is no partial dependency, i.e., any proper subset of AB doesn’t determine any non-prime attribute.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2NF (Second Normal Form)</a:t>
            </a:r>
            <a:endParaRPr lang="en-US"/>
          </a:p>
        </p:txBody>
      </p:sp>
      <p:pic>
        <p:nvPicPr>
          <p:cNvPr id="4" name="Content Placeholder 1" descr="2n-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46860"/>
            <a:ext cx="9690100" cy="483997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2NF (Second Normal Form)</a:t>
            </a:r>
            <a:endParaRPr lang="en-US"/>
          </a:p>
        </p:txBody>
      </p:sp>
      <p:pic>
        <p:nvPicPr>
          <p:cNvPr id="4" name="Content Placeholder 1" descr="2NF-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3970" y="1854835"/>
            <a:ext cx="1006983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2NF (Second Normal Form)</a:t>
            </a:r>
            <a:endParaRPr lang="en-US"/>
          </a:p>
        </p:txBody>
      </p:sp>
      <p:pic>
        <p:nvPicPr>
          <p:cNvPr id="4" name="Content Placeholder 1" descr="2n-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8390" y="1691005"/>
            <a:ext cx="8396605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CA" altLang="x-none" b="1"/>
              <a:t>Transitive dependency</a:t>
            </a:r>
            <a:endParaRPr b="1"/>
          </a:p>
        </p:txBody>
      </p:sp>
      <p:sp>
        <p:nvSpPr>
          <p:cNvPr id="11269" name="Freeform 66"/>
          <p:cNvSpPr/>
          <p:nvPr/>
        </p:nvSpPr>
        <p:spPr>
          <a:xfrm>
            <a:off x="3206750" y="2673350"/>
            <a:ext cx="1822450" cy="387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0972300"/>
              </a:cxn>
              <a:cxn ang="0">
                <a:pos x="823741072" y="520972300"/>
              </a:cxn>
              <a:cxn ang="0">
                <a:pos x="823741072" y="0"/>
              </a:cxn>
            </a:cxnLst>
            <a:rect l="0" t="0" r="0" b="0"/>
            <a:pathLst>
              <a:path w="4032" h="288">
                <a:moveTo>
                  <a:pt x="0" y="0"/>
                </a:moveTo>
                <a:lnTo>
                  <a:pt x="0" y="288"/>
                </a:lnTo>
                <a:lnTo>
                  <a:pt x="4032" y="288"/>
                </a:lnTo>
                <a:lnTo>
                  <a:pt x="4032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1270" name="Freeform 67"/>
          <p:cNvSpPr/>
          <p:nvPr/>
        </p:nvSpPr>
        <p:spPr>
          <a:xfrm flipV="1">
            <a:off x="6400800" y="1765300"/>
            <a:ext cx="2298700" cy="387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0972300"/>
              </a:cxn>
              <a:cxn ang="0">
                <a:pos x="1310521252" y="520972300"/>
              </a:cxn>
              <a:cxn ang="0">
                <a:pos x="1310521252" y="0"/>
              </a:cxn>
            </a:cxnLst>
            <a:rect l="0" t="0" r="0" b="0"/>
            <a:pathLst>
              <a:path w="4032" h="288">
                <a:moveTo>
                  <a:pt x="0" y="0"/>
                </a:moveTo>
                <a:lnTo>
                  <a:pt x="0" y="288"/>
                </a:lnTo>
                <a:lnTo>
                  <a:pt x="4032" y="288"/>
                </a:lnTo>
                <a:lnTo>
                  <a:pt x="4032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1271" name="Text Box 69"/>
          <p:cNvSpPr txBox="1"/>
          <p:nvPr/>
        </p:nvSpPr>
        <p:spPr>
          <a:xfrm>
            <a:off x="2590800" y="2222500"/>
            <a:ext cx="7391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CA" u="sng">
                <a:latin typeface="Times New Roman" panose="02020603050405020304" pitchFamily="18" charset="0"/>
              </a:rPr>
              <a:t>     </a:t>
            </a:r>
            <a:r>
              <a:rPr lang="en-CA" altLang="x-none" u="sng">
                <a:latin typeface="Times New Roman" panose="02020603050405020304" pitchFamily="18" charset="0"/>
              </a:rPr>
              <a:t>EmpNum</a:t>
            </a:r>
            <a:r>
              <a:rPr lang="en-US" altLang="x-none">
                <a:latin typeface="Times New Roman" panose="02020603050405020304" pitchFamily="18" charset="0"/>
              </a:rPr>
              <a:t> </a:t>
            </a:r>
            <a:r>
              <a:rPr lang="en-CA" altLang="x-none">
                <a:latin typeface="Times New Roman" panose="02020603050405020304" pitchFamily="18" charset="0"/>
              </a:rPr>
              <a:t>  EmpEmail                      </a:t>
            </a:r>
            <a:r>
              <a:rPr lang="en-US" altLang="x-none" dirty="0">
                <a:latin typeface="Times New Roman" panose="02020603050405020304" pitchFamily="18" charset="0"/>
              </a:rPr>
              <a:t>DeptNum       </a:t>
            </a:r>
            <a:r>
              <a:rPr lang="en-CA" altLang="x-none">
                <a:latin typeface="Times New Roman" panose="02020603050405020304" pitchFamily="18" charset="0"/>
              </a:rPr>
              <a:t>DeptNname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11272" name="Rectangle 70"/>
          <p:cNvSpPr/>
          <p:nvPr/>
        </p:nvSpPr>
        <p:spPr>
          <a:xfrm>
            <a:off x="2514600" y="2146300"/>
            <a:ext cx="14478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73" name="Rectangle 71"/>
          <p:cNvSpPr/>
          <p:nvPr/>
        </p:nvSpPr>
        <p:spPr>
          <a:xfrm>
            <a:off x="3962400" y="2146300"/>
            <a:ext cx="16002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74" name="Rectangle 72"/>
          <p:cNvSpPr/>
          <p:nvPr/>
        </p:nvSpPr>
        <p:spPr>
          <a:xfrm>
            <a:off x="5562600" y="2146300"/>
            <a:ext cx="17526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75" name="Rectangle 73"/>
          <p:cNvSpPr/>
          <p:nvPr/>
        </p:nvSpPr>
        <p:spPr>
          <a:xfrm>
            <a:off x="7315200" y="2146300"/>
            <a:ext cx="19812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76" name="Freeform 76"/>
          <p:cNvSpPr/>
          <p:nvPr/>
        </p:nvSpPr>
        <p:spPr>
          <a:xfrm>
            <a:off x="5029200" y="2679700"/>
            <a:ext cx="1143000" cy="381000"/>
          </a:xfrm>
          <a:custGeom>
            <a:avLst/>
            <a:gdLst/>
            <a:ahLst/>
            <a:cxnLst>
              <a:cxn ang="0">
                <a:pos x="0" y="604837500"/>
              </a:cxn>
              <a:cxn ang="0">
                <a:pos x="1814512500" y="604837500"/>
              </a:cxn>
              <a:cxn ang="0">
                <a:pos x="1814512500" y="0"/>
              </a:cxn>
            </a:cxnLst>
            <a:rect l="0" t="0" r="0" b="0"/>
            <a:pathLst>
              <a:path w="720" h="240">
                <a:moveTo>
                  <a:pt x="0" y="240"/>
                </a:moveTo>
                <a:lnTo>
                  <a:pt x="720" y="240"/>
                </a:lnTo>
                <a:lnTo>
                  <a:pt x="720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1277" name="AutoShape 77"/>
          <p:cNvSpPr/>
          <p:nvPr/>
        </p:nvSpPr>
        <p:spPr>
          <a:xfrm rot="-821456">
            <a:off x="3984625" y="3441700"/>
            <a:ext cx="1143000" cy="685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78" name="Freeform 78"/>
          <p:cNvSpPr/>
          <p:nvPr/>
        </p:nvSpPr>
        <p:spPr>
          <a:xfrm>
            <a:off x="3533775" y="4959350"/>
            <a:ext cx="1822450" cy="387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0972300"/>
              </a:cxn>
              <a:cxn ang="0">
                <a:pos x="823741072" y="520972300"/>
              </a:cxn>
              <a:cxn ang="0">
                <a:pos x="823741072" y="0"/>
              </a:cxn>
            </a:cxnLst>
            <a:rect l="0" t="0" r="0" b="0"/>
            <a:pathLst>
              <a:path w="4032" h="288">
                <a:moveTo>
                  <a:pt x="0" y="0"/>
                </a:moveTo>
                <a:lnTo>
                  <a:pt x="0" y="288"/>
                </a:lnTo>
                <a:lnTo>
                  <a:pt x="4032" y="288"/>
                </a:lnTo>
                <a:lnTo>
                  <a:pt x="4032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1279" name="Freeform 79"/>
          <p:cNvSpPr/>
          <p:nvPr/>
        </p:nvSpPr>
        <p:spPr>
          <a:xfrm flipV="1">
            <a:off x="6727825" y="4051300"/>
            <a:ext cx="2298700" cy="387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0972300"/>
              </a:cxn>
              <a:cxn ang="0">
                <a:pos x="1310521252" y="520972300"/>
              </a:cxn>
              <a:cxn ang="0">
                <a:pos x="1310521252" y="0"/>
              </a:cxn>
            </a:cxnLst>
            <a:rect l="0" t="0" r="0" b="0"/>
            <a:pathLst>
              <a:path w="4032" h="288">
                <a:moveTo>
                  <a:pt x="0" y="0"/>
                </a:moveTo>
                <a:lnTo>
                  <a:pt x="0" y="288"/>
                </a:lnTo>
                <a:lnTo>
                  <a:pt x="4032" y="288"/>
                </a:lnTo>
                <a:lnTo>
                  <a:pt x="4032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1280" name="Text Box 80"/>
          <p:cNvSpPr txBox="1"/>
          <p:nvPr/>
        </p:nvSpPr>
        <p:spPr>
          <a:xfrm>
            <a:off x="2917825" y="4508500"/>
            <a:ext cx="7391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CA" altLang="x-none" u="sng">
                <a:latin typeface="Times New Roman" panose="02020603050405020304" pitchFamily="18" charset="0"/>
              </a:rPr>
              <a:t>EmpNum</a:t>
            </a:r>
            <a:r>
              <a:rPr lang="en-CA" altLang="x-none">
                <a:latin typeface="Times New Roman" panose="02020603050405020304" pitchFamily="18" charset="0"/>
              </a:rPr>
              <a:t>               </a:t>
            </a:r>
            <a:r>
              <a:rPr lang="en-US" altLang="x-none">
                <a:latin typeface="Times New Roman" panose="02020603050405020304" pitchFamily="18" charset="0"/>
              </a:rPr>
              <a:t> </a:t>
            </a:r>
            <a:r>
              <a:rPr lang="en-CA" altLang="x-none">
                <a:latin typeface="Times New Roman" panose="02020603050405020304" pitchFamily="18" charset="0"/>
              </a:rPr>
              <a:t>EmpEmail     </a:t>
            </a:r>
            <a:r>
              <a:rPr lang="en-US" altLang="x-none" dirty="0">
                <a:latin typeface="Times New Roman" panose="02020603050405020304" pitchFamily="18" charset="0"/>
              </a:rPr>
              <a:t>DeptNum             </a:t>
            </a:r>
            <a:r>
              <a:rPr lang="en-CA" altLang="x-none">
                <a:latin typeface="Times New Roman" panose="02020603050405020304" pitchFamily="18" charset="0"/>
              </a:rPr>
              <a:t>DeptNname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11281" name="Rectangle 81"/>
          <p:cNvSpPr/>
          <p:nvPr/>
        </p:nvSpPr>
        <p:spPr>
          <a:xfrm>
            <a:off x="2841625" y="4432300"/>
            <a:ext cx="14478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82" name="Rectangle 82"/>
          <p:cNvSpPr/>
          <p:nvPr/>
        </p:nvSpPr>
        <p:spPr>
          <a:xfrm>
            <a:off x="4289425" y="4432300"/>
            <a:ext cx="16002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83" name="Rectangle 83"/>
          <p:cNvSpPr/>
          <p:nvPr/>
        </p:nvSpPr>
        <p:spPr>
          <a:xfrm>
            <a:off x="5889625" y="4432300"/>
            <a:ext cx="17526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84" name="Rectangle 84"/>
          <p:cNvSpPr/>
          <p:nvPr/>
        </p:nvSpPr>
        <p:spPr>
          <a:xfrm>
            <a:off x="7642225" y="4432300"/>
            <a:ext cx="1981200" cy="533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285" name="Freeform 85"/>
          <p:cNvSpPr/>
          <p:nvPr/>
        </p:nvSpPr>
        <p:spPr>
          <a:xfrm>
            <a:off x="5356225" y="4965700"/>
            <a:ext cx="1143000" cy="381000"/>
          </a:xfrm>
          <a:custGeom>
            <a:avLst/>
            <a:gdLst/>
            <a:ahLst/>
            <a:cxnLst>
              <a:cxn ang="0">
                <a:pos x="0" y="604837500"/>
              </a:cxn>
              <a:cxn ang="0">
                <a:pos x="1814512500" y="604837500"/>
              </a:cxn>
              <a:cxn ang="0">
                <a:pos x="1814512500" y="0"/>
              </a:cxn>
            </a:cxnLst>
            <a:rect l="0" t="0" r="0" b="0"/>
            <a:pathLst>
              <a:path w="720" h="240">
                <a:moveTo>
                  <a:pt x="0" y="240"/>
                </a:moveTo>
                <a:lnTo>
                  <a:pt x="720" y="240"/>
                </a:lnTo>
                <a:lnTo>
                  <a:pt x="720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1286" name="Freeform 86"/>
          <p:cNvSpPr/>
          <p:nvPr/>
        </p:nvSpPr>
        <p:spPr>
          <a:xfrm>
            <a:off x="6499225" y="4965700"/>
            <a:ext cx="2057400" cy="381000"/>
          </a:xfrm>
          <a:custGeom>
            <a:avLst/>
            <a:gdLst/>
            <a:ahLst/>
            <a:cxnLst>
              <a:cxn ang="0">
                <a:pos x="0" y="604837500"/>
              </a:cxn>
              <a:cxn ang="0">
                <a:pos x="2147483647" y="604837500"/>
              </a:cxn>
              <a:cxn ang="0">
                <a:pos x="2147483647" y="0"/>
              </a:cxn>
            </a:cxnLst>
            <a:rect l="0" t="0" r="0" b="0"/>
            <a:pathLst>
              <a:path w="720" h="240">
                <a:moveTo>
                  <a:pt x="0" y="240"/>
                </a:moveTo>
                <a:lnTo>
                  <a:pt x="720" y="240"/>
                </a:lnTo>
                <a:lnTo>
                  <a:pt x="720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en-US"/>
          </a:p>
        </p:txBody>
      </p:sp>
      <p:sp>
        <p:nvSpPr>
          <p:cNvPr id="11287" name="Rectangle 87"/>
          <p:cNvSpPr/>
          <p:nvPr/>
        </p:nvSpPr>
        <p:spPr>
          <a:xfrm>
            <a:off x="2384425" y="5575300"/>
            <a:ext cx="8153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CA" altLang="x-none">
                <a:latin typeface="Times New Roman" panose="02020603050405020304" pitchFamily="18" charset="0"/>
              </a:rPr>
              <a:t>DeptName is </a:t>
            </a:r>
            <a:r>
              <a:rPr lang="en-CA" altLang="x-none" i="1">
                <a:latin typeface="Times New Roman" panose="02020603050405020304" pitchFamily="18" charset="0"/>
              </a:rPr>
              <a:t>transitively dependent</a:t>
            </a:r>
            <a:r>
              <a:rPr lang="en-CA" altLang="x-none">
                <a:latin typeface="Times New Roman" panose="02020603050405020304" pitchFamily="18" charset="0"/>
              </a:rPr>
              <a:t> on EmpNum via DeptNum</a:t>
            </a:r>
            <a:endParaRPr lang="en-CA" altLang="x-none">
              <a:latin typeface="Times New Roman" panose="02020603050405020304" pitchFamily="18" charset="0"/>
            </a:endParaRPr>
          </a:p>
          <a:p>
            <a:pPr lvl="2"/>
            <a:r>
              <a:rPr lang="en-CA" altLang="x-none">
                <a:latin typeface="Times New Roman" panose="02020603050405020304" pitchFamily="18" charset="0"/>
              </a:rPr>
              <a:t>EmpNum </a:t>
            </a:r>
            <a:r>
              <a:rPr lang="en-US" altLang="x-none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x-none" dirty="0">
                <a:latin typeface="Times New Roman" panose="02020603050405020304" pitchFamily="18" charset="0"/>
              </a:rPr>
              <a:t> DeptN</a:t>
            </a:r>
            <a:r>
              <a:rPr lang="en-CA" altLang="x-none">
                <a:latin typeface="Times New Roman" panose="02020603050405020304" pitchFamily="18" charset="0"/>
              </a:rPr>
              <a:t>ame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11288" name="Rectangle 88"/>
          <p:cNvSpPr/>
          <p:nvPr/>
        </p:nvSpPr>
        <p:spPr>
          <a:xfrm>
            <a:off x="2514600" y="1536700"/>
            <a:ext cx="3021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CA" altLang="x-none">
                <a:latin typeface="Times New Roman" panose="02020603050405020304" pitchFamily="18" charset="0"/>
              </a:rPr>
              <a:t>EmpNum </a:t>
            </a:r>
            <a:r>
              <a:rPr lang="en-US" altLang="x-none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x-none" dirty="0">
                <a:latin typeface="Times New Roman" panose="02020603050405020304" pitchFamily="18" charset="0"/>
              </a:rPr>
              <a:t> DeptNum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11289" name="Rectangle 89"/>
          <p:cNvSpPr/>
          <p:nvPr/>
        </p:nvSpPr>
        <p:spPr>
          <a:xfrm>
            <a:off x="6880225" y="2908300"/>
            <a:ext cx="315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CA" altLang="x-none">
                <a:latin typeface="Times New Roman" panose="02020603050405020304" pitchFamily="18" charset="0"/>
              </a:rPr>
              <a:t>DeptNum </a:t>
            </a:r>
            <a:r>
              <a:rPr lang="en-US" altLang="x-none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x-none" dirty="0">
                <a:latin typeface="Times New Roman" panose="02020603050405020304" pitchFamily="18" charset="0"/>
              </a:rPr>
              <a:t> DeptN</a:t>
            </a:r>
            <a:r>
              <a:rPr lang="en-CA" altLang="x-none">
                <a:latin typeface="Times New Roman" panose="02020603050405020304" pitchFamily="18" charset="0"/>
              </a:rPr>
              <a:t>ame</a:t>
            </a:r>
            <a:endParaRPr>
              <a:latin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00800" y="662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3NF (Third Normal Form)</a:t>
            </a:r>
            <a:endParaRPr lang="en-US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857250" y="1554480"/>
            <a:ext cx="10976610" cy="4978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Def: 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 is in 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3NF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if it satisfies 2NF and no non-prime attribute of 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tranisitively dependent on Key of R.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 is in 3NF if FD 'X-&gt;Y' satify any of the following conditions.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AutoNum type="arabicPeriod"/>
              <a:defRPr/>
            </a:pP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X-&gt;Y  is a trivial FD i.e  Y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⊂= X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AutoNum type="arabicPeriod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If X -&gt;Y, then X is a super key.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AutoNum type="arabicPeriod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If  X-&gt;Y , then (Y-X) is a prime attribute. (attribute prese)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: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C- &gt; D 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-&gt;y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i.e Y-X= D-C=D So it is 3NF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3NF (Third Normal Form)</a:t>
            </a:r>
            <a:endParaRPr lang="en-US"/>
          </a:p>
        </p:txBody>
      </p:sp>
      <p:pic>
        <p:nvPicPr>
          <p:cNvPr id="4" name="Content Placeholder 1" descr="3n-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7565" y="1825625"/>
            <a:ext cx="10171430" cy="43516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3NF (Third Normal Form)</a:t>
            </a:r>
            <a:endParaRPr lang="en-US"/>
          </a:p>
        </p:txBody>
      </p:sp>
      <p:pic>
        <p:nvPicPr>
          <p:cNvPr id="4" name="Content Placeholder 1" descr="3n-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3295" y="1691005"/>
            <a:ext cx="10523220" cy="1544320"/>
          </a:xfrm>
          <a:prstGeom prst="rect">
            <a:avLst/>
          </a:prstGeom>
        </p:spPr>
      </p:pic>
      <p:pic>
        <p:nvPicPr>
          <p:cNvPr id="3" name="Content Placeholder 1" descr="3n-3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525" y="3235325"/>
            <a:ext cx="6045835" cy="33909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Questions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Q1 - R(ABCD)</a:t>
            </a:r>
            <a:endParaRPr lang="en-US"/>
          </a:p>
          <a:p>
            <a:pPr marL="0" indent="0">
              <a:buNone/>
            </a:pPr>
            <a:r>
              <a:rPr lang="en-US"/>
              <a:t>FD = {AB-&gt;C, C-&gt;D}</a:t>
            </a:r>
            <a:endParaRPr lang="en-US"/>
          </a:p>
          <a:p>
            <a:pPr marL="457200" indent="-457200"/>
            <a:endParaRPr lang="en-US"/>
          </a:p>
          <a:p>
            <a:pPr marL="0" indent="0">
              <a:buNone/>
            </a:pPr>
            <a:r>
              <a:rPr lang="en-US"/>
              <a:t>Q2 - R(ABCD)</a:t>
            </a:r>
            <a:endParaRPr lang="en-US"/>
          </a:p>
          <a:p>
            <a:pPr marL="0" indent="0">
              <a:buNone/>
            </a:pPr>
            <a:r>
              <a:rPr lang="en-US"/>
              <a:t>FD = {AB-&gt;CD, D-&gt;A}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38200" y="54089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(TD - if a non-prime attribute is determining non prime attribute)</a:t>
            </a:r>
            <a:endParaRPr lang="en-US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44880" y="61772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(either L.H.S should be a CK or SK or R.H.S should be a prime attribute)</a:t>
            </a:r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Boyce-codd Normal Form(BCNF)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285750" indent="-285750" algn="just">
              <a:spcBef>
                <a:spcPct val="20000"/>
              </a:spcBef>
              <a:buFont typeface="Wingdings" panose="05000000000000000000" charset="0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extension of 3NF on strict terms.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ct val="20000"/>
              </a:spcBef>
              <a:buFont typeface="Wingdings" panose="05000000000000000000" charset="0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relation is in BCNF if atleast one of the condtion holds 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00050" algn="just">
              <a:spcBef>
                <a:spcPct val="20000"/>
              </a:spcBef>
              <a:buFont typeface="+mj-lt"/>
              <a:buAutoNum type="romanUcPeriod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X-&gt;Y is a trivila FD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00050" algn="just">
              <a:spcBef>
                <a:spcPct val="20000"/>
              </a:spcBef>
              <a:buFont typeface="+mj-lt"/>
              <a:buAutoNum type="romanUcPeriod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X-&gt;Y , then X is a super key.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spcBef>
                <a:spcPct val="20000"/>
              </a:spcBef>
              <a:buFont typeface="Wingdings" panose="05000000000000000000" charset="0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Every BCNF is a 3NF but vice-versa is not true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spcBef>
                <a:spcPct val="20000"/>
              </a:spcBef>
              <a:buFont typeface="Wingdings" panose="05000000000000000000" charset="0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Any relational schema with only two attributes is automatically in BCNF.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Example:1 R is in 3NF OR BCNF ?</a:t>
            </a:r>
            <a:endParaRPr lang="en-US" sz="2800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R(ABC)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FD: {AB-&gt;C, C-&gt;A}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Ans: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(AB)+ = ABC, (BC)+ = BCA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Candidate Key: Ab and BC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AB-&gt;C  (BCNF)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C-&gt; A    (is 3NF but not in BCNF)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Boyce-codd Normal Form(BCNF)</a:t>
            </a:r>
            <a:endParaRPr lang="en-US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948690" y="1524000"/>
            <a:ext cx="9283700" cy="557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Example-2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R(ABCDEFGHIJ)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FD: {AB-&gt;C, A-&gt;DE, B-&gt;F, F-&gt;GH, D-&gt;IJ}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it into BCNF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Ans: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Key check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(AB)+ = ABCDEFGHIJ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Candidate Key= AB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AB-&gt; C  (BCNF)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R1(ABC)         R2(DEFGHIJ)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AB-&gt;C            F-&gt;GH,  D-&gt;IJ  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(continute this process by calculatig key that every id left hand side is super key)</a:t>
            </a:r>
            <a:endParaRPr lang="en-US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ct val="20000"/>
              </a:spcBef>
              <a:buFont typeface="+mj-lt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(Boyce-Codd Normal Form)</a:t>
            </a:r>
            <a:endParaRPr lang="en-US"/>
          </a:p>
        </p:txBody>
      </p:sp>
      <p:pic>
        <p:nvPicPr>
          <p:cNvPr id="4" name="Content Placeholder 1" descr="BCNF-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7745" y="1937385"/>
            <a:ext cx="9138285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(Boyce-Codd Normal Form)</a:t>
            </a:r>
            <a:endParaRPr lang="en-US"/>
          </a:p>
        </p:txBody>
      </p:sp>
      <p:pic>
        <p:nvPicPr>
          <p:cNvPr id="4" name="Content Placeholder 1" descr="BCNF-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0035" y="2317115"/>
            <a:ext cx="7933055" cy="222377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(Boyce-Codd Normal Form)</a:t>
            </a:r>
            <a:endParaRPr lang="en-US"/>
          </a:p>
        </p:txBody>
      </p:sp>
      <p:pic>
        <p:nvPicPr>
          <p:cNvPr id="4" name="Content Placeholder 1" descr="BCNF-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4905" y="1617980"/>
            <a:ext cx="8879840" cy="42748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(Boyce-Codd Normal Form)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 BCNF is a stronger form of normalization than 3NF. Justify. (2 marks)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3NF (citing from head so forgive slight wording inaccuracies) requires that every 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non-key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attribute is fully and non-transitively dependent on each candidate key. There is no such requirement for key attributes.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requires that 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attribute is fully and non-transitively dependent on each candidate key. Which can also be phrased as: satisfies 3NF and in addition also requires that every 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attribute is fully and non-transitively dependent on each candidate key.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above means that every BCNF relation is also 3NF, but every 3NF relation is not necessarily BCNF. Hence BCNF is stronger than 3NF.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(Boyce-Codd Normal Form)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Find the highest normal form of given relation schema R(A,B,C,D,E) with set of functional dependencies, F = {AB→CE, BC→D, C→E}.</a:t>
            </a:r>
            <a:endParaRPr 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2050" name="Picture 2" descr="C:\Users\KIIT\Desktop\f1.jpg"/>
          <p:cNvPicPr>
            <a:picLocks noGrp="1"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18346" y="3034020"/>
            <a:ext cx="8001056" cy="31432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(Boyce-Codd Normal Form)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Q. BCNF is a stronger form of normalization than 3NF. Justify. (2 marks)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3NF (citing from head so forgive slight wording inaccuracies) requires that every 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non-key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attribute is fully and non-transitively dependent on each candidate key. There is no such requirement for key attributes.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BCNF requires that 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every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attribute is fully and non-transitively dependent on each candidate key. Which can also be phrased as: satisfies 3NF and in addition also requires that every 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attribute is fully and non-transitively dependent on each candidate key.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above means that every BCNF relation is also 3NF, but every 3NF relation is not necessarily BCNF. Hence BCNF is stronger than 3NF</a:t>
            </a:r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None/>
            </a:pPr>
            <a:r>
              <a:rPr lang="en-US" dirty="0" smtClean="0">
                <a:sym typeface="+mn-ea"/>
              </a:rPr>
              <a:t>Let R = (A, B, C, D, E) be a given relation schema with functional dependencies, F = {CE → D,D → B,C → A}.             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+mn-ea"/>
              </a:rPr>
              <a:t>                                                           </a:t>
            </a:r>
            <a:r>
              <a:rPr lang="en-US" b="1" dirty="0" smtClean="0">
                <a:sym typeface="+mn-ea"/>
              </a:rPr>
              <a:t>(1+ 2+ 3 = 6 marks)</a:t>
            </a:r>
            <a:endParaRPr lang="en-US" dirty="0" smtClean="0"/>
          </a:p>
          <a:p>
            <a:pPr lvl="0"/>
            <a:r>
              <a:rPr lang="en-AU" dirty="0" smtClean="0">
                <a:sym typeface="+mn-ea"/>
              </a:rPr>
              <a:t>Find all candidate keys.</a:t>
            </a:r>
            <a:endParaRPr lang="en-US" dirty="0" smtClean="0"/>
          </a:p>
          <a:p>
            <a:pPr lvl="0"/>
            <a:r>
              <a:rPr lang="en-AU" dirty="0" smtClean="0">
                <a:sym typeface="+mn-ea"/>
              </a:rPr>
              <a:t>Check whether R is in BCNF or not?</a:t>
            </a:r>
            <a:endParaRPr lang="en-US" dirty="0" smtClean="0"/>
          </a:p>
          <a:p>
            <a:pPr lvl="0"/>
            <a:r>
              <a:rPr lang="en-AU" dirty="0" smtClean="0">
                <a:sym typeface="+mn-ea"/>
              </a:rPr>
              <a:t>If R is not in BCNF, then do the BCNF decomposition and check whether the decomposition is lossless and dependency preserving decomposition or not??</a:t>
            </a:r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</a:t>
            </a:r>
            <a:endParaRPr lang="en-US"/>
          </a:p>
        </p:txBody>
      </p:sp>
      <p:pic>
        <p:nvPicPr>
          <p:cNvPr id="3074" name="Picture 2" descr="C:\Users\KIIT\Desktop\2.jpg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1429385" y="1870710"/>
            <a:ext cx="8980805" cy="452945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MVD (Multi-Valued Dependency)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table involves a multi-valued dependency if it may contain multiple values for an entity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multi-valued dependency A →→ B exists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iff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every occurrence of A; there exists multiple occurrences of B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A →→ B and A →→ C, then we have a single attribute A which multi-determines two other attributes, B and C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Multi-valued dependencies are also referred to as tuple generating dependencies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MVD X →→ Y in relation R is called a trivial MVD if: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 is a subset of X, or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 ∪ Y = R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MVD that satisfies neither the first nor the second condition is called a nontrivial MVD.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Normally, MVDs exist in pair.</a:t>
            </a:r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MVD (Multi-Valued Dependency)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Important Points:</a:t>
            </a:r>
            <a:endParaRPr lang="en-US" sz="2800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must be 3 or more attributes 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Attributes must be independent with each other.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+mj-lt"/>
              <a:buAutoNum type="arabicPeriod"/>
              <a:defRPr/>
            </a:pP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spcBef>
                <a:spcPct val="20000"/>
              </a:spcBef>
              <a:buFont typeface="Wingdings" panose="05000000000000000000" charset="0"/>
              <a:buChar char="Ø"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FD (</a:t>
            </a:r>
            <a:r>
              <a:rPr lang="en-US" sz="2800" b="1" kern="0" dirty="0" smtClean="0">
                <a:sym typeface="+mn-ea"/>
              </a:rPr>
              <a:t>α →β </a:t>
            </a: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says we cannot have two tuples with same </a:t>
            </a:r>
            <a:r>
              <a:rPr lang="en-US" sz="2800" b="1" kern="0" dirty="0" smtClean="0">
                <a:sym typeface="+mn-ea"/>
              </a:rPr>
              <a:t>α value but different β value.</a:t>
            </a:r>
            <a:endParaRPr lang="en-US" sz="2800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MVD (Multi-Valued Dependency)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2790190" y="1742440"/>
          <a:ext cx="589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870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Person(P)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Mobile(M)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Food_like(F)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M1, M2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F1, F2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F2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2651760" y="3300730"/>
          <a:ext cx="6398895" cy="2388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</a:tblGrid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Person(P)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Mobile(M)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Food_like(F)</a:t>
                      </a:r>
                      <a:endParaRPr 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F1</a:t>
                      </a:r>
                      <a:endParaRPr 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F2</a:t>
                      </a:r>
                      <a:endParaRPr 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F2</a:t>
                      </a:r>
                      <a:endParaRPr 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F1</a:t>
                      </a:r>
                      <a:endParaRPr 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F2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2620645" y="5968365"/>
            <a:ext cx="647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In the avove table  P→→M, P→→F</a:t>
            </a:r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MVD (Multi-Valued Dependency)</a:t>
            </a:r>
            <a:endParaRPr lang="en-US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2286291" y="2225024"/>
            <a:ext cx="7858180" cy="7858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pc="-10" dirty="0" smtClean="0">
                <a:solidFill>
                  <a:srgbClr val="000000"/>
                </a:solidFill>
              </a:rPr>
              <a:t>MVDs</a:t>
            </a:r>
            <a:r>
              <a:rPr lang="en-US" spc="-5" dirty="0" smtClean="0">
                <a:solidFill>
                  <a:srgbClr val="000000"/>
                </a:solidFill>
              </a:rPr>
              <a:t> are: </a:t>
            </a:r>
            <a:r>
              <a:rPr lang="en-US" spc="-10" dirty="0" smtClean="0">
                <a:solidFill>
                  <a:srgbClr val="000000"/>
                </a:solidFill>
              </a:rPr>
              <a:t>Name</a:t>
            </a:r>
            <a:r>
              <a:rPr lang="en-US" spc="-5" dirty="0" smtClean="0">
                <a:solidFill>
                  <a:srgbClr val="000000"/>
                </a:solidFill>
              </a:rPr>
              <a:t> </a:t>
            </a:r>
            <a:r>
              <a:rPr lang="en-US" spc="55" dirty="0" smtClean="0">
                <a:solidFill>
                  <a:srgbClr val="000000"/>
                </a:solidFill>
                <a:latin typeface="Lucida Sans Unicode" panose="020B0602030504020204"/>
                <a:cs typeface="Lucida Sans Unicode" panose="020B0602030504020204"/>
              </a:rPr>
              <a:t>→→</a:t>
            </a:r>
            <a:r>
              <a:rPr lang="en-US" spc="-40" dirty="0" smtClean="0">
                <a:solidFill>
                  <a:srgbClr val="00000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pc="-5" dirty="0" smtClean="0">
                <a:solidFill>
                  <a:srgbClr val="000000"/>
                </a:solidFill>
              </a:rPr>
              <a:t>Project </a:t>
            </a:r>
            <a:r>
              <a:rPr lang="en-US" spc="-10" dirty="0" smtClean="0">
                <a:solidFill>
                  <a:srgbClr val="000000"/>
                </a:solidFill>
              </a:rPr>
              <a:t>and</a:t>
            </a:r>
            <a:r>
              <a:rPr lang="en-US" spc="-5" dirty="0" smtClean="0">
                <a:solidFill>
                  <a:srgbClr val="000000"/>
                </a:solidFill>
              </a:rPr>
              <a:t> </a:t>
            </a:r>
            <a:r>
              <a:rPr lang="en-US" spc="-10" dirty="0" smtClean="0">
                <a:solidFill>
                  <a:srgbClr val="000000"/>
                </a:solidFill>
              </a:rPr>
              <a:t>Name</a:t>
            </a:r>
            <a:r>
              <a:rPr lang="en-US" spc="-5" dirty="0" smtClean="0">
                <a:solidFill>
                  <a:srgbClr val="000000"/>
                </a:solidFill>
              </a:rPr>
              <a:t> </a:t>
            </a:r>
            <a:r>
              <a:rPr lang="en-US" spc="55" dirty="0" smtClean="0">
                <a:solidFill>
                  <a:srgbClr val="000000"/>
                </a:solidFill>
                <a:latin typeface="Lucida Sans Unicode" panose="020B0602030504020204"/>
                <a:cs typeface="Lucida Sans Unicode" panose="020B0602030504020204"/>
              </a:rPr>
              <a:t>→→</a:t>
            </a:r>
            <a:r>
              <a:rPr lang="en-US" spc="-40" dirty="0" smtClean="0">
                <a:solidFill>
                  <a:srgbClr val="000000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lang="en-US" spc="-10" dirty="0" smtClean="0">
                <a:solidFill>
                  <a:srgbClr val="000000"/>
                </a:solidFill>
              </a:rPr>
              <a:t>Ho</a:t>
            </a:r>
            <a:r>
              <a:rPr lang="en-US" spc="-20" dirty="0" smtClean="0">
                <a:solidFill>
                  <a:srgbClr val="000000"/>
                </a:solidFill>
              </a:rPr>
              <a:t>b</a:t>
            </a:r>
            <a:r>
              <a:rPr lang="en-US" spc="-30" dirty="0" smtClean="0">
                <a:solidFill>
                  <a:srgbClr val="000000"/>
                </a:solidFill>
              </a:rPr>
              <a:t>b</a:t>
            </a:r>
            <a:r>
              <a:rPr lang="en-US" spc="-5" dirty="0" smtClean="0">
                <a:solidFill>
                  <a:srgbClr val="000000"/>
                </a:solidFill>
              </a:rPr>
              <a:t>y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1"/>
          <p:cNvGraphicFramePr>
            <a:graphicFrameLocks noGrp="1"/>
          </p:cNvGraphicFramePr>
          <p:nvPr/>
        </p:nvGraphicFramePr>
        <p:xfrm>
          <a:off x="3786489" y="3510908"/>
          <a:ext cx="4286279" cy="1736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3571"/>
                <a:gridCol w="1565275"/>
                <a:gridCol w="1467433"/>
              </a:tblGrid>
              <a:tr h="120502">
                <a:tc>
                  <a:txBody>
                    <a:bodyPr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81">
                      <a:solidFill>
                        <a:srgbClr val="000000"/>
                      </a:solidFill>
                      <a:prstDash val="solid"/>
                    </a:lnL>
                    <a:lnR w="3881">
                      <a:solidFill>
                        <a:srgbClr val="000000"/>
                      </a:solidFill>
                      <a:prstDash val="solid"/>
                    </a:lnR>
                    <a:lnT w="3881">
                      <a:solidFill>
                        <a:srgbClr val="000000"/>
                      </a:solidFill>
                      <a:prstDash val="solid"/>
                    </a:lnT>
                    <a:lnB w="388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81">
                      <a:solidFill>
                        <a:srgbClr val="000000"/>
                      </a:solidFill>
                      <a:prstDash val="solid"/>
                    </a:lnL>
                    <a:lnR w="3881">
                      <a:solidFill>
                        <a:srgbClr val="000000"/>
                      </a:solidFill>
                      <a:prstDash val="solid"/>
                    </a:lnR>
                    <a:lnT w="3881">
                      <a:solidFill>
                        <a:srgbClr val="000000"/>
                      </a:solidFill>
                      <a:prstDash val="solid"/>
                    </a:lnT>
                    <a:lnB w="388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81">
                      <a:solidFill>
                        <a:srgbClr val="000000"/>
                      </a:solidFill>
                      <a:prstDash val="solid"/>
                    </a:lnL>
                    <a:lnR w="3881">
                      <a:solidFill>
                        <a:srgbClr val="000000"/>
                      </a:solidFill>
                      <a:prstDash val="solid"/>
                    </a:lnR>
                    <a:lnT w="3881">
                      <a:solidFill>
                        <a:srgbClr val="000000"/>
                      </a:solidFill>
                      <a:prstDash val="solid"/>
                    </a:lnT>
                    <a:lnB w="388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6723">
                <a:tc>
                  <a:txBody>
                    <a:bodyPr/>
                    <a:p>
                      <a:pPr marL="57785" marR="50165">
                        <a:lnSpc>
                          <a:spcPct val="102000"/>
                        </a:lnSpc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Asis Asis Asis Asis Bikash Bikash Bikash Bikash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81">
                      <a:solidFill>
                        <a:srgbClr val="000000"/>
                      </a:solidFill>
                      <a:prstDash val="solid"/>
                    </a:lnL>
                    <a:lnR w="3881">
                      <a:solidFill>
                        <a:srgbClr val="000000"/>
                      </a:solidFill>
                      <a:prstDash val="solid"/>
                    </a:lnR>
                    <a:lnT w="3881">
                      <a:solidFill>
                        <a:srgbClr val="000000"/>
                      </a:solidFill>
                      <a:prstDash val="solid"/>
                    </a:lnT>
                    <a:lnB w="388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7785" marR="50165">
                        <a:lnSpc>
                          <a:spcPct val="102000"/>
                        </a:lnSpc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O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acle Microsoft O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acle Intel Sybase Intel Sybase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81">
                      <a:solidFill>
                        <a:srgbClr val="000000"/>
                      </a:solidFill>
                      <a:prstDash val="solid"/>
                    </a:lnL>
                    <a:lnR w="3881">
                      <a:solidFill>
                        <a:srgbClr val="000000"/>
                      </a:solidFill>
                      <a:prstDash val="solid"/>
                    </a:lnR>
                    <a:lnT w="3881">
                      <a:solidFill>
                        <a:srgbClr val="000000"/>
                      </a:solidFill>
                      <a:prstDash val="solid"/>
                    </a:lnT>
                    <a:lnB w="388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57785" marR="50165">
                        <a:lnSpc>
                          <a:spcPct val="102000"/>
                        </a:lnSpc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Music Music Reading M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vies Riding Riding M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881">
                      <a:solidFill>
                        <a:srgbClr val="000000"/>
                      </a:solidFill>
                      <a:prstDash val="solid"/>
                    </a:lnL>
                    <a:lnR w="3881">
                      <a:solidFill>
                        <a:srgbClr val="000000"/>
                      </a:solidFill>
                      <a:prstDash val="solid"/>
                    </a:lnR>
                    <a:lnT w="3881">
                      <a:solidFill>
                        <a:srgbClr val="000000"/>
                      </a:solidFill>
                      <a:prstDash val="solid"/>
                    </a:lnT>
                    <a:lnB w="388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0"/>
          <p:cNvSpPr txBox="1"/>
          <p:nvPr/>
        </p:nvSpPr>
        <p:spPr>
          <a:xfrm>
            <a:off x="5347969" y="3153718"/>
            <a:ext cx="101028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</a:t>
            </a:r>
            <a:r>
              <a:rPr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4NF (Fourth Normal Form)</a:t>
            </a:r>
            <a:endParaRPr lang="en-US"/>
          </a:p>
        </p:txBody>
      </p:sp>
      <p:sp>
        <p:nvSpPr>
          <p:cNvPr id="4" name="Content Placeholder 2"/>
          <p:cNvSpPr txBox="1"/>
          <p:nvPr/>
        </p:nvSpPr>
        <p:spPr bwMode="auto">
          <a:xfrm>
            <a:off x="2477426" y="1565259"/>
            <a:ext cx="7858180" cy="5000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 is in 4NF </a:t>
            </a:r>
            <a:r>
              <a:rPr lang="en-US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following two conditions are satisfied simultaneously: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in 3NF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no multiple MVDs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a relation is in 4NF </a:t>
            </a:r>
            <a:r>
              <a:rPr lang="en-US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no nontrivial MVDs in the relation, or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determinant of any nontrivial MVD in the relation is a key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relation is not in 4NF.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2906054" y="4565338"/>
            <a:ext cx="185738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ee_Project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9"/>
          <p:cNvSpPr txBox="1"/>
          <p:nvPr/>
        </p:nvSpPr>
        <p:spPr>
          <a:xfrm>
            <a:off x="6906582" y="4493900"/>
            <a:ext cx="200026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→→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20"/>
          <p:cNvSpPr txBox="1"/>
          <p:nvPr/>
        </p:nvSpPr>
        <p:spPr>
          <a:xfrm>
            <a:off x="2906054" y="5645661"/>
            <a:ext cx="178595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ee_Ho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22"/>
          <p:cNvSpPr txBox="1"/>
          <p:nvPr/>
        </p:nvSpPr>
        <p:spPr>
          <a:xfrm>
            <a:off x="6906582" y="5779784"/>
            <a:ext cx="186798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→→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23"/>
          <p:cNvSpPr txBox="1"/>
          <p:nvPr/>
        </p:nvSpPr>
        <p:spPr>
          <a:xfrm>
            <a:off x="2691740" y="6452745"/>
            <a:ext cx="73581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pc="-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are present in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4NF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MVDs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21"/>
          <p:cNvGraphicFramePr>
            <a:graphicFrameLocks noGrp="1"/>
          </p:cNvGraphicFramePr>
          <p:nvPr/>
        </p:nvGraphicFramePr>
        <p:xfrm>
          <a:off x="4799537" y="4065272"/>
          <a:ext cx="1892731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037"/>
                <a:gridCol w="1020694"/>
              </a:tblGrid>
              <a:tr h="0">
                <a:tc>
                  <a:txBody>
                    <a:bodyPr/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</a:t>
                      </a:r>
                      <a:r>
                        <a:rPr sz="14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sz="1400" b="1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949">
                <a:tc>
                  <a:txBody>
                    <a:bodyPr/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sz="1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Asis</a:t>
                      </a:r>
                      <a:endParaRPr lang="en-US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sz="14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Asis Bikash Bikash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Oracle</a:t>
                      </a: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Oracle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Sybase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object 21"/>
          <p:cNvGraphicFramePr>
            <a:graphicFrameLocks noGrp="1"/>
          </p:cNvGraphicFramePr>
          <p:nvPr/>
        </p:nvGraphicFramePr>
        <p:xfrm>
          <a:off x="4834880" y="5208280"/>
          <a:ext cx="1857388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5980"/>
                <a:gridCol w="1001408"/>
              </a:tblGrid>
              <a:tr h="0">
                <a:tc>
                  <a:txBody>
                    <a:bodyPr/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</a:t>
                      </a:r>
                      <a:r>
                        <a:rPr sz="16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sz="1600" b="1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949">
                <a:tc>
                  <a:txBody>
                    <a:bodyPr/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Asis </a:t>
                      </a:r>
                      <a:endParaRPr lang="en-US" sz="16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sz="16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Asis 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Bikash Bikash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45085" marR="3746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 Music Riding M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3020">
                      <a:solidFill>
                        <a:srgbClr val="000000"/>
                      </a:solidFill>
                      <a:prstDash val="solid"/>
                    </a:lnL>
                    <a:lnR w="3020">
                      <a:solidFill>
                        <a:srgbClr val="000000"/>
                      </a:solidFill>
                      <a:prstDash val="solid"/>
                    </a:lnR>
                    <a:lnT w="3020">
                      <a:solidFill>
                        <a:srgbClr val="000000"/>
                      </a:solidFill>
                      <a:prstDash val="solid"/>
                    </a:lnT>
                    <a:lnB w="302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4NF- Example</a:t>
            </a:r>
            <a:endParaRPr lang="en-US"/>
          </a:p>
        </p:txBody>
      </p:sp>
      <p:pic>
        <p:nvPicPr>
          <p:cNvPr id="4" name="Content Placeholder 1" descr="4NF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1965" y="1691005"/>
            <a:ext cx="7726680" cy="43243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4NF- Example</a:t>
            </a:r>
            <a:endParaRPr lang="en-US"/>
          </a:p>
        </p:txBody>
      </p:sp>
      <p:pic>
        <p:nvPicPr>
          <p:cNvPr id="4" name="Content Placeholder 1" descr="4NF-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3145" y="1385570"/>
            <a:ext cx="9102725" cy="50869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4NF- Example</a:t>
            </a:r>
            <a:endParaRPr lang="en-US"/>
          </a:p>
        </p:txBody>
      </p:sp>
      <p:pic>
        <p:nvPicPr>
          <p:cNvPr id="4" name="Content Placeholder 1" descr="4NF-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2660" y="1423670"/>
            <a:ext cx="9244330" cy="43630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JD (Join Dependency)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relation R satisfies join dependency (R1, R2  ...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Rn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)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iff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 is equal to the join of R1, R2  ...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Rn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on the common attributes, where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is a subset of the relation R.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That means R satisfies join dependency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iff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R=  R1 </a:t>
            </a:r>
            <a:r>
              <a:rPr lang="en-US" sz="2800" dirty="0" smtClean="0">
                <a:sym typeface="+mn-ea"/>
              </a:rPr>
              <a:t>⋈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R2 </a:t>
            </a:r>
            <a:r>
              <a:rPr lang="en-US" sz="2800" dirty="0" smtClean="0">
                <a:sym typeface="+mn-ea"/>
              </a:rPr>
              <a:t>⋈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...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Rn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other words, a join dependency is said to hold over a relation R if R1, R2  ... </a:t>
            </a:r>
            <a:r>
              <a:rPr lang="en-US" sz="28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Rn</a:t>
            </a: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is a lossless-join decomposition of  R.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JD (Join Dependency)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Join decomposition is a further generalization of </a:t>
            </a:r>
            <a:r>
              <a:rPr lang="en-US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Multivalued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dependencies.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the join of R1 and R2 over C is equal to relation R, then we can say that a join dependency (JD) exists.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Where R1 and R2 are the decompositions R1(A, B, C) and R2(C, D) of a given relations R (A, B, C, D).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Alternatively, R1 and R2 are a lossless decomposition of R.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JD ⋈ {R1, R2,..., </a:t>
            </a:r>
            <a:r>
              <a:rPr lang="en-US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Rn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} is said to hold over a relation R if R1, R2,....., </a:t>
            </a:r>
            <a:r>
              <a:rPr lang="en-US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Rn</a:t>
            </a: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a lossless-join decomposition.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*(A, B, C, D), (C, D) will be a JD of R if the join of join's attribute is equal to the relation R.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Here, *(R1, R2, R3) is used to indicate that relation R1, R2, R3 and so on are a JD of R.</a:t>
            </a:r>
            <a:endParaRPr lang="en-US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De-normalization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normalization: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removes data redundancy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solves Insertion, Updation, and Deletion anomalies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makes it easier to maintain in the database in a consistent state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Disadvantages of normalization: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leads to more tables in the database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retrieving the records or information, these tables need to be joined back together, which is an expensive task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Thus, sometimes it is worth de-normalizing.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De-normalization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Once a normalized database design has been achieved, adjustments can be made with the potential consequences (anomalies) in mind.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Possible de-normalization steps include the following: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Recombining relations that were split to satisfy normalization rules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Storing redundant data in tables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Storing summarized data in tables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De-normalization is the opposite of Normalization.</a:t>
            </a: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the process of increasing redundancy in the database either for convenience or to improve performance.</a:t>
            </a:r>
            <a:endParaRPr lang="en-US" sz="2800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en-US" sz="2800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36413</Words>
  <Application>WPS Presentation</Application>
  <PresentationFormat>Widescreen</PresentationFormat>
  <Paragraphs>1511</Paragraphs>
  <Slides>100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100</vt:i4>
      </vt:variant>
    </vt:vector>
  </HeadingPairs>
  <TitlesOfParts>
    <vt:vector size="117" baseType="lpstr">
      <vt:lpstr>Arial</vt:lpstr>
      <vt:lpstr>SimSun</vt:lpstr>
      <vt:lpstr>Wingdings</vt:lpstr>
      <vt:lpstr>Wingdings</vt:lpstr>
      <vt:lpstr>Times New Roman</vt:lpstr>
      <vt:lpstr>Calibri</vt:lpstr>
      <vt:lpstr>Calibri Light</vt:lpstr>
      <vt:lpstr>Microsoft YaHei</vt:lpstr>
      <vt:lpstr>Arial Unicode MS</vt:lpstr>
      <vt:lpstr>Arial MT</vt:lpstr>
      <vt:lpstr>Cambria Math</vt:lpstr>
      <vt:lpstr>Arial</vt:lpstr>
      <vt:lpstr>Lucida Sans Unicode</vt:lpstr>
      <vt:lpstr>Times New Roman</vt:lpstr>
      <vt:lpstr>Calibri</vt:lpstr>
      <vt:lpstr>Wingdings</vt:lpstr>
      <vt:lpstr>Office Theme</vt:lpstr>
      <vt:lpstr>Relational Database Design</vt:lpstr>
      <vt:lpstr>Database Design</vt:lpstr>
      <vt:lpstr>Problems encountered with bad schema designs</vt:lpstr>
      <vt:lpstr>Bad Database Design/Concept of Anomalies</vt:lpstr>
      <vt:lpstr>Bad Database Design/Concept of Anomalies</vt:lpstr>
      <vt:lpstr>PowerPoint 演示文稿</vt:lpstr>
      <vt:lpstr>Functional Dependency (FD)</vt:lpstr>
      <vt:lpstr>Functional Dependency (FD)</vt:lpstr>
      <vt:lpstr>Functional Dependency (FD)</vt:lpstr>
      <vt:lpstr>Functional Dependency (FD)</vt:lpstr>
      <vt:lpstr>Functional Dependency (FD)</vt:lpstr>
      <vt:lpstr>Functional Dependency (FD)</vt:lpstr>
      <vt:lpstr>Functional Dependency (FD)</vt:lpstr>
      <vt:lpstr>Types of Functional Dependency (FD)</vt:lpstr>
      <vt:lpstr>Trivial FDs and Non-Trivial FDs</vt:lpstr>
      <vt:lpstr>Trivial FDs and Non-Trivial FDs</vt:lpstr>
      <vt:lpstr>Multivalued dependency in DBMS (-&gt;&gt;):</vt:lpstr>
      <vt:lpstr>Multivalued dependency in DBMS (-&gt;&gt;):</vt:lpstr>
      <vt:lpstr>Transitive dependency in DBMS</vt:lpstr>
      <vt:lpstr>Transitive dependency in DBMS</vt:lpstr>
      <vt:lpstr>Armstrong’s Inference Axioms</vt:lpstr>
      <vt:lpstr>Armstrong’s Inference Axioms(Primary rules)</vt:lpstr>
      <vt:lpstr>Secondary Rules</vt:lpstr>
      <vt:lpstr>Example: Armstrong’s</vt:lpstr>
      <vt:lpstr>Example: Armstrong’s</vt:lpstr>
      <vt:lpstr>Logical Implication</vt:lpstr>
      <vt:lpstr>Closure/Closure on a attribute Set/ Closure of Attribute Set</vt:lpstr>
      <vt:lpstr>Closure of a Set of Functional Dependencies</vt:lpstr>
      <vt:lpstr>Closure of a Set of Functional Dependencies</vt:lpstr>
      <vt:lpstr>Closure of a Set of Functional Dependencies</vt:lpstr>
      <vt:lpstr>Closure of a Set of Attributes</vt:lpstr>
      <vt:lpstr>Closure of a Set of Attributes</vt:lpstr>
      <vt:lpstr>Redundant functional Dependencies</vt:lpstr>
      <vt:lpstr>Redundant functional Dependencies</vt:lpstr>
      <vt:lpstr>Redundant functional Dependencies (other way to find out)</vt:lpstr>
      <vt:lpstr>Example</vt:lpstr>
      <vt:lpstr>Canonical Cover / Minimal Cover</vt:lpstr>
      <vt:lpstr>Canonical Cover / Minimal Cover</vt:lpstr>
      <vt:lpstr>Canonical Cover / Minimal Cover</vt:lpstr>
      <vt:lpstr>Canonical Cover / Minimal Cover/Irreducibe set of FD</vt:lpstr>
      <vt:lpstr>Canonical Cover / Minimal Cover/Irreducibe set of FD</vt:lpstr>
      <vt:lpstr>Canonical Cover / Minimal Cover/Irreducibe set of FD</vt:lpstr>
      <vt:lpstr>Normalization</vt:lpstr>
      <vt:lpstr>Decomposition</vt:lpstr>
      <vt:lpstr>Lossless Decomposition</vt:lpstr>
      <vt:lpstr>Lossless Decomposition</vt:lpstr>
      <vt:lpstr>Lossless Decomposition...</vt:lpstr>
      <vt:lpstr>Lossless Decomposition...</vt:lpstr>
      <vt:lpstr>Lossless Decomposition(Examples)</vt:lpstr>
      <vt:lpstr>Lossless Decomposition...</vt:lpstr>
      <vt:lpstr>Lossless Decomposition...</vt:lpstr>
      <vt:lpstr>Lossless Decomposition...</vt:lpstr>
      <vt:lpstr>Lossless Decomposition...</vt:lpstr>
      <vt:lpstr>Lossless Decomposition...</vt:lpstr>
      <vt:lpstr>Dependency Preservation</vt:lpstr>
      <vt:lpstr>Guidelines followed in Designing Good Database</vt:lpstr>
      <vt:lpstr>Guidelines followed in Designing Good Database</vt:lpstr>
      <vt:lpstr>Normalization</vt:lpstr>
      <vt:lpstr>Normal Forms</vt:lpstr>
      <vt:lpstr>Normal Forms</vt:lpstr>
      <vt:lpstr>First Normal Form (1NF)</vt:lpstr>
      <vt:lpstr>First Normal Form (1NF)</vt:lpstr>
      <vt:lpstr>First Normal Form (1NF)</vt:lpstr>
      <vt:lpstr>Normal Forms</vt:lpstr>
      <vt:lpstr> First Normal Form (1NF) </vt:lpstr>
      <vt:lpstr>Partial FD</vt:lpstr>
      <vt:lpstr>Partial dependency</vt:lpstr>
      <vt:lpstr>2NF (Second Normal Form)</vt:lpstr>
      <vt:lpstr>2NF (Second Normal Form)</vt:lpstr>
      <vt:lpstr>2NF (Second Normal Form)</vt:lpstr>
      <vt:lpstr>2NF (Second Normal Form)</vt:lpstr>
      <vt:lpstr>2NF (Second Normal Form)</vt:lpstr>
      <vt:lpstr>2NF (Second Normal Form)</vt:lpstr>
      <vt:lpstr>Transitive dependency</vt:lpstr>
      <vt:lpstr>3NF (Third Normal Form)</vt:lpstr>
      <vt:lpstr>3NF (Third Normal Form)</vt:lpstr>
      <vt:lpstr>3NF (Third Normal Form)</vt:lpstr>
      <vt:lpstr>Questions</vt:lpstr>
      <vt:lpstr>Boyce-codd Normal Form(BCNF)</vt:lpstr>
      <vt:lpstr>Boyce-codd Normal Form(BCNF)</vt:lpstr>
      <vt:lpstr>BCNF (Boyce-Codd Normal Form)</vt:lpstr>
      <vt:lpstr>BCNF (Boyce-Codd Normal Form)</vt:lpstr>
      <vt:lpstr>BCNF (Boyce-Codd Normal Form)</vt:lpstr>
      <vt:lpstr>BCNF (Boyce-Codd Normal Form)</vt:lpstr>
      <vt:lpstr>BCNF (Boyce-Codd Normal Form)</vt:lpstr>
      <vt:lpstr>BCNF (Boyce-Codd Normal Form)</vt:lpstr>
      <vt:lpstr>Example</vt:lpstr>
      <vt:lpstr>Example</vt:lpstr>
      <vt:lpstr>MVD (Multi-Valued Dependency)</vt:lpstr>
      <vt:lpstr>MVD (Multi-Valued Dependency)</vt:lpstr>
      <vt:lpstr>MVD (Multi-Valued Dependency)</vt:lpstr>
      <vt:lpstr>MVD (Multi-Valued Dependency)</vt:lpstr>
      <vt:lpstr>4NF (Fourth Normal Form)</vt:lpstr>
      <vt:lpstr>4NF- Example</vt:lpstr>
      <vt:lpstr>4NF- Example</vt:lpstr>
      <vt:lpstr>J4NF- Example</vt:lpstr>
      <vt:lpstr>JD (Join Dependency)</vt:lpstr>
      <vt:lpstr>JD (Join Dependency)</vt:lpstr>
      <vt:lpstr>De-normalization</vt:lpstr>
      <vt:lpstr>De-normalization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Vishal Meena</cp:lastModifiedBy>
  <cp:revision>19</cp:revision>
  <dcterms:created xsi:type="dcterms:W3CDTF">2024-03-04T08:33:00Z</dcterms:created>
  <dcterms:modified xsi:type="dcterms:W3CDTF">2026-02-26T14:33:10Z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9C0897200EEC43C0B9DBA202727153B6_11</vt:lpwstr>
  </property>
  <property fmtid="{D5CDD505-2E9C-101B-9397-08002B2CF9AE}" pid="3" name="KSOProductBuildVer">
    <vt:lpwstr>1033-12.2.0.23196</vt:lpwstr>
  </property>
</Properties>
</file>