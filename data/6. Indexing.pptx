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sldIdLst>
    <p:sldId id="256" r:id="rId3"/>
    <p:sldId id="258" r:id="rId4"/>
    <p:sldId id="389" r:id="rId5"/>
    <p:sldId id="390" r:id="rId6"/>
    <p:sldId id="391" r:id="rId7"/>
    <p:sldId id="259" r:id="rId8"/>
    <p:sldId id="368" r:id="rId9"/>
    <p:sldId id="369" r:id="rId10"/>
    <p:sldId id="392" r:id="rId12"/>
    <p:sldId id="393" r:id="rId13"/>
    <p:sldId id="394" r:id="rId14"/>
    <p:sldId id="370" r:id="rId15"/>
    <p:sldId id="371" r:id="rId16"/>
    <p:sldId id="372" r:id="rId17"/>
    <p:sldId id="395" r:id="rId18"/>
    <p:sldId id="396" r:id="rId19"/>
    <p:sldId id="397" r:id="rId20"/>
    <p:sldId id="373" r:id="rId21"/>
    <p:sldId id="374" r:id="rId22"/>
    <p:sldId id="398" r:id="rId23"/>
    <p:sldId id="375" r:id="rId24"/>
    <p:sldId id="399" r:id="rId25"/>
    <p:sldId id="400" r:id="rId26"/>
    <p:sldId id="376" r:id="rId27"/>
    <p:sldId id="377" r:id="rId28"/>
    <p:sldId id="378" r:id="rId29"/>
    <p:sldId id="379" r:id="rId30"/>
    <p:sldId id="380" r:id="rId31"/>
    <p:sldId id="381" r:id="rId32"/>
    <p:sldId id="382" r:id="rId33"/>
    <p:sldId id="383" r:id="rId34"/>
    <p:sldId id="384" r:id="rId35"/>
    <p:sldId id="385" r:id="rId36"/>
    <p:sldId id="386" r:id="rId37"/>
    <p:sldId id="387" r:id="rId38"/>
    <p:sldId id="388" r:id="rId39"/>
    <p:sldId id="401" r:id="rId40"/>
    <p:sldId id="402" r:id="rId41"/>
    <p:sldId id="403" r:id="rId42"/>
    <p:sldId id="404" r:id="rId43"/>
    <p:sldId id="405" r:id="rId44"/>
    <p:sldId id="406" r:id="rId45"/>
    <p:sldId id="407" r:id="rId46"/>
    <p:sldId id="408" r:id="rId47"/>
    <p:sldId id="409" r:id="rId48"/>
    <p:sldId id="410" r:id="rId49"/>
    <p:sldId id="411" r:id="rId50"/>
    <p:sldId id="412" r:id="rId51"/>
    <p:sldId id="413" r:id="rId52"/>
    <p:sldId id="414" r:id="rId53"/>
    <p:sldId id="415" r:id="rId54"/>
    <p:sldId id="416" r:id="rId55"/>
    <p:sldId id="417" r:id="rId56"/>
    <p:sldId id="418" r:id="rId57"/>
    <p:sldId id="419" r:id="rId58"/>
    <p:sldId id="420" r:id="rId59"/>
    <p:sldId id="421" r:id="rId60"/>
    <p:sldId id="422" r:id="rId61"/>
    <p:sldId id="423" r:id="rId62"/>
    <p:sldId id="424" r:id="rId63"/>
    <p:sldId id="426" r:id="rId64"/>
    <p:sldId id="427" r:id="rId65"/>
    <p:sldId id="428" r:id="rId66"/>
    <p:sldId id="429" r:id="rId67"/>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3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3239"/>
    <a:srgbClr val="660066"/>
    <a:srgbClr val="2E0F00"/>
    <a:srgbClr val="3E1F00"/>
    <a:srgbClr val="1B311F"/>
    <a:srgbClr val="422C16"/>
    <a:srgbClr val="0C788E"/>
    <a:srgbClr val="006666"/>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323" autoAdjust="0"/>
    <p:restoredTop sz="94595" autoAdjust="0"/>
  </p:normalViewPr>
  <p:slideViewPr>
    <p:cSldViewPr showGuides="1">
      <p:cViewPr>
        <p:scale>
          <a:sx n="60" d="100"/>
          <a:sy n="60" d="100"/>
        </p:scale>
        <p:origin x="-1380" y="-180"/>
      </p:cViewPr>
      <p:guideLst>
        <p:guide orient="horz" pos="213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0" Type="http://schemas.openxmlformats.org/officeDocument/2006/relationships/tableStyles" Target="tableStyles.xml"/><Relationship Id="rId7" Type="http://schemas.openxmlformats.org/officeDocument/2006/relationships/slide" Target="slides/slide5.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0D1B9FA-A8A9-45D2-8C6C-6119596B2F99}" type="datetimeFigureOut">
              <a:rPr lang="en-US"/>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IN"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822FBC55-ED5F-47B2-B3AA-2CB6865E3ABE}" type="slidenum">
              <a:rPr lang="en-IN"/>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22FBC55-ED5F-47B2-B3AA-2CB6865E3ABE}"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endParaRPr lang="es-ES"/>
          </a:p>
        </p:txBody>
      </p:sp>
      <p:sp>
        <p:nvSpPr>
          <p:cNvPr id="9" name="Slide Number Placeholder 8"/>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s-ES"/>
          </a:p>
        </p:txBody>
      </p:sp>
      <p:sp>
        <p:nvSpPr>
          <p:cNvPr id="4" name="Footer Placeholder 3"/>
          <p:cNvSpPr>
            <a:spLocks noGrp="1"/>
          </p:cNvSpPr>
          <p:nvPr>
            <p:ph type="ftr" sz="quarter" idx="11"/>
          </p:nvPr>
        </p:nvSpPr>
        <p:spPr/>
        <p:txBody>
          <a:bodyPr/>
          <a:lstStyle/>
          <a:p>
            <a:pPr>
              <a:defRPr/>
            </a:pPr>
            <a:endParaRPr lang="es-ES"/>
          </a:p>
        </p:txBody>
      </p:sp>
      <p:sp>
        <p:nvSpPr>
          <p:cNvPr id="5" name="Slide Number Placeholder 4"/>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s-ES"/>
          </a:p>
        </p:txBody>
      </p:sp>
      <p:sp>
        <p:nvSpPr>
          <p:cNvPr id="3" name="Footer Placeholder 2"/>
          <p:cNvSpPr>
            <a:spLocks noGrp="1"/>
          </p:cNvSpPr>
          <p:nvPr>
            <p:ph type="ftr" sz="quarter" idx="11"/>
          </p:nvPr>
        </p:nvSpPr>
        <p:spPr/>
        <p:txBody>
          <a:bodyPr/>
          <a:lstStyle/>
          <a:p>
            <a:pPr>
              <a:defRPr/>
            </a:pPr>
            <a:endParaRPr lang="es-ES"/>
          </a:p>
        </p:txBody>
      </p:sp>
      <p:sp>
        <p:nvSpPr>
          <p:cNvPr id="4" name="Slide Number Placeholder 3"/>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074D32D7-EFB5-44A7-8690-E108EFDB80BB}" type="slidenum">
              <a:rPr lang="es-ES" smtClean="0"/>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s-E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s-E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74D32D7-EFB5-44A7-8690-E108EFDB80BB}" type="slidenum">
              <a:rPr lang="es-ES" smtClean="0"/>
            </a:fld>
            <a:endParaRPr lang="es-E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16.jpeg"/><Relationship Id="rId2" Type="http://schemas.openxmlformats.org/officeDocument/2006/relationships/image" Target="../media/image1.jpe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jpe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14340" name="Rectangle 7"/>
          <p:cNvSpPr>
            <a:spLocks noChangeArrowheads="1"/>
          </p:cNvSpPr>
          <p:nvPr/>
        </p:nvSpPr>
        <p:spPr bwMode="auto">
          <a:xfrm>
            <a:off x="0" y="-24"/>
            <a:ext cx="9144000" cy="646973"/>
          </a:xfrm>
          <a:prstGeom prst="rect">
            <a:avLst/>
          </a:prstGeom>
          <a:noFill/>
          <a:ln w="9525">
            <a:noFill/>
            <a:miter lim="800000"/>
          </a:ln>
        </p:spPr>
        <p:txBody>
          <a:bodyPr lIns="92075" tIns="46038" rIns="92075" bIns="46038">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Index</a:t>
            </a:r>
            <a:endParaRPr lang="en-IN" sz="3600" b="1" dirty="0" smtClean="0">
              <a:solidFill>
                <a:schemeClr val="bg1"/>
              </a:solidFill>
              <a:latin typeface="Times New Roman" panose="02020603050405020304" pitchFamily="18" charset="0"/>
              <a:cs typeface="Times New Roman" panose="02020603050405020304" pitchFamily="18" charset="0"/>
            </a:endParaRPr>
          </a:p>
        </p:txBody>
      </p:sp>
      <p:sp>
        <p:nvSpPr>
          <p:cNvPr id="6" name="Title 5"/>
          <p:cNvSpPr>
            <a:spLocks noGrp="1"/>
          </p:cNvSpPr>
          <p:nvPr>
            <p:ph type="ctrTitle"/>
          </p:nvPr>
        </p:nvSpPr>
        <p:spPr>
          <a:xfrm>
            <a:off x="728690" y="1173157"/>
            <a:ext cx="7772400" cy="1470025"/>
          </a:xfrm>
        </p:spPr>
        <p:txBody>
          <a:bodyPr>
            <a:normAutofit/>
          </a:bodyPr>
          <a:lstStyle/>
          <a:p>
            <a:r>
              <a:rPr lang="en-US" sz="3200" b="1" dirty="0" smtClean="0">
                <a:solidFill>
                  <a:schemeClr val="bg1"/>
                </a:solidFill>
                <a:latin typeface="Times New Roman" panose="02020603050405020304" pitchFamily="18" charset="0"/>
                <a:cs typeface="Times New Roman" panose="02020603050405020304" pitchFamily="18" charset="0"/>
              </a:rPr>
              <a:t>KALINGA INSTITUTE OF INDUSTRIAL TECHNOLOGY</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7" name="Rectangle 7"/>
          <p:cNvSpPr>
            <a:spLocks noChangeArrowheads="1"/>
          </p:cNvSpPr>
          <p:nvPr/>
        </p:nvSpPr>
        <p:spPr bwMode="auto">
          <a:xfrm>
            <a:off x="0" y="2857496"/>
            <a:ext cx="9144000" cy="1077860"/>
          </a:xfrm>
          <a:prstGeom prst="rect">
            <a:avLst/>
          </a:prstGeom>
          <a:noFill/>
          <a:ln w="9525">
            <a:noFill/>
            <a:miter lim="800000"/>
          </a:ln>
        </p:spPr>
        <p:txBody>
          <a:bodyPr lIns="92075" tIns="46038" rIns="92075" bIns="46038">
            <a:spAutoFit/>
          </a:bodyPr>
          <a:lstStyle/>
          <a:p>
            <a:pPr algn="ctr"/>
            <a:r>
              <a:rPr lang="en-IN" sz="3200" b="1" dirty="0" smtClean="0">
                <a:solidFill>
                  <a:schemeClr val="bg1"/>
                </a:solidFill>
                <a:latin typeface="Times New Roman" panose="02020603050405020304" pitchFamily="18" charset="0"/>
                <a:cs typeface="Times New Roman" panose="02020603050405020304" pitchFamily="18" charset="0"/>
              </a:rPr>
              <a:t>School Of Computer </a:t>
            </a:r>
            <a:endParaRPr lang="en-IN" sz="3200" b="1" dirty="0" smtClean="0">
              <a:solidFill>
                <a:schemeClr val="bg1"/>
              </a:solidFill>
              <a:latin typeface="Times New Roman" panose="02020603050405020304" pitchFamily="18" charset="0"/>
              <a:cs typeface="Times New Roman" panose="02020603050405020304" pitchFamily="18" charset="0"/>
            </a:endParaRPr>
          </a:p>
          <a:p>
            <a:pPr algn="ctr"/>
            <a:r>
              <a:rPr lang="en-IN" sz="3200" b="1" dirty="0" smtClean="0">
                <a:solidFill>
                  <a:schemeClr val="bg1"/>
                </a:solidFill>
                <a:latin typeface="Times New Roman" panose="02020603050405020304" pitchFamily="18" charset="0"/>
                <a:cs typeface="Times New Roman" panose="02020603050405020304" pitchFamily="18" charset="0"/>
              </a:rPr>
              <a:t>Engineering</a:t>
            </a:r>
            <a:endParaRPr lang="en-IN" sz="3200" b="1" dirty="0" smtClean="0">
              <a:solidFill>
                <a:schemeClr val="bg1"/>
              </a:solidFill>
              <a:latin typeface="Times New Roman" panose="02020603050405020304" pitchFamily="18" charset="0"/>
              <a:cs typeface="Times New Roman" panose="02020603050405020304" pitchFamily="18" charset="0"/>
            </a:endParaRPr>
          </a:p>
        </p:txBody>
      </p:sp>
      <p:pic>
        <p:nvPicPr>
          <p:cNvPr id="8" name="Picture 2" descr="C:\Users\nEW u\Desktop\22222.jpg"/>
          <p:cNvPicPr>
            <a:picLocks noChangeAspect="1" noChangeArrowheads="1"/>
          </p:cNvPicPr>
          <p:nvPr/>
        </p:nvPicPr>
        <p:blipFill>
          <a:blip r:embed="rId1"/>
          <a:srcRect/>
          <a:stretch>
            <a:fillRect/>
          </a:stretch>
        </p:blipFill>
        <p:spPr bwMode="auto">
          <a:xfrm>
            <a:off x="4000464" y="4137863"/>
            <a:ext cx="1357354" cy="939704"/>
          </a:xfrm>
          <a:prstGeom prst="rect">
            <a:avLst/>
          </a:prstGeom>
          <a:noFill/>
        </p:spPr>
      </p:pic>
      <p:sp>
        <p:nvSpPr>
          <p:cNvPr id="9" name="TextBox 8"/>
          <p:cNvSpPr txBox="1"/>
          <p:nvPr/>
        </p:nvSpPr>
        <p:spPr>
          <a:xfrm>
            <a:off x="0" y="6211693"/>
            <a:ext cx="9144000" cy="646331"/>
          </a:xfrm>
          <a:prstGeom prst="rect">
            <a:avLst/>
          </a:prstGeom>
          <a:solidFill>
            <a:schemeClr val="bg1"/>
          </a:solidFill>
        </p:spPr>
        <p:txBody>
          <a:bodyPr wrap="square" rtlCol="0">
            <a:spAutoFit/>
          </a:bodyPr>
          <a:lstStyle/>
          <a:p>
            <a:endParaRPr lang="en-US" dirty="0" smtClean="0"/>
          </a:p>
          <a:p>
            <a:endParaRPr lang="en-US" dirty="0"/>
          </a:p>
        </p:txBody>
      </p:sp>
      <p:sp>
        <p:nvSpPr>
          <p:cNvPr id="10" name="TextBox 9"/>
          <p:cNvSpPr txBox="1"/>
          <p:nvPr/>
        </p:nvSpPr>
        <p:spPr>
          <a:xfrm>
            <a:off x="35385" y="6241350"/>
            <a:ext cx="2928926" cy="583565"/>
          </a:xfrm>
          <a:prstGeom prst="rect">
            <a:avLst/>
          </a:prstGeom>
          <a:solidFill>
            <a:schemeClr val="accent6"/>
          </a:solidFill>
        </p:spPr>
        <p:txBody>
          <a:bodyPr wrap="square" rtlCol="0">
            <a:spAutoFit/>
          </a:bodyPr>
          <a:lstStyle/>
          <a:p>
            <a:endParaRPr lang="en-US" sz="3200" b="1" dirty="0">
              <a:solidFill>
                <a:schemeClr val="bg1"/>
              </a:solidFill>
            </a:endParaRPr>
          </a:p>
        </p:txBody>
      </p:sp>
      <p:sp>
        <p:nvSpPr>
          <p:cNvPr id="11" name="TextBox 10"/>
          <p:cNvSpPr txBox="1"/>
          <p:nvPr/>
        </p:nvSpPr>
        <p:spPr>
          <a:xfrm>
            <a:off x="3039903" y="6241326"/>
            <a:ext cx="6072198" cy="583565"/>
          </a:xfrm>
          <a:prstGeom prst="rect">
            <a:avLst/>
          </a:prstGeom>
          <a:solidFill>
            <a:srgbClr val="00B0F0"/>
          </a:solidFill>
        </p:spPr>
        <p:txBody>
          <a:bodyPr wrap="square" rtlCol="0">
            <a:spAutoFit/>
          </a:bodyPr>
          <a:lstStyle/>
          <a:p>
            <a:pPr algn="ctr"/>
            <a:endParaRPr lang="en-US" sz="32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28646" y="71414"/>
            <a:ext cx="7943816" cy="642942"/>
          </a:xfrm>
        </p:spPr>
        <p:txBody>
          <a:bodyPr/>
          <a:lstStyle/>
          <a:p>
            <a:pPr algn="l" eaLnBrk="1" hangingPunct="1"/>
            <a:r>
              <a:rPr lang="en-US" sz="3600" b="1" dirty="0" smtClean="0">
                <a:latin typeface="Times New Roman" panose="02020603050405020304" pitchFamily="18" charset="0"/>
                <a:cs typeface="Times New Roman" panose="02020603050405020304" pitchFamily="18" charset="0"/>
              </a:rPr>
              <a:t>Chapter Contents</a:t>
            </a:r>
            <a:endParaRPr lang="en-US" sz="3600" b="1" dirty="0" smtClean="0">
              <a:latin typeface="Times New Roman" panose="02020603050405020304" pitchFamily="18" charset="0"/>
              <a:cs typeface="Times New Roman" panose="02020603050405020304" pitchFamily="18" charset="0"/>
            </a:endParaRPr>
          </a:p>
        </p:txBody>
      </p:sp>
      <p:sp>
        <p:nvSpPr>
          <p:cNvPr id="4" name="Rectangle 3"/>
          <p:cNvSpPr>
            <a:spLocks noGrp="1" noChangeArrowheads="1"/>
          </p:cNvSpPr>
          <p:nvPr>
            <p:ph idx="1"/>
          </p:nvPr>
        </p:nvSpPr>
        <p:spPr>
          <a:xfrm>
            <a:off x="1200184" y="1285860"/>
            <a:ext cx="7300906" cy="3714776"/>
          </a:xfrm>
          <a:solidFill>
            <a:schemeClr val="bg1"/>
          </a:solidFill>
        </p:spPr>
        <p:txBody>
          <a:bodyPr>
            <a:noAutofit/>
          </a:bodyPr>
          <a:lstStyle/>
          <a:p>
            <a:pPr>
              <a:lnSpc>
                <a:spcPct val="150000"/>
              </a:lnSpc>
              <a:spcBef>
                <a:spcPct val="0"/>
              </a:spcBef>
              <a:buFont typeface="Wingdings" panose="05000000000000000000" pitchFamily="2" charset="2"/>
              <a:buChar char="q"/>
              <a:defRPr/>
            </a:pPr>
            <a:r>
              <a:rPr lang="en-US" sz="1800" dirty="0" smtClean="0">
                <a:solidFill>
                  <a:srgbClr val="002060"/>
                </a:solidFill>
                <a:latin typeface="Times New Roman" panose="02020603050405020304" pitchFamily="18" charset="0"/>
                <a:cs typeface="Times New Roman" panose="02020603050405020304" pitchFamily="18" charset="0"/>
              </a:rPr>
              <a:t>Index</a:t>
            </a:r>
            <a:endParaRPr lang="en-US" sz="1800" dirty="0" smtClean="0">
              <a:solidFill>
                <a:srgbClr val="002060"/>
              </a:solidFill>
              <a:latin typeface="Times New Roman" panose="02020603050405020304" pitchFamily="18" charset="0"/>
              <a:cs typeface="Times New Roman" panose="02020603050405020304" pitchFamily="18" charset="0"/>
            </a:endParaRPr>
          </a:p>
          <a:p>
            <a:pPr>
              <a:lnSpc>
                <a:spcPct val="150000"/>
              </a:lnSpc>
              <a:spcBef>
                <a:spcPct val="0"/>
              </a:spcBef>
              <a:buFont typeface="Wingdings" panose="05000000000000000000" pitchFamily="2" charset="2"/>
              <a:buChar char="q"/>
              <a:defRPr/>
            </a:pPr>
            <a:r>
              <a:rPr lang="en-US" sz="1800" dirty="0" smtClean="0">
                <a:solidFill>
                  <a:srgbClr val="002060"/>
                </a:solidFill>
                <a:latin typeface="Times New Roman" panose="02020603050405020304" pitchFamily="18" charset="0"/>
                <a:cs typeface="Times New Roman" panose="02020603050405020304" pitchFamily="18" charset="0"/>
              </a:rPr>
              <a:t>Single-Level Indexes </a:t>
            </a:r>
            <a:endParaRPr lang="en-US" sz="18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Primary Indexes </a:t>
            </a:r>
            <a:endParaRPr lang="en-US" sz="14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Clustering Indexes </a:t>
            </a:r>
            <a:endParaRPr lang="en-US" sz="14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Secondary Indexes </a:t>
            </a:r>
            <a:endParaRPr lang="en-US" sz="14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Dense/Sparse Indexes</a:t>
            </a:r>
            <a:endParaRPr lang="en-US" sz="1400" dirty="0" smtClean="0">
              <a:solidFill>
                <a:srgbClr val="002060"/>
              </a:solidFill>
              <a:latin typeface="Times New Roman" panose="02020603050405020304" pitchFamily="18" charset="0"/>
              <a:cs typeface="Times New Roman" panose="02020603050405020304" pitchFamily="18" charset="0"/>
            </a:endParaRPr>
          </a:p>
          <a:p>
            <a:pPr>
              <a:lnSpc>
                <a:spcPct val="150000"/>
              </a:lnSpc>
              <a:spcBef>
                <a:spcPct val="0"/>
              </a:spcBef>
              <a:buFont typeface="Wingdings" panose="05000000000000000000" pitchFamily="2" charset="2"/>
              <a:buChar char="q"/>
              <a:defRPr/>
            </a:pPr>
            <a:r>
              <a:rPr lang="en-US" sz="1800" dirty="0" smtClean="0">
                <a:solidFill>
                  <a:srgbClr val="002060"/>
                </a:solidFill>
                <a:latin typeface="Times New Roman" panose="02020603050405020304" pitchFamily="18" charset="0"/>
                <a:cs typeface="Times New Roman" panose="02020603050405020304" pitchFamily="18" charset="0"/>
              </a:rPr>
              <a:t>Multilevel Indexing</a:t>
            </a:r>
            <a:endParaRPr lang="en-US" sz="18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Search Trees B-Trees</a:t>
            </a:r>
            <a:endParaRPr lang="en-US" sz="14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B+-Trees</a:t>
            </a:r>
            <a:endParaRPr lang="en-US" sz="1400" dirty="0" smtClean="0">
              <a:solidFill>
                <a:srgbClr val="00206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q"/>
              <a:defRPr/>
            </a:pPr>
            <a:r>
              <a:rPr lang="en-US" sz="1400" dirty="0" smtClean="0">
                <a:solidFill>
                  <a:srgbClr val="002060"/>
                </a:solidFill>
                <a:latin typeface="Times New Roman" panose="02020603050405020304" pitchFamily="18" charset="0"/>
                <a:cs typeface="Times New Roman" panose="02020603050405020304" pitchFamily="18" charset="0"/>
              </a:rPr>
              <a:t>B-Trees vs. B+-Trees</a:t>
            </a:r>
            <a:endParaRPr lang="en-US" sz="1400" dirty="0" smtClean="0">
              <a:solidFill>
                <a:srgbClr val="002060"/>
              </a:solidFill>
              <a:latin typeface="Times New Roman" panose="02020603050405020304" pitchFamily="18" charset="0"/>
              <a:cs typeface="Times New Roman" panose="02020603050405020304" pitchFamily="18" charset="0"/>
            </a:endParaRPr>
          </a:p>
        </p:txBody>
      </p:sp>
      <p:pic>
        <p:nvPicPr>
          <p:cNvPr id="1027"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7"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8" name="TextBox 7"/>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9"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Memory Structure</a:t>
            </a:r>
            <a:endParaRPr lang="en-US"/>
          </a:p>
        </p:txBody>
      </p:sp>
      <p:sp>
        <p:nvSpPr>
          <p:cNvPr id="3" name="Content Placeholder 2"/>
          <p:cNvSpPr>
            <a:spLocks noGrp="1"/>
          </p:cNvSpPr>
          <p:nvPr>
            <p:ph idx="1"/>
          </p:nvPr>
        </p:nvSpPr>
        <p:spPr/>
        <p:txBody>
          <a:bodyPr/>
          <a:p>
            <a:r>
              <a:rPr lang="en-US"/>
              <a:t>Database in stored in hard disk.</a:t>
            </a:r>
            <a:endParaRPr lang="en-US"/>
          </a:p>
          <a:p>
            <a:r>
              <a:rPr lang="en-US"/>
              <a:t>File system creates logical blocks over physical structure of disk.</a:t>
            </a:r>
            <a:endParaRPr lang="en-US"/>
          </a:p>
          <a:p>
            <a:pPr marL="0" indent="457200">
              <a:buNone/>
            </a:pPr>
            <a:r>
              <a:rPr lang="en-US"/>
              <a:t>1 disk block = 1 or 2 sector in disk </a:t>
            </a:r>
            <a:endParaRPr lang="en-US"/>
          </a:p>
          <a:p>
            <a:pPr marL="1828800" lvl="4" indent="457200">
              <a:buNone/>
            </a:pPr>
            <a:r>
              <a:rPr lang="en-US"/>
              <a:t>    =   512 Bytes to 2KB size</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Fix &amp; Variable Length Records</a:t>
            </a:r>
            <a:endParaRPr lang="en-US"/>
          </a:p>
        </p:txBody>
      </p:sp>
      <p:sp>
        <p:nvSpPr>
          <p:cNvPr id="3" name="Content Placeholder 2"/>
          <p:cNvSpPr>
            <a:spLocks noGrp="1"/>
          </p:cNvSpPr>
          <p:nvPr>
            <p:ph idx="1"/>
          </p:nvPr>
        </p:nvSpPr>
        <p:spPr/>
        <p:txBody>
          <a:bodyPr/>
          <a:p>
            <a:r>
              <a:rPr lang="en-US" b="1"/>
              <a:t>Fix -</a:t>
            </a:r>
            <a:r>
              <a:rPr lang="en-US"/>
              <a:t> Each record in database has a fixed length.</a:t>
            </a:r>
            <a:endParaRPr lang="en-US"/>
          </a:p>
          <a:p>
            <a:r>
              <a:rPr lang="en-US"/>
              <a:t>If needed padding might be used to keep the length fixed.</a:t>
            </a:r>
            <a:endParaRPr lang="en-US"/>
          </a:p>
          <a:p>
            <a:endParaRPr lang="en-US"/>
          </a:p>
          <a:p>
            <a:r>
              <a:rPr lang="en-US" b="1"/>
              <a:t>Variable - </a:t>
            </a:r>
            <a:r>
              <a:rPr lang="en-US"/>
              <a:t>Variable length records are allowed.</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Spanned vs Unspanned Storage</a:t>
            </a:r>
            <a:endParaRPr lang="en-US"/>
          </a:p>
        </p:txBody>
      </p:sp>
      <p:sp>
        <p:nvSpPr>
          <p:cNvPr id="3" name="Content Placeholder 2"/>
          <p:cNvSpPr>
            <a:spLocks noGrp="1"/>
          </p:cNvSpPr>
          <p:nvPr>
            <p:ph idx="1"/>
          </p:nvPr>
        </p:nvSpPr>
        <p:spPr/>
        <p:txBody>
          <a:bodyPr/>
          <a:p>
            <a:r>
              <a:rPr lang="en-US" b="1"/>
              <a:t>Spanned:</a:t>
            </a:r>
            <a:r>
              <a:rPr lang="en-US"/>
              <a:t> If a record is allowed to be stored in multiple blocks (in parts) then it is spanned storage.</a:t>
            </a:r>
            <a:endParaRPr lang="en-US"/>
          </a:p>
          <a:p>
            <a:endParaRPr lang="en-US"/>
          </a:p>
          <a:p>
            <a:r>
              <a:rPr lang="en-US" b="1"/>
              <a:t>Unspanned: </a:t>
            </a:r>
            <a:r>
              <a:rPr lang="en-US"/>
              <a:t>Record is not allowed to be split among two or more blocks even if block has some free space.</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86412"/>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An index is a data structure that organizes data records on disk to optimize the retrieval operations. An index is used to efficiently retrieve all records that satisfy search conditions on the search key fields of the index.</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index structure typically provides secondary access path, which provides alternative way of retrieving the records without affecting the physical storage of records on the disk.</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On a same file, multiple indexes on different fields can be constructed.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Index file is used to store the indexing information.</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Indexing blocks are also stored in hard-disk itself.</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First index file is accesses to check where required blocks are stored then only those blocks are accessed to fetch required rows.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Index</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214578"/>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Index is usually defined on a single attribute or field of a file, called indexing field or indexing attribute.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Generally, the index stores each value of the index field along with a list of pointers to all disk blocks that contain records with that field value.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values in the index are ordered so that binary search can be performed on the index. The index file is much smaller than the data file, so searching the index using a binary search is highly efficient.</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Single-Level Indexes</a:t>
            </a:r>
            <a:endParaRPr lang="en-US" sz="3600" b="1" dirty="0" smtClean="0">
              <a:latin typeface="Times New Roman" panose="02020603050405020304" pitchFamily="18" charset="0"/>
              <a:cs typeface="Times New Roman" panose="02020603050405020304" pitchFamily="18" charset="0"/>
            </a:endParaRPr>
          </a:p>
        </p:txBody>
      </p:sp>
      <p:graphicFrame>
        <p:nvGraphicFramePr>
          <p:cNvPr id="8" name="object 18"/>
          <p:cNvGraphicFramePr>
            <a:graphicFrameLocks noGrp="1"/>
          </p:cNvGraphicFramePr>
          <p:nvPr/>
        </p:nvGraphicFramePr>
        <p:xfrm>
          <a:off x="2000232" y="3786190"/>
          <a:ext cx="5286412" cy="1706880"/>
        </p:xfrm>
        <a:graphic>
          <a:graphicData uri="http://schemas.openxmlformats.org/drawingml/2006/table">
            <a:tbl>
              <a:tblPr firstRow="1" bandRow="1">
                <a:tableStyleId>{2D5ABB26-0587-4C30-8999-92F81FD0307C}</a:tableStyleId>
              </a:tblPr>
              <a:tblGrid>
                <a:gridCol w="783482"/>
                <a:gridCol w="1292422"/>
                <a:gridCol w="783512"/>
                <a:gridCol w="1224293"/>
                <a:gridCol w="1202703"/>
              </a:tblGrid>
              <a:tr h="134349">
                <a:tc>
                  <a:txBody>
                    <a:bodyPr/>
                    <a:lstStyle/>
                    <a:p>
                      <a:pPr marL="100965">
                        <a:lnSpc>
                          <a:spcPct val="100000"/>
                        </a:lnSpc>
                      </a:pPr>
                      <a:r>
                        <a:rPr sz="1600" dirty="0">
                          <a:latin typeface="Times New Roman" panose="02020603050405020304" pitchFamily="18" charset="0"/>
                          <a:cs typeface="Times New Roman" panose="02020603050405020304" pitchFamily="18" charset="0"/>
                        </a:rPr>
                        <a:t>roll</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lnB w="4328">
                      <a:solidFill>
                        <a:srgbClr val="000000"/>
                      </a:solidFill>
                      <a:prstDash val="solid"/>
                    </a:lnB>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name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lnB w="4328">
                      <a:solidFill>
                        <a:srgbClr val="000000"/>
                      </a:solidFill>
                      <a:prstDash val="solid"/>
                    </a:lnB>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age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lnB w="4328">
                      <a:solidFill>
                        <a:srgbClr val="000000"/>
                      </a:solidFill>
                      <a:prstDash val="solid"/>
                    </a:lnB>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gender</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lnB w="4328">
                      <a:solidFill>
                        <a:srgbClr val="000000"/>
                      </a:solidFill>
                      <a:prstDash val="solid"/>
                    </a:lnB>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contact</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lnB w="4328">
                      <a:solidFill>
                        <a:srgbClr val="000000"/>
                      </a:solidFill>
                      <a:prstDash val="solid"/>
                    </a:lnB>
                  </a:tcPr>
                </a:tc>
              </a:tr>
              <a:tr h="128626">
                <a:tc>
                  <a:txBody>
                    <a:bodyPr/>
                    <a:lstStyle/>
                    <a:p>
                      <a:pPr marL="64770">
                        <a:lnSpc>
                          <a:spcPct val="100000"/>
                        </a:lnSpc>
                      </a:pPr>
                      <a:r>
                        <a:rPr sz="1600" dirty="0">
                          <a:latin typeface="Times New Roman" panose="02020603050405020304" pitchFamily="18" charset="0"/>
                          <a:cs typeface="Times New Roman" panose="02020603050405020304" pitchFamily="18" charset="0"/>
                        </a:rPr>
                        <a:t>101</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Ashok</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tcPr>
                </a:tc>
                <a:tc>
                  <a:txBody>
                    <a:bodyPr/>
                    <a:lstStyle/>
                    <a:p>
                      <a:pPr marL="125095">
                        <a:lnSpc>
                          <a:spcPct val="100000"/>
                        </a:lnSpc>
                      </a:pPr>
                      <a:r>
                        <a:rPr sz="1600" dirty="0">
                          <a:latin typeface="Times New Roman" panose="02020603050405020304" pitchFamily="18" charset="0"/>
                          <a:cs typeface="Times New Roman" panose="02020603050405020304" pitchFamily="18" charset="0"/>
                        </a:rPr>
                        <a:t>19</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Male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tcPr>
                </a:tc>
                <a:tc>
                  <a:txBody>
                    <a:bodyPr/>
                    <a:lstStyle/>
                    <a:p>
                      <a:pPr marL="233045">
                        <a:lnSpc>
                          <a:spcPct val="100000"/>
                        </a:lnSpc>
                      </a:pPr>
                      <a:r>
                        <a:rPr sz="1600" dirty="0">
                          <a:latin typeface="Times New Roman" panose="02020603050405020304" pitchFamily="18" charset="0"/>
                          <a:cs typeface="Times New Roman" panose="02020603050405020304" pitchFamily="18" charset="0"/>
                        </a:rPr>
                        <a:t>123</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T w="4328">
                      <a:solidFill>
                        <a:srgbClr val="000000"/>
                      </a:solidFill>
                      <a:prstDash val="solid"/>
                    </a:lnT>
                  </a:tcPr>
                </a:tc>
              </a:tr>
              <a:tr h="130004">
                <a:tc>
                  <a:txBody>
                    <a:bodyPr/>
                    <a:lstStyle/>
                    <a:p>
                      <a:pPr marL="64770">
                        <a:lnSpc>
                          <a:spcPct val="100000"/>
                        </a:lnSpc>
                      </a:pPr>
                      <a:r>
                        <a:rPr sz="1600" dirty="0">
                          <a:latin typeface="Times New Roman" panose="02020603050405020304" pitchFamily="18" charset="0"/>
                          <a:cs typeface="Times New Roman" panose="02020603050405020304" pitchFamily="18" charset="0"/>
                        </a:rPr>
                        <a:t>102</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Mahesh</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125095">
                        <a:lnSpc>
                          <a:spcPct val="100000"/>
                        </a:lnSpc>
                      </a:pPr>
                      <a:r>
                        <a:rPr sz="1600" dirty="0">
                          <a:latin typeface="Times New Roman" panose="02020603050405020304" pitchFamily="18" charset="0"/>
                          <a:cs typeface="Times New Roman" panose="02020603050405020304" pitchFamily="18" charset="0"/>
                        </a:rPr>
                        <a:t>19</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Male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233045">
                        <a:lnSpc>
                          <a:spcPct val="100000"/>
                        </a:lnSpc>
                      </a:pPr>
                      <a:r>
                        <a:rPr sz="1600" dirty="0">
                          <a:latin typeface="Times New Roman" panose="02020603050405020304" pitchFamily="18" charset="0"/>
                          <a:cs typeface="Times New Roman" panose="02020603050405020304" pitchFamily="18" charset="0"/>
                        </a:rPr>
                        <a:t>345</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r>
              <a:tr h="130004">
                <a:tc>
                  <a:txBody>
                    <a:bodyPr/>
                    <a:lstStyle/>
                    <a:p>
                      <a:pPr marL="64770">
                        <a:lnSpc>
                          <a:spcPct val="100000"/>
                        </a:lnSpc>
                      </a:pPr>
                      <a:r>
                        <a:rPr sz="1600" dirty="0">
                          <a:latin typeface="Times New Roman" panose="02020603050405020304" pitchFamily="18" charset="0"/>
                          <a:cs typeface="Times New Roman" panose="02020603050405020304" pitchFamily="18" charset="0"/>
                        </a:rPr>
                        <a:t>103</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Jency</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125095">
                        <a:lnSpc>
                          <a:spcPct val="100000"/>
                        </a:lnSpc>
                      </a:pPr>
                      <a:r>
                        <a:rPr sz="1600" dirty="0">
                          <a:latin typeface="Times New Roman" panose="02020603050405020304" pitchFamily="18" charset="0"/>
                          <a:cs typeface="Times New Roman" panose="02020603050405020304" pitchFamily="18" charset="0"/>
                        </a:rPr>
                        <a:t>21</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spc="-30" dirty="0">
                          <a:latin typeface="Times New Roman" panose="02020603050405020304" pitchFamily="18" charset="0"/>
                          <a:cs typeface="Times New Roman" panose="02020603050405020304" pitchFamily="18" charset="0"/>
                        </a:rPr>
                        <a:t>F</a:t>
                      </a:r>
                      <a:r>
                        <a:rPr sz="1600" dirty="0">
                          <a:latin typeface="Times New Roman" panose="02020603050405020304" pitchFamily="18" charset="0"/>
                          <a:cs typeface="Times New Roman" panose="02020603050405020304" pitchFamily="18" charset="0"/>
                        </a:rPr>
                        <a:t>emale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233045">
                        <a:lnSpc>
                          <a:spcPct val="100000"/>
                        </a:lnSpc>
                      </a:pPr>
                      <a:r>
                        <a:rPr sz="1600" dirty="0">
                          <a:latin typeface="Times New Roman" panose="02020603050405020304" pitchFamily="18" charset="0"/>
                          <a:cs typeface="Times New Roman" panose="02020603050405020304" pitchFamily="18" charset="0"/>
                        </a:rPr>
                        <a:t>678</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r>
              <a:tr h="130004">
                <a:tc>
                  <a:txBody>
                    <a:bodyPr/>
                    <a:lstStyle/>
                    <a:p>
                      <a:pPr marL="64770">
                        <a:lnSpc>
                          <a:spcPct val="100000"/>
                        </a:lnSpc>
                      </a:pPr>
                      <a:r>
                        <a:rPr sz="1600" dirty="0">
                          <a:latin typeface="Times New Roman" panose="02020603050405020304" pitchFamily="18" charset="0"/>
                          <a:cs typeface="Times New Roman" panose="02020603050405020304" pitchFamily="18" charset="0"/>
                        </a:rPr>
                        <a:t>104</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Vikash</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125095">
                        <a:lnSpc>
                          <a:spcPct val="100000"/>
                        </a:lnSpc>
                      </a:pPr>
                      <a:r>
                        <a:rPr sz="1600" dirty="0">
                          <a:latin typeface="Times New Roman" panose="02020603050405020304" pitchFamily="18" charset="0"/>
                          <a:cs typeface="Times New Roman" panose="02020603050405020304" pitchFamily="18" charset="0"/>
                        </a:rPr>
                        <a:t>20</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Male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233045">
                        <a:lnSpc>
                          <a:spcPct val="100000"/>
                        </a:lnSpc>
                      </a:pPr>
                      <a:r>
                        <a:rPr sz="1600" dirty="0">
                          <a:latin typeface="Times New Roman" panose="02020603050405020304" pitchFamily="18" charset="0"/>
                          <a:cs typeface="Times New Roman" panose="02020603050405020304" pitchFamily="18" charset="0"/>
                        </a:rPr>
                        <a:t>245</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r>
              <a:tr h="130010">
                <a:tc>
                  <a:txBody>
                    <a:bodyPr/>
                    <a:lstStyle/>
                    <a:p>
                      <a:pPr marL="64770">
                        <a:lnSpc>
                          <a:spcPct val="100000"/>
                        </a:lnSpc>
                      </a:pPr>
                      <a:r>
                        <a:rPr sz="1600" dirty="0">
                          <a:latin typeface="Times New Roman" panose="02020603050405020304" pitchFamily="18" charset="0"/>
                          <a:cs typeface="Times New Roman" panose="02020603050405020304" pitchFamily="18" charset="0"/>
                        </a:rPr>
                        <a:t>105</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Manish</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125095">
                        <a:lnSpc>
                          <a:spcPct val="100000"/>
                        </a:lnSpc>
                      </a:pPr>
                      <a:r>
                        <a:rPr sz="1600" dirty="0">
                          <a:latin typeface="Times New Roman" panose="02020603050405020304" pitchFamily="18" charset="0"/>
                          <a:cs typeface="Times New Roman" panose="02020603050405020304" pitchFamily="18" charset="0"/>
                        </a:rPr>
                        <a:t>20</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Male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c>
                  <a:txBody>
                    <a:bodyPr/>
                    <a:lstStyle/>
                    <a:p>
                      <a:pPr marL="233045">
                        <a:lnSpc>
                          <a:spcPct val="100000"/>
                        </a:lnSpc>
                      </a:pPr>
                      <a:r>
                        <a:rPr sz="1600" dirty="0">
                          <a:latin typeface="Times New Roman" panose="02020603050405020304" pitchFamily="18" charset="0"/>
                          <a:cs typeface="Times New Roman" panose="02020603050405020304" pitchFamily="18" charset="0"/>
                        </a:rPr>
                        <a:t>789</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tcPr>
                </a:tc>
              </a:tr>
              <a:tr h="135697">
                <a:tc>
                  <a:txBody>
                    <a:bodyPr/>
                    <a:lstStyle/>
                    <a:p>
                      <a:pPr marL="64770">
                        <a:lnSpc>
                          <a:spcPct val="100000"/>
                        </a:lnSpc>
                      </a:pPr>
                      <a:r>
                        <a:rPr sz="1600" dirty="0">
                          <a:latin typeface="Times New Roman" panose="02020603050405020304" pitchFamily="18" charset="0"/>
                          <a:cs typeface="Times New Roman" panose="02020603050405020304" pitchFamily="18" charset="0"/>
                        </a:rPr>
                        <a:t>106</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B w="4328">
                      <a:solidFill>
                        <a:srgbClr val="000000"/>
                      </a:solidFill>
                      <a:prstDash val="solid"/>
                    </a:lnB>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Rahul</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B w="4328">
                      <a:solidFill>
                        <a:srgbClr val="000000"/>
                      </a:solidFill>
                      <a:prstDash val="solid"/>
                    </a:lnB>
                  </a:tcPr>
                </a:tc>
                <a:tc>
                  <a:txBody>
                    <a:bodyPr/>
                    <a:lstStyle/>
                    <a:p>
                      <a:pPr marL="125095">
                        <a:lnSpc>
                          <a:spcPct val="100000"/>
                        </a:lnSpc>
                      </a:pPr>
                      <a:r>
                        <a:rPr sz="1600" dirty="0">
                          <a:latin typeface="Times New Roman" panose="02020603050405020304" pitchFamily="18" charset="0"/>
                          <a:cs typeface="Times New Roman" panose="02020603050405020304" pitchFamily="18" charset="0"/>
                        </a:rPr>
                        <a:t>22</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B w="4328">
                      <a:solidFill>
                        <a:srgbClr val="000000"/>
                      </a:solidFill>
                      <a:prstDash val="solid"/>
                    </a:lnB>
                  </a:tcPr>
                </a:tc>
                <a:tc>
                  <a:txBody>
                    <a:bodyPr/>
                    <a:lstStyle/>
                    <a:p>
                      <a:pPr marL="64770">
                        <a:lnSpc>
                          <a:spcPct val="100000"/>
                        </a:lnSpc>
                      </a:pPr>
                      <a:r>
                        <a:rPr sz="1600" dirty="0">
                          <a:latin typeface="Times New Roman" panose="02020603050405020304" pitchFamily="18" charset="0"/>
                          <a:cs typeface="Times New Roman" panose="02020603050405020304" pitchFamily="18" charset="0"/>
                        </a:rPr>
                        <a:t>Male</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B w="4328">
                      <a:solidFill>
                        <a:srgbClr val="000000"/>
                      </a:solidFill>
                      <a:prstDash val="solid"/>
                    </a:lnB>
                  </a:tcPr>
                </a:tc>
                <a:tc>
                  <a:txBody>
                    <a:bodyPr/>
                    <a:lstStyle/>
                    <a:p>
                      <a:pPr marL="233045">
                        <a:lnSpc>
                          <a:spcPct val="100000"/>
                        </a:lnSpc>
                      </a:pPr>
                      <a:r>
                        <a:rPr sz="1600" dirty="0">
                          <a:latin typeface="Times New Roman" panose="02020603050405020304" pitchFamily="18" charset="0"/>
                          <a:cs typeface="Times New Roman" panose="02020603050405020304" pitchFamily="18" charset="0"/>
                        </a:rPr>
                        <a:t>567</a:t>
                      </a:r>
                      <a:endParaRPr sz="1600">
                        <a:latin typeface="Times New Roman" panose="02020603050405020304" pitchFamily="18" charset="0"/>
                        <a:cs typeface="Times New Roman" panose="02020603050405020304" pitchFamily="18" charset="0"/>
                      </a:endParaRPr>
                    </a:p>
                  </a:txBody>
                  <a:tcPr marL="0" marR="0" marT="0" marB="0">
                    <a:lnL w="4328">
                      <a:solidFill>
                        <a:srgbClr val="000000"/>
                      </a:solidFill>
                      <a:prstDash val="solid"/>
                    </a:lnL>
                    <a:lnR w="4328">
                      <a:solidFill>
                        <a:srgbClr val="000000"/>
                      </a:solidFill>
                      <a:prstDash val="solid"/>
                    </a:lnR>
                    <a:lnB w="4328">
                      <a:solidFill>
                        <a:srgbClr val="000000"/>
                      </a:solidFill>
                      <a:prstDash val="solid"/>
                    </a:lnB>
                  </a:tcPr>
                </a:tc>
              </a:tr>
            </a:tbl>
          </a:graphicData>
        </a:graphic>
      </p:graphicFrame>
      <p:sp>
        <p:nvSpPr>
          <p:cNvPr id="14" name="object 17"/>
          <p:cNvSpPr txBox="1"/>
          <p:nvPr/>
        </p:nvSpPr>
        <p:spPr>
          <a:xfrm>
            <a:off x="3643306" y="3429000"/>
            <a:ext cx="1033149" cy="276999"/>
          </a:xfrm>
          <a:prstGeom prst="rect">
            <a:avLst/>
          </a:prstGeom>
        </p:spPr>
        <p:txBody>
          <a:bodyPr vert="horz" wrap="square" lIns="0" tIns="0" rIns="0" bIns="0" rtlCol="0">
            <a:spAutoFit/>
          </a:bodyPr>
          <a:lstStyle/>
          <a:p>
            <a:pPr marL="12700" algn="ctr">
              <a:lnSpc>
                <a:spcPct val="100000"/>
              </a:lnSpc>
            </a:pPr>
            <a:r>
              <a:rPr b="1" spc="-5" dirty="0">
                <a:latin typeface="Times New Roman" panose="02020603050405020304" pitchFamily="18" charset="0"/>
                <a:cs typeface="Times New Roman" panose="02020603050405020304" pitchFamily="18" charset="0"/>
              </a:rPr>
              <a:t>Student</a:t>
            </a:r>
            <a:endParaRPr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214578"/>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primary index is an ordered file whose records are of fixed length with two fields. The first field is of the same data type as the ordering key field of the data file, called the primary key and the second field is a pointer to a disk block.</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There is one index entry in the index file for each block in the data file. Each index entry has the value of the primary key field for the first record in a block and a pointer to that block as its two field values.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Primary Indexes</a:t>
            </a:r>
            <a:endParaRPr lang="en-US" sz="3600" b="1" dirty="0" smtClean="0">
              <a:latin typeface="Times New Roman" panose="02020603050405020304" pitchFamily="18" charset="0"/>
              <a:cs typeface="Times New Roman" panose="02020603050405020304" pitchFamily="18" charset="0"/>
            </a:endParaRPr>
          </a:p>
        </p:txBody>
      </p:sp>
      <p:sp>
        <p:nvSpPr>
          <p:cNvPr id="15" name="object 17"/>
          <p:cNvSpPr/>
          <p:nvPr/>
        </p:nvSpPr>
        <p:spPr>
          <a:xfrm>
            <a:off x="2071670" y="3428999"/>
            <a:ext cx="5072098" cy="2428893"/>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Primary Indexing</a:t>
            </a:r>
            <a:endParaRPr lang="en-US"/>
          </a:p>
        </p:txBody>
      </p:sp>
      <p:sp>
        <p:nvSpPr>
          <p:cNvPr id="3" name="Content Placeholder 2"/>
          <p:cNvSpPr>
            <a:spLocks noGrp="1"/>
          </p:cNvSpPr>
          <p:nvPr>
            <p:ph idx="1"/>
          </p:nvPr>
        </p:nvSpPr>
        <p:spPr/>
        <p:txBody>
          <a:bodyPr/>
          <a:p>
            <a:r>
              <a:rPr lang="en-US"/>
              <a:t>Indexing is done on primary key or any super key.</a:t>
            </a:r>
            <a:endParaRPr lang="en-US"/>
          </a:p>
          <a:p>
            <a:r>
              <a:rPr lang="en-US"/>
              <a:t>Data must be ordered according to index.</a:t>
            </a:r>
            <a:endParaRPr lang="en-US"/>
          </a:p>
          <a:p>
            <a:r>
              <a:rPr lang="en-US"/>
              <a:t>It is always sparse index.</a:t>
            </a:r>
            <a:endParaRPr lang="en-US"/>
          </a:p>
          <a:p>
            <a:r>
              <a:rPr lang="en-US"/>
              <a:t>One index record will contain - </a:t>
            </a:r>
            <a:endParaRPr lang="en-US"/>
          </a:p>
          <a:p>
            <a:pPr lvl="1"/>
            <a:r>
              <a:rPr lang="en-US"/>
              <a:t>Index column value</a:t>
            </a:r>
            <a:endParaRPr lang="en-US"/>
          </a:p>
          <a:p>
            <a:pPr lvl="1"/>
            <a:r>
              <a:rPr lang="en-US"/>
              <a:t>Block Pointer</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Primary Indexing</a:t>
            </a:r>
            <a:endParaRPr lang="en-US"/>
          </a:p>
        </p:txBody>
      </p:sp>
      <p:pic>
        <p:nvPicPr>
          <p:cNvPr id="5" name="Content Placeholder 4"/>
          <p:cNvPicPr>
            <a:picLocks noChangeAspect="1"/>
          </p:cNvPicPr>
          <p:nvPr>
            <p:ph idx="1"/>
          </p:nvPr>
        </p:nvPicPr>
        <p:blipFill>
          <a:blip r:embed="rId1"/>
          <a:stretch>
            <a:fillRect/>
          </a:stretch>
        </p:blipFill>
        <p:spPr>
          <a:xfrm>
            <a:off x="395605" y="1341120"/>
            <a:ext cx="8340725" cy="5410200"/>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Primary Indexing</a:t>
            </a:r>
            <a:endParaRPr lang="en-US"/>
          </a:p>
        </p:txBody>
      </p:sp>
      <p:sp>
        <p:nvSpPr>
          <p:cNvPr id="3" name="Content Placeholder 2"/>
          <p:cNvSpPr>
            <a:spLocks noGrp="1"/>
          </p:cNvSpPr>
          <p:nvPr>
            <p:ph idx="1"/>
          </p:nvPr>
        </p:nvSpPr>
        <p:spPr/>
        <p:txBody>
          <a:bodyPr>
            <a:normAutofit fontScale="60000"/>
          </a:bodyPr>
          <a:p>
            <a:r>
              <a:rPr lang="en-US"/>
              <a:t>You are given a database with following information - </a:t>
            </a:r>
            <a:endParaRPr lang="en-US"/>
          </a:p>
          <a:p>
            <a:pPr lvl="1"/>
            <a:r>
              <a:rPr lang="en-US"/>
              <a:t># records = 65536</a:t>
            </a:r>
            <a:endParaRPr lang="en-US"/>
          </a:p>
          <a:p>
            <a:pPr lvl="1"/>
            <a:r>
              <a:rPr lang="en-US"/>
              <a:t>record size = 64 bytes</a:t>
            </a:r>
            <a:endParaRPr lang="en-US"/>
          </a:p>
          <a:p>
            <a:pPr lvl="1"/>
            <a:r>
              <a:rPr lang="en-US"/>
              <a:t>key field size = 10 bytes</a:t>
            </a:r>
            <a:endParaRPr lang="en-US"/>
          </a:p>
          <a:p>
            <a:pPr lvl="1"/>
            <a:r>
              <a:rPr lang="en-US"/>
              <a:t>block pointer size = 22 bytes</a:t>
            </a:r>
            <a:endParaRPr lang="en-US"/>
          </a:p>
          <a:p>
            <a:pPr lvl="1"/>
            <a:r>
              <a:rPr lang="en-US"/>
              <a:t>block size = 256 bytes</a:t>
            </a:r>
            <a:endParaRPr lang="en-US"/>
          </a:p>
          <a:p>
            <a:pPr lvl="0"/>
            <a:r>
              <a:rPr lang="en-US"/>
              <a:t>Answer followings - </a:t>
            </a:r>
            <a:endParaRPr lang="en-US"/>
          </a:p>
          <a:p>
            <a:pPr lvl="1"/>
            <a:r>
              <a:rPr lang="en-US"/>
              <a:t># records per block</a:t>
            </a:r>
            <a:endParaRPr lang="en-US"/>
          </a:p>
          <a:p>
            <a:pPr lvl="1"/>
            <a:r>
              <a:rPr lang="en-US"/>
              <a:t># blocks required to store data</a:t>
            </a:r>
            <a:endParaRPr lang="en-US"/>
          </a:p>
          <a:p>
            <a:pPr lvl="1"/>
            <a:r>
              <a:rPr lang="en-US"/>
              <a:t># of indexing entries</a:t>
            </a:r>
            <a:endParaRPr lang="en-US"/>
          </a:p>
          <a:p>
            <a:pPr lvl="1"/>
            <a:r>
              <a:rPr lang="en-US"/>
              <a:t>size of one indexing entry</a:t>
            </a:r>
            <a:endParaRPr lang="en-US"/>
          </a:p>
          <a:p>
            <a:pPr lvl="1"/>
            <a:r>
              <a:rPr lang="en-US"/>
              <a:t>Total index file size</a:t>
            </a:r>
            <a:endParaRPr lang="en-US"/>
          </a:p>
          <a:p>
            <a:pPr lvl="1"/>
            <a:r>
              <a:rPr lang="en-US"/>
              <a:t># blocks required to store the indexing file</a:t>
            </a:r>
            <a:endParaRPr lang="en-US"/>
          </a:p>
          <a:p>
            <a:pPr lvl="1"/>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143536"/>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index file for a primary index needs substantially fewer blocks than does the data file, for two reasons. First, there are fewer index entries than there are records in the data file. Secondly, each index entry is typically smaller in size than a data record because it has only two fields. A binary search on the index file hence requires fewer block accesses than a binary search on the data file.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a user wants to insert a record to its correct position in the data file, the existing records should be moved to make space for the new record as well as index entries will be changed.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Similarly, deletion process is also difficult due to the index entries </a:t>
            </a:r>
            <a:r>
              <a:rPr lang="en-US" kern="0" dirty="0" err="1" smtClean="0">
                <a:latin typeface="Times New Roman" panose="02020603050405020304" pitchFamily="18" charset="0"/>
                <a:cs typeface="Times New Roman" panose="02020603050405020304" pitchFamily="18" charset="0"/>
              </a:rPr>
              <a:t>updation</a:t>
            </a:r>
            <a:r>
              <a:rPr lang="en-US" kern="0" dirty="0" smtClean="0">
                <a:latin typeface="Times New Roman" panose="02020603050405020304" pitchFamily="18" charset="0"/>
                <a:cs typeface="Times New Roman" panose="02020603050405020304" pitchFamily="18" charset="0"/>
              </a:rPr>
              <a:t>. But, record deletion is commonly handled by using deletion markers.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Primary Indexes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214578"/>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If records of a file are physically ordered on a non-key field, that field is called the </a:t>
            </a:r>
            <a:r>
              <a:rPr lang="en-US" b="1" kern="0" dirty="0" smtClean="0">
                <a:latin typeface="Times New Roman" panose="02020603050405020304" pitchFamily="18" charset="0"/>
                <a:cs typeface="Times New Roman" panose="02020603050405020304" pitchFamily="18" charset="0"/>
              </a:rPr>
              <a:t>clustering field</a:t>
            </a:r>
            <a:r>
              <a:rPr lang="en-US" kern="0" dirty="0" smtClean="0">
                <a:latin typeface="Times New Roman" panose="02020603050405020304" pitchFamily="18" charset="0"/>
                <a:cs typeface="Times New Roman" panose="02020603050405020304" pitchFamily="18" charset="0"/>
              </a:rPr>
              <a:t>. Thus, clustering index is the index created on the clustering field to speed up retrieval of records that have the same value for the clustering field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This differs from a primary index, which requires that the ordering field of the data file have a distinct value for each record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Clustering Indexes</a:t>
            </a:r>
            <a:endParaRPr lang="en-US" sz="3600" b="1" dirty="0" smtClean="0">
              <a:latin typeface="Times New Roman" panose="02020603050405020304" pitchFamily="18" charset="0"/>
              <a:cs typeface="Times New Roman" panose="02020603050405020304" pitchFamily="18" charset="0"/>
            </a:endParaRPr>
          </a:p>
        </p:txBody>
      </p:sp>
      <p:sp>
        <p:nvSpPr>
          <p:cNvPr id="8" name="object 17"/>
          <p:cNvSpPr/>
          <p:nvPr/>
        </p:nvSpPr>
        <p:spPr>
          <a:xfrm>
            <a:off x="2214546" y="3500438"/>
            <a:ext cx="4929222" cy="2286016"/>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072098"/>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There is one entry in the clustering index for each distinct value of the clustering field, containing the value and a pointer to the first block in the data file that has a record with that value for its clustering field.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To solve the problem of insertion, it is common to reserve a whole block (or a cluster of contiguous blocks) for each value of the clustering field; all records with that value are placed in the block (or block cluster). This makes insertion and deletion relatively straightforward.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Clustering Indexes…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Clustering Indexing</a:t>
            </a:r>
            <a:endParaRPr lang="en-US"/>
          </a:p>
        </p:txBody>
      </p:sp>
      <p:sp>
        <p:nvSpPr>
          <p:cNvPr id="3" name="Content Placeholder 2"/>
          <p:cNvSpPr>
            <a:spLocks noGrp="1"/>
          </p:cNvSpPr>
          <p:nvPr>
            <p:ph idx="1"/>
          </p:nvPr>
        </p:nvSpPr>
        <p:spPr/>
        <p:txBody>
          <a:bodyPr/>
          <a:p>
            <a:r>
              <a:rPr lang="en-US"/>
              <a:t>Indexing done on non-key field.</a:t>
            </a:r>
            <a:endParaRPr lang="en-US"/>
          </a:p>
          <a:p>
            <a:r>
              <a:rPr lang="en-US"/>
              <a:t>Data must be ordered according to index field.</a:t>
            </a:r>
            <a:endParaRPr lang="en-US"/>
          </a:p>
          <a:p>
            <a:r>
              <a:rPr lang="en-US"/>
              <a:t>It is a sparse indexing. </a:t>
            </a:r>
            <a:endParaRPr lang="en-US"/>
          </a:p>
          <a:p>
            <a:r>
              <a:rPr lang="en-US"/>
              <a:t>Indexing is done for unique non-key values.</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Clustering Indexing</a:t>
            </a:r>
            <a:endParaRPr lang="en-US"/>
          </a:p>
        </p:txBody>
      </p:sp>
      <p:pic>
        <p:nvPicPr>
          <p:cNvPr id="5" name="Content Placeholder 4"/>
          <p:cNvPicPr>
            <a:picLocks noChangeAspect="1"/>
          </p:cNvPicPr>
          <p:nvPr>
            <p:ph idx="1"/>
          </p:nvPr>
        </p:nvPicPr>
        <p:blipFill>
          <a:blip r:embed="rId1"/>
          <a:stretch>
            <a:fillRect/>
          </a:stretch>
        </p:blipFill>
        <p:spPr>
          <a:xfrm>
            <a:off x="35560" y="1268730"/>
            <a:ext cx="9108440" cy="5255895"/>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Clustering Indexing</a:t>
            </a:r>
            <a:endParaRPr lang="en-US"/>
          </a:p>
        </p:txBody>
      </p:sp>
      <p:sp>
        <p:nvSpPr>
          <p:cNvPr id="3" name="Content Placeholder 2"/>
          <p:cNvSpPr>
            <a:spLocks noGrp="1"/>
          </p:cNvSpPr>
          <p:nvPr>
            <p:ph idx="1"/>
          </p:nvPr>
        </p:nvSpPr>
        <p:spPr/>
        <p:txBody>
          <a:bodyPr>
            <a:normAutofit fontScale="60000"/>
          </a:bodyPr>
          <a:p>
            <a:r>
              <a:rPr lang="en-US"/>
              <a:t>Suppose you are given a following database - </a:t>
            </a:r>
            <a:endParaRPr lang="en-US"/>
          </a:p>
          <a:p>
            <a:pPr lvl="1"/>
            <a:r>
              <a:rPr lang="en-US"/>
              <a:t># records = 2^30</a:t>
            </a:r>
            <a:endParaRPr lang="en-US"/>
          </a:p>
          <a:p>
            <a:pPr lvl="1"/>
            <a:r>
              <a:rPr lang="en-US"/>
              <a:t>Block size = 4096 bytes</a:t>
            </a:r>
            <a:endParaRPr lang="en-US"/>
          </a:p>
          <a:p>
            <a:pPr lvl="1"/>
            <a:r>
              <a:rPr lang="en-US"/>
              <a:t>Index field = 10 bytes</a:t>
            </a:r>
            <a:endParaRPr lang="en-US"/>
          </a:p>
          <a:p>
            <a:pPr lvl="1"/>
            <a:r>
              <a:rPr lang="en-US"/>
              <a:t>Block pointer size = 22 bytes</a:t>
            </a:r>
            <a:endParaRPr lang="en-US"/>
          </a:p>
          <a:p>
            <a:pPr lvl="1"/>
            <a:r>
              <a:rPr lang="en-US"/>
              <a:t># of distinct values in non-key field = 16384</a:t>
            </a:r>
            <a:endParaRPr lang="en-US"/>
          </a:p>
          <a:p>
            <a:pPr lvl="0"/>
            <a:r>
              <a:rPr lang="en-US"/>
              <a:t>Answer followings - </a:t>
            </a:r>
            <a:endParaRPr lang="en-US"/>
          </a:p>
          <a:p>
            <a:pPr lvl="1"/>
            <a:r>
              <a:rPr lang="en-US"/>
              <a:t># records per block</a:t>
            </a:r>
            <a:endParaRPr lang="en-US"/>
          </a:p>
          <a:p>
            <a:pPr lvl="1"/>
            <a:r>
              <a:rPr lang="en-US"/>
              <a:t># blocks required</a:t>
            </a:r>
            <a:endParaRPr lang="en-US"/>
          </a:p>
          <a:p>
            <a:pPr lvl="1"/>
            <a:r>
              <a:rPr lang="en-US"/>
              <a:t>index file entry size</a:t>
            </a:r>
            <a:endParaRPr lang="en-US"/>
          </a:p>
          <a:p>
            <a:pPr lvl="1"/>
            <a:r>
              <a:rPr lang="en-US"/>
              <a:t># of index entries</a:t>
            </a:r>
            <a:endParaRPr lang="en-US"/>
          </a:p>
          <a:p>
            <a:pPr lvl="1"/>
            <a:r>
              <a:rPr lang="en-US"/>
              <a:t>Total size of index file</a:t>
            </a:r>
            <a:endParaRPr lang="en-US"/>
          </a:p>
          <a:p>
            <a:pPr lvl="1"/>
            <a:r>
              <a:rPr lang="en-US"/>
              <a:t># Blocks required to store the index file</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286016"/>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secondary index is also an ordered file with two fields. The first field is of the same data type as some non-ordering field of the data file that is an indexing field. The second field is either a block pointer or a record pointer. There can be many secondary indexes for the same file.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 this case there is one index entry for each record in the data file, which contains the value of the secondary key for the record and a pointer either to the block in which the record is stored or to the record itself.</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Secondary Indexes</a:t>
            </a:r>
            <a:endParaRPr lang="en-US" sz="3600" b="1" dirty="0" smtClean="0">
              <a:latin typeface="Times New Roman" panose="02020603050405020304" pitchFamily="18" charset="0"/>
              <a:cs typeface="Times New Roman" panose="02020603050405020304" pitchFamily="18" charset="0"/>
            </a:endParaRPr>
          </a:p>
        </p:txBody>
      </p:sp>
      <p:sp>
        <p:nvSpPr>
          <p:cNvPr id="8" name="object 19"/>
          <p:cNvSpPr/>
          <p:nvPr/>
        </p:nvSpPr>
        <p:spPr>
          <a:xfrm>
            <a:off x="2285984" y="3357562"/>
            <a:ext cx="5286412" cy="2286016"/>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286016"/>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secondary index usually needs more storage space and longer search time than does a primary index, because of its larger number of entries.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Secondary index provides a logical ordering on the records by the indexing field.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data file can have either a primary index or a cluster index depending on its ordering field. It can have several secondary indexes, however.</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Secondary Indexes…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Secondary Indexing</a:t>
            </a:r>
            <a:endParaRPr lang="en-US"/>
          </a:p>
        </p:txBody>
      </p:sp>
      <p:sp>
        <p:nvSpPr>
          <p:cNvPr id="3" name="Content Placeholder 2"/>
          <p:cNvSpPr>
            <a:spLocks noGrp="1"/>
          </p:cNvSpPr>
          <p:nvPr>
            <p:ph idx="1"/>
          </p:nvPr>
        </p:nvSpPr>
        <p:spPr/>
        <p:txBody>
          <a:bodyPr/>
          <a:p>
            <a:r>
              <a:rPr lang="en-US"/>
              <a:t>Data need not to be sorted according to index.</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a:picLocks noChangeAspect="1"/>
          </p:cNvPicPr>
          <p:nvPr/>
        </p:nvPicPr>
        <p:blipFill>
          <a:blip r:embed="rId1"/>
          <a:stretch>
            <a:fillRect/>
          </a:stretch>
        </p:blipFill>
        <p:spPr>
          <a:xfrm>
            <a:off x="467360" y="2277110"/>
            <a:ext cx="8507095" cy="40932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857520"/>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Indexes can also be characterized as dense or sparse: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a:t>
            </a:r>
            <a:r>
              <a:rPr lang="en-US" b="1" kern="0" dirty="0" smtClean="0">
                <a:latin typeface="Times New Roman" panose="02020603050405020304" pitchFamily="18" charset="0"/>
                <a:cs typeface="Times New Roman" panose="02020603050405020304" pitchFamily="18" charset="0"/>
              </a:rPr>
              <a:t>dense index </a:t>
            </a:r>
            <a:r>
              <a:rPr lang="en-US" kern="0" dirty="0" smtClean="0">
                <a:latin typeface="Times New Roman" panose="02020603050405020304" pitchFamily="18" charset="0"/>
                <a:cs typeface="Times New Roman" panose="02020603050405020304" pitchFamily="18" charset="0"/>
              </a:rPr>
              <a:t>has an index entry for every search key value (and hence every record) in the data file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a:t>
            </a:r>
            <a:r>
              <a:rPr lang="en-US" b="1" kern="0" dirty="0" smtClean="0">
                <a:latin typeface="Times New Roman" panose="02020603050405020304" pitchFamily="18" charset="0"/>
                <a:cs typeface="Times New Roman" panose="02020603050405020304" pitchFamily="18" charset="0"/>
              </a:rPr>
              <a:t>sparse or non-dense index </a:t>
            </a:r>
            <a:r>
              <a:rPr lang="en-US" kern="0" dirty="0" smtClean="0">
                <a:latin typeface="Times New Roman" panose="02020603050405020304" pitchFamily="18" charset="0"/>
                <a:cs typeface="Times New Roman" panose="02020603050405020304" pitchFamily="18" charset="0"/>
              </a:rPr>
              <a:t>has index entries for only some of the search values</a:t>
            </a:r>
            <a:endParaRPr lang="en-US" kern="0" dirty="0" smtClean="0">
              <a:latin typeface="Times New Roman" panose="02020603050405020304" pitchFamily="18" charset="0"/>
              <a:cs typeface="Times New Roman" panose="02020603050405020304" pitchFamily="18" charset="0"/>
            </a:endParaRPr>
          </a:p>
          <a:p>
            <a:pPr marL="1714500" lvl="3"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Primary index → Non-dense</a:t>
            </a:r>
            <a:endParaRPr lang="en-US" kern="0" dirty="0" smtClean="0">
              <a:latin typeface="Times New Roman" panose="02020603050405020304" pitchFamily="18" charset="0"/>
              <a:cs typeface="Times New Roman" panose="02020603050405020304" pitchFamily="18" charset="0"/>
            </a:endParaRPr>
          </a:p>
          <a:p>
            <a:pPr marL="1714500" lvl="3"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Clustering index → Non-dense </a:t>
            </a:r>
            <a:endParaRPr lang="en-US" kern="0" dirty="0" smtClean="0">
              <a:latin typeface="Times New Roman" panose="02020603050405020304" pitchFamily="18" charset="0"/>
              <a:cs typeface="Times New Roman" panose="02020603050405020304" pitchFamily="18" charset="0"/>
            </a:endParaRPr>
          </a:p>
          <a:p>
            <a:pPr marL="1714500" lvl="3"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Secondary index → Dense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Dense/Sparse Indexes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Multi-level Indexing</a:t>
            </a:r>
            <a:endParaRPr lang="en-US"/>
          </a:p>
        </p:txBody>
      </p:sp>
      <p:sp>
        <p:nvSpPr>
          <p:cNvPr id="3" name="Content Placeholder 2"/>
          <p:cNvSpPr>
            <a:spLocks noGrp="1"/>
          </p:cNvSpPr>
          <p:nvPr>
            <p:ph idx="1"/>
          </p:nvPr>
        </p:nvSpPr>
        <p:spPr/>
        <p:txBody>
          <a:bodyPr/>
          <a:p>
            <a:r>
              <a:rPr lang="en-US"/>
              <a:t>If the no of records in database table is huge then index file size will also be very huge. Therefore to search in this large index file, a lot of disk blocks will be accessed.</a:t>
            </a:r>
            <a:endParaRPr lang="en-US"/>
          </a:p>
          <a:p>
            <a:endParaRPr lang="en-US"/>
          </a:p>
          <a:p>
            <a:r>
              <a:rPr lang="en-US"/>
              <a:t>To improve this search time, we can do indexing of the index file also. This is known as multi-level indexing.</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Multi-level Indexing</a:t>
            </a:r>
            <a:endParaRPr lang="en-US"/>
          </a:p>
        </p:txBody>
      </p:sp>
      <p:pic>
        <p:nvPicPr>
          <p:cNvPr id="5" name="Content Placeholder 4"/>
          <p:cNvPicPr>
            <a:picLocks noChangeAspect="1"/>
          </p:cNvPicPr>
          <p:nvPr>
            <p:ph idx="1"/>
          </p:nvPr>
        </p:nvPicPr>
        <p:blipFill>
          <a:blip r:embed="rId1"/>
          <a:stretch>
            <a:fillRect/>
          </a:stretch>
        </p:blipFill>
        <p:spPr>
          <a:xfrm>
            <a:off x="107315" y="1268730"/>
            <a:ext cx="8616315" cy="5436235"/>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079186"/>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a:t>
            </a:r>
            <a:r>
              <a:rPr lang="en-US" b="1" kern="0" dirty="0" smtClean="0">
                <a:latin typeface="Times New Roman" panose="02020603050405020304" pitchFamily="18" charset="0"/>
                <a:cs typeface="Times New Roman" panose="02020603050405020304" pitchFamily="18" charset="0"/>
              </a:rPr>
              <a:t>multilevel indexing </a:t>
            </a:r>
            <a:r>
              <a:rPr lang="en-US" kern="0" dirty="0" smtClean="0">
                <a:latin typeface="Times New Roman" panose="02020603050405020304" pitchFamily="18" charset="0"/>
                <a:cs typeface="Times New Roman" panose="02020603050405020304" pitchFamily="18" charset="0"/>
              </a:rPr>
              <a:t>can contain any number of levels, each of which acts as a non-dense index to the level below. The top level contains a single entry.</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multilevel index can be created for any type of first-level index (whether it is primary, clustering or secondary) as long as the first-level index consists of more than one disk block.</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advantage of multilevel index is that it reduces the number of blocks accessed when searching a record, given its indexing field value.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problems associated with index insertions and deletions still exist because all index levels are physically ordered files.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Because of the insertion and deletion problem, most multilevel indexes use B-tree or B+-tree data structures, which leave space in each tree node (disk block) to allow for new index entries.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In B-Tree and B  -Tree data structures, each node corresponds to a disk block. Here, each node is kept between half-full and completely full.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An insertion into a node that is not full is quite efficient. On the other hand, if a node is full the insertion causes a split into two nodes.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Similarly, a deletion is quite efficient if a node does not become less than half full. If a deletion causes a node to become less than half-full, it must be merged.</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Multilevel Indexing</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search tree is a special type of tree that is used to search a record, given the value of one of the record’s fields.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search tree of order ’p’ is a tree such that each node contains at most ’p-1’ search values and ’p’ pointers in the order &lt; P1 , K1  , P2  , K2  , ... Pq-1	, Kq−1,Pq&gt;, where q ≤ p; each P  is a pointer to a child node and each K  is a search value from some ordered set of values.</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All of these search values are unique</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Search Trees</a:t>
            </a:r>
            <a:endParaRPr lang="en-US" sz="3600" b="1" dirty="0" smtClean="0">
              <a:latin typeface="Times New Roman" panose="02020603050405020304" pitchFamily="18" charset="0"/>
              <a:cs typeface="Times New Roman" panose="02020603050405020304" pitchFamily="18" charset="0"/>
            </a:endParaRPr>
          </a:p>
        </p:txBody>
      </p:sp>
      <p:sp>
        <p:nvSpPr>
          <p:cNvPr id="8" name="object 25"/>
          <p:cNvSpPr/>
          <p:nvPr/>
        </p:nvSpPr>
        <p:spPr>
          <a:xfrm>
            <a:off x="2285984" y="4000504"/>
            <a:ext cx="4643470" cy="1967834"/>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Two constraints must hold at all times on the search tree:</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Within each node, K1  &lt; K2  &lt; ... &lt; Kq−1</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For all values X in the </a:t>
            </a:r>
            <a:r>
              <a:rPr lang="en-US" kern="0" dirty="0" err="1" smtClean="0">
                <a:latin typeface="Times New Roman" panose="02020603050405020304" pitchFamily="18" charset="0"/>
                <a:cs typeface="Times New Roman" panose="02020603050405020304" pitchFamily="18" charset="0"/>
              </a:rPr>
              <a:t>subtree</a:t>
            </a:r>
            <a:r>
              <a:rPr lang="en-US" kern="0" dirty="0" smtClean="0">
                <a:latin typeface="Times New Roman" panose="02020603050405020304" pitchFamily="18" charset="0"/>
                <a:cs typeface="Times New Roman" panose="02020603050405020304" pitchFamily="18" charset="0"/>
              </a:rPr>
              <a:t> pointed at by Pi , X &lt; K1; Ki−1  &lt; X &lt; </a:t>
            </a:r>
            <a:r>
              <a:rPr lang="en-US" kern="0" dirty="0" err="1" smtClean="0">
                <a:latin typeface="Times New Roman" panose="02020603050405020304" pitchFamily="18" charset="0"/>
                <a:cs typeface="Times New Roman" panose="02020603050405020304" pitchFamily="18" charset="0"/>
              </a:rPr>
              <a:t>Ki</a:t>
            </a:r>
            <a:r>
              <a:rPr lang="en-US" kern="0" dirty="0" smtClean="0">
                <a:latin typeface="Times New Roman" panose="02020603050405020304" pitchFamily="18" charset="0"/>
                <a:cs typeface="Times New Roman" panose="02020603050405020304" pitchFamily="18" charset="0"/>
              </a:rPr>
              <a:t>  for 1 &lt; </a:t>
            </a:r>
            <a:r>
              <a:rPr lang="en-US" kern="0" dirty="0" err="1" smtClean="0">
                <a:latin typeface="Times New Roman" panose="02020603050405020304" pitchFamily="18" charset="0"/>
                <a:cs typeface="Times New Roman" panose="02020603050405020304" pitchFamily="18" charset="0"/>
              </a:rPr>
              <a:t>i</a:t>
            </a:r>
            <a:r>
              <a:rPr lang="en-US" kern="0" dirty="0" smtClean="0">
                <a:latin typeface="Times New Roman" panose="02020603050405020304" pitchFamily="18" charset="0"/>
                <a:cs typeface="Times New Roman" panose="02020603050405020304" pitchFamily="18" charset="0"/>
              </a:rPr>
              <a:t> &lt; q; and Ki−1  &lt; X for </a:t>
            </a:r>
            <a:r>
              <a:rPr lang="en-US" kern="0" dirty="0" err="1" smtClean="0">
                <a:latin typeface="Times New Roman" panose="02020603050405020304" pitchFamily="18" charset="0"/>
                <a:cs typeface="Times New Roman" panose="02020603050405020304" pitchFamily="18" charset="0"/>
              </a:rPr>
              <a:t>i</a:t>
            </a:r>
            <a:r>
              <a:rPr lang="en-US" kern="0" dirty="0" smtClean="0">
                <a:latin typeface="Times New Roman" panose="02020603050405020304" pitchFamily="18" charset="0"/>
                <a:cs typeface="Times New Roman" panose="02020603050405020304" pitchFamily="18" charset="0"/>
              </a:rPr>
              <a:t> = q</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When a user wants search a value X, he has to follow the appropriate pointer Pi  according to the formula in condition 2.</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 search tree is balanced when all of its leaf nodes are at the same level.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Search Trees…</a:t>
            </a:r>
            <a:endParaRPr lang="en-US" sz="3600" b="1" dirty="0" smtClean="0">
              <a:latin typeface="Times New Roman" panose="02020603050405020304" pitchFamily="18" charset="0"/>
              <a:cs typeface="Times New Roman" panose="02020603050405020304" pitchFamily="18" charset="0"/>
            </a:endParaRPr>
          </a:p>
        </p:txBody>
      </p:sp>
      <p:sp>
        <p:nvSpPr>
          <p:cNvPr id="14" name="object 15"/>
          <p:cNvSpPr/>
          <p:nvPr/>
        </p:nvSpPr>
        <p:spPr>
          <a:xfrm>
            <a:off x="1928794" y="2714620"/>
            <a:ext cx="5643602" cy="2000264"/>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B-tree is a specialized multi-way tree designed especially for use on disk. A B-tree of order ’p’ can be defined as follows: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Each internal node is of the form &lt;P1, &lt;K1&gt;, P2, &lt;K2&gt; ...&lt;Kq−1&gt;, </a:t>
            </a:r>
            <a:r>
              <a:rPr lang="en-US" kern="0" dirty="0" err="1" smtClean="0">
                <a:latin typeface="Times New Roman" panose="02020603050405020304" pitchFamily="18" charset="0"/>
                <a:cs typeface="Times New Roman" panose="02020603050405020304" pitchFamily="18" charset="0"/>
              </a:rPr>
              <a:t>Pq</a:t>
            </a:r>
            <a:r>
              <a:rPr lang="en-US" kern="0" dirty="0" smtClean="0">
                <a:latin typeface="Times New Roman" panose="02020603050405020304" pitchFamily="18" charset="0"/>
                <a:cs typeface="Times New Roman" panose="02020603050405020304" pitchFamily="18" charset="0"/>
              </a:rPr>
              <a:t> &gt; , where q ≤ p. Each Pi  is a tree pointer, which is a pointer to another node in the B-tree</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Within each node, K1  &lt; K2  &lt; ... &lt;Kq−1</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Each node has at most ’p’ tree pointers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For all search key field values X in the </a:t>
            </a:r>
            <a:r>
              <a:rPr lang="en-US" kern="0" dirty="0" err="1" smtClean="0">
                <a:latin typeface="Times New Roman" panose="02020603050405020304" pitchFamily="18" charset="0"/>
                <a:cs typeface="Times New Roman" panose="02020603050405020304" pitchFamily="18" charset="0"/>
              </a:rPr>
              <a:t>subtree</a:t>
            </a:r>
            <a:r>
              <a:rPr lang="en-US" kern="0" dirty="0" smtClean="0">
                <a:latin typeface="Times New Roman" panose="02020603050405020304" pitchFamily="18" charset="0"/>
                <a:cs typeface="Times New Roman" panose="02020603050405020304" pitchFamily="18" charset="0"/>
              </a:rPr>
              <a:t> pointed by Pi , the rule is X &lt; K1; Ki−1  &lt; X &lt; </a:t>
            </a:r>
            <a:r>
              <a:rPr lang="en-US" kern="0" dirty="0" err="1" smtClean="0">
                <a:latin typeface="Times New Roman" panose="02020603050405020304" pitchFamily="18" charset="0"/>
                <a:cs typeface="Times New Roman" panose="02020603050405020304" pitchFamily="18" charset="0"/>
              </a:rPr>
              <a:t>Ki</a:t>
            </a:r>
            <a:r>
              <a:rPr lang="en-US" kern="0" dirty="0" smtClean="0">
                <a:latin typeface="Times New Roman" panose="02020603050405020304" pitchFamily="18" charset="0"/>
                <a:cs typeface="Times New Roman" panose="02020603050405020304" pitchFamily="18" charset="0"/>
              </a:rPr>
              <a:t>  for 1 &lt; </a:t>
            </a:r>
            <a:r>
              <a:rPr lang="en-US" kern="0" dirty="0" err="1" smtClean="0">
                <a:latin typeface="Times New Roman" panose="02020603050405020304" pitchFamily="18" charset="0"/>
                <a:cs typeface="Times New Roman" panose="02020603050405020304" pitchFamily="18" charset="0"/>
              </a:rPr>
              <a:t>i</a:t>
            </a:r>
            <a:r>
              <a:rPr lang="en-US" kern="0" dirty="0" smtClean="0">
                <a:latin typeface="Times New Roman" panose="02020603050405020304" pitchFamily="18" charset="0"/>
                <a:cs typeface="Times New Roman" panose="02020603050405020304" pitchFamily="18" charset="0"/>
              </a:rPr>
              <a:t> &lt; q; and Ki−1  &lt; X for </a:t>
            </a:r>
            <a:r>
              <a:rPr lang="en-US" kern="0" dirty="0" err="1" smtClean="0">
                <a:latin typeface="Times New Roman" panose="02020603050405020304" pitchFamily="18" charset="0"/>
                <a:cs typeface="Times New Roman" panose="02020603050405020304" pitchFamily="18" charset="0"/>
              </a:rPr>
              <a:t>i</a:t>
            </a:r>
            <a:r>
              <a:rPr lang="en-US" kern="0" dirty="0" smtClean="0">
                <a:latin typeface="Times New Roman" panose="02020603050405020304" pitchFamily="18" charset="0"/>
                <a:cs typeface="Times New Roman" panose="02020603050405020304" pitchFamily="18" charset="0"/>
              </a:rPr>
              <a:t> = q</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All non-leaf nodes except the root have at least ⌈ p / 2 ⌉ children. The root is either a leaf node, or it has from two to p children</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A node with q tree pointers, q ≤ p, has q-1 search key field values</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All leaf nodes are at the same level. Leaf nodes have the same structure as internal nodes except that all of their tree pointers Pi  are null</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The insertion to a B-tree is an easier process. A B-tree starts with a single root node at level 0. The rules for the insertion to B-tree are:</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It attempts to insert the new key into a leaf. If this would result in that leaf becoming too big, split the leaf into two, promoting the middle key to the leaf’s parent</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the insertion would result in the parent becoming too big, split the parent into two, promoting the middle key. This strategy might have to be repeated all the way to the top</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necessary, the root is split in two and the middle key is promoted to a new root, making the tree one level higher</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Ex: Draw the B-tree of the order 5 for the data items 10, 50, 30, 70, 90, 25, 40, 45, 48 ?</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a:t>
            </a:r>
            <a:endParaRPr lang="en-US" sz="3600" b="1" dirty="0" smtClean="0">
              <a:latin typeface="Times New Roman" panose="02020603050405020304" pitchFamily="18" charset="0"/>
              <a:cs typeface="Times New Roman" panose="02020603050405020304" pitchFamily="18" charset="0"/>
            </a:endParaRPr>
          </a:p>
        </p:txBody>
      </p:sp>
      <p:sp>
        <p:nvSpPr>
          <p:cNvPr id="8" name="object 17"/>
          <p:cNvSpPr/>
          <p:nvPr/>
        </p:nvSpPr>
        <p:spPr>
          <a:xfrm>
            <a:off x="2285984" y="4993167"/>
            <a:ext cx="5000660" cy="1150477"/>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kern="0" dirty="0" smtClean="0">
                <a:latin typeface="Times New Roman" panose="02020603050405020304" pitchFamily="18" charset="0"/>
                <a:cs typeface="Times New Roman" panose="02020603050405020304" pitchFamily="18" charset="0"/>
              </a:rPr>
              <a:t>At deletion, removal should be done from a leaf:</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the key is already in a leaf node, and removing it doesn’t cause that leaf node to have too few keys, then simply remove the key to be deleted</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the key is not in a leaf, then it is guaranteed that its predecessor or successor will be in a leaf. In this case, delete the key and promote the predecessor or successor key to the non-leaf deleted key’s position</a:t>
            </a:r>
            <a:endParaRPr lang="en-US" kern="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kern="0" dirty="0" smtClean="0">
                <a:latin typeface="Times New Roman" panose="02020603050405020304" pitchFamily="18" charset="0"/>
                <a:cs typeface="Times New Roman" panose="02020603050405020304" pitchFamily="18" charset="0"/>
              </a:rPr>
              <a:t>If first or second condition lead to a leaf node containing less than the minimum number of keys, then look at the siblings immediately adjacent to the leaf:</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
              <a:defRPr/>
            </a:pPr>
            <a:r>
              <a:rPr lang="en-US" kern="0" dirty="0" smtClean="0">
                <a:latin typeface="Times New Roman" panose="02020603050405020304" pitchFamily="18" charset="0"/>
                <a:cs typeface="Times New Roman" panose="02020603050405020304" pitchFamily="18" charset="0"/>
              </a:rPr>
              <a:t>If one of them has more than the minimum number of keys, then promote one of its keys to the parent and take the parent key into the lacking leaf</a:t>
            </a:r>
            <a:endParaRPr lang="en-US" kern="0"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
              <a:defRPr/>
            </a:pPr>
            <a:r>
              <a:rPr lang="en-US" kern="0" dirty="0" smtClean="0">
                <a:latin typeface="Times New Roman" panose="02020603050405020304" pitchFamily="18" charset="0"/>
                <a:cs typeface="Times New Roman" panose="02020603050405020304" pitchFamily="18" charset="0"/>
              </a:rPr>
              <a:t>If neither of them has more than the minimum number of keys, then the lacking leaf and one of its </a:t>
            </a:r>
            <a:r>
              <a:rPr lang="en-US" kern="0" dirty="0" err="1" smtClean="0">
                <a:latin typeface="Times New Roman" panose="02020603050405020304" pitchFamily="18" charset="0"/>
                <a:cs typeface="Times New Roman" panose="02020603050405020304" pitchFamily="18" charset="0"/>
              </a:rPr>
              <a:t>neighbours</a:t>
            </a:r>
            <a:r>
              <a:rPr lang="en-US" kern="0" dirty="0" smtClean="0">
                <a:latin typeface="Times New Roman" panose="02020603050405020304" pitchFamily="18" charset="0"/>
                <a:cs typeface="Times New Roman" panose="02020603050405020304" pitchFamily="18" charset="0"/>
              </a:rPr>
              <a:t> can be combined with their shared parent; &amp; the new leaf will have the correct number of keys. If this step leaves the parent with too few keys, repeat the process up to the root itself</a:t>
            </a: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 Deletion</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Deletion of 40</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kern="0" dirty="0" smtClean="0">
                <a:latin typeface="Times New Roman" panose="02020603050405020304" pitchFamily="18" charset="0"/>
                <a:cs typeface="Times New Roman" panose="02020603050405020304" pitchFamily="18" charset="0"/>
              </a:rPr>
              <a:t>Deletion of  10</a:t>
            </a:r>
            <a:endParaRPr lang="en-US" b="1"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spc="-10" dirty="0" smtClean="0">
                <a:latin typeface="Times New Roman" panose="02020603050405020304" pitchFamily="18" charset="0"/>
                <a:cs typeface="Times New Roman" panose="02020603050405020304" pitchFamily="18" charset="0"/>
              </a:rPr>
              <a:t>The</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maxi</a:t>
            </a:r>
            <a:r>
              <a:rPr lang="en-US" b="1" spc="-30" dirty="0" smtClean="0">
                <a:latin typeface="Times New Roman" panose="02020603050405020304" pitchFamily="18" charset="0"/>
                <a:cs typeface="Times New Roman" panose="02020603050405020304" pitchFamily="18" charset="0"/>
              </a:rPr>
              <a:t>m</a:t>
            </a:r>
            <a:r>
              <a:rPr lang="en-US" b="1" spc="-10" dirty="0" smtClean="0">
                <a:latin typeface="Times New Roman" panose="02020603050405020304" pitchFamily="18" charset="0"/>
                <a:cs typeface="Times New Roman" panose="02020603050405020304" pitchFamily="18" charset="0"/>
              </a:rPr>
              <a:t>um</a:t>
            </a:r>
            <a:r>
              <a:rPr lang="en-US" b="1" spc="-5" dirty="0" smtClean="0">
                <a:latin typeface="Times New Roman" panose="02020603050405020304" pitchFamily="18" charset="0"/>
                <a:cs typeface="Times New Roman" panose="02020603050405020304" pitchFamily="18" charset="0"/>
              </a:rPr>
              <a:t> </a:t>
            </a:r>
            <a:r>
              <a:rPr lang="en-US" b="1" spc="-20" dirty="0" smtClean="0">
                <a:latin typeface="Times New Roman" panose="02020603050405020304" pitchFamily="18" charset="0"/>
                <a:cs typeface="Times New Roman" panose="02020603050405020304" pitchFamily="18" charset="0"/>
              </a:rPr>
              <a:t>n</a:t>
            </a:r>
            <a:r>
              <a:rPr lang="en-US" b="1" spc="-10" dirty="0" smtClean="0">
                <a:latin typeface="Times New Roman" panose="02020603050405020304" pitchFamily="18" charset="0"/>
                <a:cs typeface="Times New Roman" panose="02020603050405020304" pitchFamily="18" charset="0"/>
              </a:rPr>
              <a:t>umber</a:t>
            </a:r>
            <a:r>
              <a:rPr lang="en-US" b="1" spc="-5" dirty="0" smtClean="0">
                <a:latin typeface="Times New Roman" panose="02020603050405020304" pitchFamily="18" charset="0"/>
                <a:cs typeface="Times New Roman" panose="02020603050405020304" pitchFamily="18" charset="0"/>
              </a:rPr>
              <a:t> of </a:t>
            </a:r>
            <a:r>
              <a:rPr lang="en-US" b="1" spc="-10" dirty="0" smtClean="0">
                <a:latin typeface="Times New Roman" panose="02020603050405020304" pitchFamily="18" charset="0"/>
                <a:cs typeface="Times New Roman" panose="02020603050405020304" pitchFamily="18" charset="0"/>
              </a:rPr>
              <a:t>items</a:t>
            </a:r>
            <a:r>
              <a:rPr lang="en-US" b="1" spc="-5" dirty="0" smtClean="0">
                <a:latin typeface="Times New Roman" panose="02020603050405020304" pitchFamily="18" charset="0"/>
                <a:cs typeface="Times New Roman" panose="02020603050405020304" pitchFamily="18" charset="0"/>
              </a:rPr>
              <a:t> in </a:t>
            </a:r>
            <a:r>
              <a:rPr lang="en-US" b="1" spc="-10" dirty="0" smtClean="0">
                <a:latin typeface="Times New Roman" panose="02020603050405020304" pitchFamily="18" charset="0"/>
                <a:cs typeface="Times New Roman" panose="02020603050405020304" pitchFamily="18" charset="0"/>
              </a:rPr>
              <a:t>a</a:t>
            </a:r>
            <a:r>
              <a:rPr lang="en-US" b="1" spc="-5" dirty="0" smtClean="0">
                <a:latin typeface="Times New Roman" panose="02020603050405020304" pitchFamily="18" charset="0"/>
                <a:cs typeface="Times New Roman" panose="02020603050405020304" pitchFamily="18" charset="0"/>
              </a:rPr>
              <a:t> B-tree of </a:t>
            </a:r>
            <a:r>
              <a:rPr lang="en-US" b="1" spc="-10" dirty="0" smtClean="0">
                <a:latin typeface="Times New Roman" panose="02020603050405020304" pitchFamily="18" charset="0"/>
                <a:cs typeface="Times New Roman" panose="02020603050405020304" pitchFamily="18" charset="0"/>
              </a:rPr>
              <a:t>o</a:t>
            </a:r>
            <a:r>
              <a:rPr lang="en-US" b="1" spc="-25" dirty="0" smtClean="0">
                <a:latin typeface="Times New Roman" panose="02020603050405020304" pitchFamily="18" charset="0"/>
                <a:cs typeface="Times New Roman" panose="02020603050405020304" pitchFamily="18" charset="0"/>
              </a:rPr>
              <a:t>r</a:t>
            </a:r>
            <a:r>
              <a:rPr lang="en-US" b="1" spc="-10" dirty="0" smtClean="0">
                <a:latin typeface="Times New Roman" panose="02020603050405020304" pitchFamily="18" charset="0"/>
                <a:cs typeface="Times New Roman" panose="02020603050405020304" pitchFamily="18" charset="0"/>
              </a:rPr>
              <a:t>der</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p</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and</a:t>
            </a:r>
            <a:r>
              <a:rPr lang="en-US" b="1" spc="-5" dirty="0" smtClean="0">
                <a:latin typeface="Times New Roman" panose="02020603050405020304" pitchFamily="18" charset="0"/>
                <a:cs typeface="Times New Roman" panose="02020603050405020304" pitchFamily="18" charset="0"/>
              </a:rPr>
              <a:t> height </a:t>
            </a:r>
            <a:r>
              <a:rPr lang="en-US" b="1" spc="-10" dirty="0" smtClean="0">
                <a:latin typeface="Times New Roman" panose="02020603050405020304" pitchFamily="18" charset="0"/>
                <a:cs typeface="Times New Roman" panose="02020603050405020304" pitchFamily="18" charset="0"/>
              </a:rPr>
              <a:t>h</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t>
            </a:r>
            <a:r>
              <a:rPr lang="en-US" b="1" spc="-5" dirty="0" smtClean="0">
                <a:latin typeface="Times New Roman" panose="02020603050405020304" pitchFamily="18" charset="0"/>
                <a:cs typeface="Times New Roman" panose="02020603050405020304" pitchFamily="18" charset="0"/>
              </a:rPr>
              <a:t> </a:t>
            </a:r>
            <a:r>
              <a:rPr lang="en-US" i="1" spc="15" dirty="0" smtClean="0">
                <a:latin typeface="Times New Roman" panose="02020603050405020304" pitchFamily="18" charset="0"/>
                <a:cs typeface="Times New Roman" panose="02020603050405020304" pitchFamily="18" charset="0"/>
              </a:rPr>
              <a:t>p</a:t>
            </a:r>
            <a:r>
              <a:rPr lang="en-US" sz="2000" i="1" baseline="28000" dirty="0" smtClean="0">
                <a:latin typeface="Times New Roman" panose="02020603050405020304" pitchFamily="18" charset="0"/>
                <a:cs typeface="Times New Roman" panose="02020603050405020304" pitchFamily="18" charset="0"/>
              </a:rPr>
              <a:t>h</a:t>
            </a:r>
            <a:r>
              <a:rPr lang="en-US" sz="2000" baseline="28000" dirty="0" smtClean="0">
                <a:latin typeface="Times New Roman" panose="02020603050405020304" pitchFamily="18" charset="0"/>
                <a:cs typeface="Times New Roman" panose="02020603050405020304" pitchFamily="18" charset="0"/>
              </a:rPr>
              <a:t>+</a:t>
            </a:r>
            <a:r>
              <a:rPr lang="en-US" sz="2000" spc="-7" baseline="28000" dirty="0" smtClean="0">
                <a:latin typeface="Times New Roman" panose="02020603050405020304" pitchFamily="18" charset="0"/>
                <a:cs typeface="Times New Roman" panose="02020603050405020304" pitchFamily="18" charset="0"/>
              </a:rPr>
              <a:t>1</a:t>
            </a:r>
            <a:r>
              <a:rPr lang="en-US" sz="2000" baseline="28000" dirty="0" smtClean="0">
                <a:latin typeface="Times New Roman" panose="02020603050405020304" pitchFamily="18" charset="0"/>
                <a:cs typeface="Times New Roman" panose="02020603050405020304" pitchFamily="18" charset="0"/>
              </a:rPr>
              <a:t> </a:t>
            </a:r>
            <a:r>
              <a:rPr lang="en-US" sz="2000" spc="-97" baseline="28000" dirty="0" smtClean="0">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 </a:t>
            </a:r>
            <a:r>
              <a:rPr lang="en-US" spc="-40" dirty="0" smtClean="0">
                <a:latin typeface="Times New Roman" panose="02020603050405020304" pitchFamily="18" charset="0"/>
                <a:cs typeface="Times New Roman" panose="02020603050405020304" pitchFamily="18" charset="0"/>
              </a:rPr>
              <a:t>F</a:t>
            </a:r>
            <a:r>
              <a:rPr lang="en-US" spc="-5" dirty="0" smtClean="0">
                <a:latin typeface="Times New Roman" panose="02020603050405020304" pitchFamily="18" charset="0"/>
                <a:cs typeface="Times New Roman" panose="02020603050405020304" pitchFamily="18" charset="0"/>
              </a:rPr>
              <a:t>or </a:t>
            </a:r>
            <a:r>
              <a:rPr lang="en-US" spc="-40" dirty="0" smtClean="0">
                <a:latin typeface="Times New Roman" panose="02020603050405020304" pitchFamily="18" charset="0"/>
                <a:cs typeface="Times New Roman" panose="02020603050405020304" pitchFamily="18" charset="0"/>
              </a:rPr>
              <a:t>e</a:t>
            </a:r>
            <a:r>
              <a:rPr lang="en-US" spc="-10" dirty="0" smtClean="0">
                <a:latin typeface="Times New Roman" panose="02020603050405020304" pitchFamily="18" charset="0"/>
                <a:cs typeface="Times New Roman" panose="02020603050405020304" pitchFamily="18" charset="0"/>
              </a:rPr>
              <a:t>xampl</a:t>
            </a:r>
            <a:r>
              <a:rPr lang="en-US" spc="-25"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when</a:t>
            </a:r>
            <a:r>
              <a:rPr lang="en-US" spc="-5" dirty="0" smtClean="0">
                <a:latin typeface="Times New Roman" panose="02020603050405020304" pitchFamily="18" charset="0"/>
                <a:cs typeface="Times New Roman" panose="02020603050405020304" pitchFamily="18" charset="0"/>
              </a:rPr>
              <a:t> the order </a:t>
            </a:r>
            <a:r>
              <a:rPr lang="en-US" spc="-10" dirty="0" smtClean="0">
                <a:latin typeface="Times New Roman" panose="02020603050405020304" pitchFamily="18" charset="0"/>
                <a:cs typeface="Times New Roman" panose="02020603050405020304" pitchFamily="18" charset="0"/>
              </a:rPr>
              <a:t>p=5</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and</a:t>
            </a:r>
            <a:r>
              <a:rPr lang="en-US" spc="-5" dirty="0" smtClean="0">
                <a:latin typeface="Times New Roman" panose="02020603050405020304" pitchFamily="18" charset="0"/>
                <a:cs typeface="Times New Roman" panose="02020603050405020304" pitchFamily="18" charset="0"/>
              </a:rPr>
              <a:t> height h=1, the </a:t>
            </a:r>
            <a:r>
              <a:rPr lang="en-US" spc="-10" dirty="0" smtClean="0">
                <a:latin typeface="Times New Roman" panose="02020603050405020304" pitchFamily="18" charset="0"/>
                <a:cs typeface="Times New Roman" panose="02020603050405020304" pitchFamily="18" charset="0"/>
              </a:rPr>
              <a:t>maxi</a:t>
            </a:r>
            <a:r>
              <a:rPr lang="en-US" spc="-20" dirty="0" smtClean="0">
                <a:latin typeface="Times New Roman" panose="02020603050405020304" pitchFamily="18" charset="0"/>
                <a:cs typeface="Times New Roman" panose="02020603050405020304" pitchFamily="18" charset="0"/>
              </a:rPr>
              <a:t>m</a:t>
            </a:r>
            <a:r>
              <a:rPr lang="en-US" spc="-10" dirty="0" smtClean="0">
                <a:latin typeface="Times New Roman" panose="02020603050405020304" pitchFamily="18" charset="0"/>
                <a:cs typeface="Times New Roman" panose="02020603050405020304" pitchFamily="18" charset="0"/>
              </a:rPr>
              <a:t>um</a:t>
            </a:r>
            <a:r>
              <a:rPr lang="en-US" spc="-5" dirty="0" smtClean="0">
                <a:latin typeface="Times New Roman" panose="02020603050405020304" pitchFamily="18" charset="0"/>
                <a:cs typeface="Times New Roman" panose="02020603050405020304" pitchFamily="18" charset="0"/>
              </a:rPr>
              <a:t> </a:t>
            </a:r>
            <a:r>
              <a:rPr lang="en-US" spc="-20" dirty="0" smtClean="0">
                <a:latin typeface="Times New Roman" panose="02020603050405020304" pitchFamily="18" charset="0"/>
                <a:cs typeface="Times New Roman" panose="02020603050405020304" pitchFamily="18" charset="0"/>
              </a:rPr>
              <a:t>n</a:t>
            </a:r>
            <a:r>
              <a:rPr lang="en-US" spc="-10" dirty="0" smtClean="0">
                <a:latin typeface="Times New Roman" panose="02020603050405020304" pitchFamily="18" charset="0"/>
                <a:cs typeface="Times New Roman" panose="02020603050405020304" pitchFamily="18" charset="0"/>
              </a:rPr>
              <a:t>umber</a:t>
            </a:r>
            <a:r>
              <a:rPr lang="en-US" spc="-5" dirty="0" smtClean="0">
                <a:latin typeface="Times New Roman" panose="02020603050405020304" pitchFamily="18" charset="0"/>
                <a:cs typeface="Times New Roman" panose="02020603050405020304" pitchFamily="18" charset="0"/>
              </a:rPr>
              <a:t> of </a:t>
            </a:r>
            <a:r>
              <a:rPr lang="en-US" spc="-10" dirty="0" smtClean="0">
                <a:latin typeface="Times New Roman" panose="02020603050405020304" pitchFamily="18" charset="0"/>
                <a:cs typeface="Times New Roman" panose="02020603050405020304" pitchFamily="18" charset="0"/>
              </a:rPr>
              <a:t>nodes=</a:t>
            </a:r>
            <a:r>
              <a:rPr lang="en-US" spc="-5" dirty="0" smtClean="0">
                <a:latin typeface="Times New Roman" panose="02020603050405020304" pitchFamily="18" charset="0"/>
                <a:cs typeface="Times New Roman" panose="02020603050405020304" pitchFamily="18" charset="0"/>
              </a:rPr>
              <a:t> </a:t>
            </a:r>
            <a:r>
              <a:rPr lang="en-US" spc="-15" dirty="0" smtClean="0">
                <a:latin typeface="Times New Roman" panose="02020603050405020304" pitchFamily="18" charset="0"/>
                <a:cs typeface="Times New Roman" panose="02020603050405020304" pitchFamily="18" charset="0"/>
              </a:rPr>
              <a:t>5</a:t>
            </a:r>
            <a:r>
              <a:rPr lang="en-US" sz="2000" spc="52" baseline="28000" dirty="0" smtClean="0">
                <a:latin typeface="Times New Roman" panose="02020603050405020304" pitchFamily="18" charset="0"/>
                <a:cs typeface="Times New Roman" panose="02020603050405020304" pitchFamily="18" charset="0"/>
              </a:rPr>
              <a:t>2</a:t>
            </a:r>
            <a:r>
              <a:rPr lang="en-US" spc="-10" dirty="0" smtClean="0">
                <a:latin typeface="Times New Roman" panose="02020603050405020304" pitchFamily="18" charset="0"/>
                <a:cs typeface="Times New Roman" panose="02020603050405020304" pitchFamily="18" charset="0"/>
              </a:rPr>
              <a:t>-1=24</a:t>
            </a:r>
            <a:endParaRPr lang="en-US"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 Deletion</a:t>
            </a:r>
            <a:endParaRPr lang="en-US" sz="3600" b="1" dirty="0" smtClean="0">
              <a:latin typeface="Times New Roman" panose="02020603050405020304" pitchFamily="18" charset="0"/>
              <a:cs typeface="Times New Roman" panose="02020603050405020304" pitchFamily="18" charset="0"/>
            </a:endParaRPr>
          </a:p>
        </p:txBody>
      </p:sp>
      <p:sp>
        <p:nvSpPr>
          <p:cNvPr id="8" name="object 15"/>
          <p:cNvSpPr/>
          <p:nvPr/>
        </p:nvSpPr>
        <p:spPr>
          <a:xfrm>
            <a:off x="2173203" y="1857364"/>
            <a:ext cx="4184748" cy="1150476"/>
          </a:xfrm>
          <a:prstGeom prst="rect">
            <a:avLst/>
          </a:prstGeom>
          <a:blipFill>
            <a:blip r:embed="rId3" cstate="print"/>
            <a:stretch>
              <a:fillRect/>
            </a:stretch>
          </a:blipFill>
        </p:spPr>
        <p:txBody>
          <a:bodyPr wrap="square" lIns="0" tIns="0" rIns="0" bIns="0" rtlCol="0"/>
          <a:lstStyle/>
          <a:p/>
        </p:txBody>
      </p:sp>
      <p:sp>
        <p:nvSpPr>
          <p:cNvPr id="14" name="object 19"/>
          <p:cNvSpPr/>
          <p:nvPr/>
        </p:nvSpPr>
        <p:spPr>
          <a:xfrm>
            <a:off x="2143108" y="3929066"/>
            <a:ext cx="4286280" cy="1143008"/>
          </a:xfrm>
          <a:prstGeom prst="rect">
            <a:avLst/>
          </a:prstGeom>
          <a:blipFill>
            <a:blip r:embed="rId4"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The</a:t>
            </a:r>
            <a:r>
              <a:rPr lang="en-US" spc="-5" dirty="0" smtClean="0">
                <a:latin typeface="Times New Roman" panose="02020603050405020304" pitchFamily="18" charset="0"/>
                <a:cs typeface="Times New Roman" panose="02020603050405020304" pitchFamily="18" charset="0"/>
              </a:rPr>
              <a:t> leaf </a:t>
            </a:r>
            <a:r>
              <a:rPr lang="en-US" spc="-10" dirty="0" smtClean="0">
                <a:latin typeface="Times New Roman" panose="02020603050405020304" pitchFamily="18" charset="0"/>
                <a:cs typeface="Times New Roman" panose="02020603050405020304" pitchFamily="18" charset="0"/>
              </a:rPr>
              <a:t>nodes</a:t>
            </a:r>
            <a:r>
              <a:rPr lang="en-US" spc="-5" dirty="0" smtClean="0">
                <a:latin typeface="Times New Roman" panose="02020603050405020304" pitchFamily="18" charset="0"/>
                <a:cs typeface="Times New Roman" panose="02020603050405020304" pitchFamily="18" charset="0"/>
              </a:rPr>
              <a:t> of the </a:t>
            </a:r>
            <a:r>
              <a:rPr lang="en-US" i="1" spc="25" dirty="0" smtClean="0">
                <a:latin typeface="Times New Roman" panose="02020603050405020304" pitchFamily="18" charset="0"/>
                <a:cs typeface="Times New Roman" panose="02020603050405020304" pitchFamily="18" charset="0"/>
              </a:rPr>
              <a:t>B</a:t>
            </a:r>
            <a:r>
              <a:rPr lang="en-US" sz="2000" spc="75" baseline="28000" dirty="0" smtClean="0">
                <a:latin typeface="Times New Roman" panose="02020603050405020304" pitchFamily="18" charset="0"/>
                <a:cs typeface="Times New Roman" panose="02020603050405020304" pitchFamily="18" charset="0"/>
              </a:rPr>
              <a:t>+</a:t>
            </a:r>
            <a:r>
              <a:rPr lang="en-US" spc="-5" dirty="0" smtClean="0">
                <a:latin typeface="Times New Roman" panose="02020603050405020304" pitchFamily="18" charset="0"/>
                <a:cs typeface="Times New Roman" panose="02020603050405020304" pitchFamily="18" charset="0"/>
              </a:rPr>
              <a:t>-tree are usually lin</a:t>
            </a:r>
            <a:r>
              <a:rPr lang="en-US" spc="-25" dirty="0" smtClean="0">
                <a:latin typeface="Times New Roman" panose="02020603050405020304" pitchFamily="18" charset="0"/>
                <a:cs typeface="Times New Roman" panose="02020603050405020304" pitchFamily="18" charset="0"/>
              </a:rPr>
              <a:t>k</a:t>
            </a:r>
            <a:r>
              <a:rPr lang="en-US" spc="-10" dirty="0" smtClean="0">
                <a:latin typeface="Times New Roman" panose="02020603050405020304" pitchFamily="18" charset="0"/>
                <a:cs typeface="Times New Roman" panose="02020603050405020304" pitchFamily="18" charset="0"/>
              </a:rPr>
              <a:t>ed</a:t>
            </a:r>
            <a:r>
              <a:rPr lang="en-US" spc="-5" dirty="0" smtClean="0">
                <a:latin typeface="Times New Roman" panose="02020603050405020304" pitchFamily="18" charset="0"/>
                <a:cs typeface="Times New Roman" panose="02020603050405020304" pitchFamily="18" charset="0"/>
              </a:rPr>
              <a:t> together to pr</a:t>
            </a:r>
            <a:r>
              <a:rPr lang="en-US" spc="-25" dirty="0" smtClean="0">
                <a:latin typeface="Times New Roman" panose="02020603050405020304" pitchFamily="18" charset="0"/>
                <a:cs typeface="Times New Roman" panose="02020603050405020304" pitchFamily="18" charset="0"/>
              </a:rPr>
              <a:t>o</a:t>
            </a:r>
            <a:r>
              <a:rPr lang="en-US" spc="-5" dirty="0" smtClean="0">
                <a:latin typeface="Times New Roman" panose="02020603050405020304" pitchFamily="18" charset="0"/>
                <a:cs typeface="Times New Roman" panose="02020603050405020304" pitchFamily="18" charset="0"/>
              </a:rPr>
              <a:t>vide ordered </a:t>
            </a:r>
            <a:r>
              <a:rPr lang="en-US" spc="-10" dirty="0" smtClean="0">
                <a:latin typeface="Times New Roman" panose="02020603050405020304" pitchFamily="18" charset="0"/>
                <a:cs typeface="Times New Roman" panose="02020603050405020304" pitchFamily="18" charset="0"/>
              </a:rPr>
              <a:t>access</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on</a:t>
            </a:r>
            <a:r>
              <a:rPr lang="en-US" spc="-5" dirty="0" smtClean="0">
                <a:latin typeface="Times New Roman" panose="02020603050405020304" pitchFamily="18" charset="0"/>
                <a:cs typeface="Times New Roman" panose="02020603050405020304" pitchFamily="18" charset="0"/>
              </a:rPr>
              <a:t> the search field to the record</a:t>
            </a:r>
            <a:r>
              <a:rPr lang="en-US" spc="-20" dirty="0" smtClean="0">
                <a:latin typeface="Times New Roman" panose="02020603050405020304" pitchFamily="18" charset="0"/>
                <a:cs typeface="Times New Roman" panose="02020603050405020304" pitchFamily="18" charset="0"/>
              </a:rPr>
              <a:t>s</a:t>
            </a:r>
            <a:r>
              <a:rPr lang="en-US" spc="-5" dirty="0" smtClean="0">
                <a:latin typeface="Times New Roman" panose="02020603050405020304" pitchFamily="18" charset="0"/>
                <a:cs typeface="Times New Roman" panose="02020603050405020304" pitchFamily="18" charset="0"/>
              </a:rPr>
              <a:t>. These leaf </a:t>
            </a:r>
            <a:r>
              <a:rPr lang="en-US" spc="-10" dirty="0" smtClean="0">
                <a:latin typeface="Times New Roman" panose="02020603050405020304" pitchFamily="18" charset="0"/>
                <a:cs typeface="Times New Roman" panose="02020603050405020304" pitchFamily="18" charset="0"/>
              </a:rPr>
              <a:t>nodes</a:t>
            </a:r>
            <a:r>
              <a:rPr lang="en-US" spc="-5" dirty="0" smtClean="0">
                <a:latin typeface="Times New Roman" panose="02020603050405020304" pitchFamily="18" charset="0"/>
                <a:cs typeface="Times New Roman" panose="02020603050405020304" pitchFamily="18" charset="0"/>
              </a:rPr>
              <a:t> are similar to the first l</a:t>
            </a:r>
            <a:r>
              <a:rPr lang="en-US" spc="-40" dirty="0" smtClean="0">
                <a:latin typeface="Times New Roman" panose="02020603050405020304" pitchFamily="18" charset="0"/>
                <a:cs typeface="Times New Roman" panose="02020603050405020304" pitchFamily="18" charset="0"/>
              </a:rPr>
              <a:t>e</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el of </a:t>
            </a:r>
            <a:r>
              <a:rPr lang="en-US" spc="-10" dirty="0" smtClean="0">
                <a:latin typeface="Times New Roman" panose="02020603050405020304" pitchFamily="18" charset="0"/>
                <a:cs typeface="Times New Roman" panose="02020603050405020304" pitchFamily="18" charset="0"/>
              </a:rPr>
              <a:t>an</a:t>
            </a:r>
            <a:r>
              <a:rPr lang="en-US" spc="-5" dirty="0" smtClean="0">
                <a:latin typeface="Times New Roman" panose="02020603050405020304" pitchFamily="18" charset="0"/>
                <a:cs typeface="Times New Roman" panose="02020603050405020304" pitchFamily="18" charset="0"/>
              </a:rPr>
              <a:t> ind</a:t>
            </a:r>
            <a:r>
              <a:rPr lang="en-US" spc="-40"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x</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nodes</a:t>
            </a:r>
            <a:r>
              <a:rPr lang="en-US" spc="-5" dirty="0" smtClean="0">
                <a:latin typeface="Times New Roman" panose="02020603050405020304" pitchFamily="18" charset="0"/>
                <a:cs typeface="Times New Roman" panose="02020603050405020304" pitchFamily="18" charset="0"/>
              </a:rPr>
              <a:t> of the </a:t>
            </a:r>
            <a:r>
              <a:rPr lang="en-US" i="1" spc="25" dirty="0" smtClean="0">
                <a:latin typeface="Times New Roman" panose="02020603050405020304" pitchFamily="18" charset="0"/>
                <a:cs typeface="Times New Roman" panose="02020603050405020304" pitchFamily="18" charset="0"/>
              </a:rPr>
              <a:t>B</a:t>
            </a:r>
            <a:r>
              <a:rPr lang="en-US" sz="2000" spc="75" baseline="28000" dirty="0" smtClean="0">
                <a:latin typeface="Times New Roman" panose="02020603050405020304" pitchFamily="18" charset="0"/>
                <a:cs typeface="Times New Roman" panose="02020603050405020304" pitchFamily="18" charset="0"/>
              </a:rPr>
              <a:t>+</a:t>
            </a:r>
            <a:r>
              <a:rPr lang="en-US" spc="-5" dirty="0" smtClean="0">
                <a:latin typeface="Times New Roman" panose="02020603050405020304" pitchFamily="18" charset="0"/>
                <a:cs typeface="Times New Roman" panose="02020603050405020304" pitchFamily="18" charset="0"/>
              </a:rPr>
              <a:t>-tree correspond to the other l</a:t>
            </a:r>
            <a:r>
              <a:rPr lang="en-US" spc="-40" dirty="0" smtClean="0">
                <a:latin typeface="Times New Roman" panose="02020603050405020304" pitchFamily="18" charset="0"/>
                <a:cs typeface="Times New Roman" panose="02020603050405020304" pitchFamily="18" charset="0"/>
              </a:rPr>
              <a:t>e</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els of a </a:t>
            </a:r>
            <a:r>
              <a:rPr lang="en-US" spc="-20" dirty="0" smtClean="0">
                <a:latin typeface="Times New Roman" panose="02020603050405020304" pitchFamily="18" charset="0"/>
                <a:cs typeface="Times New Roman" panose="02020603050405020304" pitchFamily="18" charset="0"/>
              </a:rPr>
              <a:t>m</a:t>
            </a:r>
            <a:r>
              <a:rPr lang="en-US" spc="-5" dirty="0" smtClean="0">
                <a:latin typeface="Times New Roman" panose="02020603050405020304" pitchFamily="18" charset="0"/>
                <a:cs typeface="Times New Roman" panose="02020603050405020304" pitchFamily="18" charset="0"/>
              </a:rPr>
              <a:t>ultil</a:t>
            </a:r>
            <a:r>
              <a:rPr lang="en-US" spc="-40" dirty="0" smtClean="0">
                <a:latin typeface="Times New Roman" panose="02020603050405020304" pitchFamily="18" charset="0"/>
                <a:cs typeface="Times New Roman" panose="02020603050405020304" pitchFamily="18" charset="0"/>
              </a:rPr>
              <a:t>e</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el ind</a:t>
            </a:r>
            <a:r>
              <a:rPr lang="en-US" spc="-40"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x. </a:t>
            </a:r>
            <a:r>
              <a:rPr lang="en-US" spc="-10" dirty="0" smtClean="0">
                <a:latin typeface="Times New Roman" panose="02020603050405020304" pitchFamily="18" charset="0"/>
                <a:cs typeface="Times New Roman" panose="02020603050405020304" pitchFamily="18" charset="0"/>
              </a:rPr>
              <a:t>The</a:t>
            </a:r>
            <a:r>
              <a:rPr lang="en-US" spc="-5" dirty="0" smtClean="0">
                <a:latin typeface="Times New Roman" panose="02020603050405020304" pitchFamily="18" charset="0"/>
                <a:cs typeface="Times New Roman" panose="02020603050405020304" pitchFamily="18" charset="0"/>
              </a:rPr>
              <a:t> st</a:t>
            </a:r>
            <a:r>
              <a:rPr lang="en-US" spc="5"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ucture of the </a:t>
            </a:r>
            <a:r>
              <a:rPr lang="en-US" b="1" spc="-5" dirty="0" smtClean="0">
                <a:latin typeface="Times New Roman" panose="02020603050405020304" pitchFamily="18" charset="0"/>
                <a:cs typeface="Times New Roman" panose="02020603050405020304" pitchFamily="18" charset="0"/>
              </a:rPr>
              <a:t>internal </a:t>
            </a:r>
            <a:r>
              <a:rPr lang="en-US" b="1" spc="-10" dirty="0" smtClean="0">
                <a:latin typeface="Times New Roman" panose="02020603050405020304" pitchFamily="18" charset="0"/>
                <a:cs typeface="Times New Roman" panose="02020603050405020304" pitchFamily="18" charset="0"/>
              </a:rPr>
              <a:t>nodes</a:t>
            </a:r>
            <a:r>
              <a:rPr lang="en-US" b="1" spc="-5"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of </a:t>
            </a:r>
            <a:r>
              <a:rPr lang="en-US" spc="-10" dirty="0" smtClean="0">
                <a:latin typeface="Times New Roman" panose="02020603050405020304" pitchFamily="18" charset="0"/>
                <a:cs typeface="Times New Roman" panose="02020603050405020304" pitchFamily="18" charset="0"/>
              </a:rPr>
              <a:t>a</a:t>
            </a:r>
            <a:r>
              <a:rPr lang="en-US" spc="-5" dirty="0" smtClean="0">
                <a:latin typeface="Times New Roman" panose="02020603050405020304" pitchFamily="18" charset="0"/>
                <a:cs typeface="Times New Roman" panose="02020603050405020304" pitchFamily="18" charset="0"/>
              </a:rPr>
              <a:t> </a:t>
            </a:r>
            <a:r>
              <a:rPr lang="en-US" i="1" spc="25" dirty="0" smtClean="0">
                <a:latin typeface="Times New Roman" panose="02020603050405020304" pitchFamily="18" charset="0"/>
                <a:cs typeface="Times New Roman" panose="02020603050405020304" pitchFamily="18" charset="0"/>
              </a:rPr>
              <a:t>B</a:t>
            </a:r>
            <a:r>
              <a:rPr lang="en-US" sz="2000" spc="75" baseline="28000" dirty="0" smtClean="0">
                <a:latin typeface="Times New Roman" panose="02020603050405020304" pitchFamily="18" charset="0"/>
                <a:cs typeface="Times New Roman" panose="02020603050405020304" pitchFamily="18" charset="0"/>
              </a:rPr>
              <a:t>+</a:t>
            </a:r>
            <a:r>
              <a:rPr lang="en-US" spc="-5" dirty="0" smtClean="0">
                <a:latin typeface="Times New Roman" panose="02020603050405020304" pitchFamily="18" charset="0"/>
                <a:cs typeface="Times New Roman" panose="02020603050405020304" pitchFamily="18" charset="0"/>
              </a:rPr>
              <a:t>-tree of order </a:t>
            </a:r>
            <a:r>
              <a:rPr lang="en-US" spc="-10"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is </a:t>
            </a:r>
            <a:r>
              <a:rPr lang="en-US" spc="-10" dirty="0" smtClean="0">
                <a:latin typeface="Times New Roman" panose="02020603050405020304" pitchFamily="18" charset="0"/>
                <a:cs typeface="Times New Roman" panose="02020603050405020304" pitchFamily="18" charset="0"/>
              </a:rPr>
              <a:t>as</a:t>
            </a:r>
            <a:r>
              <a:rPr lang="en-US" spc="-5" dirty="0" smtClean="0">
                <a:latin typeface="Times New Roman" panose="02020603050405020304" pitchFamily="18" charset="0"/>
                <a:cs typeface="Times New Roman" panose="02020603050405020304" pitchFamily="18" charset="0"/>
              </a:rPr>
              <a:t> </a:t>
            </a:r>
            <a:r>
              <a:rPr lang="en-US" spc="-35" dirty="0" smtClean="0">
                <a:latin typeface="Times New Roman" panose="02020603050405020304" pitchFamily="18" charset="0"/>
                <a:cs typeface="Times New Roman" panose="02020603050405020304" pitchFamily="18" charset="0"/>
              </a:rPr>
              <a:t>f</a:t>
            </a:r>
            <a:r>
              <a:rPr lang="en-US" spc="-5" dirty="0" smtClean="0">
                <a:latin typeface="Times New Roman" panose="02020603050405020304" pitchFamily="18" charset="0"/>
                <a:cs typeface="Times New Roman" panose="02020603050405020304" pitchFamily="18" charset="0"/>
              </a:rPr>
              <a:t>oll</a:t>
            </a:r>
            <a:r>
              <a:rPr lang="en-US" spc="-25" dirty="0" smtClean="0">
                <a:latin typeface="Times New Roman" panose="02020603050405020304" pitchFamily="18" charset="0"/>
                <a:cs typeface="Times New Roman" panose="02020603050405020304" pitchFamily="18" charset="0"/>
              </a:rPr>
              <a:t>o</a:t>
            </a:r>
            <a:r>
              <a:rPr lang="en-US" spc="-5" dirty="0" smtClean="0">
                <a:latin typeface="Times New Roman" panose="02020603050405020304" pitchFamily="18" charset="0"/>
                <a:cs typeface="Times New Roman" panose="02020603050405020304" pitchFamily="18" charset="0"/>
              </a:rPr>
              <a:t>ws:</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node</a:t>
            </a:r>
            <a:r>
              <a:rPr lang="en-US" spc="-5" dirty="0" smtClean="0">
                <a:latin typeface="Times New Roman" panose="02020603050405020304" pitchFamily="18" charset="0"/>
                <a:cs typeface="Times New Roman" panose="02020603050405020304" pitchFamily="18" charset="0"/>
              </a:rPr>
              <a:t> is of the </a:t>
            </a:r>
            <a:r>
              <a:rPr lang="en-US" spc="-35" dirty="0" smtClean="0">
                <a:latin typeface="Times New Roman" panose="02020603050405020304" pitchFamily="18" charset="0"/>
                <a:cs typeface="Times New Roman" panose="02020603050405020304" pitchFamily="18" charset="0"/>
              </a:rPr>
              <a:t>f</a:t>
            </a:r>
            <a:r>
              <a:rPr lang="en-US" spc="-10" dirty="0" smtClean="0">
                <a:latin typeface="Times New Roman" panose="02020603050405020304" pitchFamily="18" charset="0"/>
                <a:cs typeface="Times New Roman" panose="02020603050405020304" pitchFamily="18" charset="0"/>
              </a:rPr>
              <a:t>o</a:t>
            </a:r>
            <a:r>
              <a:rPr lang="en-US" spc="20" dirty="0" smtClean="0">
                <a:latin typeface="Times New Roman" panose="02020603050405020304" pitchFamily="18" charset="0"/>
                <a:cs typeface="Times New Roman" panose="02020603050405020304" pitchFamily="18" charset="0"/>
              </a:rPr>
              <a:t>r</a:t>
            </a:r>
            <a:r>
              <a:rPr lang="en-US" spc="-10" dirty="0" smtClean="0">
                <a:latin typeface="Times New Roman" panose="02020603050405020304" pitchFamily="18" charset="0"/>
                <a:cs typeface="Times New Roman" panose="02020603050405020304" pitchFamily="18" charset="0"/>
              </a:rPr>
              <a:t>m</a:t>
            </a:r>
            <a:r>
              <a:rPr lang="en-US" spc="-5" dirty="0" smtClean="0">
                <a:latin typeface="Times New Roman" panose="02020603050405020304" pitchFamily="18" charset="0"/>
                <a:cs typeface="Times New Roman" panose="02020603050405020304" pitchFamily="18" charset="0"/>
              </a:rPr>
              <a:t> </a:t>
            </a:r>
            <a:r>
              <a:rPr lang="en-US" spc="-15"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P</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&gt;, </a:t>
            </a:r>
            <a:r>
              <a:rPr lang="en-US" i="1" spc="-10" dirty="0" smtClean="0">
                <a:latin typeface="Times New Roman" panose="02020603050405020304" pitchFamily="18" charset="0"/>
                <a:cs typeface="Times New Roman" panose="02020603050405020304" pitchFamily="18" charset="0"/>
              </a:rPr>
              <a:t>P</a:t>
            </a:r>
            <a:r>
              <a:rPr lang="en-US" sz="2000" spc="52" baseline="-12000" dirty="0" smtClean="0">
                <a:latin typeface="Times New Roman" panose="02020603050405020304" pitchFamily="18" charset="0"/>
                <a:cs typeface="Times New Roman" panose="02020603050405020304" pitchFamily="18" charset="0"/>
              </a:rPr>
              <a:t>2</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spc="52" baseline="-12000" dirty="0" smtClean="0">
                <a:latin typeface="Times New Roman" panose="02020603050405020304" pitchFamily="18" charset="0"/>
                <a:cs typeface="Times New Roman" panose="02020603050405020304" pitchFamily="18" charset="0"/>
              </a:rPr>
              <a:t>2</a:t>
            </a:r>
            <a:r>
              <a:rPr lang="en-US" spc="-10" dirty="0" smtClean="0">
                <a:latin typeface="Times New Roman" panose="02020603050405020304" pitchFamily="18" charset="0"/>
                <a:cs typeface="Times New Roman" panose="02020603050405020304" pitchFamily="18" charset="0"/>
              </a:rPr>
              <a:t>&gt;</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i="1" spc="37" baseline="-12000" dirty="0" smtClean="0">
                <a:latin typeface="Times New Roman" panose="02020603050405020304" pitchFamily="18" charset="0"/>
                <a:cs typeface="Times New Roman" panose="02020603050405020304" pitchFamily="18" charset="0"/>
              </a:rPr>
              <a:t>q</a:t>
            </a:r>
            <a:r>
              <a:rPr lang="en-US" sz="2000" spc="315" baseline="-12000" dirty="0" smtClean="0">
                <a:latin typeface="Times New Roman" panose="02020603050405020304" pitchFamily="18" charset="0"/>
                <a:cs typeface="Times New Roman" panose="02020603050405020304" pitchFamily="18" charset="0"/>
              </a:rPr>
              <a:t>−</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&gt;, </a:t>
            </a:r>
            <a:r>
              <a:rPr lang="en-US" i="1" spc="-10" dirty="0" err="1" smtClean="0">
                <a:latin typeface="Times New Roman" panose="02020603050405020304" pitchFamily="18" charset="0"/>
                <a:cs typeface="Times New Roman" panose="02020603050405020304" pitchFamily="18" charset="0"/>
              </a:rPr>
              <a:t>P</a:t>
            </a:r>
            <a:r>
              <a:rPr lang="en-US" sz="2000" i="1" spc="-7" baseline="-12000" dirty="0" err="1" smtClean="0">
                <a:latin typeface="Times New Roman" panose="02020603050405020304" pitchFamily="18" charset="0"/>
                <a:cs typeface="Times New Roman" panose="02020603050405020304" pitchFamily="18" charset="0"/>
              </a:rPr>
              <a:t>q</a:t>
            </a:r>
            <a:r>
              <a:rPr lang="en-US" sz="2000" i="1" spc="-172" baseline="-1200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&gt;</a:t>
            </a:r>
            <a:r>
              <a:rPr lang="en-US" spc="-5" dirty="0" smtClean="0">
                <a:latin typeface="Times New Roman" panose="02020603050405020304" pitchFamily="18" charset="0"/>
                <a:cs typeface="Times New Roman" panose="02020603050405020304" pitchFamily="18" charset="0"/>
              </a:rPr>
              <a:t> , </a:t>
            </a:r>
            <a:r>
              <a:rPr lang="en-US" spc="-10" dirty="0" smtClean="0">
                <a:latin typeface="Times New Roman" panose="02020603050405020304" pitchFamily="18" charset="0"/>
                <a:cs typeface="Times New Roman" panose="02020603050405020304" pitchFamily="18" charset="0"/>
              </a:rPr>
              <a:t>where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q</a:t>
            </a:r>
            <a:r>
              <a:rPr lang="en-US" spc="-5"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and</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P</a:t>
            </a:r>
            <a:r>
              <a:rPr lang="en-US" sz="2000" i="1" spc="-7" baseline="-12000" dirty="0" smtClean="0">
                <a:latin typeface="Times New Roman" panose="02020603050405020304" pitchFamily="18" charset="0"/>
                <a:cs typeface="Times New Roman" panose="02020603050405020304" pitchFamily="18" charset="0"/>
              </a:rPr>
              <a:t>i</a:t>
            </a:r>
            <a:r>
              <a:rPr lang="en-US" sz="2000" i="1" baseline="-12000" dirty="0" smtClean="0">
                <a:latin typeface="Times New Roman" panose="02020603050405020304" pitchFamily="18" charset="0"/>
                <a:cs typeface="Times New Roman" panose="02020603050405020304" pitchFamily="18" charset="0"/>
              </a:rPr>
              <a:t> </a:t>
            </a:r>
            <a:r>
              <a:rPr lang="en-US" sz="2000" i="1" spc="-7" baseline="-1200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is </a:t>
            </a:r>
            <a:r>
              <a:rPr lang="en-US" spc="-10" dirty="0" smtClean="0">
                <a:latin typeface="Times New Roman" panose="02020603050405020304" pitchFamily="18" charset="0"/>
                <a:cs typeface="Times New Roman" panose="02020603050405020304" pitchFamily="18" charset="0"/>
              </a:rPr>
              <a:t>a</a:t>
            </a:r>
            <a:r>
              <a:rPr lang="en-US" spc="-5" dirty="0" smtClean="0">
                <a:latin typeface="Times New Roman" panose="02020603050405020304" pitchFamily="18" charset="0"/>
                <a:cs typeface="Times New Roman" panose="02020603050405020304" pitchFamily="18" charset="0"/>
              </a:rPr>
              <a:t> tree pointer</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Within </a:t>
            </a: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a:t>
            </a:r>
            <a:r>
              <a:rPr lang="en-US" spc="-25"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spc="-7" baseline="-12000" dirty="0" smtClean="0">
                <a:latin typeface="Times New Roman" panose="02020603050405020304" pitchFamily="18" charset="0"/>
                <a:cs typeface="Times New Roman" panose="02020603050405020304" pitchFamily="18" charset="0"/>
              </a:rPr>
              <a:t>1</a:t>
            </a:r>
            <a:r>
              <a:rPr lang="en-US" sz="2000" baseline="-12000" dirty="0" smtClean="0">
                <a:latin typeface="Times New Roman" panose="02020603050405020304" pitchFamily="18" charset="0"/>
                <a:cs typeface="Times New Roman" panose="02020603050405020304" pitchFamily="18" charset="0"/>
              </a:rPr>
              <a:t> </a:t>
            </a:r>
            <a:r>
              <a:rPr lang="en-US" sz="2000" spc="-97" baseline="-1200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spc="-5"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spc="-7" baseline="-12000" dirty="0" smtClean="0">
                <a:latin typeface="Times New Roman" panose="02020603050405020304" pitchFamily="18" charset="0"/>
                <a:cs typeface="Times New Roman" panose="02020603050405020304" pitchFamily="18" charset="0"/>
              </a:rPr>
              <a:t>2</a:t>
            </a:r>
            <a:r>
              <a:rPr lang="en-US" sz="2000" baseline="-12000" dirty="0" smtClean="0">
                <a:latin typeface="Times New Roman" panose="02020603050405020304" pitchFamily="18" charset="0"/>
                <a:cs typeface="Times New Roman" panose="02020603050405020304" pitchFamily="18" charset="0"/>
              </a:rPr>
              <a:t> </a:t>
            </a:r>
            <a:r>
              <a:rPr lang="en-US" sz="2000" spc="-97" baseline="-1200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spc="-5" dirty="0" smtClean="0">
                <a:latin typeface="Times New Roman" panose="02020603050405020304" pitchFamily="18" charset="0"/>
                <a:cs typeface="Times New Roman" panose="02020603050405020304" pitchFamily="18" charset="0"/>
              </a:rPr>
              <a:t> ... </a:t>
            </a:r>
            <a:r>
              <a:rPr lang="en-US" spc="-10"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i="1" spc="37" baseline="-12000" dirty="0" smtClean="0">
                <a:latin typeface="Times New Roman" panose="02020603050405020304" pitchFamily="18" charset="0"/>
                <a:cs typeface="Times New Roman" panose="02020603050405020304" pitchFamily="18" charset="0"/>
              </a:rPr>
              <a:t>q</a:t>
            </a:r>
            <a:r>
              <a:rPr lang="en-US" sz="2000" spc="315" baseline="-12000" dirty="0" smtClean="0">
                <a:latin typeface="Times New Roman" panose="02020603050405020304" pitchFamily="18" charset="0"/>
                <a:cs typeface="Times New Roman" panose="02020603050405020304" pitchFamily="18" charset="0"/>
              </a:rPr>
              <a:t>−</a:t>
            </a:r>
            <a:r>
              <a:rPr lang="en-US" sz="2000" spc="-7" baseline="-12000" dirty="0" smtClean="0">
                <a:latin typeface="Times New Roman" panose="02020603050405020304" pitchFamily="18" charset="0"/>
                <a:cs typeface="Times New Roman" panose="02020603050405020304" pitchFamily="18" charset="0"/>
              </a:rPr>
              <a:t>1</a:t>
            </a:r>
            <a:endParaRPr lang="en-US" sz="2000" spc="-7" baseline="-1200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has</a:t>
            </a:r>
            <a:r>
              <a:rPr lang="en-US" spc="-5" dirty="0" smtClean="0">
                <a:latin typeface="Times New Roman" panose="02020603050405020304" pitchFamily="18" charset="0"/>
                <a:cs typeface="Times New Roman" panose="02020603050405020304" pitchFamily="18" charset="0"/>
              </a:rPr>
              <a:t> at </a:t>
            </a:r>
            <a:r>
              <a:rPr lang="en-US" spc="-10" dirty="0" smtClean="0">
                <a:latin typeface="Times New Roman" panose="02020603050405020304" pitchFamily="18" charset="0"/>
                <a:cs typeface="Times New Roman" panose="02020603050405020304" pitchFamily="18" charset="0"/>
              </a:rPr>
              <a:t>most</a:t>
            </a:r>
            <a:r>
              <a:rPr lang="en-US" spc="-5" dirty="0" smtClean="0">
                <a:latin typeface="Times New Roman" panose="02020603050405020304" pitchFamily="18" charset="0"/>
                <a:cs typeface="Times New Roman" panose="02020603050405020304" pitchFamily="18" charset="0"/>
              </a:rPr>
              <a:t> ’p’</a:t>
            </a:r>
            <a:r>
              <a:rPr lang="en-US"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tree pointers</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40" dirty="0" smtClean="0">
                <a:latin typeface="Times New Roman" panose="02020603050405020304" pitchFamily="18" charset="0"/>
                <a:cs typeface="Times New Roman" panose="02020603050405020304" pitchFamily="18" charset="0"/>
              </a:rPr>
              <a:t>F</a:t>
            </a:r>
            <a:r>
              <a:rPr lang="en-US" spc="-5" dirty="0" smtClean="0">
                <a:latin typeface="Times New Roman" panose="02020603050405020304" pitchFamily="18" charset="0"/>
                <a:cs typeface="Times New Roman" panose="02020603050405020304" pitchFamily="18" charset="0"/>
              </a:rPr>
              <a:t>or all search field </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alues </a:t>
            </a:r>
            <a:r>
              <a:rPr lang="en-US" spc="-10" dirty="0" smtClean="0">
                <a:latin typeface="Times New Roman" panose="02020603050405020304" pitchFamily="18" charset="0"/>
                <a:cs typeface="Times New Roman" panose="02020603050405020304" pitchFamily="18" charset="0"/>
              </a:rPr>
              <a:t>X</a:t>
            </a:r>
            <a:r>
              <a:rPr lang="en-US" spc="-5" dirty="0" smtClean="0">
                <a:latin typeface="Times New Roman" panose="02020603050405020304" pitchFamily="18" charset="0"/>
                <a:cs typeface="Times New Roman" panose="02020603050405020304" pitchFamily="18" charset="0"/>
              </a:rPr>
              <a:t> in the sub-tree pointed </a:t>
            </a:r>
            <a:r>
              <a:rPr lang="en-US" spc="-30" dirty="0" smtClean="0">
                <a:latin typeface="Times New Roman" panose="02020603050405020304" pitchFamily="18" charset="0"/>
                <a:cs typeface="Times New Roman" panose="02020603050405020304" pitchFamily="18" charset="0"/>
              </a:rPr>
              <a:t>b</a:t>
            </a:r>
            <a:r>
              <a:rPr lang="en-US" spc="-5" dirty="0" smtClean="0">
                <a:latin typeface="Times New Roman" panose="02020603050405020304" pitchFamily="18" charset="0"/>
                <a:cs typeface="Times New Roman" panose="02020603050405020304" pitchFamily="18" charset="0"/>
              </a:rPr>
              <a:t>y </a:t>
            </a:r>
            <a:r>
              <a:rPr lang="en-US" i="1" spc="-10" dirty="0" smtClean="0">
                <a:latin typeface="Times New Roman" panose="02020603050405020304" pitchFamily="18" charset="0"/>
                <a:cs typeface="Times New Roman" panose="02020603050405020304" pitchFamily="18" charset="0"/>
              </a:rPr>
              <a:t>P</a:t>
            </a:r>
            <a:r>
              <a:rPr lang="en-US" sz="2000" i="1" spc="-7" baseline="-12000" dirty="0" smtClean="0">
                <a:latin typeface="Times New Roman" panose="02020603050405020304" pitchFamily="18" charset="0"/>
                <a:cs typeface="Times New Roman" panose="02020603050405020304" pitchFamily="18" charset="0"/>
              </a:rPr>
              <a:t>i</a:t>
            </a:r>
            <a:r>
              <a:rPr lang="en-US" sz="2000" i="1" spc="-135" baseline="-1200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 the </a:t>
            </a:r>
            <a:r>
              <a:rPr lang="en-US" spc="5"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ule is </a:t>
            </a:r>
            <a:r>
              <a:rPr lang="en-US" spc="-10" dirty="0" smtClean="0">
                <a:latin typeface="Times New Roman" panose="02020603050405020304" pitchFamily="18" charset="0"/>
                <a:cs typeface="Times New Roman" panose="02020603050405020304" pitchFamily="18" charset="0"/>
              </a:rPr>
              <a:t>X</a:t>
            </a:r>
            <a:r>
              <a:rPr lang="en-US" spc="-5"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i="1" spc="75" baseline="-12000" dirty="0" smtClean="0">
                <a:latin typeface="Times New Roman" panose="02020603050405020304" pitchFamily="18" charset="0"/>
                <a:cs typeface="Times New Roman" panose="02020603050405020304" pitchFamily="18" charset="0"/>
              </a:rPr>
              <a:t>i</a:t>
            </a:r>
            <a:r>
              <a:rPr lang="en-US" sz="2000" spc="315" baseline="-12000" dirty="0" smtClean="0">
                <a:latin typeface="Times New Roman" panose="02020603050405020304" pitchFamily="18" charset="0"/>
                <a:cs typeface="Times New Roman" panose="02020603050405020304" pitchFamily="18" charset="0"/>
              </a:rPr>
              <a:t>−</a:t>
            </a:r>
            <a:r>
              <a:rPr lang="en-US" sz="2000" spc="-7" baseline="-12000" dirty="0" smtClean="0">
                <a:latin typeface="Times New Roman" panose="02020603050405020304" pitchFamily="18" charset="0"/>
                <a:cs typeface="Times New Roman" panose="02020603050405020304" pitchFamily="18" charset="0"/>
              </a:rPr>
              <a:t>1</a:t>
            </a:r>
            <a:r>
              <a:rPr lang="en-US" sz="2000" baseline="-12000" dirty="0" smtClean="0">
                <a:latin typeface="Times New Roman" panose="02020603050405020304" pitchFamily="18" charset="0"/>
                <a:cs typeface="Times New Roman" panose="02020603050405020304" pitchFamily="18" charset="0"/>
              </a:rPr>
              <a:t> </a:t>
            </a:r>
            <a:r>
              <a:rPr lang="en-US" sz="2000" spc="-97" baseline="-1200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X</a:t>
            </a:r>
            <a:r>
              <a:rPr lang="en-US" spc="-5"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i="1" spc="-10" dirty="0" err="1" smtClean="0">
                <a:latin typeface="Times New Roman" panose="02020603050405020304" pitchFamily="18" charset="0"/>
                <a:cs typeface="Times New Roman" panose="02020603050405020304" pitchFamily="18" charset="0"/>
              </a:rPr>
              <a:t>K</a:t>
            </a:r>
            <a:r>
              <a:rPr lang="en-US" sz="2000" i="1" spc="-7" baseline="-12000" dirty="0" err="1" smtClean="0">
                <a:latin typeface="Times New Roman" panose="02020603050405020304" pitchFamily="18" charset="0"/>
                <a:cs typeface="Times New Roman" panose="02020603050405020304" pitchFamily="18" charset="0"/>
              </a:rPr>
              <a:t>i</a:t>
            </a:r>
            <a:r>
              <a:rPr lang="en-US" sz="2000" i="1" baseline="-12000" dirty="0" smtClean="0">
                <a:latin typeface="Times New Roman" panose="02020603050405020304" pitchFamily="18" charset="0"/>
                <a:cs typeface="Times New Roman" panose="02020603050405020304" pitchFamily="18" charset="0"/>
              </a:rPr>
              <a:t> </a:t>
            </a:r>
            <a:r>
              <a:rPr lang="en-US" sz="2000" i="1" spc="-7" baseline="-12000" dirty="0" smtClean="0">
                <a:latin typeface="Times New Roman" panose="02020603050405020304" pitchFamily="18" charset="0"/>
                <a:cs typeface="Times New Roman" panose="02020603050405020304" pitchFamily="18" charset="0"/>
              </a:rPr>
              <a:t> </a:t>
            </a:r>
            <a:r>
              <a:rPr lang="en-US" spc="-35" dirty="0" smtClean="0">
                <a:latin typeface="Times New Roman" panose="02020603050405020304" pitchFamily="18" charset="0"/>
                <a:cs typeface="Times New Roman" panose="02020603050405020304" pitchFamily="18" charset="0"/>
              </a:rPr>
              <a:t>f</a:t>
            </a:r>
            <a:r>
              <a:rPr lang="en-US" spc="-5" dirty="0" smtClean="0">
                <a:latin typeface="Times New Roman" panose="02020603050405020304" pitchFamily="18" charset="0"/>
                <a:cs typeface="Times New Roman" panose="02020603050405020304" pitchFamily="18" charset="0"/>
              </a:rPr>
              <a:t>or </a:t>
            </a:r>
            <a:r>
              <a:rPr lang="en-US" spc="-1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spc="-5" dirty="0" smtClean="0">
                <a:latin typeface="Times New Roman" panose="02020603050405020304" pitchFamily="18" charset="0"/>
                <a:cs typeface="Times New Roman" panose="02020603050405020304" pitchFamily="18" charset="0"/>
              </a:rPr>
              <a:t> </a:t>
            </a:r>
            <a:r>
              <a:rPr lang="en-US" spc="-5" dirty="0" err="1" smtClean="0">
                <a:latin typeface="Times New Roman" panose="02020603050405020304" pitchFamily="18" charset="0"/>
                <a:cs typeface="Times New Roman" panose="02020603050405020304" pitchFamily="18" charset="0"/>
              </a:rPr>
              <a:t>i</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spc="-5" dirty="0" smtClean="0">
                <a:latin typeface="Times New Roman" panose="02020603050405020304" pitchFamily="18" charset="0"/>
                <a:cs typeface="Times New Roman" panose="02020603050405020304" pitchFamily="18" charset="0"/>
              </a:rPr>
              <a:t> q; </a:t>
            </a:r>
            <a:r>
              <a:rPr lang="en-US" spc="-10" dirty="0" smtClean="0">
                <a:latin typeface="Times New Roman" panose="02020603050405020304" pitchFamily="18" charset="0"/>
                <a:cs typeface="Times New Roman" panose="02020603050405020304" pitchFamily="18" charset="0"/>
              </a:rPr>
              <a:t>and</a:t>
            </a:r>
            <a:r>
              <a:rPr lang="en-US" spc="-5"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i="1" spc="75" baseline="-12000" dirty="0" smtClean="0">
                <a:latin typeface="Times New Roman" panose="02020603050405020304" pitchFamily="18" charset="0"/>
                <a:cs typeface="Times New Roman" panose="02020603050405020304" pitchFamily="18" charset="0"/>
              </a:rPr>
              <a:t>i</a:t>
            </a:r>
            <a:r>
              <a:rPr lang="en-US" sz="2000" spc="315" baseline="-12000" dirty="0" smtClean="0">
                <a:latin typeface="Times New Roman" panose="02020603050405020304" pitchFamily="18" charset="0"/>
                <a:cs typeface="Times New Roman" panose="02020603050405020304" pitchFamily="18" charset="0"/>
              </a:rPr>
              <a:t>−</a:t>
            </a:r>
            <a:r>
              <a:rPr lang="en-US" sz="2000" spc="-7" baseline="-12000" dirty="0" smtClean="0">
                <a:latin typeface="Times New Roman" panose="02020603050405020304" pitchFamily="18" charset="0"/>
                <a:cs typeface="Times New Roman" panose="02020603050405020304" pitchFamily="18" charset="0"/>
              </a:rPr>
              <a:t>1</a:t>
            </a:r>
            <a:r>
              <a:rPr lang="en-US" sz="2000" baseline="-12000" dirty="0" smtClean="0">
                <a:latin typeface="Times New Roman" panose="02020603050405020304" pitchFamily="18" charset="0"/>
                <a:cs typeface="Times New Roman" panose="02020603050405020304" pitchFamily="18" charset="0"/>
              </a:rPr>
              <a:t> </a:t>
            </a:r>
            <a:r>
              <a:rPr lang="en-US" sz="2000" spc="-97" baseline="-1200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X</a:t>
            </a:r>
            <a:r>
              <a:rPr lang="en-US" spc="-5" dirty="0" smtClean="0">
                <a:latin typeface="Times New Roman" panose="02020603050405020304" pitchFamily="18" charset="0"/>
                <a:cs typeface="Times New Roman" panose="02020603050405020304" pitchFamily="18" charset="0"/>
              </a:rPr>
              <a:t> </a:t>
            </a:r>
            <a:r>
              <a:rPr lang="en-US" spc="-35" dirty="0" smtClean="0">
                <a:latin typeface="Times New Roman" panose="02020603050405020304" pitchFamily="18" charset="0"/>
                <a:cs typeface="Times New Roman" panose="02020603050405020304" pitchFamily="18" charset="0"/>
              </a:rPr>
              <a:t>f</a:t>
            </a:r>
            <a:r>
              <a:rPr lang="en-US" spc="-5" dirty="0" smtClean="0">
                <a:latin typeface="Times New Roman" panose="02020603050405020304" pitchFamily="18" charset="0"/>
                <a:cs typeface="Times New Roman" panose="02020603050405020304" pitchFamily="18" charset="0"/>
              </a:rPr>
              <a:t>or </a:t>
            </a:r>
            <a:r>
              <a:rPr lang="en-US" spc="-5" dirty="0" err="1" smtClean="0">
                <a:latin typeface="Times New Roman" panose="02020603050405020304" pitchFamily="18" charset="0"/>
                <a:cs typeface="Times New Roman" panose="02020603050405020304" pitchFamily="18" charset="0"/>
              </a:rPr>
              <a:t>i</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q</a:t>
            </a:r>
            <a:endParaRPr lang="en-US" spc="-1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has</a:t>
            </a:r>
            <a:r>
              <a:rPr lang="en-US" spc="-5" dirty="0" smtClean="0">
                <a:latin typeface="Times New Roman" panose="02020603050405020304" pitchFamily="18" charset="0"/>
                <a:cs typeface="Times New Roman" panose="02020603050405020304" pitchFamily="18" charset="0"/>
              </a:rPr>
              <a:t> at least </a:t>
            </a:r>
            <a:r>
              <a:rPr lang="en-US" spc="-9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 </a:t>
            </a:r>
            <a:r>
              <a:rPr lang="en-US" spc="-10" dirty="0" smtClean="0">
                <a:latin typeface="Times New Roman" panose="02020603050405020304" pitchFamily="18" charset="0"/>
                <a:cs typeface="Times New Roman" panose="02020603050405020304" pitchFamily="18" charset="0"/>
              </a:rPr>
              <a:t>2</a:t>
            </a:r>
            <a:r>
              <a:rPr lang="en-US" spc="-5" dirty="0" smtClean="0">
                <a:latin typeface="Times New Roman" panose="02020603050405020304" pitchFamily="18" charset="0"/>
                <a:cs typeface="Times New Roman" panose="02020603050405020304" pitchFamily="18" charset="0"/>
              </a:rPr>
              <a:t> </a:t>
            </a:r>
            <a:r>
              <a:rPr lang="en-US" spc="-9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children. </a:t>
            </a:r>
            <a:r>
              <a:rPr lang="en-US" spc="-10" dirty="0" smtClean="0">
                <a:latin typeface="Times New Roman" panose="02020603050405020304" pitchFamily="18" charset="0"/>
                <a:cs typeface="Times New Roman" panose="02020603050405020304" pitchFamily="18" charset="0"/>
              </a:rPr>
              <a:t>The</a:t>
            </a:r>
            <a:r>
              <a:rPr lang="en-US" spc="-5" dirty="0" smtClean="0">
                <a:latin typeface="Times New Roman" panose="02020603050405020304" pitchFamily="18" charset="0"/>
                <a:cs typeface="Times New Roman" panose="02020603050405020304" pitchFamily="18" charset="0"/>
              </a:rPr>
              <a:t> root has at least t</a:t>
            </a:r>
            <a:r>
              <a:rPr lang="en-US" spc="-20" dirty="0" smtClean="0">
                <a:latin typeface="Times New Roman" panose="02020603050405020304" pitchFamily="18" charset="0"/>
                <a:cs typeface="Times New Roman" panose="02020603050405020304" pitchFamily="18" charset="0"/>
              </a:rPr>
              <a:t>w</a:t>
            </a:r>
            <a:r>
              <a:rPr lang="en-US" spc="-10" dirty="0" smtClean="0">
                <a:latin typeface="Times New Roman" panose="02020603050405020304" pitchFamily="18" charset="0"/>
                <a:cs typeface="Times New Roman" panose="02020603050405020304" pitchFamily="18" charset="0"/>
              </a:rPr>
              <a:t>o</a:t>
            </a:r>
            <a:r>
              <a:rPr lang="en-US" spc="-5" dirty="0" smtClean="0">
                <a:latin typeface="Times New Roman" panose="02020603050405020304" pitchFamily="18" charset="0"/>
                <a:cs typeface="Times New Roman" panose="02020603050405020304" pitchFamily="18" charset="0"/>
              </a:rPr>
              <a:t> children if it is </a:t>
            </a:r>
            <a:r>
              <a:rPr lang="en-US" spc="-10" dirty="0" smtClean="0">
                <a:latin typeface="Times New Roman" panose="02020603050405020304" pitchFamily="18" charset="0"/>
                <a:cs typeface="Times New Roman" panose="02020603050405020304" pitchFamily="18" charset="0"/>
              </a:rPr>
              <a:t>an</a:t>
            </a:r>
            <a:r>
              <a:rPr lang="en-US" spc="-5" dirty="0" smtClean="0">
                <a:latin typeface="Times New Roman" panose="02020603050405020304" pitchFamily="18" charset="0"/>
                <a:cs typeface="Times New Roman" panose="02020603050405020304" pitchFamily="18" charset="0"/>
              </a:rPr>
              <a:t> 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node</a:t>
            </a:r>
            <a:endParaRPr lang="en-US" spc="-1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An</a:t>
            </a:r>
            <a:r>
              <a:rPr lang="en-US" spc="-5" dirty="0" smtClean="0">
                <a:latin typeface="Times New Roman" panose="02020603050405020304" pitchFamily="18" charset="0"/>
                <a:cs typeface="Times New Roman" panose="02020603050405020304" pitchFamily="18" charset="0"/>
              </a:rPr>
              <a:t> inte</a:t>
            </a:r>
            <a:r>
              <a:rPr lang="en-US" spc="20"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nal </a:t>
            </a:r>
            <a:r>
              <a:rPr lang="en-US" spc="-10" dirty="0" smtClean="0">
                <a:latin typeface="Times New Roman" panose="02020603050405020304" pitchFamily="18" charset="0"/>
                <a:cs typeface="Times New Roman" panose="02020603050405020304" pitchFamily="18" charset="0"/>
              </a:rPr>
              <a:t>node</a:t>
            </a:r>
            <a:r>
              <a:rPr lang="en-US" spc="-5" dirty="0" smtClean="0">
                <a:latin typeface="Times New Roman" panose="02020603050405020304" pitchFamily="18" charset="0"/>
                <a:cs typeface="Times New Roman" panose="02020603050405020304" pitchFamily="18" charset="0"/>
              </a:rPr>
              <a:t> with </a:t>
            </a:r>
            <a:r>
              <a:rPr lang="en-US" spc="-10" dirty="0" smtClean="0">
                <a:latin typeface="Times New Roman" panose="02020603050405020304" pitchFamily="18" charset="0"/>
                <a:cs typeface="Times New Roman" panose="02020603050405020304" pitchFamily="18" charset="0"/>
              </a:rPr>
              <a:t>q</a:t>
            </a:r>
            <a:r>
              <a:rPr lang="en-US" spc="-5" dirty="0" smtClean="0">
                <a:latin typeface="Times New Roman" panose="02020603050405020304" pitchFamily="18" charset="0"/>
                <a:cs typeface="Times New Roman" panose="02020603050405020304" pitchFamily="18" charset="0"/>
              </a:rPr>
              <a:t> tree pointer</a:t>
            </a:r>
            <a:r>
              <a:rPr lang="en-US" spc="-20" dirty="0" smtClean="0">
                <a:latin typeface="Times New Roman" panose="02020603050405020304" pitchFamily="18" charset="0"/>
                <a:cs typeface="Times New Roman" panose="02020603050405020304" pitchFamily="18" charset="0"/>
              </a:rPr>
              <a:t>s</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q</a:t>
            </a:r>
            <a:r>
              <a:rPr lang="en-US" spc="-5"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45"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has</a:t>
            </a:r>
            <a:r>
              <a:rPr lang="en-US" spc="-5" dirty="0" smtClean="0">
                <a:latin typeface="Times New Roman" panose="02020603050405020304" pitchFamily="18" charset="0"/>
                <a:cs typeface="Times New Roman" panose="02020603050405020304" pitchFamily="18" charset="0"/>
              </a:rPr>
              <a:t> q-1 search </a:t>
            </a:r>
            <a:r>
              <a:rPr lang="en-US" spc="-25" dirty="0" smtClean="0">
                <a:latin typeface="Times New Roman" panose="02020603050405020304" pitchFamily="18" charset="0"/>
                <a:cs typeface="Times New Roman" panose="02020603050405020304" pitchFamily="18" charset="0"/>
              </a:rPr>
              <a:t>k</a:t>
            </a:r>
            <a:r>
              <a:rPr lang="en-US" spc="-30"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y field </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alues</a:t>
            </a:r>
            <a:endParaRPr lang="en-US"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kern="0"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5214974"/>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The</a:t>
            </a:r>
            <a:r>
              <a:rPr lang="en-US" spc="-5" dirty="0" smtClean="0">
                <a:latin typeface="Times New Roman" panose="02020603050405020304" pitchFamily="18" charset="0"/>
                <a:cs typeface="Times New Roman" panose="02020603050405020304" pitchFamily="18" charset="0"/>
              </a:rPr>
              <a:t> st</a:t>
            </a:r>
            <a:r>
              <a:rPr lang="en-US" spc="5" dirty="0" smtClean="0">
                <a:latin typeface="Times New Roman" panose="02020603050405020304" pitchFamily="18" charset="0"/>
                <a:cs typeface="Times New Roman" panose="02020603050405020304" pitchFamily="18" charset="0"/>
              </a:rPr>
              <a:t>r</a:t>
            </a:r>
            <a:r>
              <a:rPr lang="en-US" spc="-5" dirty="0" smtClean="0">
                <a:latin typeface="Times New Roman" panose="02020603050405020304" pitchFamily="18" charset="0"/>
                <a:cs typeface="Times New Roman" panose="02020603050405020304" pitchFamily="18" charset="0"/>
              </a:rPr>
              <a:t>ucture of the </a:t>
            </a:r>
            <a:r>
              <a:rPr lang="en-US" b="1" spc="-5" dirty="0" smtClean="0">
                <a:latin typeface="Times New Roman" panose="02020603050405020304" pitchFamily="18" charset="0"/>
                <a:cs typeface="Times New Roman" panose="02020603050405020304" pitchFamily="18" charset="0"/>
              </a:rPr>
              <a:t>leaf </a:t>
            </a:r>
            <a:r>
              <a:rPr lang="en-US" b="1" spc="-10" dirty="0" smtClean="0">
                <a:latin typeface="Times New Roman" panose="02020603050405020304" pitchFamily="18" charset="0"/>
                <a:cs typeface="Times New Roman" panose="02020603050405020304" pitchFamily="18" charset="0"/>
              </a:rPr>
              <a:t>nodes</a:t>
            </a:r>
            <a:r>
              <a:rPr lang="en-US" b="1" spc="-5"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of </a:t>
            </a:r>
            <a:r>
              <a:rPr lang="en-US" spc="-10" dirty="0" smtClean="0">
                <a:latin typeface="Times New Roman" panose="02020603050405020304" pitchFamily="18" charset="0"/>
                <a:cs typeface="Times New Roman" panose="02020603050405020304" pitchFamily="18" charset="0"/>
              </a:rPr>
              <a:t>a</a:t>
            </a:r>
            <a:r>
              <a:rPr lang="en-US" spc="-5" dirty="0" smtClean="0">
                <a:latin typeface="Times New Roman" panose="02020603050405020304" pitchFamily="18" charset="0"/>
                <a:cs typeface="Times New Roman" panose="02020603050405020304" pitchFamily="18" charset="0"/>
              </a:rPr>
              <a:t> </a:t>
            </a:r>
            <a:r>
              <a:rPr lang="en-US" i="1" spc="25" dirty="0" smtClean="0">
                <a:latin typeface="Times New Roman" panose="02020603050405020304" pitchFamily="18" charset="0"/>
                <a:cs typeface="Times New Roman" panose="02020603050405020304" pitchFamily="18" charset="0"/>
              </a:rPr>
              <a:t>B</a:t>
            </a:r>
            <a:r>
              <a:rPr lang="en-US" sz="2000" spc="75" baseline="28000" dirty="0" smtClean="0">
                <a:latin typeface="Times New Roman" panose="02020603050405020304" pitchFamily="18" charset="0"/>
                <a:cs typeface="Times New Roman" panose="02020603050405020304" pitchFamily="18" charset="0"/>
              </a:rPr>
              <a:t>+</a:t>
            </a:r>
            <a:r>
              <a:rPr lang="en-US" spc="-5" dirty="0" smtClean="0">
                <a:latin typeface="Times New Roman" panose="02020603050405020304" pitchFamily="18" charset="0"/>
                <a:cs typeface="Times New Roman" panose="02020603050405020304" pitchFamily="18" charset="0"/>
              </a:rPr>
              <a:t>-tree of order </a:t>
            </a:r>
            <a:r>
              <a:rPr lang="en-US" spc="-10"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is </a:t>
            </a:r>
            <a:r>
              <a:rPr lang="en-US" spc="-10" dirty="0" smtClean="0">
                <a:latin typeface="Times New Roman" panose="02020603050405020304" pitchFamily="18" charset="0"/>
                <a:cs typeface="Times New Roman" panose="02020603050405020304" pitchFamily="18" charset="0"/>
              </a:rPr>
              <a:t>as</a:t>
            </a:r>
            <a:r>
              <a:rPr lang="en-US" spc="-5" dirty="0" smtClean="0">
                <a:latin typeface="Times New Roman" panose="02020603050405020304" pitchFamily="18" charset="0"/>
                <a:cs typeface="Times New Roman" panose="02020603050405020304" pitchFamily="18" charset="0"/>
              </a:rPr>
              <a:t> </a:t>
            </a:r>
            <a:r>
              <a:rPr lang="en-US" spc="-35" dirty="0" smtClean="0">
                <a:latin typeface="Times New Roman" panose="02020603050405020304" pitchFamily="18" charset="0"/>
                <a:cs typeface="Times New Roman" panose="02020603050405020304" pitchFamily="18" charset="0"/>
              </a:rPr>
              <a:t>f</a:t>
            </a:r>
            <a:r>
              <a:rPr lang="en-US" spc="-5" dirty="0" smtClean="0">
                <a:latin typeface="Times New Roman" panose="02020603050405020304" pitchFamily="18" charset="0"/>
                <a:cs typeface="Times New Roman" panose="02020603050405020304" pitchFamily="18" charset="0"/>
              </a:rPr>
              <a:t>oll</a:t>
            </a:r>
            <a:r>
              <a:rPr lang="en-US" spc="-25" dirty="0" smtClean="0">
                <a:latin typeface="Times New Roman" panose="02020603050405020304" pitchFamily="18" charset="0"/>
                <a:cs typeface="Times New Roman" panose="02020603050405020304" pitchFamily="18" charset="0"/>
              </a:rPr>
              <a:t>o</a:t>
            </a:r>
            <a:r>
              <a:rPr lang="en-US" spc="-5" dirty="0" smtClean="0">
                <a:latin typeface="Times New Roman" panose="02020603050405020304" pitchFamily="18" charset="0"/>
                <a:cs typeface="Times New Roman" panose="02020603050405020304" pitchFamily="18" charset="0"/>
              </a:rPr>
              <a:t>ws:</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leaf </a:t>
            </a:r>
            <a:r>
              <a:rPr lang="en-US" spc="-10" dirty="0" smtClean="0">
                <a:latin typeface="Times New Roman" panose="02020603050405020304" pitchFamily="18" charset="0"/>
                <a:cs typeface="Times New Roman" panose="02020603050405020304" pitchFamily="18" charset="0"/>
              </a:rPr>
              <a:t>node</a:t>
            </a:r>
            <a:r>
              <a:rPr lang="en-US" spc="-5" dirty="0" smtClean="0">
                <a:latin typeface="Times New Roman" panose="02020603050405020304" pitchFamily="18" charset="0"/>
                <a:cs typeface="Times New Roman" panose="02020603050405020304" pitchFamily="18" charset="0"/>
              </a:rPr>
              <a:t> is of the </a:t>
            </a:r>
            <a:r>
              <a:rPr lang="en-US" spc="-35" dirty="0" smtClean="0">
                <a:latin typeface="Times New Roman" panose="02020603050405020304" pitchFamily="18" charset="0"/>
                <a:cs typeface="Times New Roman" panose="02020603050405020304" pitchFamily="18" charset="0"/>
              </a:rPr>
              <a:t>f</a:t>
            </a:r>
            <a:r>
              <a:rPr lang="en-US" spc="-10" dirty="0" smtClean="0">
                <a:latin typeface="Times New Roman" panose="02020603050405020304" pitchFamily="18" charset="0"/>
                <a:cs typeface="Times New Roman" panose="02020603050405020304" pitchFamily="18" charset="0"/>
              </a:rPr>
              <a:t>o</a:t>
            </a:r>
            <a:r>
              <a:rPr lang="en-US" spc="20" dirty="0" smtClean="0">
                <a:latin typeface="Times New Roman" panose="02020603050405020304" pitchFamily="18" charset="0"/>
                <a:cs typeface="Times New Roman" panose="02020603050405020304" pitchFamily="18" charset="0"/>
              </a:rPr>
              <a:t>r</a:t>
            </a:r>
            <a:r>
              <a:rPr lang="en-US" spc="-10" dirty="0" smtClean="0">
                <a:latin typeface="Times New Roman" panose="02020603050405020304" pitchFamily="18" charset="0"/>
                <a:cs typeface="Times New Roman" panose="02020603050405020304" pitchFamily="18" charset="0"/>
              </a:rPr>
              <a:t>m</a:t>
            </a:r>
            <a:r>
              <a:rPr lang="en-US" spc="-5" dirty="0" smtClean="0">
                <a:latin typeface="Times New Roman" panose="02020603050405020304" pitchFamily="18" charset="0"/>
                <a:cs typeface="Times New Roman" panose="02020603050405020304" pitchFamily="18" charset="0"/>
              </a:rPr>
              <a:t> </a:t>
            </a:r>
            <a:r>
              <a:rPr lang="en-US" spc="-15"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 </a:t>
            </a:r>
            <a:r>
              <a:rPr lang="en-US" i="1" spc="-5" dirty="0" smtClean="0">
                <a:latin typeface="Times New Roman" panose="02020603050405020304" pitchFamily="18" charset="0"/>
                <a:cs typeface="Times New Roman" panose="02020603050405020304" pitchFamily="18" charset="0"/>
              </a:rPr>
              <a:t>Pr</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&gt;, </a:t>
            </a:r>
            <a:r>
              <a:rPr lang="en-US" spc="-10"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spc="52" baseline="-12000" dirty="0" smtClean="0">
                <a:latin typeface="Times New Roman" panose="02020603050405020304" pitchFamily="18" charset="0"/>
                <a:cs typeface="Times New Roman" panose="02020603050405020304" pitchFamily="18" charset="0"/>
              </a:rPr>
              <a:t>2</a:t>
            </a:r>
            <a:r>
              <a:rPr lang="en-US" spc="-5" dirty="0" smtClean="0">
                <a:latin typeface="Times New Roman" panose="02020603050405020304" pitchFamily="18" charset="0"/>
                <a:cs typeface="Times New Roman" panose="02020603050405020304" pitchFamily="18" charset="0"/>
              </a:rPr>
              <a:t>, </a:t>
            </a:r>
            <a:r>
              <a:rPr lang="en-US" i="1" spc="-5" dirty="0" smtClean="0">
                <a:latin typeface="Times New Roman" panose="02020603050405020304" pitchFamily="18" charset="0"/>
                <a:cs typeface="Times New Roman" panose="02020603050405020304" pitchFamily="18" charset="0"/>
              </a:rPr>
              <a:t>Pr</a:t>
            </a:r>
            <a:r>
              <a:rPr lang="en-US" sz="2000" spc="52" baseline="-12000" dirty="0" smtClean="0">
                <a:latin typeface="Times New Roman" panose="02020603050405020304" pitchFamily="18" charset="0"/>
                <a:cs typeface="Times New Roman" panose="02020603050405020304" pitchFamily="18" charset="0"/>
              </a:rPr>
              <a:t>2</a:t>
            </a:r>
            <a:r>
              <a:rPr lang="en-US" spc="-10" dirty="0" smtClean="0">
                <a:latin typeface="Times New Roman" panose="02020603050405020304" pitchFamily="18" charset="0"/>
                <a:cs typeface="Times New Roman" panose="02020603050405020304" pitchFamily="18" charset="0"/>
              </a:rPr>
              <a:t>&gt;</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&lt;</a:t>
            </a:r>
            <a:r>
              <a:rPr lang="en-US" i="1" spc="-10" dirty="0" smtClean="0">
                <a:latin typeface="Times New Roman" panose="02020603050405020304" pitchFamily="18" charset="0"/>
                <a:cs typeface="Times New Roman" panose="02020603050405020304" pitchFamily="18" charset="0"/>
              </a:rPr>
              <a:t>K</a:t>
            </a:r>
            <a:r>
              <a:rPr lang="en-US" sz="2000" i="1" spc="37" baseline="-12000" dirty="0" smtClean="0">
                <a:latin typeface="Times New Roman" panose="02020603050405020304" pitchFamily="18" charset="0"/>
                <a:cs typeface="Times New Roman" panose="02020603050405020304" pitchFamily="18" charset="0"/>
              </a:rPr>
              <a:t>q</a:t>
            </a:r>
            <a:r>
              <a:rPr lang="en-US" sz="2000" spc="315" baseline="-12000" dirty="0" smtClean="0">
                <a:latin typeface="Times New Roman" panose="02020603050405020304" pitchFamily="18" charset="0"/>
                <a:cs typeface="Times New Roman" panose="02020603050405020304" pitchFamily="18" charset="0"/>
              </a:rPr>
              <a:t>−</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 </a:t>
            </a:r>
            <a:r>
              <a:rPr lang="en-US" i="1" spc="-5" dirty="0" smtClean="0">
                <a:latin typeface="Times New Roman" panose="02020603050405020304" pitchFamily="18" charset="0"/>
                <a:cs typeface="Times New Roman" panose="02020603050405020304" pitchFamily="18" charset="0"/>
              </a:rPr>
              <a:t>Pr</a:t>
            </a:r>
            <a:r>
              <a:rPr lang="en-US" sz="2000" i="1" spc="37" baseline="-12000" dirty="0" smtClean="0">
                <a:latin typeface="Times New Roman" panose="02020603050405020304" pitchFamily="18" charset="0"/>
                <a:cs typeface="Times New Roman" panose="02020603050405020304" pitchFamily="18" charset="0"/>
              </a:rPr>
              <a:t>q</a:t>
            </a:r>
            <a:r>
              <a:rPr lang="en-US" sz="2000" spc="315" baseline="-12000" dirty="0" smtClean="0">
                <a:latin typeface="Times New Roman" panose="02020603050405020304" pitchFamily="18" charset="0"/>
                <a:cs typeface="Times New Roman" panose="02020603050405020304" pitchFamily="18" charset="0"/>
              </a:rPr>
              <a:t>−</a:t>
            </a:r>
            <a:r>
              <a:rPr lang="en-US" sz="2000" spc="52" baseline="-12000" dirty="0" smtClean="0">
                <a:latin typeface="Times New Roman" panose="02020603050405020304" pitchFamily="18" charset="0"/>
                <a:cs typeface="Times New Roman" panose="02020603050405020304" pitchFamily="18" charset="0"/>
              </a:rPr>
              <a:t>1</a:t>
            </a:r>
            <a:r>
              <a:rPr lang="en-US" spc="-5" dirty="0" smtClean="0">
                <a:latin typeface="Times New Roman" panose="02020603050405020304" pitchFamily="18" charset="0"/>
                <a:cs typeface="Times New Roman" panose="02020603050405020304" pitchFamily="18" charset="0"/>
              </a:rPr>
              <a:t>&gt;, </a:t>
            </a:r>
            <a:r>
              <a:rPr lang="en-US" i="1" spc="-10" dirty="0" err="1" smtClean="0">
                <a:latin typeface="Times New Roman" panose="02020603050405020304" pitchFamily="18" charset="0"/>
                <a:cs typeface="Times New Roman" panose="02020603050405020304" pitchFamily="18" charset="0"/>
              </a:rPr>
              <a:t>P</a:t>
            </a:r>
            <a:r>
              <a:rPr lang="en-US" sz="2000" i="1" spc="-7" baseline="-12000" dirty="0" err="1" smtClean="0">
                <a:latin typeface="Times New Roman" panose="02020603050405020304" pitchFamily="18" charset="0"/>
                <a:cs typeface="Times New Roman" panose="02020603050405020304" pitchFamily="18" charset="0"/>
              </a:rPr>
              <a:t>n</a:t>
            </a:r>
            <a:r>
              <a:rPr lang="en-US" sz="2000" i="1" spc="-44" baseline="-12000" dirty="0" err="1" smtClean="0">
                <a:latin typeface="Times New Roman" panose="02020603050405020304" pitchFamily="18" charset="0"/>
                <a:cs typeface="Times New Roman" panose="02020603050405020304" pitchFamily="18" charset="0"/>
              </a:rPr>
              <a:t>e</a:t>
            </a:r>
            <a:r>
              <a:rPr lang="en-US" sz="2000" i="1" spc="-7" baseline="-12000" dirty="0" err="1" smtClean="0">
                <a:latin typeface="Times New Roman" panose="02020603050405020304" pitchFamily="18" charset="0"/>
                <a:cs typeface="Times New Roman" panose="02020603050405020304" pitchFamily="18" charset="0"/>
              </a:rPr>
              <a:t>xt</a:t>
            </a:r>
            <a:r>
              <a:rPr lang="en-US" sz="2000" i="1" spc="-127" baseline="-1200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&gt;, </a:t>
            </a:r>
            <a:r>
              <a:rPr lang="en-US" spc="-10" dirty="0" smtClean="0">
                <a:latin typeface="Times New Roman" panose="02020603050405020304" pitchFamily="18" charset="0"/>
                <a:cs typeface="Times New Roman" panose="02020603050405020304" pitchFamily="18" charset="0"/>
              </a:rPr>
              <a:t>where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q</a:t>
            </a:r>
            <a:r>
              <a:rPr lang="en-US" spc="-5"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45"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a:t>
            </a:r>
            <a:r>
              <a:rPr lang="en-US" i="1" spc="-5" dirty="0" err="1" smtClean="0">
                <a:latin typeface="Times New Roman" panose="02020603050405020304" pitchFamily="18" charset="0"/>
                <a:cs typeface="Times New Roman" panose="02020603050405020304" pitchFamily="18" charset="0"/>
              </a:rPr>
              <a:t>Pr</a:t>
            </a:r>
            <a:r>
              <a:rPr lang="en-US" sz="2000" i="1" spc="-7" baseline="-12000" dirty="0" err="1" smtClean="0">
                <a:latin typeface="Times New Roman" panose="02020603050405020304" pitchFamily="18" charset="0"/>
                <a:cs typeface="Times New Roman" panose="02020603050405020304" pitchFamily="18" charset="0"/>
              </a:rPr>
              <a:t>i</a:t>
            </a:r>
            <a:r>
              <a:rPr lang="en-US" sz="2000" i="1" baseline="-12000" dirty="0" smtClean="0">
                <a:latin typeface="Times New Roman" panose="02020603050405020304" pitchFamily="18" charset="0"/>
                <a:cs typeface="Times New Roman" panose="02020603050405020304" pitchFamily="18" charset="0"/>
              </a:rPr>
              <a:t> </a:t>
            </a:r>
            <a:r>
              <a:rPr lang="en-US" sz="2000" i="1" spc="-7" baseline="-1200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is </a:t>
            </a:r>
            <a:r>
              <a:rPr lang="en-US" spc="-10" dirty="0" smtClean="0">
                <a:latin typeface="Times New Roman" panose="02020603050405020304" pitchFamily="18" charset="0"/>
                <a:cs typeface="Times New Roman" panose="02020603050405020304" pitchFamily="18" charset="0"/>
              </a:rPr>
              <a:t>a</a:t>
            </a:r>
            <a:r>
              <a:rPr lang="en-US" spc="-5" dirty="0" smtClean="0">
                <a:latin typeface="Times New Roman" panose="02020603050405020304" pitchFamily="18" charset="0"/>
                <a:cs typeface="Times New Roman" panose="02020603050405020304" pitchFamily="18" charset="0"/>
              </a:rPr>
              <a:t> data pointer </a:t>
            </a:r>
            <a:r>
              <a:rPr lang="en-US" spc="-10" dirty="0" smtClean="0">
                <a:latin typeface="Times New Roman" panose="02020603050405020304" pitchFamily="18" charset="0"/>
                <a:cs typeface="Times New Roman" panose="02020603050405020304" pitchFamily="18" charset="0"/>
              </a:rPr>
              <a:t>and</a:t>
            </a:r>
            <a:r>
              <a:rPr lang="en-US" spc="-5" dirty="0" smtClean="0">
                <a:latin typeface="Times New Roman" panose="02020603050405020304" pitchFamily="18" charset="0"/>
                <a:cs typeface="Times New Roman" panose="02020603050405020304" pitchFamily="18" charset="0"/>
              </a:rPr>
              <a:t> </a:t>
            </a:r>
            <a:r>
              <a:rPr lang="en-US" i="1" spc="-10" dirty="0" err="1" smtClean="0">
                <a:latin typeface="Times New Roman" panose="02020603050405020304" pitchFamily="18" charset="0"/>
                <a:cs typeface="Times New Roman" panose="02020603050405020304" pitchFamily="18" charset="0"/>
              </a:rPr>
              <a:t>P</a:t>
            </a:r>
            <a:r>
              <a:rPr lang="en-US" sz="2000" i="1" spc="-7" baseline="-12000" dirty="0" err="1" smtClean="0">
                <a:latin typeface="Times New Roman" panose="02020603050405020304" pitchFamily="18" charset="0"/>
                <a:cs typeface="Times New Roman" panose="02020603050405020304" pitchFamily="18" charset="0"/>
              </a:rPr>
              <a:t>n</a:t>
            </a:r>
            <a:r>
              <a:rPr lang="en-US" sz="2000" i="1" spc="-44" baseline="-12000" dirty="0" err="1" smtClean="0">
                <a:latin typeface="Times New Roman" panose="02020603050405020304" pitchFamily="18" charset="0"/>
                <a:cs typeface="Times New Roman" panose="02020603050405020304" pitchFamily="18" charset="0"/>
              </a:rPr>
              <a:t>e</a:t>
            </a:r>
            <a:r>
              <a:rPr lang="en-US" sz="2000" i="1" spc="-7" baseline="-12000" dirty="0" err="1" smtClean="0">
                <a:latin typeface="Times New Roman" panose="02020603050405020304" pitchFamily="18" charset="0"/>
                <a:cs typeface="Times New Roman" panose="02020603050405020304" pitchFamily="18" charset="0"/>
              </a:rPr>
              <a:t>xt</a:t>
            </a:r>
            <a:r>
              <a:rPr lang="en-US" sz="2000" i="1" baseline="-1200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is the pointer to the </a:t>
            </a:r>
            <a:r>
              <a:rPr lang="en-US" spc="-10" dirty="0" smtClean="0">
                <a:latin typeface="Times New Roman" panose="02020603050405020304" pitchFamily="18" charset="0"/>
                <a:cs typeface="Times New Roman" panose="02020603050405020304" pitchFamily="18" charset="0"/>
              </a:rPr>
              <a:t>n</a:t>
            </a:r>
            <a:r>
              <a:rPr lang="en-US" spc="-40"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xt leaf </a:t>
            </a:r>
            <a:r>
              <a:rPr lang="en-US" spc="-10" dirty="0" smtClean="0">
                <a:latin typeface="Times New Roman" panose="02020603050405020304" pitchFamily="18" charset="0"/>
                <a:cs typeface="Times New Roman" panose="02020603050405020304" pitchFamily="18" charset="0"/>
              </a:rPr>
              <a:t>node</a:t>
            </a:r>
            <a:endParaRPr lang="en-US" spc="-10"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leaf </a:t>
            </a:r>
            <a:r>
              <a:rPr lang="en-US" spc="-10" dirty="0" smtClean="0">
                <a:latin typeface="Times New Roman" panose="02020603050405020304" pitchFamily="18" charset="0"/>
                <a:cs typeface="Times New Roman" panose="02020603050405020304" pitchFamily="18" charset="0"/>
              </a:rPr>
              <a:t>node</a:t>
            </a:r>
            <a:r>
              <a:rPr lang="en-US" spc="-5"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has</a:t>
            </a:r>
            <a:r>
              <a:rPr lang="en-US" spc="-5" dirty="0" smtClean="0">
                <a:latin typeface="Times New Roman" panose="02020603050405020304" pitchFamily="18" charset="0"/>
                <a:cs typeface="Times New Roman" panose="02020603050405020304" pitchFamily="18" charset="0"/>
              </a:rPr>
              <a:t> at least </a:t>
            </a:r>
            <a:r>
              <a:rPr lang="en-US" spc="-9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10"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 / </a:t>
            </a:r>
            <a:r>
              <a:rPr lang="en-US" spc="-10" dirty="0" smtClean="0">
                <a:latin typeface="Times New Roman" panose="02020603050405020304" pitchFamily="18" charset="0"/>
                <a:cs typeface="Times New Roman" panose="02020603050405020304" pitchFamily="18" charset="0"/>
              </a:rPr>
              <a:t>2</a:t>
            </a:r>
            <a:r>
              <a:rPr lang="en-US" spc="-5" dirty="0" smtClean="0">
                <a:latin typeface="Times New Roman" panose="02020603050405020304" pitchFamily="18" charset="0"/>
                <a:cs typeface="Times New Roman" panose="02020603050405020304" pitchFamily="18" charset="0"/>
              </a:rPr>
              <a:t> </a:t>
            </a:r>
            <a:r>
              <a:rPr lang="en-US" spc="-9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alues</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All leaf </a:t>
            </a:r>
            <a:r>
              <a:rPr lang="en-US" spc="-10" dirty="0" smtClean="0">
                <a:latin typeface="Times New Roman" panose="02020603050405020304" pitchFamily="18" charset="0"/>
                <a:cs typeface="Times New Roman" panose="02020603050405020304" pitchFamily="18" charset="0"/>
              </a:rPr>
              <a:t>nodes</a:t>
            </a:r>
            <a:r>
              <a:rPr lang="en-US" spc="-5" dirty="0" smtClean="0">
                <a:latin typeface="Times New Roman" panose="02020603050405020304" pitchFamily="18" charset="0"/>
                <a:cs typeface="Times New Roman" panose="02020603050405020304" pitchFamily="18" charset="0"/>
              </a:rPr>
              <a:t> are at the </a:t>
            </a:r>
            <a:r>
              <a:rPr lang="en-US" spc="-10" dirty="0" smtClean="0">
                <a:latin typeface="Times New Roman" panose="02020603050405020304" pitchFamily="18" charset="0"/>
                <a:cs typeface="Times New Roman" panose="02020603050405020304" pitchFamily="18" charset="0"/>
              </a:rPr>
              <a:t>same</a:t>
            </a:r>
            <a:r>
              <a:rPr lang="en-US" spc="-5" dirty="0" smtClean="0">
                <a:latin typeface="Times New Roman" panose="02020603050405020304" pitchFamily="18" charset="0"/>
                <a:cs typeface="Times New Roman" panose="02020603050405020304" pitchFamily="18" charset="0"/>
              </a:rPr>
              <a:t> l</a:t>
            </a:r>
            <a:r>
              <a:rPr lang="en-US" spc="-40" dirty="0" smtClean="0">
                <a:latin typeface="Times New Roman" panose="02020603050405020304" pitchFamily="18" charset="0"/>
                <a:cs typeface="Times New Roman" panose="02020603050405020304" pitchFamily="18" charset="0"/>
              </a:rPr>
              <a:t>e</a:t>
            </a:r>
            <a:r>
              <a:rPr lang="en-US" spc="-30" dirty="0" smtClean="0">
                <a:latin typeface="Times New Roman" panose="02020603050405020304" pitchFamily="18" charset="0"/>
                <a:cs typeface="Times New Roman" panose="02020603050405020304" pitchFamily="18" charset="0"/>
              </a:rPr>
              <a:t>v</a:t>
            </a:r>
            <a:r>
              <a:rPr lang="en-US" spc="-5" dirty="0" smtClean="0">
                <a:latin typeface="Times New Roman" panose="02020603050405020304" pitchFamily="18" charset="0"/>
                <a:cs typeface="Times New Roman" panose="02020603050405020304" pitchFamily="18" charset="0"/>
              </a:rPr>
              <a:t>el</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Within </a:t>
            </a:r>
            <a:r>
              <a:rPr lang="en-US" spc="-10" dirty="0" smtClean="0">
                <a:latin typeface="Times New Roman" panose="02020603050405020304" pitchFamily="18" charset="0"/>
                <a:cs typeface="Times New Roman" panose="02020603050405020304" pitchFamily="18" charset="0"/>
              </a:rPr>
              <a:t>each</a:t>
            </a:r>
            <a:r>
              <a:rPr lang="en-US" spc="-5" dirty="0" smtClean="0">
                <a:latin typeface="Times New Roman" panose="02020603050405020304" pitchFamily="18" charset="0"/>
                <a:cs typeface="Times New Roman" panose="02020603050405020304" pitchFamily="18" charset="0"/>
              </a:rPr>
              <a:t> leaf </a:t>
            </a:r>
            <a:r>
              <a:rPr lang="en-US" spc="-10" dirty="0" smtClean="0">
                <a:latin typeface="Times New Roman" panose="02020603050405020304" pitchFamily="18" charset="0"/>
                <a:cs typeface="Times New Roman" panose="02020603050405020304" pitchFamily="18" charset="0"/>
              </a:rPr>
              <a:t>nod</a:t>
            </a:r>
            <a:r>
              <a:rPr lang="en-US" spc="-25" dirty="0" smtClean="0">
                <a:latin typeface="Times New Roman" panose="02020603050405020304" pitchFamily="18" charset="0"/>
                <a:cs typeface="Times New Roman" panose="02020603050405020304" pitchFamily="18" charset="0"/>
              </a:rPr>
              <a:t>e</a:t>
            </a:r>
            <a:r>
              <a:rPr lang="en-US" spc="-5"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spc="-7" baseline="-12000" dirty="0" smtClean="0">
                <a:latin typeface="Times New Roman" panose="02020603050405020304" pitchFamily="18" charset="0"/>
                <a:cs typeface="Times New Roman" panose="02020603050405020304" pitchFamily="18" charset="0"/>
              </a:rPr>
              <a:t>1</a:t>
            </a:r>
            <a:r>
              <a:rPr lang="en-US" sz="2000" baseline="-12000" dirty="0" smtClean="0">
                <a:latin typeface="Times New Roman" panose="02020603050405020304" pitchFamily="18" charset="0"/>
                <a:cs typeface="Times New Roman" panose="02020603050405020304" pitchFamily="18" charset="0"/>
              </a:rPr>
              <a:t> </a:t>
            </a:r>
            <a:r>
              <a:rPr lang="en-US" sz="2000" spc="-97" baseline="-12000"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spc="-7" baseline="-12000" dirty="0" smtClean="0">
                <a:latin typeface="Times New Roman" panose="02020603050405020304" pitchFamily="18" charset="0"/>
                <a:cs typeface="Times New Roman" panose="02020603050405020304" pitchFamily="18" charset="0"/>
              </a:rPr>
              <a:t>2</a:t>
            </a:r>
            <a:r>
              <a:rPr lang="en-US" sz="2000" baseline="-12000" dirty="0" smtClean="0">
                <a:latin typeface="Times New Roman" panose="02020603050405020304" pitchFamily="18" charset="0"/>
                <a:cs typeface="Times New Roman" panose="02020603050405020304" pitchFamily="18" charset="0"/>
              </a:rPr>
              <a:t> </a:t>
            </a:r>
            <a:r>
              <a:rPr lang="en-US" sz="2000" spc="-97" baseline="-12000"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spc="-5" dirty="0" smtClean="0">
                <a:latin typeface="Times New Roman" panose="02020603050405020304" pitchFamily="18" charset="0"/>
                <a:cs typeface="Times New Roman" panose="02020603050405020304" pitchFamily="18" charset="0"/>
              </a:rPr>
              <a:t>... </a:t>
            </a:r>
            <a:r>
              <a:rPr lang="en-US" spc="-25" dirty="0" smtClean="0">
                <a:latin typeface="Times New Roman" panose="02020603050405020304" pitchFamily="18" charset="0"/>
                <a:cs typeface="Times New Roman" panose="02020603050405020304" pitchFamily="18" charset="0"/>
              </a:rPr>
              <a:t>≤</a:t>
            </a:r>
            <a:r>
              <a:rPr lang="en-US" spc="-40" dirty="0" smtClean="0">
                <a:latin typeface="Times New Roman" panose="02020603050405020304" pitchFamily="18" charset="0"/>
                <a:cs typeface="Times New Roman" panose="02020603050405020304" pitchFamily="18" charset="0"/>
              </a:rPr>
              <a:t> </a:t>
            </a:r>
            <a:r>
              <a:rPr lang="en-US" i="1" spc="-10" dirty="0" smtClean="0">
                <a:latin typeface="Times New Roman" panose="02020603050405020304" pitchFamily="18" charset="0"/>
                <a:cs typeface="Times New Roman" panose="02020603050405020304" pitchFamily="18" charset="0"/>
              </a:rPr>
              <a:t>K</a:t>
            </a:r>
            <a:r>
              <a:rPr lang="en-US" sz="2000" i="1" spc="37" baseline="-12000" dirty="0" smtClean="0">
                <a:latin typeface="Times New Roman" panose="02020603050405020304" pitchFamily="18" charset="0"/>
                <a:cs typeface="Times New Roman" panose="02020603050405020304" pitchFamily="18" charset="0"/>
              </a:rPr>
              <a:t>q</a:t>
            </a:r>
            <a:r>
              <a:rPr lang="en-US" sz="2000" spc="315" baseline="-12000" dirty="0" smtClean="0">
                <a:latin typeface="Times New Roman" panose="02020603050405020304" pitchFamily="18" charset="0"/>
                <a:cs typeface="Times New Roman" panose="02020603050405020304" pitchFamily="18" charset="0"/>
              </a:rPr>
              <a:t>−</a:t>
            </a:r>
            <a:r>
              <a:rPr lang="en-US" sz="2000" spc="-7" baseline="-12000" dirty="0" smtClean="0">
                <a:latin typeface="Times New Roman" panose="02020603050405020304" pitchFamily="18" charset="0"/>
                <a:cs typeface="Times New Roman" panose="02020603050405020304" pitchFamily="18" charset="0"/>
              </a:rPr>
              <a:t>1</a:t>
            </a:r>
            <a:endParaRPr lang="en-US" sz="2000" spc="-7" baseline="-12000"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The pointers in internal nodes are the tree pointers, which point to blocks that are tree nodes, whereas the pointers in leaf nodes are the data pointers to the data file records.</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643206"/>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The rules for the insertion of a data item to the B+-tree are:</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pc="-5" dirty="0" smtClean="0">
                <a:latin typeface="Times New Roman" panose="02020603050405020304" pitchFamily="18" charset="0"/>
                <a:cs typeface="Times New Roman" panose="02020603050405020304" pitchFamily="18" charset="0"/>
              </a:rPr>
              <a:t>Find correct leaf L</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pc="-5" dirty="0" smtClean="0">
                <a:latin typeface="Times New Roman" panose="02020603050405020304" pitchFamily="18" charset="0"/>
                <a:cs typeface="Times New Roman" panose="02020603050405020304" pitchFamily="18" charset="0"/>
              </a:rPr>
              <a:t>Put data entry onto L. There are two options for this entry:</a:t>
            </a:r>
            <a:endParaRPr lang="en-US" spc="-5"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
              <a:defRPr/>
            </a:pPr>
            <a:r>
              <a:rPr lang="en-US" spc="-5" dirty="0" smtClean="0">
                <a:latin typeface="Times New Roman" panose="02020603050405020304" pitchFamily="18" charset="0"/>
                <a:cs typeface="Times New Roman" panose="02020603050405020304" pitchFamily="18" charset="0"/>
              </a:rPr>
              <a:t>If L has enough space, done!</a:t>
            </a:r>
            <a:endParaRPr lang="en-US" spc="-5"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
              <a:defRPr/>
            </a:pPr>
            <a:r>
              <a:rPr lang="en-US" spc="-5" dirty="0" smtClean="0">
                <a:latin typeface="Times New Roman" panose="02020603050405020304" pitchFamily="18" charset="0"/>
                <a:cs typeface="Times New Roman" panose="02020603050405020304" pitchFamily="18" charset="0"/>
              </a:rPr>
              <a:t>Else, split L into L and a new node L2. Redistribute entries evenly and copy up the middle key. Also, insert index entry pointing to L2 into parent of L</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pc="-5" dirty="0" smtClean="0">
                <a:latin typeface="Times New Roman" panose="02020603050405020304" pitchFamily="18" charset="0"/>
                <a:cs typeface="Times New Roman" panose="02020603050405020304" pitchFamily="18" charset="0"/>
              </a:rPr>
              <a:t>For each insertion, this process will be repeated</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endParaRPr lang="en-US" spc="-5"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ü"/>
              <a:defRPr/>
            </a:pPr>
            <a:endParaRPr lang="en-US" spc="-5"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 Insertion</a:t>
            </a:r>
            <a:endParaRPr lang="en-US" sz="3600" b="1" dirty="0" smtClean="0">
              <a:latin typeface="Times New Roman" panose="02020603050405020304" pitchFamily="18" charset="0"/>
              <a:cs typeface="Times New Roman" panose="02020603050405020304" pitchFamily="18" charset="0"/>
            </a:endParaRPr>
          </a:p>
        </p:txBody>
      </p:sp>
      <p:sp>
        <p:nvSpPr>
          <p:cNvPr id="8" name="object 16"/>
          <p:cNvSpPr/>
          <p:nvPr/>
        </p:nvSpPr>
        <p:spPr>
          <a:xfrm>
            <a:off x="1643042" y="4000504"/>
            <a:ext cx="5929354" cy="1223899"/>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857520"/>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The rules for deleting a data item from the B+-tree are:</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pc="-5" dirty="0" smtClean="0">
                <a:latin typeface="Times New Roman" panose="02020603050405020304" pitchFamily="18" charset="0"/>
                <a:cs typeface="Times New Roman" panose="02020603050405020304" pitchFamily="18" charset="0"/>
              </a:rPr>
              <a:t>Find the correct leaf  L.</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pc="-5" dirty="0" smtClean="0">
                <a:latin typeface="Times New Roman" panose="02020603050405020304" pitchFamily="18" charset="0"/>
                <a:cs typeface="Times New Roman" panose="02020603050405020304" pitchFamily="18" charset="0"/>
              </a:rPr>
              <a:t>Remove the entry. There may be two possible cases for this deletion:</a:t>
            </a:r>
            <a:endParaRPr lang="en-US" spc="-5"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
              <a:defRPr/>
            </a:pPr>
            <a:r>
              <a:rPr lang="en-US" spc="-5" dirty="0" smtClean="0">
                <a:latin typeface="Times New Roman" panose="02020603050405020304" pitchFamily="18" charset="0"/>
                <a:cs typeface="Times New Roman" panose="02020603050405020304" pitchFamily="18" charset="0"/>
              </a:rPr>
              <a:t>If L is at least half-full, done!</a:t>
            </a:r>
            <a:endParaRPr lang="en-US" spc="-5" dirty="0" smtClean="0">
              <a:latin typeface="Times New Roman" panose="02020603050405020304" pitchFamily="18" charset="0"/>
              <a:cs typeface="Times New Roman" panose="02020603050405020304" pitchFamily="18" charset="0"/>
            </a:endParaRPr>
          </a:p>
          <a:p>
            <a:pPr marL="1257300" lvl="2" indent="-342900" algn="just">
              <a:spcBef>
                <a:spcPct val="20000"/>
              </a:spcBef>
              <a:buFont typeface="Wingdings" panose="05000000000000000000" pitchFamily="2" charset="2"/>
              <a:buChar char="§"/>
              <a:defRPr/>
            </a:pPr>
            <a:r>
              <a:rPr lang="en-US" spc="-5" dirty="0" smtClean="0">
                <a:latin typeface="Times New Roman" panose="02020603050405020304" pitchFamily="18" charset="0"/>
                <a:cs typeface="Times New Roman" panose="02020603050405020304" pitchFamily="18" charset="0"/>
              </a:rPr>
              <a:t>Else, try to re-distribute the entries by borrowing from the adjacent node or sibling. If re-distribution fails, merge L and the sibling. If merge occurred, then delete the entry (pointing to L or sibling) from parent of L.</a:t>
            </a:r>
            <a:endParaRPr lang="en-US"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r>
              <a:rPr lang="en-US" spc="-5" dirty="0" smtClean="0">
                <a:latin typeface="Times New Roman" panose="02020603050405020304" pitchFamily="18" charset="0"/>
                <a:cs typeface="Times New Roman" panose="02020603050405020304" pitchFamily="18" charset="0"/>
              </a:rPr>
              <a:t>The merging process could propagate to root; thus, decreasing the height.</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spc="-5" dirty="0" smtClean="0">
                <a:latin typeface="Times New Roman" panose="02020603050405020304" pitchFamily="18" charset="0"/>
                <a:cs typeface="Times New Roman" panose="02020603050405020304" pitchFamily="18" charset="0"/>
              </a:rPr>
              <a:t>Deletion of 48:</a:t>
            </a:r>
            <a:endParaRPr lang="en-US" b="1" spc="-5" dirty="0" smtClean="0">
              <a:latin typeface="Times New Roman" panose="02020603050405020304" pitchFamily="18" charset="0"/>
              <a:cs typeface="Times New Roman" panose="02020603050405020304" pitchFamily="18" charset="0"/>
            </a:endParaRPr>
          </a:p>
          <a:p>
            <a:pPr marL="800100" lvl="1" indent="-342900" algn="just">
              <a:spcBef>
                <a:spcPct val="20000"/>
              </a:spcBef>
              <a:buFont typeface="Wingdings" panose="05000000000000000000" pitchFamily="2" charset="2"/>
              <a:buChar char="ü"/>
              <a:defRPr/>
            </a:pPr>
            <a:endParaRPr lang="en-US" spc="-5"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 Deletion</a:t>
            </a:r>
            <a:endParaRPr lang="en-US" sz="3600" b="1" dirty="0" smtClean="0">
              <a:latin typeface="Times New Roman" panose="02020603050405020304" pitchFamily="18" charset="0"/>
              <a:cs typeface="Times New Roman" panose="02020603050405020304" pitchFamily="18" charset="0"/>
            </a:endParaRPr>
          </a:p>
        </p:txBody>
      </p:sp>
      <p:sp>
        <p:nvSpPr>
          <p:cNvPr id="14" name="object 18"/>
          <p:cNvSpPr/>
          <p:nvPr/>
        </p:nvSpPr>
        <p:spPr>
          <a:xfrm>
            <a:off x="1857356" y="4714884"/>
            <a:ext cx="5572164" cy="1229063"/>
          </a:xfrm>
          <a:prstGeom prst="rect">
            <a:avLst/>
          </a:prstGeom>
          <a:blipFill>
            <a:blip r:embed="rId3"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428628"/>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b="1" spc="-5" dirty="0" smtClean="0">
                <a:latin typeface="Times New Roman" panose="02020603050405020304" pitchFamily="18" charset="0"/>
                <a:cs typeface="Times New Roman" panose="02020603050405020304" pitchFamily="18" charset="0"/>
              </a:rPr>
              <a:t>Deletion of  45 followed by 40:</a:t>
            </a: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b="1" spc="-10" dirty="0" smtClean="0">
                <a:latin typeface="Times New Roman" panose="02020603050405020304" pitchFamily="18" charset="0"/>
                <a:cs typeface="Times New Roman" panose="02020603050405020304" pitchFamily="18" charset="0"/>
              </a:rPr>
              <a:t>The</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maxi</a:t>
            </a:r>
            <a:r>
              <a:rPr lang="en-US" b="1" spc="-30" dirty="0" smtClean="0">
                <a:latin typeface="Times New Roman" panose="02020603050405020304" pitchFamily="18" charset="0"/>
                <a:cs typeface="Times New Roman" panose="02020603050405020304" pitchFamily="18" charset="0"/>
              </a:rPr>
              <a:t>m</a:t>
            </a:r>
            <a:r>
              <a:rPr lang="en-US" b="1" spc="-10" dirty="0" smtClean="0">
                <a:latin typeface="Times New Roman" panose="02020603050405020304" pitchFamily="18" charset="0"/>
                <a:cs typeface="Times New Roman" panose="02020603050405020304" pitchFamily="18" charset="0"/>
              </a:rPr>
              <a:t>um</a:t>
            </a:r>
            <a:r>
              <a:rPr lang="en-US" b="1" spc="-5" dirty="0" smtClean="0">
                <a:latin typeface="Times New Roman" panose="02020603050405020304" pitchFamily="18" charset="0"/>
                <a:cs typeface="Times New Roman" panose="02020603050405020304" pitchFamily="18" charset="0"/>
              </a:rPr>
              <a:t> </a:t>
            </a:r>
            <a:r>
              <a:rPr lang="en-US" b="1" spc="-20" dirty="0" smtClean="0">
                <a:latin typeface="Times New Roman" panose="02020603050405020304" pitchFamily="18" charset="0"/>
                <a:cs typeface="Times New Roman" panose="02020603050405020304" pitchFamily="18" charset="0"/>
              </a:rPr>
              <a:t>n</a:t>
            </a:r>
            <a:r>
              <a:rPr lang="en-US" b="1" spc="-10" dirty="0" smtClean="0">
                <a:latin typeface="Times New Roman" panose="02020603050405020304" pitchFamily="18" charset="0"/>
                <a:cs typeface="Times New Roman" panose="02020603050405020304" pitchFamily="18" charset="0"/>
              </a:rPr>
              <a:t>umber</a:t>
            </a:r>
            <a:r>
              <a:rPr lang="en-US" b="1" spc="-5" dirty="0" smtClean="0">
                <a:latin typeface="Times New Roman" panose="02020603050405020304" pitchFamily="18" charset="0"/>
                <a:cs typeface="Times New Roman" panose="02020603050405020304" pitchFamily="18" charset="0"/>
              </a:rPr>
              <a:t> of </a:t>
            </a:r>
            <a:r>
              <a:rPr lang="en-US" b="1" spc="-10" dirty="0" smtClean="0">
                <a:latin typeface="Times New Roman" panose="02020603050405020304" pitchFamily="18" charset="0"/>
                <a:cs typeface="Times New Roman" panose="02020603050405020304" pitchFamily="18" charset="0"/>
              </a:rPr>
              <a:t>reco</a:t>
            </a:r>
            <a:r>
              <a:rPr lang="en-US" b="1" spc="-25" dirty="0" smtClean="0">
                <a:latin typeface="Times New Roman" panose="02020603050405020304" pitchFamily="18" charset="0"/>
                <a:cs typeface="Times New Roman" panose="02020603050405020304" pitchFamily="18" charset="0"/>
              </a:rPr>
              <a:t>r</a:t>
            </a:r>
            <a:r>
              <a:rPr lang="en-US" b="1" spc="-10" dirty="0" smtClean="0">
                <a:latin typeface="Times New Roman" panose="02020603050405020304" pitchFamily="18" charset="0"/>
                <a:cs typeface="Times New Roman" panose="02020603050405020304" pitchFamily="18" charset="0"/>
              </a:rPr>
              <a:t>ds</a:t>
            </a:r>
            <a:r>
              <a:rPr lang="en-US" b="1" spc="-5" dirty="0" smtClean="0">
                <a:latin typeface="Times New Roman" panose="02020603050405020304" pitchFamily="18" charset="0"/>
                <a:cs typeface="Times New Roman" panose="02020603050405020304" pitchFamily="18" charset="0"/>
              </a:rPr>
              <a:t> stored in </a:t>
            </a:r>
            <a:r>
              <a:rPr lang="en-US" b="1" spc="-10" dirty="0" smtClean="0">
                <a:latin typeface="Times New Roman" panose="02020603050405020304" pitchFamily="18" charset="0"/>
                <a:cs typeface="Times New Roman" panose="02020603050405020304" pitchFamily="18" charset="0"/>
              </a:rPr>
              <a:t>a</a:t>
            </a:r>
            <a:r>
              <a:rPr lang="en-US" b="1" spc="-5" dirty="0" smtClean="0">
                <a:latin typeface="Times New Roman" panose="02020603050405020304" pitchFamily="18" charset="0"/>
                <a:cs typeface="Times New Roman" panose="02020603050405020304" pitchFamily="18" charset="0"/>
              </a:rPr>
              <a:t> </a:t>
            </a:r>
            <a:r>
              <a:rPr lang="en-US" i="1" spc="25" dirty="0" smtClean="0">
                <a:latin typeface="Times New Roman" panose="02020603050405020304" pitchFamily="18" charset="0"/>
                <a:cs typeface="Times New Roman" panose="02020603050405020304" pitchFamily="18" charset="0"/>
              </a:rPr>
              <a:t>B</a:t>
            </a:r>
            <a:r>
              <a:rPr lang="en-US" sz="2000" spc="75" baseline="28000" dirty="0" smtClean="0">
                <a:latin typeface="Times New Roman" panose="02020603050405020304" pitchFamily="18" charset="0"/>
                <a:cs typeface="Times New Roman" panose="02020603050405020304" pitchFamily="18" charset="0"/>
              </a:rPr>
              <a:t>+</a:t>
            </a:r>
            <a:r>
              <a:rPr lang="en-US" b="1" spc="-5" dirty="0" smtClean="0">
                <a:latin typeface="Times New Roman" panose="02020603050405020304" pitchFamily="18" charset="0"/>
                <a:cs typeface="Times New Roman" panose="02020603050405020304" pitchFamily="18" charset="0"/>
              </a:rPr>
              <a:t>-tree of o</a:t>
            </a:r>
            <a:r>
              <a:rPr lang="en-US" b="1" spc="-25" dirty="0" smtClean="0">
                <a:latin typeface="Times New Roman" panose="02020603050405020304" pitchFamily="18" charset="0"/>
                <a:cs typeface="Times New Roman" panose="02020603050405020304" pitchFamily="18" charset="0"/>
              </a:rPr>
              <a:t>r</a:t>
            </a:r>
            <a:r>
              <a:rPr lang="en-US" b="1" spc="-10" dirty="0" smtClean="0">
                <a:latin typeface="Times New Roman" panose="02020603050405020304" pitchFamily="18" charset="0"/>
                <a:cs typeface="Times New Roman" panose="02020603050405020304" pitchFamily="18" charset="0"/>
              </a:rPr>
              <a:t>der</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p</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and</a:t>
            </a:r>
            <a:r>
              <a:rPr lang="en-US" b="1" spc="-5" dirty="0" smtClean="0">
                <a:latin typeface="Times New Roman" panose="02020603050405020304" pitchFamily="18" charset="0"/>
                <a:cs typeface="Times New Roman" panose="02020603050405020304" pitchFamily="18" charset="0"/>
              </a:rPr>
              <a:t> height </a:t>
            </a:r>
            <a:r>
              <a:rPr lang="en-US" b="1" spc="-10" dirty="0" smtClean="0">
                <a:latin typeface="Times New Roman" panose="02020603050405020304" pitchFamily="18" charset="0"/>
                <a:cs typeface="Times New Roman" panose="02020603050405020304" pitchFamily="18" charset="0"/>
              </a:rPr>
              <a:t>h</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t>
            </a:r>
            <a:r>
              <a:rPr lang="en-US" b="1" spc="-5" dirty="0" smtClean="0">
                <a:latin typeface="Times New Roman" panose="02020603050405020304" pitchFamily="18" charset="0"/>
                <a:cs typeface="Times New Roman" panose="02020603050405020304" pitchFamily="18" charset="0"/>
              </a:rPr>
              <a:t> </a:t>
            </a:r>
            <a:r>
              <a:rPr lang="en-US" i="1" spc="15" dirty="0" smtClean="0">
                <a:latin typeface="Times New Roman" panose="02020603050405020304" pitchFamily="18" charset="0"/>
                <a:cs typeface="Times New Roman" panose="02020603050405020304" pitchFamily="18" charset="0"/>
              </a:rPr>
              <a:t>p</a:t>
            </a:r>
            <a:r>
              <a:rPr lang="en-US" sz="2000" i="1" spc="-7" baseline="28000" dirty="0" smtClean="0">
                <a:latin typeface="Times New Roman" panose="02020603050405020304" pitchFamily="18" charset="0"/>
                <a:cs typeface="Times New Roman" panose="02020603050405020304" pitchFamily="18" charset="0"/>
              </a:rPr>
              <a:t>h</a:t>
            </a:r>
            <a:r>
              <a:rPr lang="en-US" sz="2000" i="1" spc="-202" baseline="28000" dirty="0" smtClean="0">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 </a:t>
            </a:r>
            <a:r>
              <a:rPr lang="en-US" i="1" spc="15" dirty="0" smtClean="0">
                <a:latin typeface="Times New Roman" panose="02020603050405020304" pitchFamily="18" charset="0"/>
                <a:cs typeface="Times New Roman" panose="02020603050405020304" pitchFamily="18" charset="0"/>
              </a:rPr>
              <a:t>p</a:t>
            </a:r>
            <a:r>
              <a:rPr lang="en-US" sz="2000" i="1" baseline="28000" dirty="0" smtClean="0">
                <a:latin typeface="Times New Roman" panose="02020603050405020304" pitchFamily="18" charset="0"/>
                <a:cs typeface="Times New Roman" panose="02020603050405020304" pitchFamily="18" charset="0"/>
              </a:rPr>
              <a:t>h</a:t>
            </a:r>
            <a:r>
              <a:rPr lang="en-US" sz="2000" spc="315" baseline="28000" dirty="0" smtClean="0">
                <a:latin typeface="Times New Roman" panose="02020603050405020304" pitchFamily="18" charset="0"/>
                <a:cs typeface="Times New Roman" panose="02020603050405020304" pitchFamily="18" charset="0"/>
              </a:rPr>
              <a:t>−</a:t>
            </a:r>
            <a:r>
              <a:rPr lang="en-US" sz="2000" spc="52" baseline="28000" dirty="0" smtClean="0">
                <a:latin typeface="Times New Roman" panose="02020603050405020304" pitchFamily="18" charset="0"/>
                <a:cs typeface="Times New Roman" panose="02020603050405020304" pitchFamily="18" charset="0"/>
              </a:rPr>
              <a:t>1</a:t>
            </a:r>
            <a:r>
              <a:rPr lang="en-US" b="1" spc="-5" dirty="0" smtClean="0">
                <a:latin typeface="Times New Roman" panose="02020603050405020304" pitchFamily="18" charset="0"/>
                <a:cs typeface="Times New Roman" panose="02020603050405020304" pitchFamily="18" charset="0"/>
              </a:rPr>
              <a:t>. Similar</a:t>
            </a:r>
            <a:r>
              <a:rPr lang="en-US" b="1" spc="-20" dirty="0" smtClean="0">
                <a:latin typeface="Times New Roman" panose="02020603050405020304" pitchFamily="18" charset="0"/>
                <a:cs typeface="Times New Roman" panose="02020603050405020304" pitchFamily="18" charset="0"/>
              </a:rPr>
              <a:t>l</a:t>
            </a:r>
            <a:r>
              <a:rPr lang="en-US" b="1" spc="-90" dirty="0" smtClean="0">
                <a:latin typeface="Times New Roman" panose="02020603050405020304" pitchFamily="18" charset="0"/>
                <a:cs typeface="Times New Roman" panose="02020603050405020304" pitchFamily="18" charset="0"/>
              </a:rPr>
              <a:t>y</a:t>
            </a:r>
            <a:r>
              <a:rPr lang="en-US" b="1" spc="-5" dirty="0" smtClean="0">
                <a:latin typeface="Times New Roman" panose="02020603050405020304" pitchFamily="18" charset="0"/>
                <a:cs typeface="Times New Roman" panose="02020603050405020304" pitchFamily="18" charset="0"/>
              </a:rPr>
              <a:t>, the </a:t>
            </a:r>
            <a:r>
              <a:rPr lang="en-US" b="1" spc="-10" dirty="0" smtClean="0">
                <a:latin typeface="Times New Roman" panose="02020603050405020304" pitchFamily="18" charset="0"/>
                <a:cs typeface="Times New Roman" panose="02020603050405020304" pitchFamily="18" charset="0"/>
              </a:rPr>
              <a:t>mini</a:t>
            </a:r>
            <a:r>
              <a:rPr lang="en-US" b="1" spc="-30" dirty="0" smtClean="0">
                <a:latin typeface="Times New Roman" panose="02020603050405020304" pitchFamily="18" charset="0"/>
                <a:cs typeface="Times New Roman" panose="02020603050405020304" pitchFamily="18" charset="0"/>
              </a:rPr>
              <a:t>m</a:t>
            </a:r>
            <a:r>
              <a:rPr lang="en-US" b="1" spc="-10" dirty="0" smtClean="0">
                <a:latin typeface="Times New Roman" panose="02020603050405020304" pitchFamily="18" charset="0"/>
                <a:cs typeface="Times New Roman" panose="02020603050405020304" pitchFamily="18" charset="0"/>
              </a:rPr>
              <a:t>um</a:t>
            </a:r>
            <a:r>
              <a:rPr lang="en-US" b="1" spc="-5" dirty="0" smtClean="0">
                <a:latin typeface="Times New Roman" panose="02020603050405020304" pitchFamily="18" charset="0"/>
                <a:cs typeface="Times New Roman" panose="02020603050405020304" pitchFamily="18" charset="0"/>
              </a:rPr>
              <a:t> </a:t>
            </a:r>
            <a:r>
              <a:rPr lang="en-US" b="1" spc="-20" dirty="0" smtClean="0">
                <a:latin typeface="Times New Roman" panose="02020603050405020304" pitchFamily="18" charset="0"/>
                <a:cs typeface="Times New Roman" panose="02020603050405020304" pitchFamily="18" charset="0"/>
              </a:rPr>
              <a:t>n</a:t>
            </a:r>
            <a:r>
              <a:rPr lang="en-US" b="1" spc="-10" dirty="0" smtClean="0">
                <a:latin typeface="Times New Roman" panose="02020603050405020304" pitchFamily="18" charset="0"/>
                <a:cs typeface="Times New Roman" panose="02020603050405020304" pitchFamily="18" charset="0"/>
              </a:rPr>
              <a:t>umber</a:t>
            </a:r>
            <a:r>
              <a:rPr lang="en-US" b="1" spc="-5" dirty="0" smtClean="0">
                <a:latin typeface="Times New Roman" panose="02020603050405020304" pitchFamily="18" charset="0"/>
                <a:cs typeface="Times New Roman" panose="02020603050405020304" pitchFamily="18" charset="0"/>
              </a:rPr>
              <a:t> of </a:t>
            </a:r>
            <a:r>
              <a:rPr lang="en-US" b="1" spc="-10" dirty="0" smtClean="0">
                <a:latin typeface="Times New Roman" panose="02020603050405020304" pitchFamily="18" charset="0"/>
                <a:cs typeface="Times New Roman" panose="02020603050405020304" pitchFamily="18" charset="0"/>
              </a:rPr>
              <a:t>reco</a:t>
            </a:r>
            <a:r>
              <a:rPr lang="en-US" b="1" spc="-25" dirty="0" smtClean="0">
                <a:latin typeface="Times New Roman" panose="02020603050405020304" pitchFamily="18" charset="0"/>
                <a:cs typeface="Times New Roman" panose="02020603050405020304" pitchFamily="18" charset="0"/>
              </a:rPr>
              <a:t>r</a:t>
            </a:r>
            <a:r>
              <a:rPr lang="en-US" b="1" spc="-10" dirty="0" smtClean="0">
                <a:latin typeface="Times New Roman" panose="02020603050405020304" pitchFamily="18" charset="0"/>
                <a:cs typeface="Times New Roman" panose="02020603050405020304" pitchFamily="18" charset="0"/>
              </a:rPr>
              <a:t>ds</a:t>
            </a:r>
            <a:r>
              <a:rPr lang="en-US" b="1" spc="-5" dirty="0" smtClean="0">
                <a:latin typeface="Times New Roman" panose="02020603050405020304" pitchFamily="18" charset="0"/>
                <a:cs typeface="Times New Roman" panose="02020603050405020304" pitchFamily="18" charset="0"/>
              </a:rPr>
              <a:t> stored </a:t>
            </a:r>
            <a:r>
              <a:rPr lang="en-US" b="1" spc="-10" dirty="0" smtClean="0">
                <a:latin typeface="Times New Roman" panose="02020603050405020304" pitchFamily="18" charset="0"/>
                <a:cs typeface="Times New Roman" panose="02020603050405020304" pitchFamily="18" charset="0"/>
              </a:rPr>
              <a:t>=</a:t>
            </a:r>
            <a:r>
              <a:rPr lang="en-US" b="1" spc="-5" dirty="0" smtClean="0">
                <a:latin typeface="Times New Roman" panose="02020603050405020304" pitchFamily="18" charset="0"/>
                <a:cs typeface="Times New Roman" panose="02020603050405020304" pitchFamily="18" charset="0"/>
              </a:rPr>
              <a:t> </a:t>
            </a:r>
            <a:r>
              <a:rPr lang="en-US" b="1" spc="-15"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a:t>
            </a:r>
            <a:r>
              <a:rPr lang="en-US" i="1" spc="15"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a:t>
            </a:r>
            <a:r>
              <a:rPr lang="en-US" spc="-1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a:t>
            </a:r>
            <a:r>
              <a:rPr lang="en-US" sz="2000" i="1" baseline="28000" dirty="0" smtClean="0">
                <a:latin typeface="Times New Roman" panose="02020603050405020304" pitchFamily="18" charset="0"/>
                <a:cs typeface="Times New Roman" panose="02020603050405020304" pitchFamily="18" charset="0"/>
              </a:rPr>
              <a:t>h</a:t>
            </a:r>
            <a:r>
              <a:rPr lang="en-US" sz="2000" spc="315" baseline="28000" dirty="0" smtClean="0">
                <a:latin typeface="Times New Roman" panose="02020603050405020304" pitchFamily="18" charset="0"/>
                <a:cs typeface="Times New Roman" panose="02020603050405020304" pitchFamily="18" charset="0"/>
              </a:rPr>
              <a:t>−</a:t>
            </a:r>
            <a:r>
              <a:rPr lang="en-US" sz="2000" spc="52" baseline="28000" dirty="0" smtClean="0">
                <a:latin typeface="Times New Roman" panose="02020603050405020304" pitchFamily="18" charset="0"/>
                <a:cs typeface="Times New Roman" panose="02020603050405020304" pitchFamily="18" charset="0"/>
              </a:rPr>
              <a:t>1</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and</a:t>
            </a:r>
            <a:r>
              <a:rPr lang="en-US" b="1" spc="-5" dirty="0" smtClean="0">
                <a:latin typeface="Times New Roman" panose="02020603050405020304" pitchFamily="18" charset="0"/>
                <a:cs typeface="Times New Roman" panose="02020603050405020304" pitchFamily="18" charset="0"/>
              </a:rPr>
              <a:t> the </a:t>
            </a:r>
            <a:r>
              <a:rPr lang="en-US" b="1" spc="-10" dirty="0" smtClean="0">
                <a:latin typeface="Times New Roman" panose="02020603050405020304" pitchFamily="18" charset="0"/>
                <a:cs typeface="Times New Roman" panose="02020603050405020304" pitchFamily="18" charset="0"/>
              </a:rPr>
              <a:t>mini</a:t>
            </a:r>
            <a:r>
              <a:rPr lang="en-US" b="1" spc="-30" dirty="0" smtClean="0">
                <a:latin typeface="Times New Roman" panose="02020603050405020304" pitchFamily="18" charset="0"/>
                <a:cs typeface="Times New Roman" panose="02020603050405020304" pitchFamily="18" charset="0"/>
              </a:rPr>
              <a:t>m</a:t>
            </a:r>
            <a:r>
              <a:rPr lang="en-US" b="1" spc="-10" dirty="0" smtClean="0">
                <a:latin typeface="Times New Roman" panose="02020603050405020304" pitchFamily="18" charset="0"/>
                <a:cs typeface="Times New Roman" panose="02020603050405020304" pitchFamily="18" charset="0"/>
              </a:rPr>
              <a:t>um</a:t>
            </a:r>
            <a:r>
              <a:rPr lang="en-US" b="1" spc="-5" dirty="0" smtClean="0">
                <a:latin typeface="Times New Roman" panose="02020603050405020304" pitchFamily="18" charset="0"/>
                <a:cs typeface="Times New Roman" panose="02020603050405020304" pitchFamily="18" charset="0"/>
              </a:rPr>
              <a:t> </a:t>
            </a:r>
            <a:r>
              <a:rPr lang="en-US" b="1" spc="-20" dirty="0" smtClean="0">
                <a:latin typeface="Times New Roman" panose="02020603050405020304" pitchFamily="18" charset="0"/>
                <a:cs typeface="Times New Roman" panose="02020603050405020304" pitchFamily="18" charset="0"/>
              </a:rPr>
              <a:t>n</a:t>
            </a:r>
            <a:r>
              <a:rPr lang="en-US" b="1" spc="-10" dirty="0" smtClean="0">
                <a:latin typeface="Times New Roman" panose="02020603050405020304" pitchFamily="18" charset="0"/>
                <a:cs typeface="Times New Roman" panose="02020603050405020304" pitchFamily="18" charset="0"/>
              </a:rPr>
              <a:t>umber</a:t>
            </a:r>
            <a:r>
              <a:rPr lang="en-US" b="1" spc="-5" dirty="0" smtClean="0">
                <a:latin typeface="Times New Roman" panose="02020603050405020304" pitchFamily="18" charset="0"/>
                <a:cs typeface="Times New Roman" panose="02020603050405020304" pitchFamily="18" charset="0"/>
              </a:rPr>
              <a:t> of </a:t>
            </a:r>
            <a:r>
              <a:rPr lang="en-US" b="1" spc="-10" dirty="0" smtClean="0">
                <a:latin typeface="Times New Roman" panose="02020603050405020304" pitchFamily="18" charset="0"/>
                <a:cs typeface="Times New Roman" panose="02020603050405020304" pitchFamily="18" charset="0"/>
              </a:rPr>
              <a:t>k</a:t>
            </a:r>
            <a:r>
              <a:rPr lang="en-US" b="1" spc="-25" dirty="0" smtClean="0">
                <a:latin typeface="Times New Roman" panose="02020603050405020304" pitchFamily="18" charset="0"/>
                <a:cs typeface="Times New Roman" panose="02020603050405020304" pitchFamily="18" charset="0"/>
              </a:rPr>
              <a:t>e</a:t>
            </a:r>
            <a:r>
              <a:rPr lang="en-US" b="1" spc="-10" dirty="0" smtClean="0">
                <a:latin typeface="Times New Roman" panose="02020603050405020304" pitchFamily="18" charset="0"/>
                <a:cs typeface="Times New Roman" panose="02020603050405020304" pitchFamily="18" charset="0"/>
              </a:rPr>
              <a:t>ys</a:t>
            </a:r>
            <a:r>
              <a:rPr lang="en-US" b="1" spc="-5" dirty="0" smtClean="0">
                <a:latin typeface="Times New Roman" panose="02020603050405020304" pitchFamily="18" charset="0"/>
                <a:cs typeface="Times New Roman" panose="02020603050405020304" pitchFamily="18" charset="0"/>
              </a:rPr>
              <a:t> in </a:t>
            </a:r>
            <a:r>
              <a:rPr lang="en-US" b="1" spc="-10" dirty="0" smtClean="0">
                <a:latin typeface="Times New Roman" panose="02020603050405020304" pitchFamily="18" charset="0"/>
                <a:cs typeface="Times New Roman" panose="02020603050405020304" pitchFamily="18" charset="0"/>
              </a:rPr>
              <a:t>a</a:t>
            </a:r>
            <a:r>
              <a:rPr lang="en-US" b="1" spc="-5" dirty="0" smtClean="0">
                <a:latin typeface="Times New Roman" panose="02020603050405020304" pitchFamily="18" charset="0"/>
                <a:cs typeface="Times New Roman" panose="02020603050405020304" pitchFamily="18" charset="0"/>
              </a:rPr>
              <a:t> </a:t>
            </a:r>
            <a:r>
              <a:rPr lang="en-US" i="1" spc="25" dirty="0" smtClean="0">
                <a:latin typeface="Times New Roman" panose="02020603050405020304" pitchFamily="18" charset="0"/>
                <a:cs typeface="Times New Roman" panose="02020603050405020304" pitchFamily="18" charset="0"/>
              </a:rPr>
              <a:t>B</a:t>
            </a:r>
            <a:r>
              <a:rPr lang="en-US" sz="2000" spc="75" baseline="28000" dirty="0" smtClean="0">
                <a:latin typeface="Times New Roman" panose="02020603050405020304" pitchFamily="18" charset="0"/>
                <a:cs typeface="Times New Roman" panose="02020603050405020304" pitchFamily="18" charset="0"/>
              </a:rPr>
              <a:t>+</a:t>
            </a:r>
            <a:r>
              <a:rPr lang="en-US" b="1" spc="-5" dirty="0" smtClean="0">
                <a:latin typeface="Times New Roman" panose="02020603050405020304" pitchFamily="18" charset="0"/>
                <a:cs typeface="Times New Roman" panose="02020603050405020304" pitchFamily="18" charset="0"/>
              </a:rPr>
              <a:t>-tree of </a:t>
            </a:r>
            <a:r>
              <a:rPr lang="en-US" b="1" spc="-10" dirty="0" smtClean="0">
                <a:latin typeface="Times New Roman" panose="02020603050405020304" pitchFamily="18" charset="0"/>
                <a:cs typeface="Times New Roman" panose="02020603050405020304" pitchFamily="18" charset="0"/>
              </a:rPr>
              <a:t>o</a:t>
            </a:r>
            <a:r>
              <a:rPr lang="en-US" b="1" spc="-25" dirty="0" smtClean="0">
                <a:latin typeface="Times New Roman" panose="02020603050405020304" pitchFamily="18" charset="0"/>
                <a:cs typeface="Times New Roman" panose="02020603050405020304" pitchFamily="18" charset="0"/>
              </a:rPr>
              <a:t>r</a:t>
            </a:r>
            <a:r>
              <a:rPr lang="en-US" b="1" spc="-10" dirty="0" smtClean="0">
                <a:latin typeface="Times New Roman" panose="02020603050405020304" pitchFamily="18" charset="0"/>
                <a:cs typeface="Times New Roman" panose="02020603050405020304" pitchFamily="18" charset="0"/>
              </a:rPr>
              <a:t>der</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p</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and</a:t>
            </a:r>
            <a:r>
              <a:rPr lang="en-US" b="1" spc="-5" dirty="0" smtClean="0">
                <a:latin typeface="Times New Roman" panose="02020603050405020304" pitchFamily="18" charset="0"/>
                <a:cs typeface="Times New Roman" panose="02020603050405020304" pitchFamily="18" charset="0"/>
              </a:rPr>
              <a:t> height </a:t>
            </a:r>
            <a:r>
              <a:rPr lang="en-US" b="1" spc="-10" dirty="0" smtClean="0">
                <a:latin typeface="Times New Roman" panose="02020603050405020304" pitchFamily="18" charset="0"/>
                <a:cs typeface="Times New Roman" panose="02020603050405020304" pitchFamily="18" charset="0"/>
              </a:rPr>
              <a:t>h</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a:t>
            </a:r>
            <a:r>
              <a:rPr lang="en-US" b="1" spc="-5" dirty="0" smtClean="0">
                <a:latin typeface="Times New Roman" panose="02020603050405020304" pitchFamily="18" charset="0"/>
                <a:cs typeface="Times New Roman" panose="02020603050405020304" pitchFamily="18" charset="0"/>
              </a:rPr>
              <a:t> 2</a:t>
            </a:r>
            <a:r>
              <a:rPr lang="en-US" dirty="0" smtClean="0">
                <a:latin typeface="Times New Roman" panose="02020603050405020304" pitchFamily="18" charset="0"/>
                <a:cs typeface="Times New Roman" panose="02020603050405020304" pitchFamily="18" charset="0"/>
              </a:rPr>
              <a:t>(</a:t>
            </a:r>
            <a:r>
              <a:rPr lang="en-US" i="1" spc="15" dirty="0" smtClean="0">
                <a:latin typeface="Times New Roman" panose="02020603050405020304" pitchFamily="18" charset="0"/>
                <a:cs typeface="Times New Roman" panose="02020603050405020304" pitchFamily="18" charset="0"/>
              </a:rPr>
              <a:t>p</a:t>
            </a:r>
            <a:r>
              <a:rPr lang="en-US" spc="-5" dirty="0" smtClean="0">
                <a:latin typeface="Times New Roman" panose="02020603050405020304" pitchFamily="18" charset="0"/>
                <a:cs typeface="Times New Roman" panose="02020603050405020304" pitchFamily="18" charset="0"/>
              </a:rPr>
              <a:t>/</a:t>
            </a:r>
            <a:r>
              <a:rPr lang="en-US" spc="-1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a:t>
            </a:r>
            <a:r>
              <a:rPr lang="en-US" sz="2000" i="1" spc="-7" baseline="28000" dirty="0" smtClean="0">
                <a:latin typeface="Times New Roman" panose="02020603050405020304" pitchFamily="18" charset="0"/>
                <a:cs typeface="Times New Roman" panose="02020603050405020304" pitchFamily="18" charset="0"/>
              </a:rPr>
              <a:t>h</a:t>
            </a:r>
            <a:r>
              <a:rPr lang="en-US" sz="2000" i="1" baseline="28000" dirty="0" smtClean="0">
                <a:latin typeface="Times New Roman" panose="02020603050405020304" pitchFamily="18" charset="0"/>
                <a:cs typeface="Times New Roman" panose="02020603050405020304" pitchFamily="18" charset="0"/>
              </a:rPr>
              <a:t> </a:t>
            </a:r>
            <a:r>
              <a:rPr lang="en-US" sz="2000" i="1" spc="-82" baseline="28000" dirty="0" smtClean="0">
                <a:latin typeface="Times New Roman" panose="02020603050405020304" pitchFamily="18" charset="0"/>
                <a:cs typeface="Times New Roman" panose="02020603050405020304" pitchFamily="18" charset="0"/>
              </a:rPr>
              <a:t> </a:t>
            </a:r>
            <a:r>
              <a:rPr lang="en-US" b="1" spc="-5" dirty="0" smtClean="0">
                <a:latin typeface="Times New Roman" panose="02020603050405020304" pitchFamily="18" charset="0"/>
                <a:cs typeface="Times New Roman" panose="02020603050405020304" pitchFamily="18" charset="0"/>
              </a:rPr>
              <a:t>- </a:t>
            </a:r>
            <a:r>
              <a:rPr lang="en-US" b="1" spc="-10" dirty="0" smtClean="0">
                <a:latin typeface="Times New Roman" panose="02020603050405020304" pitchFamily="18" charset="0"/>
                <a:cs typeface="Times New Roman" panose="02020603050405020304" pitchFamily="18" charset="0"/>
              </a:rPr>
              <a:t>1.</a:t>
            </a:r>
            <a:endParaRPr lang="en-US"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b="1" spc="-5"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 Deletion</a:t>
            </a:r>
            <a:endParaRPr lang="en-US" sz="3600" b="1" dirty="0" smtClean="0">
              <a:latin typeface="Times New Roman" panose="02020603050405020304" pitchFamily="18" charset="0"/>
              <a:cs typeface="Times New Roman" panose="02020603050405020304" pitchFamily="18" charset="0"/>
            </a:endParaRPr>
          </a:p>
        </p:txBody>
      </p:sp>
      <p:sp>
        <p:nvSpPr>
          <p:cNvPr id="15" name="object 15"/>
          <p:cNvSpPr/>
          <p:nvPr/>
        </p:nvSpPr>
        <p:spPr>
          <a:xfrm>
            <a:off x="2285984" y="1927657"/>
            <a:ext cx="4929222" cy="1215591"/>
          </a:xfrm>
          <a:prstGeom prst="rect">
            <a:avLst/>
          </a:prstGeom>
          <a:blipFill>
            <a:blip r:embed="rId3" cstate="print"/>
            <a:stretch>
              <a:fillRect/>
            </a:stretch>
          </a:blipFill>
        </p:spPr>
        <p:txBody>
          <a:bodyPr wrap="square" lIns="0" tIns="0" rIns="0" bIns="0" rtlCol="0"/>
          <a:lstStyle/>
          <a:p/>
        </p:txBody>
      </p:sp>
      <p:sp>
        <p:nvSpPr>
          <p:cNvPr id="16" name="object 16"/>
          <p:cNvSpPr/>
          <p:nvPr/>
        </p:nvSpPr>
        <p:spPr>
          <a:xfrm>
            <a:off x="2500298" y="3691084"/>
            <a:ext cx="4714908" cy="1238114"/>
          </a:xfrm>
          <a:prstGeom prst="rect">
            <a:avLst/>
          </a:prstGeom>
          <a:blipFill>
            <a:blip r:embed="rId4" cstate="print"/>
            <a:stretch>
              <a:fillRect/>
            </a:stretch>
          </a:blipFill>
        </p:spPr>
        <p:txBody>
          <a:bodyPr wrap="square" lIns="0" tIns="0" rIns="0" bIns="0" rtlCol="0"/>
          <a:lstStyle/>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bwMode="auto">
          <a:xfrm>
            <a:off x="785786" y="1142984"/>
            <a:ext cx="7858180" cy="2428892"/>
          </a:xfrm>
          <a:prstGeom prst="rect">
            <a:avLst/>
          </a:prstGeom>
          <a:noFill/>
          <a:ln w="9525">
            <a:noFill/>
            <a:miter lim="800000"/>
          </a:ln>
        </p:spPr>
        <p:txBody>
          <a:bodyPr/>
          <a:lstStyle/>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B+-tree searching is faster than the B-tree searching; because in B  -tree, all records are stored at the leaf level of the tree; and only keys are stored in interior nodes.</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B+-tree takes more storage space than B-tree, because it uses extra pointers than B-tree.</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r>
              <a:rPr lang="en-US" spc="-5" dirty="0" smtClean="0">
                <a:latin typeface="Times New Roman" panose="02020603050405020304" pitchFamily="18" charset="0"/>
                <a:cs typeface="Times New Roman" panose="02020603050405020304" pitchFamily="18" charset="0"/>
              </a:rPr>
              <a:t>Insertion and deletion operations in B-tree are more complex than those in B+-tree.</a:t>
            </a: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a:p>
            <a:pPr marL="342900" indent="-342900" algn="just">
              <a:spcBef>
                <a:spcPct val="20000"/>
              </a:spcBef>
              <a:buFont typeface="Wingdings" panose="05000000000000000000" pitchFamily="2" charset="2"/>
              <a:buChar char="Ø"/>
              <a:defRPr/>
            </a:pPr>
            <a:endParaRPr lang="en-US" spc="-5" dirty="0" smtClean="0">
              <a:latin typeface="Times New Roman" panose="02020603050405020304" pitchFamily="18" charset="0"/>
              <a:cs typeface="Times New Roman" panose="02020603050405020304" pitchFamily="18" charset="0"/>
            </a:endParaRPr>
          </a:p>
        </p:txBody>
      </p:sp>
      <p:pic>
        <p:nvPicPr>
          <p:cNvPr id="9" name="Picture 3" descr="C:\Users\nEW u\Desktop\333333.png"/>
          <p:cNvPicPr>
            <a:picLocks noChangeAspect="1" noChangeArrowheads="1"/>
          </p:cNvPicPr>
          <p:nvPr/>
        </p:nvPicPr>
        <p:blipFill>
          <a:blip r:embed="rId1"/>
          <a:srcRect/>
          <a:stretch>
            <a:fillRect/>
          </a:stretch>
        </p:blipFill>
        <p:spPr bwMode="auto">
          <a:xfrm>
            <a:off x="857223" y="6429396"/>
            <a:ext cx="7715305" cy="357166"/>
          </a:xfrm>
          <a:prstGeom prst="rect">
            <a:avLst/>
          </a:prstGeom>
          <a:noFill/>
        </p:spPr>
      </p:pic>
      <p:sp>
        <p:nvSpPr>
          <p:cNvPr id="10" name="Slide Number Placeholder 5"/>
          <p:cNvSpPr txBox="1"/>
          <p:nvPr/>
        </p:nvSpPr>
        <p:spPr>
          <a:xfrm>
            <a:off x="142844" y="773652"/>
            <a:ext cx="1000132" cy="365125"/>
          </a:xfrm>
          <a:prstGeom prst="rect">
            <a:avLst/>
          </a:prstGeom>
          <a:solidFill>
            <a:schemeClr val="accent6"/>
          </a:solidFill>
        </p:spPr>
        <p:txBody>
          <a:bodyPr vert="horz" lIns="91440" tIns="45720" rIns="91440" bIns="45720" rtlCol="0" anchor="ctr"/>
          <a:lstStyle/>
          <a:p>
            <a:pPr marL="0" marR="0" lvl="0" indent="0" algn="r" defTabSz="914400" rtl="0" eaLnBrk="1" fontAlgn="base" latinLnBrk="0" hangingPunct="1">
              <a:lnSpc>
                <a:spcPct val="100000"/>
              </a:lnSpc>
              <a:spcBef>
                <a:spcPct val="0"/>
              </a:spcBef>
              <a:spcAft>
                <a:spcPct val="0"/>
              </a:spcAft>
              <a:buClrTx/>
              <a:buSzTx/>
              <a:buFontTx/>
              <a:buNone/>
              <a:defRPr/>
            </a:pPr>
            <a:fld id="{074D32D7-EFB5-44A7-8690-E108EFDB80BB}" type="slidenum">
              <a:rPr kumimoji="0" lang="es-ES" sz="1800" b="1"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es-ES" sz="18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1" name="TextBox 10"/>
          <p:cNvSpPr txBox="1"/>
          <p:nvPr/>
        </p:nvSpPr>
        <p:spPr>
          <a:xfrm>
            <a:off x="1214414" y="773652"/>
            <a:ext cx="7858148" cy="369332"/>
          </a:xfrm>
          <a:prstGeom prst="rect">
            <a:avLst/>
          </a:prstGeom>
          <a:solidFill>
            <a:schemeClr val="accent3">
              <a:lumMod val="75000"/>
            </a:schemeClr>
          </a:solidFill>
        </p:spPr>
        <p:txBody>
          <a:bodyPr wrap="square" rtlCol="0">
            <a:spAutoFit/>
          </a:bodyPr>
          <a:lstStyle/>
          <a:p>
            <a:endParaRPr lang="en-US" dirty="0"/>
          </a:p>
        </p:txBody>
      </p:sp>
      <p:pic>
        <p:nvPicPr>
          <p:cNvPr id="12" name="Picture 2" descr="C:\Users\nEW u\Desktop\22222.jpg"/>
          <p:cNvPicPr>
            <a:picLocks noChangeAspect="1" noChangeArrowheads="1"/>
          </p:cNvPicPr>
          <p:nvPr/>
        </p:nvPicPr>
        <p:blipFill>
          <a:blip r:embed="rId2"/>
          <a:srcRect/>
          <a:stretch>
            <a:fillRect/>
          </a:stretch>
        </p:blipFill>
        <p:spPr bwMode="auto">
          <a:xfrm>
            <a:off x="8215339" y="71438"/>
            <a:ext cx="928662" cy="642918"/>
          </a:xfrm>
          <a:prstGeom prst="rect">
            <a:avLst/>
          </a:prstGeom>
          <a:noFill/>
        </p:spPr>
      </p:pic>
      <p:sp>
        <p:nvSpPr>
          <p:cNvPr id="13" name="Rectangle 2"/>
          <p:cNvSpPr txBox="1">
            <a:spLocks noChangeArrowheads="1"/>
          </p:cNvSpPr>
          <p:nvPr/>
        </p:nvSpPr>
        <p:spPr>
          <a:xfrm>
            <a:off x="128646" y="71414"/>
            <a:ext cx="7943816" cy="642942"/>
          </a:xfrm>
          <a:prstGeom prst="rect">
            <a:avLst/>
          </a:prstGeom>
        </p:spPr>
        <p:txBody>
          <a:bodyPr vert="horz" lIns="91440" tIns="45720" rIns="91440" bIns="45720" rtlCol="0" anchor="ctr">
            <a:normAutofit/>
          </a:bodyPr>
          <a:lstStyle/>
          <a:p>
            <a:pPr fontAlgn="auto">
              <a:spcAft>
                <a:spcPts val="0"/>
              </a:spcAft>
            </a:pPr>
            <a:r>
              <a:rPr lang="en-US" sz="3600" b="1" dirty="0" smtClean="0">
                <a:latin typeface="Times New Roman" panose="02020603050405020304" pitchFamily="18" charset="0"/>
                <a:cs typeface="Times New Roman" panose="02020603050405020304" pitchFamily="18" charset="0"/>
              </a:rPr>
              <a:t>B-Trees vs. B+-Trees</a:t>
            </a:r>
            <a:endParaRPr lang="en-US"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a:t>
            </a:r>
            <a:endParaRPr lang="en-US"/>
          </a:p>
        </p:txBody>
      </p:sp>
      <p:sp>
        <p:nvSpPr>
          <p:cNvPr id="3" name="Content Placeholder 2"/>
          <p:cNvSpPr>
            <a:spLocks noGrp="1"/>
          </p:cNvSpPr>
          <p:nvPr>
            <p:ph idx="1"/>
          </p:nvPr>
        </p:nvSpPr>
        <p:spPr/>
        <p:txBody>
          <a:bodyPr/>
          <a:p>
            <a:r>
              <a:rPr lang="en-US"/>
              <a:t>Searching in indexing is linear. </a:t>
            </a:r>
            <a:endParaRPr lang="en-US"/>
          </a:p>
          <a:p>
            <a:r>
              <a:rPr lang="en-US"/>
              <a:t>To improve the search time, store indexing in B or B+ Trees.</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a:t>
            </a:r>
            <a:endParaRPr lang="en-US"/>
          </a:p>
        </p:txBody>
      </p:sp>
      <p:sp>
        <p:nvSpPr>
          <p:cNvPr id="3" name="Content Placeholder 2"/>
          <p:cNvSpPr>
            <a:spLocks noGrp="1"/>
          </p:cNvSpPr>
          <p:nvPr>
            <p:ph idx="1"/>
          </p:nvPr>
        </p:nvSpPr>
        <p:spPr/>
        <p:txBody>
          <a:bodyPr/>
          <a:p>
            <a:r>
              <a:rPr lang="en-US"/>
              <a:t>Tree based indexing.</a:t>
            </a:r>
            <a:endParaRPr lang="en-US"/>
          </a:p>
          <a:p>
            <a:r>
              <a:rPr lang="en-US"/>
              <a:t>Dynamic indexing technique. It allows insertion and deletion of indexes.</a:t>
            </a:r>
            <a:endParaRPr lang="en-US"/>
          </a:p>
          <a:p>
            <a:r>
              <a:rPr lang="en-US"/>
              <a:t>Based on insertion, deletion, tree is automatically adjusted.</a:t>
            </a:r>
            <a:endParaRPr lang="en-US"/>
          </a:p>
          <a:p>
            <a:r>
              <a:rPr lang="en-US"/>
              <a:t>Self-balancing search tree.</a:t>
            </a:r>
            <a:endParaRPr lang="en-US"/>
          </a:p>
          <a:p>
            <a:r>
              <a:rPr lang="en-US"/>
              <a:t>It can grow vertically and horizontally, meanwhile BST grows vertically only.</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An </a:t>
            </a:r>
            <a:r>
              <a:rPr lang="en-US" b="1"/>
              <a:t>order p</a:t>
            </a:r>
            <a:r>
              <a:rPr lang="en-US"/>
              <a:t> B-Tree</a:t>
            </a:r>
            <a:endParaRPr lang="en-US"/>
          </a:p>
        </p:txBody>
      </p:sp>
      <p:sp>
        <p:nvSpPr>
          <p:cNvPr id="3" name="Content Placeholder 2"/>
          <p:cNvSpPr>
            <a:spLocks noGrp="1"/>
          </p:cNvSpPr>
          <p:nvPr>
            <p:ph idx="1"/>
          </p:nvPr>
        </p:nvSpPr>
        <p:spPr/>
        <p:txBody>
          <a:bodyPr>
            <a:normAutofit lnSpcReduction="10000"/>
          </a:bodyPr>
          <a:p>
            <a:r>
              <a:rPr lang="en-US"/>
              <a:t>Every node has at max p tree pointers (pointing to child nodes).</a:t>
            </a:r>
            <a:endParaRPr lang="en-US"/>
          </a:p>
          <a:p>
            <a:r>
              <a:rPr lang="en-US"/>
              <a:t>Every node other than root should have at least </a:t>
            </a:r>
            <a:r>
              <a:rPr lang="en-US" b="1"/>
              <a:t>ceil (p/2 - 1</a:t>
            </a:r>
            <a:r>
              <a:rPr lang="en-US"/>
              <a:t>) keys.</a:t>
            </a:r>
            <a:endParaRPr lang="en-US"/>
          </a:p>
          <a:p>
            <a:r>
              <a:rPr lang="en-US"/>
              <a:t>In every node, there are at most </a:t>
            </a:r>
            <a:r>
              <a:rPr lang="en-US" b="1"/>
              <a:t>p-1 </a:t>
            </a:r>
            <a:r>
              <a:rPr lang="en-US"/>
              <a:t>keys and </a:t>
            </a:r>
            <a:r>
              <a:rPr lang="en-US" b="1"/>
              <a:t>p</a:t>
            </a:r>
            <a:r>
              <a:rPr lang="en-US"/>
              <a:t> tree pointers.</a:t>
            </a:r>
            <a:endParaRPr lang="en-US"/>
          </a:p>
          <a:p>
            <a:r>
              <a:rPr lang="en-US"/>
              <a:t>Root can have minimum 1 key and 2 tree pointers.</a:t>
            </a:r>
            <a:endParaRPr lang="en-US"/>
          </a:p>
          <a:p>
            <a:r>
              <a:rPr lang="en-US"/>
              <a:t>All leaves appear on the same level.</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Node Structure</a:t>
            </a:r>
            <a:endParaRPr lang="en-US"/>
          </a:p>
        </p:txBody>
      </p:sp>
      <p:sp>
        <p:nvSpPr>
          <p:cNvPr id="3" name="Content Placeholder 2"/>
          <p:cNvSpPr>
            <a:spLocks noGrp="1"/>
          </p:cNvSpPr>
          <p:nvPr>
            <p:ph idx="1"/>
          </p:nvPr>
        </p:nvSpPr>
        <p:spPr/>
        <p:txBody>
          <a:bodyPr/>
          <a:p>
            <a:r>
              <a:rPr lang="en-US"/>
              <a:t>Key</a:t>
            </a:r>
            <a:endParaRPr lang="en-US"/>
          </a:p>
          <a:p>
            <a:r>
              <a:rPr lang="en-US"/>
              <a:t>Record Pointer =&gt; points to block where actual index is stored.</a:t>
            </a:r>
            <a:endParaRPr lang="en-US"/>
          </a:p>
          <a:p>
            <a:r>
              <a:rPr lang="en-US"/>
              <a:t>Tree Pointer =&gt; points to child nodes.</a:t>
            </a:r>
            <a:endParaRPr lang="en-US"/>
          </a:p>
          <a:p>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a:picLocks noChangeAspect="1"/>
          </p:cNvPicPr>
          <p:nvPr/>
        </p:nvPicPr>
        <p:blipFill>
          <a:blip r:embed="rId1"/>
          <a:stretch>
            <a:fillRect/>
          </a:stretch>
        </p:blipFill>
        <p:spPr>
          <a:xfrm>
            <a:off x="2195830" y="3861435"/>
            <a:ext cx="4639310" cy="285813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Insertion</a:t>
            </a:r>
            <a:endParaRPr lang="en-US"/>
          </a:p>
        </p:txBody>
      </p:sp>
      <p:pic>
        <p:nvPicPr>
          <p:cNvPr id="5" name="Content Placeholder 4"/>
          <p:cNvPicPr>
            <a:picLocks noChangeAspect="1"/>
          </p:cNvPicPr>
          <p:nvPr>
            <p:ph idx="1"/>
          </p:nvPr>
        </p:nvPicPr>
        <p:blipFill>
          <a:blip r:embed="rId1"/>
          <a:stretch>
            <a:fillRect/>
          </a:stretch>
        </p:blipFill>
        <p:spPr>
          <a:xfrm>
            <a:off x="251460" y="1196975"/>
            <a:ext cx="8661400" cy="4733925"/>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Insertion Continued...</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6" name="Content Placeholder 5"/>
          <p:cNvPicPr>
            <a:picLocks noChangeAspect="1"/>
          </p:cNvPicPr>
          <p:nvPr>
            <p:ph idx="1"/>
          </p:nvPr>
        </p:nvPicPr>
        <p:blipFill>
          <a:blip r:embed="rId1"/>
          <a:stretch>
            <a:fillRect/>
          </a:stretch>
        </p:blipFill>
        <p:spPr>
          <a:xfrm>
            <a:off x="179705" y="1341120"/>
            <a:ext cx="8668385" cy="2785745"/>
          </a:xfrm>
          <a:prstGeom prst="rect">
            <a:avLst/>
          </a:prstGeom>
        </p:spPr>
      </p:pic>
      <p:sp>
        <p:nvSpPr>
          <p:cNvPr id="7" name="Text Box 6"/>
          <p:cNvSpPr txBox="1"/>
          <p:nvPr/>
        </p:nvSpPr>
        <p:spPr>
          <a:xfrm>
            <a:off x="457200" y="5232400"/>
            <a:ext cx="8579485" cy="922020"/>
          </a:xfrm>
          <a:prstGeom prst="rect">
            <a:avLst/>
          </a:prstGeom>
          <a:noFill/>
        </p:spPr>
        <p:txBody>
          <a:bodyPr wrap="square" rtlCol="0">
            <a:spAutoFit/>
          </a:bodyPr>
          <a:p>
            <a:r>
              <a:rPr lang="en-US" altLang="en-US">
                <a:gradFill>
                  <a:gsLst>
                    <a:gs pos="50000">
                      <a:schemeClr val="accent1"/>
                    </a:gs>
                    <a:gs pos="0">
                      <a:schemeClr val="accent1">
                        <a:lumMod val="25000"/>
                        <a:lumOff val="75000"/>
                      </a:schemeClr>
                    </a:gs>
                    <a:gs pos="100000">
                      <a:schemeClr val="accent1">
                        <a:lumMod val="85000"/>
                      </a:schemeClr>
                    </a:gs>
                  </a:gsLst>
                  <a:lin ang="5400000" scaled="1"/>
                </a:gradFill>
              </a:rPr>
              <a:t>https://webdocs.cs.ualberta.ca/~holte/T26/ins-b-tree.html#:~:text=Left%20and%20Right%20become%20nodes%2C%20the%20children%20of%20Middle.,level%20deeper%20in%20the%20tree.</a:t>
            </a:r>
            <a:endParaRPr lang="en-US" altLang="en-US">
              <a:gradFill>
                <a:gsLst>
                  <a:gs pos="50000">
                    <a:schemeClr val="accent1"/>
                  </a:gs>
                  <a:gs pos="0">
                    <a:schemeClr val="accent1">
                      <a:lumMod val="25000"/>
                      <a:lumOff val="75000"/>
                    </a:schemeClr>
                  </a:gs>
                  <a:gs pos="100000">
                    <a:schemeClr val="accent1">
                      <a:lumMod val="85000"/>
                    </a:schemeClr>
                  </a:gs>
                </a:gsLst>
                <a:lin ang="5400000" scaled="1"/>
              </a:gra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Insertion Example</a:t>
            </a:r>
            <a:endParaRPr lang="en-US"/>
          </a:p>
        </p:txBody>
      </p:sp>
      <p:pic>
        <p:nvPicPr>
          <p:cNvPr id="5" name="Content Placeholder 4"/>
          <p:cNvPicPr>
            <a:picLocks noChangeAspect="1"/>
          </p:cNvPicPr>
          <p:nvPr>
            <p:ph idx="1"/>
          </p:nvPr>
        </p:nvPicPr>
        <p:blipFill>
          <a:blip r:embed="rId1"/>
          <a:stretch>
            <a:fillRect/>
          </a:stretch>
        </p:blipFill>
        <p:spPr>
          <a:xfrm>
            <a:off x="35560" y="1196975"/>
            <a:ext cx="9049385" cy="5675630"/>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B-Tree Insertion Example Continued...</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6" name="Content Placeholder 5"/>
          <p:cNvPicPr>
            <a:picLocks noChangeAspect="1"/>
          </p:cNvPicPr>
          <p:nvPr>
            <p:ph idx="1"/>
          </p:nvPr>
        </p:nvPicPr>
        <p:blipFill>
          <a:blip r:embed="rId1"/>
          <a:stretch>
            <a:fillRect/>
          </a:stretch>
        </p:blipFill>
        <p:spPr>
          <a:xfrm>
            <a:off x="467360" y="1268730"/>
            <a:ext cx="8324215" cy="55435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p:nvPr/>
        </p:nvPicPr>
        <p:blipFill>
          <a:blip r:embed="rId1"/>
          <a:stretch>
            <a:fillRect/>
          </a:stretch>
        </p:blipFill>
        <p:spPr>
          <a:xfrm>
            <a:off x="2051963" y="-27305"/>
            <a:ext cx="462351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Deletion</a:t>
            </a:r>
            <a:endParaRPr lang="en-US"/>
          </a:p>
        </p:txBody>
      </p:sp>
      <p:sp>
        <p:nvSpPr>
          <p:cNvPr id="3" name="Content Placeholder 2"/>
          <p:cNvSpPr>
            <a:spLocks noGrp="1"/>
          </p:cNvSpPr>
          <p:nvPr>
            <p:ph idx="1"/>
          </p:nvPr>
        </p:nvSpPr>
        <p:spPr/>
        <p:txBody>
          <a:bodyPr/>
          <a:p>
            <a:r>
              <a:rPr lang="en-US" b="1"/>
              <a:t>Case-1: Deletion at leaf</a:t>
            </a:r>
            <a:endParaRPr lang="en-US" b="1"/>
          </a:p>
          <a:p>
            <a:pPr lvl="1"/>
            <a:r>
              <a:rPr lang="en-US"/>
              <a:t>After deletion if there is no violation of min keys then no changes in tree</a:t>
            </a:r>
            <a:endParaRPr lang="en-US"/>
          </a:p>
          <a:p>
            <a:pPr lvl="1"/>
            <a:r>
              <a:rPr lang="en-US"/>
              <a:t>If violation of min keys then borrow key from sibling (rotation through parent)</a:t>
            </a:r>
            <a:endParaRPr lang="en-US"/>
          </a:p>
          <a:p>
            <a:pPr lvl="1"/>
            <a:r>
              <a:rPr lang="en-US"/>
              <a:t>If borrow from sibling can’t be possible (when sibling also have min number of keys) then merge the node with sibling and pull down the anchor key from parent.</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Deletion: Case-1</a:t>
            </a:r>
            <a:endParaRPr lang="en-US"/>
          </a:p>
        </p:txBody>
      </p:sp>
      <p:sp>
        <p:nvSpPr>
          <p:cNvPr id="3" name="Content Placeholder 2"/>
          <p:cNvSpPr>
            <a:spLocks noGrp="1"/>
          </p:cNvSpPr>
          <p:nvPr>
            <p:ph idx="1"/>
          </p:nvPr>
        </p:nvSpPr>
        <p:spPr/>
        <p:txBody>
          <a:bodyPr/>
          <a:p>
            <a:r>
              <a:rPr lang="en-US"/>
              <a:t>A B-Tree of </a:t>
            </a:r>
            <a:r>
              <a:rPr lang="en-US" b="1"/>
              <a:t>order 3</a:t>
            </a:r>
            <a:r>
              <a:rPr lang="en-US"/>
              <a:t>.</a:t>
            </a:r>
            <a:endParaRPr lang="en-US"/>
          </a:p>
          <a:p>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p:nvPr/>
        </p:nvPicPr>
        <p:blipFill>
          <a:blip r:embed="rId1"/>
          <a:stretch>
            <a:fillRect/>
          </a:stretch>
        </p:blipFill>
        <p:spPr>
          <a:xfrm>
            <a:off x="1763395" y="1917065"/>
            <a:ext cx="6731000" cy="480187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6" name="Picture 5"/>
          <p:cNvPicPr/>
          <p:nvPr/>
        </p:nvPicPr>
        <p:blipFill>
          <a:blip r:embed="rId1"/>
          <a:stretch>
            <a:fillRect/>
          </a:stretch>
        </p:blipFill>
        <p:spPr>
          <a:xfrm>
            <a:off x="1557619" y="0"/>
            <a:ext cx="5647763"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p:nvPr/>
        </p:nvPicPr>
        <p:blipFill>
          <a:blip r:embed="rId1"/>
          <a:stretch>
            <a:fillRect/>
          </a:stretch>
        </p:blipFill>
        <p:spPr>
          <a:xfrm>
            <a:off x="1475704" y="0"/>
            <a:ext cx="5647763"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Deletion </a:t>
            </a:r>
            <a:endParaRPr lang="en-US"/>
          </a:p>
        </p:txBody>
      </p:sp>
      <p:sp>
        <p:nvSpPr>
          <p:cNvPr id="3" name="Content Placeholder 2"/>
          <p:cNvSpPr>
            <a:spLocks noGrp="1"/>
          </p:cNvSpPr>
          <p:nvPr>
            <p:ph idx="1"/>
          </p:nvPr>
        </p:nvSpPr>
        <p:spPr/>
        <p:txBody>
          <a:bodyPr/>
          <a:p>
            <a:r>
              <a:rPr lang="en-US" b="1"/>
              <a:t>Case-2: Deletion at Internal Node</a:t>
            </a:r>
            <a:endParaRPr lang="en-US" b="1"/>
          </a:p>
          <a:p>
            <a:pPr lvl="1"/>
            <a:r>
              <a:rPr lang="en-US"/>
              <a:t>Replace the deleted value with inorder successor or predecessor</a:t>
            </a:r>
            <a:endParaRPr lang="en-US"/>
          </a:p>
          <a:p>
            <a:pPr lvl="1"/>
            <a:r>
              <a:rPr lang="en-US"/>
              <a:t>Now follow the rule of deletion of key from leaf node.</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B-Tree Deletion</a:t>
            </a:r>
            <a:endParaRPr lang="en-US"/>
          </a:p>
        </p:txBody>
      </p:sp>
      <p:pic>
        <p:nvPicPr>
          <p:cNvPr id="5" name="Content Placeholder 4"/>
          <p:cNvPicPr>
            <a:picLocks noChangeAspect="1"/>
          </p:cNvPicPr>
          <p:nvPr>
            <p:ph idx="1"/>
          </p:nvPr>
        </p:nvPicPr>
        <p:blipFill>
          <a:blip r:embed="rId1"/>
          <a:stretch>
            <a:fillRect/>
          </a:stretch>
        </p:blipFill>
        <p:spPr>
          <a:xfrm>
            <a:off x="1475740" y="1341120"/>
            <a:ext cx="6018530" cy="5242560"/>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 Trees</a:t>
            </a:r>
            <a:endParaRPr lang="en-US"/>
          </a:p>
        </p:txBody>
      </p:sp>
      <p:sp>
        <p:nvSpPr>
          <p:cNvPr id="3" name="Content Placeholder 2"/>
          <p:cNvSpPr>
            <a:spLocks noGrp="1"/>
          </p:cNvSpPr>
          <p:nvPr>
            <p:ph idx="1"/>
          </p:nvPr>
        </p:nvSpPr>
        <p:spPr>
          <a:xfrm>
            <a:off x="148590" y="1600200"/>
            <a:ext cx="8538210" cy="5019040"/>
          </a:xfrm>
        </p:spPr>
        <p:txBody>
          <a:bodyPr>
            <a:normAutofit lnSpcReduction="20000"/>
          </a:bodyPr>
          <a:p>
            <a:r>
              <a:rPr lang="en-US"/>
              <a:t>Internal Node (order p)</a:t>
            </a:r>
            <a:endParaRPr lang="en-US"/>
          </a:p>
          <a:p>
            <a:pPr lvl="1"/>
            <a:r>
              <a:rPr lang="en-US"/>
              <a:t>Keys </a:t>
            </a:r>
            <a:endParaRPr lang="en-US"/>
          </a:p>
          <a:p>
            <a:pPr lvl="1"/>
            <a:r>
              <a:rPr lang="en-US"/>
              <a:t>Tree Pointers</a:t>
            </a:r>
            <a:endParaRPr lang="en-US"/>
          </a:p>
          <a:p>
            <a:pPr lvl="0"/>
            <a:endParaRPr lang="en-US"/>
          </a:p>
          <a:p>
            <a:pPr lvl="0"/>
            <a:r>
              <a:rPr lang="en-US"/>
              <a:t>Leaf Node (order q)</a:t>
            </a:r>
            <a:endParaRPr lang="en-US"/>
          </a:p>
          <a:p>
            <a:pPr lvl="1"/>
            <a:r>
              <a:rPr lang="en-US"/>
              <a:t>keys</a:t>
            </a:r>
            <a:endParaRPr lang="en-US"/>
          </a:p>
          <a:p>
            <a:pPr lvl="1"/>
            <a:r>
              <a:rPr lang="en-US"/>
              <a:t>Record pointers</a:t>
            </a:r>
            <a:endParaRPr lang="en-US"/>
          </a:p>
          <a:p>
            <a:pPr lvl="1"/>
            <a:r>
              <a:rPr lang="en-US"/>
              <a:t>Linked List Pointers</a:t>
            </a:r>
            <a:endParaRPr lang="en-US"/>
          </a:p>
          <a:p>
            <a:pPr lvl="0"/>
            <a:r>
              <a:rPr lang="en-US" b="1"/>
              <a:t>Advantage: </a:t>
            </a:r>
            <a:r>
              <a:rPr lang="en-US"/>
              <a:t>Range queries takes less time.</a:t>
            </a:r>
            <a:endParaRPr lang="en-US"/>
          </a:p>
          <a:p>
            <a:pPr marL="457200" lvl="1" indent="457200">
              <a:buNone/>
            </a:pPr>
            <a:r>
              <a:rPr lang="en-US" sz="2400" i="1"/>
              <a:t>Select * from students where marks &gt; 50 and marks &lt; 80;</a:t>
            </a:r>
            <a:endParaRPr lang="en-US" sz="2400" i="1"/>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p:nvPr/>
        </p:nvPicPr>
        <p:blipFill>
          <a:blip r:embed="rId1"/>
          <a:stretch>
            <a:fillRect/>
          </a:stretch>
        </p:blipFill>
        <p:spPr>
          <a:xfrm>
            <a:off x="4271645" y="2591435"/>
            <a:ext cx="4725670" cy="261302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 Tree</a:t>
            </a:r>
            <a:endParaRPr lang="en-US"/>
          </a:p>
        </p:txBody>
      </p:sp>
      <p:sp>
        <p:nvSpPr>
          <p:cNvPr id="3" name="Content Placeholder 2"/>
          <p:cNvSpPr>
            <a:spLocks noGrp="1"/>
          </p:cNvSpPr>
          <p:nvPr>
            <p:ph idx="1"/>
          </p:nvPr>
        </p:nvSpPr>
        <p:spPr>
          <a:xfrm>
            <a:off x="457200" y="1600200"/>
            <a:ext cx="8493760" cy="5026025"/>
          </a:xfrm>
        </p:spPr>
        <p:txBody>
          <a:bodyPr>
            <a:normAutofit lnSpcReduction="10000"/>
          </a:bodyPr>
          <a:p>
            <a:r>
              <a:rPr lang="en-US" b="1"/>
              <a:t>Order for internal nodes (order p)</a:t>
            </a:r>
            <a:endParaRPr lang="en-US" b="1"/>
          </a:p>
          <a:p>
            <a:pPr lvl="1"/>
            <a:r>
              <a:rPr lang="en-US"/>
              <a:t>Every internal node other than root should have at least </a:t>
            </a:r>
            <a:r>
              <a:rPr lang="en-US" b="1"/>
              <a:t>ceil(p/2 - 1)</a:t>
            </a:r>
            <a:r>
              <a:rPr lang="en-US"/>
              <a:t> keys and </a:t>
            </a:r>
            <a:r>
              <a:rPr lang="en-US" b="1"/>
              <a:t>ceil(p/2)</a:t>
            </a:r>
            <a:r>
              <a:rPr lang="en-US"/>
              <a:t> tree pointers.</a:t>
            </a:r>
            <a:endParaRPr lang="en-US"/>
          </a:p>
          <a:p>
            <a:pPr lvl="1"/>
            <a:r>
              <a:rPr lang="en-US"/>
              <a:t>Every internal node can have maximum </a:t>
            </a:r>
            <a:r>
              <a:rPr lang="en-US" b="1"/>
              <a:t>p-1 keys </a:t>
            </a:r>
            <a:r>
              <a:rPr lang="en-US"/>
              <a:t>or </a:t>
            </a:r>
            <a:r>
              <a:rPr lang="en-US" b="1"/>
              <a:t>p tree pointers</a:t>
            </a:r>
            <a:r>
              <a:rPr lang="en-US"/>
              <a:t>.</a:t>
            </a:r>
            <a:endParaRPr lang="en-US"/>
          </a:p>
          <a:p>
            <a:pPr lvl="0"/>
            <a:r>
              <a:rPr lang="en-US" b="1"/>
              <a:t>Order for leaf nodes (order q)</a:t>
            </a:r>
            <a:endParaRPr lang="en-US" b="1"/>
          </a:p>
          <a:p>
            <a:pPr lvl="1"/>
            <a:r>
              <a:rPr lang="en-US"/>
              <a:t>Every leaf node should have at least </a:t>
            </a:r>
            <a:r>
              <a:rPr lang="en-US" b="1"/>
              <a:t>ceil(q/2) keys </a:t>
            </a:r>
            <a:r>
              <a:rPr lang="en-US"/>
              <a:t>and max </a:t>
            </a:r>
            <a:r>
              <a:rPr lang="en-US" b="1"/>
              <a:t>q keys</a:t>
            </a:r>
            <a:r>
              <a:rPr lang="en-US"/>
              <a:t>.</a:t>
            </a:r>
            <a:endParaRPr lang="en-US"/>
          </a:p>
          <a:p>
            <a:pPr lvl="1"/>
            <a:r>
              <a:rPr lang="en-US"/>
              <a:t>All leaves are on same level.</a:t>
            </a:r>
            <a:endParaRPr lang="en-US"/>
          </a:p>
          <a:p>
            <a:pPr lvl="1"/>
            <a:r>
              <a:rPr lang="en-US"/>
              <a:t>The leaves are connected using linked list (singly or doubly).</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7360" y="53658"/>
            <a:ext cx="8229600" cy="1143000"/>
          </a:xfrm>
        </p:spPr>
        <p:txBody>
          <a:bodyPr/>
          <a:p>
            <a:r>
              <a:rPr lang="en-US"/>
              <a:t>B+ Tree Insertion</a:t>
            </a:r>
            <a:endParaRPr lang="en-US"/>
          </a:p>
        </p:txBody>
      </p:sp>
      <p:pic>
        <p:nvPicPr>
          <p:cNvPr id="5" name="Content Placeholder 4"/>
          <p:cNvPicPr>
            <a:picLocks noChangeAspect="1"/>
          </p:cNvPicPr>
          <p:nvPr>
            <p:ph idx="1"/>
          </p:nvPr>
        </p:nvPicPr>
        <p:blipFill>
          <a:blip r:embed="rId1"/>
          <a:stretch>
            <a:fillRect/>
          </a:stretch>
        </p:blipFill>
        <p:spPr>
          <a:xfrm>
            <a:off x="107315" y="1196975"/>
            <a:ext cx="8883015" cy="5470525"/>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p:cNvPicPr>
            <a:picLocks noChangeAspect="1"/>
          </p:cNvPicPr>
          <p:nvPr>
            <p:ph idx="1"/>
          </p:nvPr>
        </p:nvPicPr>
        <p:blipFill>
          <a:blip r:embed="rId1"/>
          <a:stretch>
            <a:fillRect/>
          </a:stretch>
        </p:blipFill>
        <p:spPr>
          <a:xfrm>
            <a:off x="467360" y="44450"/>
            <a:ext cx="8422640" cy="6783070"/>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a:picLocks noChangeAspect="1"/>
          </p:cNvPicPr>
          <p:nvPr/>
        </p:nvPicPr>
        <p:blipFill>
          <a:blip r:embed="rId1"/>
          <a:stretch>
            <a:fillRect/>
          </a:stretch>
        </p:blipFill>
        <p:spPr>
          <a:xfrm>
            <a:off x="35560" y="404495"/>
            <a:ext cx="9046845" cy="550608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a:picLocks noChangeAspect="1"/>
          </p:cNvPicPr>
          <p:nvPr/>
        </p:nvPicPr>
        <p:blipFill>
          <a:blip r:embed="rId1"/>
          <a:stretch>
            <a:fillRect/>
          </a:stretch>
        </p:blipFill>
        <p:spPr>
          <a:xfrm>
            <a:off x="107315" y="764540"/>
            <a:ext cx="8519795" cy="569277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B+ Tree Deletion</a:t>
            </a:r>
            <a:endParaRPr lang="en-US"/>
          </a:p>
        </p:txBody>
      </p:sp>
      <p:sp>
        <p:nvSpPr>
          <p:cNvPr id="6" name="Content Placeholder 5"/>
          <p:cNvSpPr>
            <a:spLocks noGrp="1"/>
          </p:cNvSpPr>
          <p:nvPr>
            <p:ph idx="1"/>
          </p:nvPr>
        </p:nvSpPr>
        <p:spPr/>
        <p:txBody>
          <a:bodyPr>
            <a:normAutofit lnSpcReduction="10000"/>
          </a:bodyPr>
          <a:p>
            <a:r>
              <a:rPr lang="en-US"/>
              <a:t>After deletion if no violation of min keys then no changes in tree.</a:t>
            </a:r>
            <a:endParaRPr lang="en-US"/>
          </a:p>
          <a:p>
            <a:r>
              <a:rPr lang="en-US"/>
              <a:t>If violation of min keys then borrow key from siblings and update the anchor.</a:t>
            </a:r>
            <a:endParaRPr lang="en-US"/>
          </a:p>
          <a:p>
            <a:r>
              <a:rPr lang="en-US"/>
              <a:t>If borrow from sibling can’t be possible then merge the node with sibling node. And either remove the anchor key (merge on leaf) or pull down the anchor key from parent (merge on internal node)</a:t>
            </a:r>
            <a:endParaRPr 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5" name="Picture 4"/>
          <p:cNvPicPr>
            <a:picLocks noChangeAspect="1"/>
          </p:cNvPicPr>
          <p:nvPr/>
        </p:nvPicPr>
        <p:blipFill>
          <a:blip r:embed="rId1"/>
          <a:stretch>
            <a:fillRect/>
          </a:stretch>
        </p:blipFill>
        <p:spPr>
          <a:xfrm>
            <a:off x="1227455" y="11430"/>
            <a:ext cx="7226935" cy="685292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pPr>
              <a:defRPr/>
            </a:pPr>
            <a:fld id="{074D32D7-EFB5-44A7-8690-E108EFDB80BB}" type="slidenum">
              <a:rPr lang="es-ES" smtClean="0"/>
            </a:fld>
            <a:endParaRPr lang="es-ES" dirty="0"/>
          </a:p>
        </p:txBody>
      </p:sp>
      <p:pic>
        <p:nvPicPr>
          <p:cNvPr id="3" name="Picture 2"/>
          <p:cNvPicPr>
            <a:picLocks noChangeAspect="1"/>
          </p:cNvPicPr>
          <p:nvPr/>
        </p:nvPicPr>
        <p:blipFill>
          <a:blip r:embed="rId1"/>
          <a:stretch>
            <a:fillRect/>
          </a:stretch>
        </p:blipFill>
        <p:spPr>
          <a:xfrm>
            <a:off x="0" y="908685"/>
            <a:ext cx="9084945" cy="483044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IN" altLang="en-US"/>
              <a:t>Exercise</a:t>
            </a:r>
            <a:endParaRPr lang="en-IN" altLang="en-US"/>
          </a:p>
        </p:txBody>
      </p:sp>
      <p:pic>
        <p:nvPicPr>
          <p:cNvPr id="7" name="Content Placeholder 6"/>
          <p:cNvPicPr>
            <a:picLocks noChangeAspect="1"/>
          </p:cNvPicPr>
          <p:nvPr>
            <p:ph idx="1"/>
          </p:nvPr>
        </p:nvPicPr>
        <p:blipFill>
          <a:blip r:embed="rId1"/>
          <a:stretch>
            <a:fillRect/>
          </a:stretch>
        </p:blipFill>
        <p:spPr>
          <a:xfrm>
            <a:off x="395605" y="1412875"/>
            <a:ext cx="8691880" cy="962025"/>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IN" altLang="en-US"/>
              <a:t>Exercise</a:t>
            </a:r>
            <a:endParaRPr lang="en-IN" altLang="en-US"/>
          </a:p>
        </p:txBody>
      </p:sp>
      <p:pic>
        <p:nvPicPr>
          <p:cNvPr id="7" name="Content Placeholder 6"/>
          <p:cNvPicPr>
            <a:picLocks noChangeAspect="1"/>
          </p:cNvPicPr>
          <p:nvPr>
            <p:ph idx="1"/>
          </p:nvPr>
        </p:nvPicPr>
        <p:blipFill>
          <a:blip r:embed="rId1"/>
          <a:stretch>
            <a:fillRect/>
          </a:stretch>
        </p:blipFill>
        <p:spPr>
          <a:xfrm>
            <a:off x="395605" y="1485265"/>
            <a:ext cx="8248650" cy="1337945"/>
          </a:xfrm>
          <a:prstGeom prst="rect">
            <a:avLst/>
          </a:prstGeom>
        </p:spPr>
      </p:pic>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IN" altLang="en-US"/>
              <a:t>Exercise</a:t>
            </a:r>
            <a:endParaRPr lang="en-IN" altLang="en-US"/>
          </a:p>
        </p:txBody>
      </p:sp>
      <p:sp>
        <p:nvSpPr>
          <p:cNvPr id="6" name="Content Placeholder 5"/>
          <p:cNvSpPr>
            <a:spLocks noGrp="1"/>
          </p:cNvSpPr>
          <p:nvPr>
            <p:ph idx="1"/>
          </p:nvPr>
        </p:nvSpPr>
        <p:spPr/>
        <p:txBody>
          <a:bodyPr/>
          <a:p>
            <a:r>
              <a:rPr lang="en-IN" altLang="en-US"/>
              <a:t>Given a B+ Tree of order 4. </a:t>
            </a:r>
            <a:endParaRPr lang="en-IN" alt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pic>
        <p:nvPicPr>
          <p:cNvPr id="8" name="Picture 7"/>
          <p:cNvPicPr>
            <a:picLocks noChangeAspect="1"/>
          </p:cNvPicPr>
          <p:nvPr/>
        </p:nvPicPr>
        <p:blipFill>
          <a:blip r:embed="rId1"/>
          <a:stretch>
            <a:fillRect/>
          </a:stretch>
        </p:blipFill>
        <p:spPr>
          <a:xfrm>
            <a:off x="395605" y="2205355"/>
            <a:ext cx="8320405" cy="2197735"/>
          </a:xfrm>
          <a:prstGeom prst="rect">
            <a:avLst/>
          </a:prstGeom>
        </p:spPr>
      </p:pic>
      <p:sp>
        <p:nvSpPr>
          <p:cNvPr id="9" name="Text Box 8"/>
          <p:cNvSpPr txBox="1"/>
          <p:nvPr/>
        </p:nvSpPr>
        <p:spPr>
          <a:xfrm>
            <a:off x="781685" y="4859020"/>
            <a:ext cx="7920990" cy="1778000"/>
          </a:xfrm>
          <a:prstGeom prst="rect">
            <a:avLst/>
          </a:prstGeom>
          <a:noFill/>
        </p:spPr>
        <p:txBody>
          <a:bodyPr wrap="square" rtlCol="0">
            <a:noAutofit/>
          </a:bodyPr>
          <a:p>
            <a:r>
              <a:rPr lang="en-IN" altLang="en-US"/>
              <a:t>Delete following values from the tree in given order - </a:t>
            </a:r>
            <a:endParaRPr lang="en-IN" altLang="en-US"/>
          </a:p>
          <a:p>
            <a:pPr indent="457200"/>
            <a:r>
              <a:rPr lang="en-IN" altLang="en-US"/>
              <a:t>1. 2</a:t>
            </a:r>
            <a:endParaRPr lang="en-IN" altLang="en-US"/>
          </a:p>
          <a:p>
            <a:pPr indent="457200"/>
            <a:r>
              <a:rPr lang="en-IN" altLang="en-US"/>
              <a:t>2. 109</a:t>
            </a:r>
            <a:endParaRPr lang="en-IN" altLang="en-US"/>
          </a:p>
          <a:p>
            <a:pPr indent="457200"/>
            <a:r>
              <a:rPr lang="en-IN" altLang="en-US"/>
              <a:t>3. 12</a:t>
            </a:r>
            <a:endParaRPr lang="en-I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Exercise</a:t>
            </a:r>
            <a:endParaRPr lang="en-IN" altLang="en-US"/>
          </a:p>
        </p:txBody>
      </p:sp>
      <p:sp>
        <p:nvSpPr>
          <p:cNvPr id="3" name="Content Placeholder 2"/>
          <p:cNvSpPr>
            <a:spLocks noGrp="1"/>
          </p:cNvSpPr>
          <p:nvPr>
            <p:ph idx="1"/>
          </p:nvPr>
        </p:nvSpPr>
        <p:spPr/>
        <p:txBody>
          <a:bodyPr/>
          <a:p>
            <a:r>
              <a:rPr lang="en-IN" altLang="en-US"/>
              <a:t>Create a B Tree of order 4 with following keys - </a:t>
            </a:r>
            <a:endParaRPr lang="en-IN" altLang="en-US"/>
          </a:p>
          <a:p>
            <a:pPr marL="457200" lvl="1" indent="457200">
              <a:buNone/>
            </a:pPr>
            <a:r>
              <a:rPr lang="en-IN" altLang="en-US"/>
              <a:t>15, 5, 8, 22, 10, 1</a:t>
            </a:r>
            <a:endParaRPr lang="en-IN" altLang="en-US"/>
          </a:p>
        </p:txBody>
      </p:sp>
      <p:sp>
        <p:nvSpPr>
          <p:cNvPr id="4" name="Slide Number Placeholder 3"/>
          <p:cNvSpPr>
            <a:spLocks noGrp="1"/>
          </p:cNvSpPr>
          <p:nvPr>
            <p:ph type="sldNum" sz="quarter" idx="12"/>
          </p:nvPr>
        </p:nvSpPr>
        <p:spPr/>
        <p:txBody>
          <a:bodyPr/>
          <a:p>
            <a:pPr>
              <a:defRPr/>
            </a:pPr>
            <a:fld id="{074D32D7-EFB5-44A7-8690-E108EFDB80BB}" type="slidenum">
              <a:rPr lang="es-ES" smtClean="0"/>
            </a:fld>
            <a:endParaRPr lang="es-E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17856</Words>
  <Application>WPS Presentation</Application>
  <PresentationFormat>On-screen Show (4:3)</PresentationFormat>
  <Paragraphs>649</Paragraphs>
  <Slides>64</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64</vt:i4>
      </vt:variant>
    </vt:vector>
  </HeadingPairs>
  <TitlesOfParts>
    <vt:vector size="72" baseType="lpstr">
      <vt:lpstr>Arial</vt:lpstr>
      <vt:lpstr>SimSun</vt:lpstr>
      <vt:lpstr>Wingdings</vt:lpstr>
      <vt:lpstr>Times New Roman</vt:lpstr>
      <vt:lpstr>Microsoft YaHei</vt:lpstr>
      <vt:lpstr>Arial Unicode MS</vt:lpstr>
      <vt:lpstr>Calibri</vt:lpstr>
      <vt:lpstr>Office Theme</vt:lpstr>
      <vt:lpstr>KALINGA INSTITUTE OF INDUSTRIAL TECHNOLOGY</vt:lpstr>
      <vt:lpstr>Chapter Contents</vt:lpstr>
      <vt:lpstr>Memory Structure</vt:lpstr>
      <vt:lpstr>Fix &amp; Variable Length Records</vt:lpstr>
      <vt:lpstr>Spanned vs Unspanned Storage</vt:lpstr>
      <vt:lpstr>PowerPoint 演示文稿</vt:lpstr>
      <vt:lpstr>PowerPoint 演示文稿</vt:lpstr>
      <vt:lpstr>PowerPoint 演示文稿</vt:lpstr>
      <vt:lpstr>Primary Indexing</vt:lpstr>
      <vt:lpstr>Primary Indexing</vt:lpstr>
      <vt:lpstr>Primary Indexing</vt:lpstr>
      <vt:lpstr>PowerPoint 演示文稿</vt:lpstr>
      <vt:lpstr>PowerPoint 演示文稿</vt:lpstr>
      <vt:lpstr>PowerPoint 演示文稿</vt:lpstr>
      <vt:lpstr>Clustering Indexing</vt:lpstr>
      <vt:lpstr>Clustering Indexing</vt:lpstr>
      <vt:lpstr>Clustering Indexing</vt:lpstr>
      <vt:lpstr>PowerPoint 演示文稿</vt:lpstr>
      <vt:lpstr>PowerPoint 演示文稿</vt:lpstr>
      <vt:lpstr>Secondary Indexing</vt:lpstr>
      <vt:lpstr>PowerPoint 演示文稿</vt:lpstr>
      <vt:lpstr>Multi-level Indexing</vt:lpstr>
      <vt:lpstr>Multi-level Indexing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B-Tree</vt:lpstr>
      <vt:lpstr>B-Tree</vt:lpstr>
      <vt:lpstr>An order p B-Tree</vt:lpstr>
      <vt:lpstr>B-Tree Node Structure</vt:lpstr>
      <vt:lpstr>B-Tree Insertion</vt:lpstr>
      <vt:lpstr>B-Tree Insertion Continued...</vt:lpstr>
      <vt:lpstr>B-Tree Insertion Example</vt:lpstr>
      <vt:lpstr>B-Tree Insertion Example Continued...</vt:lpstr>
      <vt:lpstr>PowerPoint 演示文稿</vt:lpstr>
      <vt:lpstr>B-Tree Deletion</vt:lpstr>
      <vt:lpstr>B-Tree Deletion: Case-1</vt:lpstr>
      <vt:lpstr>PowerPoint 演示文稿</vt:lpstr>
      <vt:lpstr>PowerPoint 演示文稿</vt:lpstr>
      <vt:lpstr>B-Tree Deletion </vt:lpstr>
      <vt:lpstr>B-Tree Deletion</vt:lpstr>
      <vt:lpstr>B+ Trees</vt:lpstr>
      <vt:lpstr>B+ Tree</vt:lpstr>
      <vt:lpstr>B+ Tree Insertion</vt:lpstr>
      <vt:lpstr>PowerPoint 演示文稿</vt:lpstr>
      <vt:lpstr>PowerPoint 演示文稿</vt:lpstr>
      <vt:lpstr>PowerPoint 演示文稿</vt:lpstr>
      <vt:lpstr>B+ Tree Deletion</vt:lpstr>
      <vt:lpstr>PowerPoint 演示文稿</vt:lpstr>
      <vt:lpstr>PowerPoint 演示文稿</vt:lpstr>
      <vt:lpstr>Exercise</vt:lpstr>
      <vt:lpstr>Exercise</vt:lpstr>
      <vt:lpstr>Exercise</vt:lpstr>
      <vt:lpstr>Exercise</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Vishal Meena</cp:lastModifiedBy>
  <cp:revision>1284</cp:revision>
  <dcterms:created xsi:type="dcterms:W3CDTF">2010-05-23T14:28:00Z</dcterms:created>
  <dcterms:modified xsi:type="dcterms:W3CDTF">2026-04-02T15:47:31Z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A7DDF3F9CAB34AAEBBFDD9BEB940A2C6_12</vt:lpwstr>
  </property>
</Properties>
</file>