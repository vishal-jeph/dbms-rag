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handoutMasterIdLst>
    <p:handoutMasterId r:id="rId99"/>
  </p:handoutMasterIdLst>
  <p:sldIdLst>
    <p:sldId id="256" r:id="rId3"/>
    <p:sldId id="258" r:id="rId4"/>
    <p:sldId id="259" r:id="rId5"/>
    <p:sldId id="260" r:id="rId6"/>
    <p:sldId id="261" r:id="rId7"/>
    <p:sldId id="262" r:id="rId8"/>
    <p:sldId id="263" r:id="rId9"/>
    <p:sldId id="264" r:id="rId10"/>
    <p:sldId id="324" r:id="rId11"/>
    <p:sldId id="265" r:id="rId12"/>
    <p:sldId id="266" r:id="rId13"/>
    <p:sldId id="267" r:id="rId14"/>
    <p:sldId id="268" r:id="rId15"/>
    <p:sldId id="269" r:id="rId16"/>
    <p:sldId id="270" r:id="rId17"/>
    <p:sldId id="271" r:id="rId18"/>
    <p:sldId id="273" r:id="rId19"/>
    <p:sldId id="272"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405" r:id="rId48"/>
    <p:sldId id="302" r:id="rId49"/>
    <p:sldId id="303" r:id="rId50"/>
    <p:sldId id="304" r:id="rId51"/>
    <p:sldId id="305" r:id="rId52"/>
    <p:sldId id="306" r:id="rId53"/>
    <p:sldId id="307" r:id="rId54"/>
    <p:sldId id="308" r:id="rId55"/>
    <p:sldId id="309" r:id="rId56"/>
    <p:sldId id="409" r:id="rId57"/>
    <p:sldId id="329" r:id="rId58"/>
    <p:sldId id="310" r:id="rId59"/>
    <p:sldId id="311" r:id="rId60"/>
    <p:sldId id="312" r:id="rId61"/>
    <p:sldId id="313" r:id="rId62"/>
    <p:sldId id="321" r:id="rId63"/>
    <p:sldId id="387" r:id="rId64"/>
    <p:sldId id="388" r:id="rId65"/>
    <p:sldId id="314" r:id="rId66"/>
    <p:sldId id="390" r:id="rId67"/>
    <p:sldId id="391" r:id="rId68"/>
    <p:sldId id="453" r:id="rId69"/>
    <p:sldId id="315" r:id="rId70"/>
    <p:sldId id="392" r:id="rId71"/>
    <p:sldId id="316" r:id="rId72"/>
    <p:sldId id="317" r:id="rId73"/>
    <p:sldId id="393" r:id="rId74"/>
    <p:sldId id="394" r:id="rId75"/>
    <p:sldId id="318" r:id="rId76"/>
    <p:sldId id="395" r:id="rId77"/>
    <p:sldId id="319" r:id="rId78"/>
    <p:sldId id="396" r:id="rId79"/>
    <p:sldId id="320" r:id="rId80"/>
    <p:sldId id="389" r:id="rId81"/>
    <p:sldId id="322" r:id="rId82"/>
    <p:sldId id="323" r:id="rId83"/>
    <p:sldId id="325" r:id="rId84"/>
    <p:sldId id="326" r:id="rId85"/>
    <p:sldId id="474" r:id="rId86"/>
    <p:sldId id="482" r:id="rId87"/>
    <p:sldId id="494" r:id="rId88"/>
    <p:sldId id="483" r:id="rId89"/>
    <p:sldId id="484" r:id="rId90"/>
    <p:sldId id="485" r:id="rId91"/>
    <p:sldId id="486" r:id="rId92"/>
    <p:sldId id="481" r:id="rId93"/>
    <p:sldId id="327" r:id="rId94"/>
    <p:sldId id="399" r:id="rId95"/>
    <p:sldId id="400" r:id="rId96"/>
    <p:sldId id="401"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handoutMaster" Target="handoutMasters/handoutMaster1.xml"/><Relationship Id="rId98" Type="http://schemas.openxmlformats.org/officeDocument/2006/relationships/notesMaster" Target="notesMasters/notesMaster1.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6.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Relational Data Model</a:t>
            </a:r>
            <a:endParaRPr lang="en-US" dirty="0"/>
          </a:p>
        </p:txBody>
      </p:sp>
      <p:sp>
        <p:nvSpPr>
          <p:cNvPr id="3" name="Subtitle 2"/>
          <p:cNvSpPr>
            <a:spLocks noGrp="1"/>
          </p:cNvSpPr>
          <p:nvPr>
            <p:ph type="subTitle" idx="1"/>
          </p:nvPr>
        </p:nvSpPr>
        <p:spPr/>
        <p:txBody>
          <a:bodyPr/>
          <a:lstStyle/>
          <a:p>
            <a:r>
              <a:rPr lang="en-US"/>
              <a:t>Unit - 2</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Relational Data Model</a:t>
            </a:r>
            <a:endParaRPr lang="en-US"/>
          </a:p>
        </p:txBody>
      </p:sp>
      <p:sp>
        <p:nvSpPr>
          <p:cNvPr id="3" name="Content Placeholder 2"/>
          <p:cNvSpPr>
            <a:spLocks noGrp="1"/>
          </p:cNvSpPr>
          <p:nvPr>
            <p:ph idx="1"/>
          </p:nvPr>
        </p:nvSpPr>
        <p:spPr/>
        <p:txBody>
          <a:bodyPr>
            <a:normAutofit lnSpcReduction="10000"/>
          </a:bodyPr>
          <a:p>
            <a:pPr marL="355600" indent="-342900" algn="just">
              <a:spcBef>
                <a:spcPts val="430"/>
              </a:spcBef>
              <a:buFont typeface="Wingdings" panose="05000000000000000000" pitchFamily="2" charset="2"/>
              <a:buChar char="Ø"/>
            </a:pPr>
            <a:r>
              <a:rPr lang="en-US" kern="0" dirty="0" smtClean="0">
                <a:latin typeface="Times New Roman" panose="02020603050405020304" pitchFamily="18" charset="0"/>
                <a:cs typeface="Times New Roman" panose="02020603050405020304" pitchFamily="18" charset="0"/>
                <a:sym typeface="+mn-ea"/>
              </a:rPr>
              <a:t>Relational data model is the primary data model for commercial data- processing applications.</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kern="0" dirty="0" smtClean="0">
                <a:latin typeface="Times New Roman" panose="02020603050405020304" pitchFamily="18" charset="0"/>
                <a:cs typeface="Times New Roman" panose="02020603050405020304" pitchFamily="18" charset="0"/>
                <a:sym typeface="+mn-ea"/>
              </a:rPr>
              <a:t>A relational database consists of a collection of tables, each of which is assigned a unique name.</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kern="0" dirty="0" smtClean="0">
                <a:latin typeface="Times New Roman" panose="02020603050405020304" pitchFamily="18" charset="0"/>
                <a:cs typeface="Times New Roman" panose="02020603050405020304" pitchFamily="18" charset="0"/>
                <a:sym typeface="+mn-ea"/>
              </a:rPr>
              <a:t>A row in a table represents a relationship among a set of values. Thus, a table is an</a:t>
            </a:r>
            <a:r>
              <a:rPr lang="en-US" b="1" kern="0" dirty="0" smtClean="0">
                <a:latin typeface="Times New Roman" panose="02020603050405020304" pitchFamily="18" charset="0"/>
                <a:cs typeface="Times New Roman" panose="02020603050405020304" pitchFamily="18" charset="0"/>
                <a:sym typeface="+mn-ea"/>
              </a:rPr>
              <a:t> entity set</a:t>
            </a:r>
            <a:r>
              <a:rPr lang="en-US" kern="0" dirty="0" smtClean="0">
                <a:latin typeface="Times New Roman" panose="02020603050405020304" pitchFamily="18" charset="0"/>
                <a:cs typeface="Times New Roman" panose="02020603050405020304" pitchFamily="18" charset="0"/>
                <a:sym typeface="+mn-ea"/>
              </a:rPr>
              <a:t> and a row is an</a:t>
            </a:r>
            <a:r>
              <a:rPr lang="en-US" b="1" kern="0" dirty="0" smtClean="0">
                <a:latin typeface="Times New Roman" panose="02020603050405020304" pitchFamily="18" charset="0"/>
                <a:cs typeface="Times New Roman" panose="02020603050405020304" pitchFamily="18" charset="0"/>
                <a:sym typeface="+mn-ea"/>
              </a:rPr>
              <a:t> entity/</a:t>
            </a:r>
            <a:r>
              <a:rPr lang="en-US" b="1" kern="0" dirty="0" smtClean="0">
                <a:latin typeface="Times New Roman" panose="02020603050405020304" pitchFamily="18" charset="0"/>
                <a:cs typeface="Times New Roman" panose="02020603050405020304" pitchFamily="18" charset="0"/>
                <a:sym typeface="+mn-ea"/>
              </a:rPr>
              <a:t>tuples</a:t>
            </a:r>
            <a:r>
              <a:rPr lang="en-US" b="1" kern="0" dirty="0" smtClean="0">
                <a:latin typeface="Times New Roman" panose="02020603050405020304" pitchFamily="18" charset="0"/>
                <a:cs typeface="Times New Roman" panose="02020603050405020304" pitchFamily="18" charset="0"/>
                <a:sym typeface="+mn-ea"/>
              </a:rPr>
              <a:t>.</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kern="0" dirty="0" smtClean="0">
                <a:latin typeface="Times New Roman" panose="02020603050405020304" pitchFamily="18" charset="0"/>
                <a:cs typeface="Times New Roman" panose="02020603050405020304" pitchFamily="18" charset="0"/>
                <a:sym typeface="+mn-ea"/>
              </a:rPr>
              <a:t>The columns or properties are called </a:t>
            </a:r>
            <a:r>
              <a:rPr lang="en-US" b="1" kern="0" dirty="0" smtClean="0">
                <a:latin typeface="Times New Roman" panose="02020603050405020304" pitchFamily="18" charset="0"/>
                <a:cs typeface="Times New Roman" panose="02020603050405020304" pitchFamily="18" charset="0"/>
                <a:sym typeface="+mn-ea"/>
              </a:rPr>
              <a:t>attributes</a:t>
            </a:r>
            <a:r>
              <a:rPr lang="en-US" kern="0" dirty="0" smtClean="0">
                <a:latin typeface="Times New Roman" panose="02020603050405020304" pitchFamily="18" charset="0"/>
                <a:cs typeface="Times New Roman" panose="02020603050405020304" pitchFamily="18" charset="0"/>
                <a:sym typeface="+mn-ea"/>
              </a:rPr>
              <a:t>. For each attribute, there is a set of permitted values, called the domain of that attribute. Same domain can be shared by more than one attribute.</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Degree</a:t>
            </a:r>
            <a:r>
              <a:rPr lang="en-US" kern="0" dirty="0" smtClean="0">
                <a:latin typeface="Times New Roman" panose="02020603050405020304" pitchFamily="18" charset="0"/>
                <a:cs typeface="Times New Roman" panose="02020603050405020304" pitchFamily="18" charset="0"/>
                <a:sym typeface="+mn-ea"/>
              </a:rPr>
              <a:t> is the number of attributes in the relation/ table, where as </a:t>
            </a:r>
            <a:r>
              <a:rPr lang="en-US" b="1" kern="0" dirty="0" smtClean="0">
                <a:latin typeface="Times New Roman" panose="02020603050405020304" pitchFamily="18" charset="0"/>
                <a:cs typeface="Times New Roman" panose="02020603050405020304" pitchFamily="18" charset="0"/>
                <a:sym typeface="+mn-ea"/>
              </a:rPr>
              <a:t>Cardinality</a:t>
            </a:r>
            <a:r>
              <a:rPr lang="en-US" kern="0" dirty="0" smtClean="0">
                <a:latin typeface="Times New Roman" panose="02020603050405020304" pitchFamily="18" charset="0"/>
                <a:cs typeface="Times New Roman" panose="02020603050405020304" pitchFamily="18" charset="0"/>
                <a:sym typeface="+mn-ea"/>
              </a:rPr>
              <a:t> is the number of </a:t>
            </a:r>
            <a:r>
              <a:rPr lang="en-US" b="1" kern="0" dirty="0" smtClean="0">
                <a:latin typeface="Times New Roman" panose="02020603050405020304" pitchFamily="18" charset="0"/>
                <a:cs typeface="Times New Roman" panose="02020603050405020304" pitchFamily="18" charset="0"/>
                <a:sym typeface="+mn-ea"/>
              </a:rPr>
              <a:t>tuples</a:t>
            </a:r>
            <a:r>
              <a:rPr lang="en-US" kern="0" dirty="0" smtClean="0">
                <a:latin typeface="Times New Roman" panose="02020603050405020304" pitchFamily="18" charset="0"/>
                <a:cs typeface="Times New Roman" panose="02020603050405020304" pitchFamily="18" charset="0"/>
                <a:sym typeface="+mn-ea"/>
              </a:rPr>
              <a:t> or rows in the relation/table.</a:t>
            </a: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82625"/>
            <a:ext cx="10515600" cy="5494655"/>
          </a:xfrm>
        </p:spPr>
        <p:txBody>
          <a:bodyPr/>
          <a:p>
            <a:pPr marL="355600" indent="-342900" algn="just">
              <a:spcBef>
                <a:spcPts val="430"/>
              </a:spcBef>
              <a:buFont typeface="Wingdings" panose="05000000000000000000" pitchFamily="2" charset="2"/>
              <a:buChar char="Ø"/>
            </a:pPr>
            <a:r>
              <a:rPr lang="en-US" kern="0" dirty="0" smtClean="0">
                <a:latin typeface="Times New Roman" panose="02020603050405020304" pitchFamily="18" charset="0"/>
                <a:cs typeface="Times New Roman" panose="02020603050405020304" pitchFamily="18" charset="0"/>
                <a:sym typeface="+mn-ea"/>
              </a:rPr>
              <a:t>The attribute values are required to be atomic, i.e. indivisible.</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kern="0" dirty="0" smtClean="0">
                <a:latin typeface="Times New Roman" panose="02020603050405020304" pitchFamily="18" charset="0"/>
                <a:cs typeface="Times New Roman" panose="02020603050405020304" pitchFamily="18" charset="0"/>
                <a:sym typeface="+mn-ea"/>
              </a:rPr>
              <a:t>Let D1, D2, and D3  are the</a:t>
            </a:r>
            <a:r>
              <a:rPr lang="en-US" b="1" kern="0" dirty="0" smtClean="0">
                <a:latin typeface="Times New Roman" panose="02020603050405020304" pitchFamily="18" charset="0"/>
                <a:cs typeface="Times New Roman" panose="02020603050405020304" pitchFamily="18" charset="0"/>
                <a:sym typeface="+mn-ea"/>
              </a:rPr>
              <a:t> domains</a:t>
            </a:r>
            <a:r>
              <a:rPr lang="en-US" kern="0" dirty="0" smtClean="0">
                <a:latin typeface="Times New Roman" panose="02020603050405020304" pitchFamily="18" charset="0"/>
                <a:cs typeface="Times New Roman" panose="02020603050405020304" pitchFamily="18" charset="0"/>
                <a:sym typeface="+mn-ea"/>
              </a:rPr>
              <a:t>. Any row of the table consists of a 3-tuple (v1, v2, v3) where v1 ∈ D1, v2 ∈ D2 and v3 ∈ D3. Thus, the table will contain only a subset of the set of all possible rows. Therefore, the table is a subset of D1  x D2  x D3.</a:t>
            </a:r>
            <a:endParaRPr lang="en-US" kern="0" dirty="0" smtClean="0">
              <a:latin typeface="Times New Roman" panose="02020603050405020304" pitchFamily="18" charset="0"/>
              <a:cs typeface="Times New Roman" panose="02020603050405020304" pitchFamily="18" charset="0"/>
            </a:endParaRPr>
          </a:p>
          <a:p>
            <a:pPr marL="133985" indent="-121285">
              <a:lnSpc>
                <a:spcPct val="100000"/>
              </a:lnSpc>
              <a:buSzPct val="90000"/>
              <a:buFont typeface="Wingdings" panose="05000000000000000000" pitchFamily="2" charset="2"/>
              <a:buChar char="Ø"/>
              <a:tabLst>
                <a:tab pos="134620" algn="l"/>
              </a:tabLst>
            </a:pPr>
            <a:r>
              <a:rPr lang="en-US" kern="0" dirty="0" smtClean="0">
                <a:latin typeface="Times New Roman" panose="02020603050405020304" pitchFamily="18" charset="0"/>
                <a:cs typeface="Times New Roman" panose="02020603050405020304" pitchFamily="18" charset="0"/>
                <a:sym typeface="+mn-ea"/>
              </a:rPr>
              <a:t>   Each attribute of a relation has a unique name.</a:t>
            </a:r>
            <a:endParaRPr lang="en-US" kern="0" dirty="0" smtClean="0">
              <a:latin typeface="Times New Roman" panose="02020603050405020304" pitchFamily="18" charset="0"/>
              <a:cs typeface="Times New Roman" panose="02020603050405020304" pitchFamily="18" charset="0"/>
            </a:endParaRPr>
          </a:p>
          <a:p>
            <a:pPr marL="133985" marR="121920" indent="-121285">
              <a:lnSpc>
                <a:spcPct val="100000"/>
              </a:lnSpc>
              <a:spcBef>
                <a:spcPts val="295"/>
              </a:spcBef>
              <a:buSzPct val="90000"/>
              <a:buFont typeface="Wingdings" panose="05000000000000000000" pitchFamily="2" charset="2"/>
              <a:buChar char="Ø"/>
              <a:tabLst>
                <a:tab pos="134620" algn="l"/>
              </a:tabLst>
            </a:pPr>
            <a:r>
              <a:rPr lang="en-US" kern="0" dirty="0" smtClean="0">
                <a:latin typeface="Times New Roman" panose="02020603050405020304" pitchFamily="18" charset="0"/>
                <a:cs typeface="Times New Roman" panose="02020603050405020304" pitchFamily="18" charset="0"/>
                <a:sym typeface="+mn-ea"/>
              </a:rPr>
              <a:t>   NULL Value is a domain value which is a member of any possible domain.</a:t>
            </a: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99770"/>
            <a:ext cx="10515600" cy="5477510"/>
          </a:xfrm>
        </p:spPr>
        <p:txBody>
          <a:bodyPr>
            <a:normAutofit lnSpcReduction="20000"/>
          </a:bodyPr>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Relational data model </a:t>
            </a:r>
            <a:r>
              <a:rPr lang="en-US" kern="0" dirty="0" smtClean="0">
                <a:latin typeface="Times New Roman" panose="02020603050405020304" pitchFamily="18" charset="0"/>
                <a:cs typeface="Times New Roman" panose="02020603050405020304" pitchFamily="18" charset="0"/>
                <a:sym typeface="+mn-ea"/>
              </a:rPr>
              <a:t>is the primary data model for commercial data- processing applications. </a:t>
            </a:r>
            <a:r>
              <a:rPr lang="en-US" b="1" kern="0" dirty="0" smtClean="0">
                <a:latin typeface="Times New Roman" panose="02020603050405020304" pitchFamily="18" charset="0"/>
                <a:cs typeface="Times New Roman" panose="02020603050405020304" pitchFamily="18" charset="0"/>
                <a:sym typeface="+mn-ea"/>
              </a:rPr>
              <a:t>Database Schema is the logical design of the database</a:t>
            </a:r>
            <a:r>
              <a:rPr lang="en-US" kern="0" dirty="0" smtClean="0">
                <a:latin typeface="Times New Roman" panose="02020603050405020304" pitchFamily="18" charset="0"/>
                <a:cs typeface="Times New Roman" panose="02020603050405020304" pitchFamily="18" charset="0"/>
                <a:sym typeface="+mn-ea"/>
              </a:rPr>
              <a:t>. If (a1, a2  ...an ) be the attributes, then the relation schema will be R=(a1,a2  ...an )</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Database Instance </a:t>
            </a:r>
            <a:r>
              <a:rPr lang="en-US" kern="0" dirty="0" smtClean="0">
                <a:latin typeface="Times New Roman" panose="02020603050405020304" pitchFamily="18" charset="0"/>
                <a:cs typeface="Times New Roman" panose="02020603050405020304" pitchFamily="18" charset="0"/>
                <a:sym typeface="+mn-ea"/>
              </a:rPr>
              <a:t>is the snapshot of the data in the database at a given instant of time</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Relation</a:t>
            </a:r>
            <a:r>
              <a:rPr lang="en-US" kern="0" dirty="0" smtClean="0">
                <a:latin typeface="Times New Roman" panose="02020603050405020304" pitchFamily="18" charset="0"/>
                <a:cs typeface="Times New Roman" panose="02020603050405020304" pitchFamily="18" charset="0"/>
                <a:sym typeface="+mn-ea"/>
              </a:rPr>
              <a:t> is denoted by lower case names and Relation Schema is the name beginning with an uppercase letter</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kern="0" dirty="0" smtClean="0">
                <a:latin typeface="Times New Roman" panose="02020603050405020304" pitchFamily="18" charset="0"/>
                <a:cs typeface="Times New Roman" panose="02020603050405020304" pitchFamily="18" charset="0"/>
                <a:sym typeface="+mn-ea"/>
              </a:rPr>
              <a:t>A </a:t>
            </a:r>
            <a:r>
              <a:rPr lang="en-US" b="1" kern="0" dirty="0" smtClean="0">
                <a:latin typeface="Times New Roman" panose="02020603050405020304" pitchFamily="18" charset="0"/>
                <a:cs typeface="Times New Roman" panose="02020603050405020304" pitchFamily="18" charset="0"/>
                <a:sym typeface="+mn-ea"/>
              </a:rPr>
              <a:t>relational database schema</a:t>
            </a:r>
            <a:r>
              <a:rPr lang="en-US" kern="0" dirty="0" smtClean="0">
                <a:latin typeface="Times New Roman" panose="02020603050405020304" pitchFamily="18" charset="0"/>
                <a:cs typeface="Times New Roman" panose="02020603050405020304" pitchFamily="18" charset="0"/>
                <a:sym typeface="+mn-ea"/>
              </a:rPr>
              <a:t> S is a set of relation schemas</a:t>
            </a:r>
            <a:r>
              <a:rPr lang="en-US" i="1" kern="0" dirty="0" smtClean="0">
                <a:latin typeface="Times New Roman" panose="02020603050405020304" pitchFamily="18" charset="0"/>
                <a:cs typeface="Times New Roman" panose="02020603050405020304" pitchFamily="18" charset="0"/>
                <a:sym typeface="+mn-ea"/>
              </a:rPr>
              <a:t> S = {R1, R2, ..., R</a:t>
            </a:r>
            <a:r>
              <a:rPr lang="en-US" i="1" kern="0" baseline="-25000" dirty="0" smtClean="0">
                <a:latin typeface="Times New Roman" panose="02020603050405020304" pitchFamily="18" charset="0"/>
                <a:cs typeface="Times New Roman" panose="02020603050405020304" pitchFamily="18" charset="0"/>
                <a:sym typeface="+mn-ea"/>
              </a:rPr>
              <a:t>m</a:t>
            </a:r>
            <a:r>
              <a:rPr lang="en-US" i="1" kern="0" dirty="0" smtClean="0">
                <a:latin typeface="Times New Roman" panose="02020603050405020304" pitchFamily="18" charset="0"/>
                <a:cs typeface="Times New Roman" panose="02020603050405020304" pitchFamily="18" charset="0"/>
                <a:sym typeface="+mn-ea"/>
              </a:rPr>
              <a:t>}</a:t>
            </a:r>
            <a:r>
              <a:rPr lang="en-US" kern="0" dirty="0" smtClean="0">
                <a:latin typeface="Times New Roman" panose="02020603050405020304" pitchFamily="18" charset="0"/>
                <a:cs typeface="Times New Roman" panose="02020603050405020304" pitchFamily="18" charset="0"/>
                <a:sym typeface="+mn-ea"/>
              </a:rPr>
              <a:t> and a set of integrity constraints IC. A relational database state DB of S is a set of relation states </a:t>
            </a:r>
            <a:r>
              <a:rPr lang="en-US" i="1" kern="0" dirty="0" smtClean="0">
                <a:latin typeface="Times New Roman" panose="02020603050405020304" pitchFamily="18" charset="0"/>
                <a:cs typeface="Times New Roman" panose="02020603050405020304" pitchFamily="18" charset="0"/>
                <a:sym typeface="+mn-ea"/>
              </a:rPr>
              <a:t>DB = {r1, r2, ..., r</a:t>
            </a:r>
            <a:r>
              <a:rPr lang="en-US" i="1" kern="0" baseline="-25000" dirty="0" smtClean="0">
                <a:latin typeface="Times New Roman" panose="02020603050405020304" pitchFamily="18" charset="0"/>
                <a:cs typeface="Times New Roman" panose="02020603050405020304" pitchFamily="18" charset="0"/>
                <a:sym typeface="+mn-ea"/>
              </a:rPr>
              <a:t>m</a:t>
            </a:r>
            <a:r>
              <a:rPr lang="en-US" i="1" kern="0" dirty="0" smtClean="0">
                <a:latin typeface="Times New Roman" panose="02020603050405020304" pitchFamily="18" charset="0"/>
                <a:cs typeface="Times New Roman" panose="02020603050405020304" pitchFamily="18" charset="0"/>
                <a:sym typeface="+mn-ea"/>
              </a:rPr>
              <a:t>}</a:t>
            </a:r>
            <a:r>
              <a:rPr lang="en-US" kern="0" dirty="0" smtClean="0">
                <a:latin typeface="Times New Roman" panose="02020603050405020304" pitchFamily="18" charset="0"/>
                <a:cs typeface="Times New Roman" panose="02020603050405020304" pitchFamily="18" charset="0"/>
                <a:sym typeface="+mn-ea"/>
              </a:rPr>
              <a:t> such that each r</a:t>
            </a:r>
            <a:r>
              <a:rPr lang="en-US" kern="0" baseline="30000" dirty="0" smtClean="0">
                <a:latin typeface="Times New Roman" panose="02020603050405020304" pitchFamily="18" charset="0"/>
                <a:cs typeface="Times New Roman" panose="02020603050405020304" pitchFamily="18" charset="0"/>
                <a:sym typeface="+mn-ea"/>
              </a:rPr>
              <a:t>i</a:t>
            </a:r>
            <a:r>
              <a:rPr lang="en-US" kern="0" dirty="0" smtClean="0">
                <a:latin typeface="Times New Roman" panose="02020603050405020304" pitchFamily="18" charset="0"/>
                <a:cs typeface="Times New Roman" panose="02020603050405020304" pitchFamily="18" charset="0"/>
                <a:sym typeface="+mn-ea"/>
              </a:rPr>
              <a:t> is a state of </a:t>
            </a:r>
            <a:r>
              <a:rPr lang="en-US" i="1" kern="0" dirty="0" smtClean="0">
                <a:latin typeface="Times New Roman" panose="02020603050405020304" pitchFamily="18" charset="0"/>
                <a:cs typeface="Times New Roman" panose="02020603050405020304" pitchFamily="18" charset="0"/>
                <a:sym typeface="+mn-ea"/>
              </a:rPr>
              <a:t>R</a:t>
            </a:r>
            <a:r>
              <a:rPr lang="en-US" i="1" kern="0" baseline="-25000" dirty="0" smtClean="0">
                <a:latin typeface="Times New Roman" panose="02020603050405020304" pitchFamily="18" charset="0"/>
                <a:cs typeface="Times New Roman" panose="02020603050405020304" pitchFamily="18" charset="0"/>
                <a:sym typeface="+mn-ea"/>
              </a:rPr>
              <a:t>i</a:t>
            </a:r>
            <a:r>
              <a:rPr lang="en-US" i="1" kern="0" dirty="0" smtClean="0">
                <a:latin typeface="Times New Roman" panose="02020603050405020304" pitchFamily="18" charset="0"/>
                <a:cs typeface="Times New Roman" panose="02020603050405020304" pitchFamily="18" charset="0"/>
                <a:sym typeface="+mn-ea"/>
              </a:rPr>
              <a:t> </a:t>
            </a:r>
            <a:r>
              <a:rPr lang="en-US" kern="0" dirty="0" smtClean="0">
                <a:latin typeface="Times New Roman" panose="02020603050405020304" pitchFamily="18" charset="0"/>
                <a:cs typeface="Times New Roman" panose="02020603050405020304" pitchFamily="18" charset="0"/>
                <a:sym typeface="+mn-ea"/>
              </a:rPr>
              <a:t>and such that the r</a:t>
            </a:r>
            <a:r>
              <a:rPr lang="en-US" kern="0" baseline="-25000" dirty="0" smtClean="0">
                <a:latin typeface="Times New Roman" panose="02020603050405020304" pitchFamily="18" charset="0"/>
                <a:cs typeface="Times New Roman" panose="02020603050405020304" pitchFamily="18" charset="0"/>
                <a:sym typeface="+mn-ea"/>
              </a:rPr>
              <a:t>i</a:t>
            </a:r>
            <a:r>
              <a:rPr lang="en-US" kern="0" dirty="0" smtClean="0">
                <a:latin typeface="Times New Roman" panose="02020603050405020304" pitchFamily="18" charset="0"/>
                <a:cs typeface="Times New Roman" panose="02020603050405020304" pitchFamily="18" charset="0"/>
                <a:sym typeface="+mn-ea"/>
              </a:rPr>
              <a:t> relation states satisfy the integrity constraints specified in IC. </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Relational Database</a:t>
            </a:r>
            <a:endParaRPr lang="en-US"/>
          </a:p>
        </p:txBody>
      </p:sp>
      <p:sp>
        <p:nvSpPr>
          <p:cNvPr id="3" name="Content Placeholder 2"/>
          <p:cNvSpPr>
            <a:spLocks noGrp="1"/>
          </p:cNvSpPr>
          <p:nvPr>
            <p:ph idx="1"/>
          </p:nvPr>
        </p:nvSpPr>
        <p:spPr/>
        <p:txBody>
          <a:bodyPr/>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Relational database </a:t>
            </a:r>
            <a:r>
              <a:rPr lang="en-US" kern="0" dirty="0" smtClean="0">
                <a:latin typeface="Times New Roman" panose="02020603050405020304" pitchFamily="18" charset="0"/>
                <a:cs typeface="Times New Roman" panose="02020603050405020304" pitchFamily="18" charset="0"/>
                <a:sym typeface="+mn-ea"/>
              </a:rPr>
              <a:t>is a database consisting of multiple relations or tables. The information about an enterprise is broken up into parts, with each relation storing one part of the information</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kern="0" dirty="0" smtClean="0">
                <a:latin typeface="Times New Roman" panose="02020603050405020304" pitchFamily="18" charset="0"/>
                <a:cs typeface="Times New Roman" panose="02020603050405020304" pitchFamily="18" charset="0"/>
                <a:sym typeface="+mn-ea"/>
              </a:rPr>
              <a:t>The </a:t>
            </a:r>
            <a:r>
              <a:rPr lang="en-US" b="1" kern="0" dirty="0" smtClean="0">
                <a:latin typeface="Times New Roman" panose="02020603050405020304" pitchFamily="18" charset="0"/>
                <a:cs typeface="Times New Roman" panose="02020603050405020304" pitchFamily="18" charset="0"/>
                <a:sym typeface="+mn-ea"/>
              </a:rPr>
              <a:t>normalization </a:t>
            </a:r>
            <a:r>
              <a:rPr lang="en-US" kern="0" dirty="0" smtClean="0">
                <a:latin typeface="Times New Roman" panose="02020603050405020304" pitchFamily="18" charset="0"/>
                <a:cs typeface="Times New Roman" panose="02020603050405020304" pitchFamily="18" charset="0"/>
                <a:sym typeface="+mn-ea"/>
              </a:rPr>
              <a:t>process deals with how to design relational schemas.</a:t>
            </a: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Summary</a:t>
            </a:r>
            <a:endParaRPr lang="en-US"/>
          </a:p>
        </p:txBody>
      </p:sp>
      <p:sp>
        <p:nvSpPr>
          <p:cNvPr id="3" name="Content Placeholder 2"/>
          <p:cNvSpPr>
            <a:spLocks noGrp="1"/>
          </p:cNvSpPr>
          <p:nvPr>
            <p:ph idx="1"/>
          </p:nvPr>
        </p:nvSpPr>
        <p:spPr/>
        <p:txBody>
          <a:bodyPr>
            <a:normAutofit lnSpcReduction="20000"/>
          </a:bodyPr>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Attribute: </a:t>
            </a:r>
            <a:r>
              <a:rPr lang="en-US" kern="0" dirty="0" smtClean="0">
                <a:latin typeface="Times New Roman" panose="02020603050405020304" pitchFamily="18" charset="0"/>
                <a:cs typeface="Times New Roman" panose="02020603050405020304" pitchFamily="18" charset="0"/>
                <a:sym typeface="+mn-ea"/>
              </a:rPr>
              <a:t>Each column in a Table. Attributes are the properties which define a relation. e.g., Student_Rollno, NAME,etc.</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Tables</a:t>
            </a:r>
            <a:r>
              <a:rPr lang="en-US" kern="0" dirty="0" smtClean="0">
                <a:latin typeface="Times New Roman" panose="02020603050405020304" pitchFamily="18" charset="0"/>
                <a:cs typeface="Times New Roman" panose="02020603050405020304" pitchFamily="18" charset="0"/>
                <a:sym typeface="+mn-ea"/>
              </a:rPr>
              <a:t> – In the Relational model the, relations are saved in the table format. It is stored along with its entities. A table has two properties rows and columns. Rows represent records and columns represent attributes.</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Tuple</a:t>
            </a:r>
            <a:r>
              <a:rPr lang="en-US" kern="0" dirty="0" smtClean="0">
                <a:latin typeface="Times New Roman" panose="02020603050405020304" pitchFamily="18" charset="0"/>
                <a:cs typeface="Times New Roman" panose="02020603050405020304" pitchFamily="18" charset="0"/>
                <a:sym typeface="+mn-ea"/>
              </a:rPr>
              <a:t> – It is nothing but a single row of a table, which contains a single record.</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Relation Schema</a:t>
            </a:r>
            <a:r>
              <a:rPr lang="en-US" kern="0" dirty="0" smtClean="0">
                <a:latin typeface="Times New Roman" panose="02020603050405020304" pitchFamily="18" charset="0"/>
                <a:cs typeface="Times New Roman" panose="02020603050405020304" pitchFamily="18" charset="0"/>
                <a:sym typeface="+mn-ea"/>
              </a:rPr>
              <a:t>: A relation schema represents the name of the relation with its attributes.</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Degree:</a:t>
            </a:r>
            <a:r>
              <a:rPr lang="en-US" kern="0" dirty="0" smtClean="0">
                <a:latin typeface="Times New Roman" panose="02020603050405020304" pitchFamily="18" charset="0"/>
                <a:cs typeface="Times New Roman" panose="02020603050405020304" pitchFamily="18" charset="0"/>
                <a:sym typeface="+mn-ea"/>
              </a:rPr>
              <a:t> The total number of attributes which in the relation is called the degree of the relation.</a:t>
            </a: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Cardinality: </a:t>
            </a:r>
            <a:r>
              <a:rPr lang="en-US" kern="0" dirty="0" smtClean="0">
                <a:latin typeface="Times New Roman" panose="02020603050405020304" pitchFamily="18" charset="0"/>
                <a:cs typeface="Times New Roman" panose="02020603050405020304" pitchFamily="18" charset="0"/>
                <a:sym typeface="+mn-ea"/>
              </a:rPr>
              <a:t>Total number of rows present in the Table.</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Column: </a:t>
            </a:r>
            <a:r>
              <a:rPr lang="en-US" kern="0" dirty="0" smtClean="0">
                <a:latin typeface="Times New Roman" panose="02020603050405020304" pitchFamily="18" charset="0"/>
                <a:cs typeface="Times New Roman" panose="02020603050405020304" pitchFamily="18" charset="0"/>
                <a:sym typeface="+mn-ea"/>
              </a:rPr>
              <a:t>The column represents the set of values for a specific attribute.</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Relation instance</a:t>
            </a:r>
            <a:r>
              <a:rPr lang="en-US" kern="0" dirty="0" smtClean="0">
                <a:latin typeface="Times New Roman" panose="02020603050405020304" pitchFamily="18" charset="0"/>
                <a:cs typeface="Times New Roman" panose="02020603050405020304" pitchFamily="18" charset="0"/>
                <a:sym typeface="+mn-ea"/>
              </a:rPr>
              <a:t> – Relation instance is a finite set of tuples in the RDBMS system. Relation instances never have duplicate tuples.</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Relation key</a:t>
            </a:r>
            <a:r>
              <a:rPr lang="en-US" kern="0" dirty="0" smtClean="0">
                <a:latin typeface="Times New Roman" panose="02020603050405020304" pitchFamily="18" charset="0"/>
                <a:cs typeface="Times New Roman" panose="02020603050405020304" pitchFamily="18" charset="0"/>
                <a:sym typeface="+mn-ea"/>
              </a:rPr>
              <a:t> - Every row has one, two or multiple attributes, which is called relation key.</a:t>
            </a:r>
            <a:endParaRPr lang="en-US"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b="1" kern="0" dirty="0" smtClean="0">
                <a:latin typeface="Times New Roman" panose="02020603050405020304" pitchFamily="18" charset="0"/>
                <a:cs typeface="Times New Roman" panose="02020603050405020304" pitchFamily="18" charset="0"/>
                <a:sym typeface="+mn-ea"/>
              </a:rPr>
              <a:t>Attribute domain</a:t>
            </a:r>
            <a:r>
              <a:rPr lang="en-US" kern="0" dirty="0" smtClean="0">
                <a:latin typeface="Times New Roman" panose="02020603050405020304" pitchFamily="18" charset="0"/>
                <a:cs typeface="Times New Roman" panose="02020603050405020304" pitchFamily="18" charset="0"/>
                <a:sym typeface="+mn-ea"/>
              </a:rPr>
              <a:t> – Every attribute has some pre-defined value and scope which is known as attribute domain</a:t>
            </a: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1"/>
          <p:cNvPicPr>
            <a:picLocks noChangeAspect="1"/>
          </p:cNvPicPr>
          <p:nvPr>
            <p:ph idx="1"/>
          </p:nvPr>
        </p:nvPicPr>
        <p:blipFill>
          <a:blip r:embed="rId1"/>
          <a:stretch>
            <a:fillRect/>
          </a:stretch>
        </p:blipFill>
        <p:spPr>
          <a:xfrm>
            <a:off x="1488440" y="1033145"/>
            <a:ext cx="9215120" cy="43237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215265"/>
            <a:ext cx="10515600" cy="1325563"/>
          </a:xfrm>
        </p:spPr>
        <p:txBody>
          <a:bodyPr/>
          <a:p>
            <a:r>
              <a:rPr lang="en-US">
                <a:sym typeface="+mn-ea"/>
              </a:rPr>
              <a:t>Schema-instance distinction</a:t>
            </a:r>
            <a:endParaRPr lang="en-US"/>
          </a:p>
        </p:txBody>
      </p:sp>
      <p:pic>
        <p:nvPicPr>
          <p:cNvPr id="4" name="Content Placeholder 3"/>
          <p:cNvPicPr>
            <a:picLocks noChangeAspect="1"/>
          </p:cNvPicPr>
          <p:nvPr>
            <p:ph idx="1"/>
          </p:nvPr>
        </p:nvPicPr>
        <p:blipFill>
          <a:blip r:embed="rId1"/>
          <a:stretch>
            <a:fillRect/>
          </a:stretch>
        </p:blipFill>
        <p:spPr>
          <a:xfrm>
            <a:off x="1423035" y="1266825"/>
            <a:ext cx="9345930" cy="48602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Relational Data Integrity</a:t>
            </a:r>
            <a:endParaRPr lang="en-US"/>
          </a:p>
        </p:txBody>
      </p:sp>
      <p:sp>
        <p:nvSpPr>
          <p:cNvPr id="3" name="Content Placeholder 2"/>
          <p:cNvSpPr>
            <a:spLocks noGrp="1"/>
          </p:cNvSpPr>
          <p:nvPr>
            <p:ph idx="1"/>
          </p:nvPr>
        </p:nvSpPr>
        <p:spPr/>
        <p:txBody>
          <a:bodyPr/>
          <a:p>
            <a:pPr marL="355600" indent="-342900" algn="just">
              <a:spcBef>
                <a:spcPts val="430"/>
              </a:spcBef>
              <a:buFont typeface="Wingdings" panose="05000000000000000000" pitchFamily="2" charset="2"/>
              <a:buChar char="Ø"/>
            </a:pPr>
            <a:r>
              <a:rPr lang="en-US" sz="2800" b="1" kern="0" dirty="0" smtClean="0">
                <a:latin typeface="Times New Roman" panose="02020603050405020304" pitchFamily="18" charset="0"/>
                <a:cs typeface="Times New Roman" panose="02020603050405020304" pitchFamily="18" charset="0"/>
                <a:sym typeface="+mn-ea"/>
              </a:rPr>
              <a:t>Candidate key </a:t>
            </a:r>
            <a:r>
              <a:rPr lang="en-US" sz="2800" kern="0" dirty="0" smtClean="0">
                <a:latin typeface="Times New Roman" panose="02020603050405020304" pitchFamily="18" charset="0"/>
                <a:cs typeface="Times New Roman" panose="02020603050405020304" pitchFamily="18" charset="0"/>
                <a:sym typeface="+mn-ea"/>
              </a:rPr>
              <a:t>is an attribute or set of attributes that can uniquely identify a row or tuple in a table. Let R be the relation with attributes a1, a2  ... a</a:t>
            </a:r>
            <a:r>
              <a:rPr lang="en-US" sz="2800" kern="0" baseline="30000" dirty="0" smtClean="0">
                <a:latin typeface="Times New Roman" panose="02020603050405020304" pitchFamily="18" charset="0"/>
                <a:cs typeface="Times New Roman" panose="02020603050405020304" pitchFamily="18" charset="0"/>
                <a:sym typeface="+mn-ea"/>
              </a:rPr>
              <a:t>n</a:t>
            </a:r>
            <a:r>
              <a:rPr lang="en-US" sz="2800" kern="0" dirty="0" smtClean="0">
                <a:latin typeface="Times New Roman" panose="02020603050405020304" pitchFamily="18" charset="0"/>
                <a:cs typeface="Times New Roman" panose="02020603050405020304" pitchFamily="18" charset="0"/>
                <a:sym typeface="+mn-ea"/>
              </a:rPr>
              <a:t> . The set of attributes of R is said to be a candidate key of R </a:t>
            </a:r>
            <a:r>
              <a:rPr lang="en-US" sz="2800" kern="0" dirty="0" err="1" smtClean="0">
                <a:latin typeface="Times New Roman" panose="02020603050405020304" pitchFamily="18" charset="0"/>
                <a:cs typeface="Times New Roman" panose="02020603050405020304" pitchFamily="18" charset="0"/>
                <a:sym typeface="+mn-ea"/>
              </a:rPr>
              <a:t>iff</a:t>
            </a:r>
            <a:r>
              <a:rPr lang="en-US" sz="2800" kern="0" dirty="0" smtClean="0">
                <a:latin typeface="Times New Roman" panose="02020603050405020304" pitchFamily="18" charset="0"/>
                <a:cs typeface="Times New Roman" panose="02020603050405020304" pitchFamily="18" charset="0"/>
                <a:sym typeface="+mn-ea"/>
              </a:rPr>
              <a:t> the following two properties holds:</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b="1" kern="0" dirty="0" smtClean="0">
                <a:latin typeface="Times New Roman" panose="02020603050405020304" pitchFamily="18" charset="0"/>
                <a:cs typeface="Times New Roman" panose="02020603050405020304" pitchFamily="18" charset="0"/>
                <a:sym typeface="+mn-ea"/>
              </a:rPr>
              <a:t>Uniqueness: </a:t>
            </a:r>
            <a:r>
              <a:rPr lang="en-US" sz="2800" kern="0" dirty="0" smtClean="0">
                <a:latin typeface="Times New Roman" panose="02020603050405020304" pitchFamily="18" charset="0"/>
                <a:cs typeface="Times New Roman" panose="02020603050405020304" pitchFamily="18" charset="0"/>
                <a:sym typeface="+mn-ea"/>
              </a:rPr>
              <a:t>At any given time, no two distinct tuples or rows of R have the same value for </a:t>
            </a:r>
            <a:r>
              <a:rPr lang="en-US" sz="2800" kern="0" dirty="0" err="1" smtClean="0">
                <a:latin typeface="Times New Roman" panose="02020603050405020304" pitchFamily="18" charset="0"/>
                <a:cs typeface="Times New Roman" panose="02020603050405020304" pitchFamily="18" charset="0"/>
                <a:sym typeface="+mn-ea"/>
              </a:rPr>
              <a:t>ai</a:t>
            </a:r>
            <a:r>
              <a:rPr lang="en-US" sz="2800" kern="0" dirty="0" smtClean="0">
                <a:latin typeface="Times New Roman" panose="02020603050405020304" pitchFamily="18" charset="0"/>
                <a:cs typeface="Times New Roman" panose="02020603050405020304" pitchFamily="18" charset="0"/>
                <a:sym typeface="+mn-ea"/>
              </a:rPr>
              <a:t> , the same value for </a:t>
            </a:r>
            <a:r>
              <a:rPr lang="en-US" sz="2800" kern="0" dirty="0" err="1" smtClean="0">
                <a:latin typeface="Times New Roman" panose="02020603050405020304" pitchFamily="18" charset="0"/>
                <a:cs typeface="Times New Roman" panose="02020603050405020304" pitchFamily="18" charset="0"/>
                <a:sym typeface="+mn-ea"/>
              </a:rPr>
              <a:t>aj</a:t>
            </a:r>
            <a:r>
              <a:rPr lang="en-US" sz="2800" kern="0" dirty="0" smtClean="0">
                <a:latin typeface="Times New Roman" panose="02020603050405020304" pitchFamily="18" charset="0"/>
                <a:cs typeface="Times New Roman" panose="02020603050405020304" pitchFamily="18" charset="0"/>
                <a:sym typeface="+mn-ea"/>
              </a:rPr>
              <a:t>...a</a:t>
            </a:r>
            <a:r>
              <a:rPr lang="en-US" sz="2800" kern="0" baseline="30000" dirty="0" smtClean="0">
                <a:latin typeface="Times New Roman" panose="02020603050405020304" pitchFamily="18" charset="0"/>
                <a:cs typeface="Times New Roman" panose="02020603050405020304" pitchFamily="18" charset="0"/>
                <a:sym typeface="+mn-ea"/>
              </a:rPr>
              <a:t>n</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b="1" kern="0" dirty="0" smtClean="0">
                <a:latin typeface="Times New Roman" panose="02020603050405020304" pitchFamily="18" charset="0"/>
                <a:cs typeface="Times New Roman" panose="02020603050405020304" pitchFamily="18" charset="0"/>
                <a:sym typeface="+mn-ea"/>
              </a:rPr>
              <a:t>Minimality: </a:t>
            </a:r>
            <a:r>
              <a:rPr lang="en-US" sz="2800" kern="0" dirty="0" smtClean="0">
                <a:latin typeface="Times New Roman" panose="02020603050405020304" pitchFamily="18" charset="0"/>
                <a:cs typeface="Times New Roman" panose="02020603050405020304" pitchFamily="18" charset="0"/>
                <a:sym typeface="+mn-ea"/>
              </a:rPr>
              <a:t>No proper subset of the set (</a:t>
            </a:r>
            <a:r>
              <a:rPr lang="en-US" sz="2800" kern="0" dirty="0" err="1" smtClean="0">
                <a:latin typeface="Times New Roman" panose="02020603050405020304" pitchFamily="18" charset="0"/>
                <a:cs typeface="Times New Roman" panose="02020603050405020304" pitchFamily="18" charset="0"/>
                <a:sym typeface="+mn-ea"/>
              </a:rPr>
              <a:t>ai</a:t>
            </a:r>
            <a:r>
              <a:rPr lang="en-US" sz="2800" kern="0" dirty="0" smtClean="0">
                <a:latin typeface="Times New Roman" panose="02020603050405020304" pitchFamily="18" charset="0"/>
                <a:cs typeface="Times New Roman" panose="02020603050405020304" pitchFamily="18" charset="0"/>
                <a:sym typeface="+mn-ea"/>
              </a:rPr>
              <a:t> , </a:t>
            </a:r>
            <a:r>
              <a:rPr lang="en-US" sz="2800" kern="0" dirty="0" err="1" smtClean="0">
                <a:latin typeface="Times New Roman" panose="02020603050405020304" pitchFamily="18" charset="0"/>
                <a:cs typeface="Times New Roman" panose="02020603050405020304" pitchFamily="18" charset="0"/>
                <a:sym typeface="+mn-ea"/>
              </a:rPr>
              <a:t>aj</a:t>
            </a:r>
            <a:r>
              <a:rPr lang="en-US" sz="2800" kern="0" dirty="0" smtClean="0">
                <a:latin typeface="Times New Roman" panose="02020603050405020304" pitchFamily="18" charset="0"/>
                <a:cs typeface="Times New Roman" panose="02020603050405020304" pitchFamily="18" charset="0"/>
                <a:sym typeface="+mn-ea"/>
              </a:rPr>
              <a:t>  ... a</a:t>
            </a:r>
            <a:r>
              <a:rPr lang="en-US" sz="2800" kern="0" baseline="30000" dirty="0" smtClean="0">
                <a:latin typeface="Times New Roman" panose="02020603050405020304" pitchFamily="18" charset="0"/>
                <a:cs typeface="Times New Roman" panose="02020603050405020304" pitchFamily="18" charset="0"/>
                <a:sym typeface="+mn-ea"/>
              </a:rPr>
              <a:t>n</a:t>
            </a:r>
            <a:r>
              <a:rPr lang="en-US" sz="2800" kern="0" dirty="0" smtClean="0">
                <a:latin typeface="Times New Roman" panose="02020603050405020304" pitchFamily="18" charset="0"/>
                <a:cs typeface="Times New Roman" panose="02020603050405020304" pitchFamily="18" charset="0"/>
                <a:sym typeface="+mn-ea"/>
              </a:rPr>
              <a:t> ) has the uniqueness property</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Constraints</a:t>
            </a:r>
            <a:endParaRPr lang="en-US"/>
          </a:p>
        </p:txBody>
      </p:sp>
      <p:sp>
        <p:nvSpPr>
          <p:cNvPr id="3" name="Content Placeholder 2"/>
          <p:cNvSpPr>
            <a:spLocks noGrp="1"/>
          </p:cNvSpPr>
          <p:nvPr>
            <p:ph idx="1"/>
          </p:nvPr>
        </p:nvSpPr>
        <p:spPr/>
        <p:txBody>
          <a:bodyPr/>
          <a:p>
            <a:pPr marL="12700" indent="0" algn="just">
              <a:spcBef>
                <a:spcPts val="430"/>
              </a:spcBef>
              <a:buFont typeface="Wingdings" panose="05000000000000000000" pitchFamily="2" charset="2"/>
              <a:buNone/>
            </a:pPr>
            <a:r>
              <a:rPr lang="en-US" sz="2800" kern="0" dirty="0" smtClean="0">
                <a:latin typeface="Times New Roman" panose="02020603050405020304" pitchFamily="18" charset="0"/>
                <a:cs typeface="Times New Roman" panose="02020603050405020304" pitchFamily="18" charset="0"/>
                <a:sym typeface="+mn-ea"/>
              </a:rPr>
              <a:t>Every relation has some conditions that must hold for it to be a valid relation. These conditions are called </a:t>
            </a:r>
            <a:r>
              <a:rPr lang="en-US" sz="2800" b="1" kern="0" dirty="0" smtClean="0">
                <a:latin typeface="Times New Roman" panose="02020603050405020304" pitchFamily="18" charset="0"/>
                <a:cs typeface="Times New Roman" panose="02020603050405020304" pitchFamily="18" charset="0"/>
                <a:sym typeface="+mn-ea"/>
              </a:rPr>
              <a:t>Relational Integrity Constraints</a:t>
            </a:r>
            <a:r>
              <a:rPr lang="en-US" sz="2800" kern="0" dirty="0" smtClean="0">
                <a:latin typeface="Times New Roman" panose="02020603050405020304" pitchFamily="18" charset="0"/>
                <a:cs typeface="Times New Roman" panose="02020603050405020304" pitchFamily="18" charset="0"/>
                <a:sym typeface="+mn-ea"/>
              </a:rPr>
              <a:t>. There are three main integrity constraints −</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AutoNum type="arabicPeriod"/>
            </a:pPr>
            <a:r>
              <a:rPr lang="en-US" sz="2800" kern="0" dirty="0" smtClean="0">
                <a:latin typeface="Times New Roman" panose="02020603050405020304" pitchFamily="18" charset="0"/>
                <a:cs typeface="Times New Roman" panose="02020603050405020304" pitchFamily="18" charset="0"/>
                <a:sym typeface="+mn-ea"/>
              </a:rPr>
              <a:t>Key constraints ( Entity Integrity Constraint/ primary Key Constraint)</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AutoNum type="arabicPeriod"/>
            </a:pPr>
            <a:r>
              <a:rPr lang="en-US" sz="2800" kern="0" dirty="0" smtClean="0">
                <a:latin typeface="Times New Roman" panose="02020603050405020304" pitchFamily="18" charset="0"/>
                <a:cs typeface="Times New Roman" panose="02020603050405020304" pitchFamily="18" charset="0"/>
                <a:sym typeface="+mn-ea"/>
              </a:rPr>
              <a:t>Domain constraints</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AutoNum type="arabicPeriod"/>
            </a:pPr>
            <a:r>
              <a:rPr lang="en-US" sz="2800" kern="0" dirty="0" smtClean="0">
                <a:latin typeface="Times New Roman" panose="02020603050405020304" pitchFamily="18" charset="0"/>
                <a:cs typeface="Times New Roman" panose="02020603050405020304" pitchFamily="18" charset="0"/>
                <a:sym typeface="+mn-ea"/>
              </a:rPr>
              <a:t>Referential integrity constraints</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kern="0" dirty="0" smtClean="0">
                <a:latin typeface="Times New Roman" panose="02020603050405020304" pitchFamily="18" charset="0"/>
                <a:cs typeface="Times New Roman" panose="02020603050405020304" pitchFamily="18" charset="0"/>
                <a:sym typeface="+mn-ea"/>
              </a:rPr>
              <a:t>Key Constraints</a:t>
            </a:r>
            <a:endParaRPr lang="en-US"/>
          </a:p>
        </p:txBody>
      </p:sp>
      <p:sp>
        <p:nvSpPr>
          <p:cNvPr id="3" name="Content Placeholder 2"/>
          <p:cNvSpPr>
            <a:spLocks noGrp="1"/>
          </p:cNvSpPr>
          <p:nvPr>
            <p:ph idx="1"/>
          </p:nvPr>
        </p:nvSpPr>
        <p:spPr/>
        <p:txBody>
          <a:bodyPr/>
          <a:p>
            <a:pPr marL="469900" lvl="1" indent="0" algn="just">
              <a:spcBef>
                <a:spcPts val="430"/>
              </a:spcBef>
              <a:buFont typeface="Wingdings" panose="05000000000000000000" pitchFamily="2" charset="2"/>
              <a:buNone/>
            </a:pPr>
            <a:r>
              <a:rPr lang="en-US" sz="2800" kern="0" dirty="0" smtClean="0">
                <a:latin typeface="Times New Roman" panose="02020603050405020304" pitchFamily="18" charset="0"/>
                <a:cs typeface="Times New Roman" panose="02020603050405020304" pitchFamily="18" charset="0"/>
                <a:sym typeface="+mn-ea"/>
              </a:rPr>
              <a:t>There must be at least one minimal subset of attributes in the relation, which can identify a tuple uniquely. This minimal subset of attributes is </a:t>
            </a:r>
            <a:r>
              <a:rPr lang="en-US" sz="2800" b="1" kern="0" dirty="0" smtClean="0">
                <a:latin typeface="Times New Roman" panose="02020603050405020304" pitchFamily="18" charset="0"/>
                <a:cs typeface="Times New Roman" panose="02020603050405020304" pitchFamily="18" charset="0"/>
                <a:sym typeface="+mn-ea"/>
              </a:rPr>
              <a:t>called key</a:t>
            </a:r>
            <a:r>
              <a:rPr lang="en-US" sz="2800" kern="0" dirty="0" smtClean="0">
                <a:latin typeface="Times New Roman" panose="02020603050405020304" pitchFamily="18" charset="0"/>
                <a:cs typeface="Times New Roman" panose="02020603050405020304" pitchFamily="18" charset="0"/>
                <a:sym typeface="+mn-ea"/>
              </a:rPr>
              <a:t> for that relation. If there are more than one such minimal subsets, these are</a:t>
            </a:r>
            <a:r>
              <a:rPr lang="en-US" sz="2800" b="1" kern="0" dirty="0" smtClean="0">
                <a:latin typeface="Times New Roman" panose="02020603050405020304" pitchFamily="18" charset="0"/>
                <a:cs typeface="Times New Roman" panose="02020603050405020304" pitchFamily="18" charset="0"/>
                <a:sym typeface="+mn-ea"/>
              </a:rPr>
              <a:t> called candidate keys.</a:t>
            </a:r>
            <a:endParaRPr lang="en-US" sz="2800" b="1" kern="0" dirty="0" smtClean="0">
              <a:latin typeface="Times New Roman" panose="02020603050405020304" pitchFamily="18" charset="0"/>
              <a:cs typeface="Times New Roman" panose="02020603050405020304" pitchFamily="18" charset="0"/>
            </a:endParaRPr>
          </a:p>
          <a:p>
            <a:pPr marL="469900" lvl="1" indent="0" algn="just">
              <a:spcBef>
                <a:spcPts val="430"/>
              </a:spcBef>
              <a:buFont typeface="Wingdings" panose="05000000000000000000" pitchFamily="2" charset="2"/>
              <a:buNone/>
            </a:pPr>
            <a:r>
              <a:rPr lang="en-US" sz="2800" kern="0" dirty="0" smtClean="0">
                <a:latin typeface="Times New Roman" panose="02020603050405020304" pitchFamily="18" charset="0"/>
                <a:cs typeface="Times New Roman" panose="02020603050405020304" pitchFamily="18" charset="0"/>
                <a:sym typeface="+mn-ea"/>
              </a:rPr>
              <a:t>Key constraints force that −</a:t>
            </a:r>
            <a:endParaRPr lang="en-US" sz="2800" kern="0" dirty="0" smtClean="0">
              <a:latin typeface="Times New Roman" panose="02020603050405020304" pitchFamily="18" charset="0"/>
              <a:cs typeface="Times New Roman" panose="02020603050405020304" pitchFamily="18" charset="0"/>
            </a:endParaRPr>
          </a:p>
          <a:p>
            <a:pPr marL="1212850" lvl="2" indent="-285750" algn="just">
              <a:spcBef>
                <a:spcPts val="430"/>
              </a:spcBef>
              <a:buFont typeface="Arial" panose="020B0604020202020204" pitchFamily="34" charset="0"/>
              <a:buChar char="•"/>
            </a:pPr>
            <a:r>
              <a:rPr lang="en-US" sz="2800" kern="0" dirty="0" smtClean="0">
                <a:latin typeface="Times New Roman" panose="02020603050405020304" pitchFamily="18" charset="0"/>
                <a:cs typeface="Times New Roman" panose="02020603050405020304" pitchFamily="18" charset="0"/>
                <a:sym typeface="+mn-ea"/>
              </a:rPr>
              <a:t>in a relation with a key attribute, </a:t>
            </a:r>
            <a:r>
              <a:rPr lang="en-US" sz="2800" b="1" kern="0" dirty="0" smtClean="0">
                <a:latin typeface="Times New Roman" panose="02020603050405020304" pitchFamily="18" charset="0"/>
                <a:cs typeface="Times New Roman" panose="02020603050405020304" pitchFamily="18" charset="0"/>
                <a:sym typeface="+mn-ea"/>
              </a:rPr>
              <a:t>no two tuples can have identical values</a:t>
            </a:r>
            <a:r>
              <a:rPr lang="en-US" sz="2800" kern="0" dirty="0" smtClean="0">
                <a:latin typeface="Times New Roman" panose="02020603050405020304" pitchFamily="18" charset="0"/>
                <a:cs typeface="Times New Roman" panose="02020603050405020304" pitchFamily="18" charset="0"/>
                <a:sym typeface="+mn-ea"/>
              </a:rPr>
              <a:t> for key attributes.</a:t>
            </a:r>
            <a:endParaRPr lang="en-US" sz="2800" kern="0" dirty="0" smtClean="0">
              <a:latin typeface="Times New Roman" panose="02020603050405020304" pitchFamily="18" charset="0"/>
              <a:cs typeface="Times New Roman" panose="02020603050405020304" pitchFamily="18" charset="0"/>
            </a:endParaRPr>
          </a:p>
          <a:p>
            <a:pPr marL="1212850" lvl="2" indent="-285750" algn="just">
              <a:spcBef>
                <a:spcPts val="430"/>
              </a:spcBef>
              <a:buFont typeface="Arial" panose="020B0604020202020204" pitchFamily="34" charset="0"/>
              <a:buChar char="•"/>
            </a:pPr>
            <a:r>
              <a:rPr lang="en-US" sz="2800" kern="0" dirty="0" smtClean="0">
                <a:latin typeface="Times New Roman" panose="02020603050405020304" pitchFamily="18" charset="0"/>
                <a:cs typeface="Times New Roman" panose="02020603050405020304" pitchFamily="18" charset="0"/>
                <a:sym typeface="+mn-ea"/>
              </a:rPr>
              <a:t>a key attribute can not have </a:t>
            </a:r>
            <a:r>
              <a:rPr lang="en-US" sz="2800" b="1" kern="0" dirty="0" smtClean="0">
                <a:latin typeface="Times New Roman" panose="02020603050405020304" pitchFamily="18" charset="0"/>
                <a:cs typeface="Times New Roman" panose="02020603050405020304" pitchFamily="18" charset="0"/>
                <a:sym typeface="+mn-ea"/>
              </a:rPr>
              <a:t>NULL values</a:t>
            </a:r>
            <a:r>
              <a:rPr lang="en-US" sz="2800" kern="0" dirty="0" smtClean="0">
                <a:latin typeface="Times New Roman" panose="02020603050405020304" pitchFamily="18" charset="0"/>
                <a:cs typeface="Times New Roman" panose="02020603050405020304" pitchFamily="18" charset="0"/>
                <a:sym typeface="+mn-ea"/>
              </a:rPr>
              <a:t>.</a:t>
            </a:r>
            <a:endParaRPr lang="en-US" sz="2800"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pitchFamily="2" charset="2"/>
              <a:buNone/>
            </a:pPr>
            <a:r>
              <a:rPr lang="en-US" sz="2800" kern="0" dirty="0" smtClean="0">
                <a:latin typeface="Times New Roman" panose="02020603050405020304" pitchFamily="18" charset="0"/>
                <a:cs typeface="Times New Roman" panose="02020603050405020304" pitchFamily="18" charset="0"/>
                <a:sym typeface="+mn-ea"/>
              </a:rPr>
              <a:t>Key constraints are also referred to as Entity Constraints.</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kern="0" dirty="0" smtClean="0">
                <a:latin typeface="Times New Roman" panose="02020603050405020304" pitchFamily="18" charset="0"/>
                <a:cs typeface="Times New Roman" panose="02020603050405020304" pitchFamily="18" charset="0"/>
                <a:sym typeface="+mn-ea"/>
              </a:rPr>
              <a:t>Entity Integrity Constraint</a:t>
            </a:r>
            <a:endParaRPr lang="en-US"/>
          </a:p>
        </p:txBody>
      </p:sp>
      <p:sp>
        <p:nvSpPr>
          <p:cNvPr id="3" name="Content Placeholder 2"/>
          <p:cNvSpPr>
            <a:spLocks noGrp="1"/>
          </p:cNvSpPr>
          <p:nvPr>
            <p:ph idx="1"/>
          </p:nvPr>
        </p:nvSpPr>
        <p:spPr/>
        <p:txBody>
          <a:bodyPr/>
          <a:p>
            <a:pPr marL="298450" indent="-285750">
              <a:lnSpc>
                <a:spcPct val="100000"/>
              </a:lnSpc>
              <a:spcBef>
                <a:spcPts val="430"/>
              </a:spcBef>
              <a:buFont typeface="Wingdings" panose="05000000000000000000" charset="0"/>
              <a:buChar char="ü"/>
            </a:pPr>
            <a:r>
              <a:rPr lang="en-US" b="1" kern="0" dirty="0" smtClean="0">
                <a:latin typeface="Times New Roman" panose="02020603050405020304" pitchFamily="18" charset="0"/>
                <a:cs typeface="Times New Roman" panose="02020603050405020304" pitchFamily="18" charset="0"/>
                <a:sym typeface="+mn-ea"/>
              </a:rPr>
              <a:t> </a:t>
            </a:r>
            <a:r>
              <a:rPr lang="en-US" kern="0" dirty="0" smtClean="0">
                <a:latin typeface="Times New Roman" panose="02020603050405020304" pitchFamily="18" charset="0"/>
                <a:cs typeface="Times New Roman" panose="02020603050405020304" pitchFamily="18" charset="0"/>
                <a:sym typeface="+mn-ea"/>
              </a:rPr>
              <a:t>It states that </a:t>
            </a:r>
            <a:r>
              <a:rPr lang="en-US" b="1" kern="0" dirty="0" smtClean="0">
                <a:latin typeface="Times New Roman" panose="02020603050405020304" pitchFamily="18" charset="0"/>
                <a:cs typeface="Times New Roman" panose="02020603050405020304" pitchFamily="18" charset="0"/>
                <a:sym typeface="+mn-ea"/>
              </a:rPr>
              <a:t>no primary key value can be null</a:t>
            </a:r>
            <a:r>
              <a:rPr lang="en-US" kern="0" dirty="0" smtClean="0">
                <a:latin typeface="Times New Roman" panose="02020603050405020304" pitchFamily="18" charset="0"/>
                <a:cs typeface="Times New Roman" panose="02020603050405020304" pitchFamily="18" charset="0"/>
                <a:sym typeface="+mn-ea"/>
              </a:rPr>
              <a:t>. This is because the primary key is used to identify individual tuple in the relation. So we will not be able to identify the records uniquely containing null values for the primary key attributes. This constraint is specified on one individual relation.</a:t>
            </a:r>
            <a:endParaRPr lang="en-US" kern="0" dirty="0" smtClean="0">
              <a:latin typeface="Times New Roman" panose="02020603050405020304" pitchFamily="18" charset="0"/>
              <a:cs typeface="Times New Roman" panose="02020603050405020304" pitchFamily="18" charset="0"/>
            </a:endParaRPr>
          </a:p>
          <a:p>
            <a:pPr marL="298450" indent="-285750">
              <a:lnSpc>
                <a:spcPct val="100000"/>
              </a:lnSpc>
              <a:spcBef>
                <a:spcPts val="430"/>
              </a:spcBef>
              <a:buFont typeface="Wingdings" panose="05000000000000000000" charset="0"/>
              <a:buChar char="ü"/>
            </a:pPr>
            <a:r>
              <a:rPr lang="en-US" kern="0" dirty="0" smtClean="0">
                <a:latin typeface="Times New Roman" panose="02020603050405020304" pitchFamily="18" charset="0"/>
                <a:cs typeface="Times New Roman" panose="02020603050405020304" pitchFamily="18" charset="0"/>
                <a:sym typeface="+mn-ea"/>
              </a:rPr>
              <a:t> </a:t>
            </a:r>
            <a:r>
              <a:rPr lang="en-US" b="1" kern="0" dirty="0" smtClean="0">
                <a:latin typeface="Times New Roman" panose="02020603050405020304" pitchFamily="18" charset="0"/>
                <a:cs typeface="Times New Roman" panose="02020603050405020304" pitchFamily="18" charset="0"/>
                <a:sym typeface="+mn-ea"/>
              </a:rPr>
              <a:t>Suppose that we denote one such subset of attributes by SK; then for any two distinct tuples t1 and t2 in a relation state r of R, we have the constraint that:</a:t>
            </a:r>
            <a:endParaRPr lang="en-US" b="1" kern="0" dirty="0" smtClean="0">
              <a:latin typeface="Times New Roman" panose="02020603050405020304" pitchFamily="18" charset="0"/>
              <a:cs typeface="Times New Roman" panose="02020603050405020304" pitchFamily="18" charset="0"/>
            </a:endParaRPr>
          </a:p>
          <a:p>
            <a:endParaRPr lang="en-US"/>
          </a:p>
        </p:txBody>
      </p:sp>
      <p:pic>
        <p:nvPicPr>
          <p:cNvPr id="4" name="Content Placeholder 1"/>
          <p:cNvPicPr>
            <a:picLocks noChangeAspect="1"/>
          </p:cNvPicPr>
          <p:nvPr/>
        </p:nvPicPr>
        <p:blipFill>
          <a:blip r:embed="rId1"/>
          <a:stretch>
            <a:fillRect/>
          </a:stretch>
        </p:blipFill>
        <p:spPr>
          <a:xfrm>
            <a:off x="4960620" y="5187315"/>
            <a:ext cx="4039870" cy="13671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 : Let R be the Table</a:t>
            </a:r>
            <a:endParaRPr lang="en-US"/>
          </a:p>
        </p:txBody>
      </p:sp>
      <p:graphicFrame>
        <p:nvGraphicFramePr>
          <p:cNvPr id="4" name="Table 3"/>
          <p:cNvGraphicFramePr/>
          <p:nvPr/>
        </p:nvGraphicFramePr>
        <p:xfrm>
          <a:off x="1313180" y="1691640"/>
          <a:ext cx="4724400" cy="4011295"/>
        </p:xfrm>
        <a:graphic>
          <a:graphicData uri="http://schemas.openxmlformats.org/drawingml/2006/table">
            <a:tbl>
              <a:tblPr firstRow="1" bandRow="1">
                <a:tableStyleId>{5940675A-B579-460E-94D1-54222C63F5DA}</a:tableStyleId>
              </a:tblPr>
              <a:tblGrid>
                <a:gridCol w="1367155"/>
                <a:gridCol w="1448435"/>
                <a:gridCol w="1908810"/>
              </a:tblGrid>
              <a:tr h="608965">
                <a:tc>
                  <a:txBody>
                    <a:bodyPr/>
                    <a:p>
                      <a:pPr indent="0" algn="ctr">
                        <a:buNone/>
                      </a:pPr>
                      <a:r>
                        <a:rPr lang="en-US" sz="1600" b="1">
                          <a:latin typeface="Times New Roman" panose="02020603050405020304" pitchFamily="18" charset="0"/>
                          <a:cs typeface="Times New Roman" panose="02020603050405020304" pitchFamily="18" charset="0"/>
                        </a:rPr>
                        <a:t>A#</a:t>
                      </a:r>
                      <a:endParaRPr lang="en-US" sz="16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Times New Roman" panose="02020603050405020304" pitchFamily="18" charset="0"/>
                          <a:cs typeface="Times New Roman" panose="02020603050405020304" pitchFamily="18" charset="0"/>
                        </a:rPr>
                        <a:t>B</a:t>
                      </a:r>
                      <a:endParaRPr lang="en-US" sz="16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Times New Roman" panose="02020603050405020304" pitchFamily="18" charset="0"/>
                          <a:cs typeface="Times New Roman" panose="02020603050405020304" pitchFamily="18" charset="0"/>
                        </a:rPr>
                        <a:t>C</a:t>
                      </a:r>
                      <a:endParaRPr lang="en-US" sz="16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78180">
                <a:tc>
                  <a:txBody>
                    <a:bodyPr/>
                    <a:p>
                      <a:pPr indent="0" algn="ctr">
                        <a:buNone/>
                      </a:pPr>
                      <a:r>
                        <a:rPr lang="en-US" sz="1600" b="0">
                          <a:latin typeface="Times New Roman" panose="02020603050405020304" pitchFamily="18" charset="0"/>
                          <a:cs typeface="Times New Roman" panose="02020603050405020304" pitchFamily="18" charset="0"/>
                        </a:rPr>
                        <a:t>Null</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B1</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C1</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0720">
                <a:tc>
                  <a:txBody>
                    <a:bodyPr/>
                    <a:p>
                      <a:pPr indent="0" algn="ctr">
                        <a:buNone/>
                      </a:pPr>
                      <a:r>
                        <a:rPr lang="en-US" sz="1600" b="0">
                          <a:latin typeface="Times New Roman" panose="02020603050405020304" pitchFamily="18" charset="0"/>
                          <a:cs typeface="Times New Roman" panose="02020603050405020304" pitchFamily="18" charset="0"/>
                        </a:rPr>
                        <a:t>A2</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B2</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C2</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1355">
                <a:tc>
                  <a:txBody>
                    <a:bodyPr/>
                    <a:p>
                      <a:pPr indent="0" algn="ctr">
                        <a:buNone/>
                      </a:pPr>
                      <a:r>
                        <a:rPr lang="en-US" sz="1600" b="0">
                          <a:latin typeface="Times New Roman" panose="02020603050405020304" pitchFamily="18" charset="0"/>
                          <a:cs typeface="Times New Roman" panose="02020603050405020304" pitchFamily="18" charset="0"/>
                        </a:rPr>
                        <a:t>Null</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B3</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C3</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1990">
                <a:tc>
                  <a:txBody>
                    <a:bodyPr/>
                    <a:p>
                      <a:pPr indent="0" algn="ctr">
                        <a:buNone/>
                      </a:pPr>
                      <a:r>
                        <a:rPr lang="en-US" sz="1600" b="0">
                          <a:latin typeface="Times New Roman" panose="02020603050405020304" pitchFamily="18" charset="0"/>
                          <a:cs typeface="Times New Roman" panose="02020603050405020304" pitchFamily="18" charset="0"/>
                        </a:rPr>
                        <a:t>A4</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B4</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C3</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0085">
                <a:tc>
                  <a:txBody>
                    <a:bodyPr/>
                    <a:p>
                      <a:pPr indent="0" algn="ctr">
                        <a:buNone/>
                      </a:pPr>
                      <a:r>
                        <a:rPr lang="en-US" sz="1600" b="0">
                          <a:latin typeface="Times New Roman" panose="02020603050405020304" pitchFamily="18" charset="0"/>
                          <a:cs typeface="Times New Roman" panose="02020603050405020304" pitchFamily="18" charset="0"/>
                        </a:rPr>
                        <a:t>A5</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B1</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0">
                          <a:latin typeface="Times New Roman" panose="02020603050405020304" pitchFamily="18" charset="0"/>
                          <a:cs typeface="Times New Roman" panose="02020603050405020304" pitchFamily="18" charset="0"/>
                        </a:rPr>
                        <a:t>C5</a:t>
                      </a:r>
                      <a:endParaRPr 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7" name="Text Box 6"/>
          <p:cNvSpPr txBox="1"/>
          <p:nvPr/>
        </p:nvSpPr>
        <p:spPr>
          <a:xfrm>
            <a:off x="6038215" y="1543050"/>
            <a:ext cx="4008755" cy="4402455"/>
          </a:xfrm>
          <a:prstGeom prst="rect">
            <a:avLst/>
          </a:prstGeom>
          <a:noFill/>
        </p:spPr>
        <p:txBody>
          <a:bodyPr wrap="square" rtlCol="0">
            <a:noAutofit/>
          </a:bodyPr>
          <a:p>
            <a:pPr algn="just"/>
            <a:r>
              <a:rPr lang="en-US" sz="2800" b="1">
                <a:latin typeface="Times New Roman" panose="02020603050405020304" pitchFamily="18" charset="0"/>
                <a:cs typeface="Times New Roman" panose="02020603050405020304" pitchFamily="18" charset="0"/>
              </a:rPr>
              <a:t>Note:</a:t>
            </a:r>
            <a:endParaRPr lang="en-US" sz="2800" b="1">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1) „#‟ identifies the Primary key of a relation.</a:t>
            </a:r>
            <a:endParaRPr lang="en-US" sz="2800">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In the relation R above, the primary key has null values in the tuples t1 &amp; t3. NULL value in primary key is not permitted, thus, relation instance is an invalid instance.</a:t>
            </a:r>
            <a:endParaRPr 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kern="0" dirty="0" smtClean="0">
                <a:latin typeface="Times New Roman" panose="02020603050405020304" pitchFamily="18" charset="0"/>
                <a:cs typeface="Times New Roman" panose="02020603050405020304" pitchFamily="18" charset="0"/>
                <a:sym typeface="+mn-ea"/>
              </a:rPr>
              <a:t>Domain constraints</a:t>
            </a:r>
            <a:endParaRPr lang="en-US"/>
          </a:p>
        </p:txBody>
      </p:sp>
      <p:sp>
        <p:nvSpPr>
          <p:cNvPr id="3" name="Content Placeholder 2"/>
          <p:cNvSpPr>
            <a:spLocks noGrp="1"/>
          </p:cNvSpPr>
          <p:nvPr>
            <p:ph idx="1"/>
          </p:nvPr>
        </p:nvSpPr>
        <p:spPr/>
        <p:txBody>
          <a:bodyPr/>
          <a:p>
            <a:pPr marL="298450" indent="-285750" algn="just">
              <a:spcBef>
                <a:spcPts val="430"/>
              </a:spcBef>
              <a:buFont typeface="Wingdings" panose="05000000000000000000" charset="0"/>
              <a:buChar char="ü"/>
            </a:pPr>
            <a:r>
              <a:rPr lang="en-US" kern="0" dirty="0" smtClean="0">
                <a:latin typeface="Times New Roman" panose="02020603050405020304" pitchFamily="18" charset="0"/>
                <a:cs typeface="Times New Roman" panose="02020603050405020304" pitchFamily="18" charset="0"/>
                <a:sym typeface="+mn-ea"/>
              </a:rPr>
              <a:t>Domain constraints specify that within each tuple, the value of each </a:t>
            </a:r>
            <a:r>
              <a:rPr lang="en-US" b="1" kern="0" dirty="0" smtClean="0">
                <a:latin typeface="Times New Roman" panose="02020603050405020304" pitchFamily="18" charset="0"/>
                <a:cs typeface="Times New Roman" panose="02020603050405020304" pitchFamily="18" charset="0"/>
                <a:sym typeface="+mn-ea"/>
              </a:rPr>
              <a:t>attribute A must be an atomic value from the domain dom(A)</a:t>
            </a:r>
            <a:r>
              <a:rPr lang="en-US" kern="0" dirty="0" smtClean="0">
                <a:latin typeface="Times New Roman" panose="02020603050405020304" pitchFamily="18" charset="0"/>
                <a:cs typeface="Times New Roman" panose="02020603050405020304" pitchFamily="18" charset="0"/>
                <a:sym typeface="+mn-ea"/>
              </a:rPr>
              <a:t>.</a:t>
            </a:r>
            <a:endParaRPr lang="en-US" kern="0" dirty="0" smtClean="0">
              <a:latin typeface="Times New Roman" panose="02020603050405020304" pitchFamily="18" charset="0"/>
              <a:cs typeface="Times New Roman" panose="02020603050405020304" pitchFamily="18" charset="0"/>
            </a:endParaRPr>
          </a:p>
          <a:p>
            <a:pPr marL="298450" indent="-285750" algn="just">
              <a:spcBef>
                <a:spcPts val="430"/>
              </a:spcBef>
              <a:buFont typeface="Wingdings" panose="05000000000000000000" charset="0"/>
              <a:buChar char="ü"/>
            </a:pPr>
            <a:r>
              <a:rPr lang="en-US" kern="0" dirty="0" smtClean="0">
                <a:latin typeface="Times New Roman" panose="02020603050405020304" pitchFamily="18" charset="0"/>
                <a:cs typeface="Times New Roman" panose="02020603050405020304" pitchFamily="18" charset="0"/>
                <a:sym typeface="+mn-ea"/>
              </a:rPr>
              <a:t>The data types associated with domains typically include standard numeric data types for integers (such as short integer, integer, and long integer) and real numbers (float and double-precision float). Characters, Booleans, fixed-length strings, and variable-length strings are also available, as are date, time, timestamp, and money, or other special data types.</a:t>
            </a: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spc="-5" dirty="0" smtClean="0">
                <a:latin typeface="Times New Roman" panose="02020603050405020304" pitchFamily="18" charset="0"/>
                <a:cs typeface="Times New Roman" panose="02020603050405020304" pitchFamily="18" charset="0"/>
                <a:sym typeface="+mn-ea"/>
              </a:rPr>
              <a:t>Referential Integrity</a:t>
            </a:r>
            <a:endParaRPr lang="en-US"/>
          </a:p>
        </p:txBody>
      </p:sp>
      <p:sp>
        <p:nvSpPr>
          <p:cNvPr id="3" name="Content Placeholder 2"/>
          <p:cNvSpPr>
            <a:spLocks noGrp="1"/>
          </p:cNvSpPr>
          <p:nvPr>
            <p:ph idx="1"/>
          </p:nvPr>
        </p:nvSpPr>
        <p:spPr/>
        <p:txBody>
          <a:bodyPr>
            <a:normAutofit lnSpcReduction="10000"/>
          </a:bodyPr>
          <a:p>
            <a:pPr marL="943610" marR="5080" lvl="2" indent="-342900" algn="just">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In relational data model, associations between tables are defined by using foreign keys</a:t>
            </a:r>
            <a:endParaRPr lang="en-US" sz="2800" kern="0" dirty="0" smtClean="0">
              <a:latin typeface="Times New Roman" panose="02020603050405020304" pitchFamily="18" charset="0"/>
              <a:cs typeface="Times New Roman" panose="02020603050405020304" pitchFamily="18" charset="0"/>
            </a:endParaRPr>
          </a:p>
          <a:p>
            <a:pPr marL="943610" marR="5080" lvl="2" indent="-342900" algn="just">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A referential integrity constraint is a rule that maintains consistency among the rows of two relations</a:t>
            </a:r>
            <a:endParaRPr lang="en-US" sz="2800" kern="0" dirty="0" smtClean="0">
              <a:latin typeface="Times New Roman" panose="02020603050405020304" pitchFamily="18" charset="0"/>
              <a:cs typeface="Times New Roman" panose="02020603050405020304" pitchFamily="18" charset="0"/>
            </a:endParaRPr>
          </a:p>
          <a:p>
            <a:pPr marL="943610" marR="5080" lvl="2" indent="-342900" algn="just">
              <a:buSzPct val="90000"/>
              <a:buFont typeface="Wingdings" panose="05000000000000000000" pitchFamily="2" charset="2"/>
              <a:buChar char="ü"/>
              <a:tabLst>
                <a:tab pos="266065" algn="l"/>
              </a:tabLst>
            </a:pPr>
            <a:r>
              <a:rPr lang="en-US" sz="2800" b="1" kern="0" dirty="0" smtClean="0">
                <a:latin typeface="Times New Roman" panose="02020603050405020304" pitchFamily="18" charset="0"/>
                <a:cs typeface="Times New Roman" panose="02020603050405020304" pitchFamily="18" charset="0"/>
                <a:sym typeface="+mn-ea"/>
              </a:rPr>
              <a:t>The rule states that if there is a foreign key in one relation, either each foreign key value must match a primary key value in the other table or else the foreign key value must be NULL</a:t>
            </a:r>
            <a:endParaRPr lang="en-US" sz="2800" kern="0" dirty="0" smtClean="0">
              <a:latin typeface="Times New Roman" panose="02020603050405020304" pitchFamily="18" charset="0"/>
              <a:cs typeface="Times New Roman" panose="02020603050405020304" pitchFamily="18" charset="0"/>
            </a:endParaRPr>
          </a:p>
          <a:p>
            <a:pPr marL="943610" marR="5080" lvl="2" indent="-342900" algn="just">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A foreign key that references its own relation is known as </a:t>
            </a:r>
            <a:r>
              <a:rPr lang="en-US" sz="2800" b="1" kern="0" dirty="0" smtClean="0">
                <a:latin typeface="Times New Roman" panose="02020603050405020304" pitchFamily="18" charset="0"/>
                <a:cs typeface="Times New Roman" panose="02020603050405020304" pitchFamily="18" charset="0"/>
                <a:sym typeface="+mn-ea"/>
              </a:rPr>
              <a:t>recursive foreign key</a:t>
            </a:r>
            <a:endParaRPr lang="en-US" sz="2800" kern="0" dirty="0" smtClean="0">
              <a:latin typeface="Times New Roman" panose="02020603050405020304" pitchFamily="18" charset="0"/>
              <a:cs typeface="Times New Roman" panose="02020603050405020304" pitchFamily="18" charset="0"/>
            </a:endParaRPr>
          </a:p>
          <a:p>
            <a:pPr marL="943610" marR="5080" lvl="2" indent="-342900" algn="just">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The linking between the foreign key and primary key allows a set of relations to form an integrated database</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spc="-5" dirty="0" smtClean="0">
                <a:latin typeface="Times New Roman" panose="02020603050405020304" pitchFamily="18" charset="0"/>
                <a:cs typeface="Times New Roman" panose="02020603050405020304" pitchFamily="18" charset="0"/>
                <a:sym typeface="+mn-ea"/>
              </a:rPr>
              <a:t>Referential Integrity</a:t>
            </a:r>
            <a:endParaRPr lang="en-US"/>
          </a:p>
        </p:txBody>
      </p:sp>
      <p:graphicFrame>
        <p:nvGraphicFramePr>
          <p:cNvPr id="4" name="Content Placeholder 3"/>
          <p:cNvGraphicFramePr/>
          <p:nvPr>
            <p:ph sz="half" idx="1"/>
          </p:nvPr>
        </p:nvGraphicFramePr>
        <p:xfrm>
          <a:off x="2387600" y="2086610"/>
          <a:ext cx="2700020" cy="1097280"/>
        </p:xfrm>
        <a:graphic>
          <a:graphicData uri="http://schemas.openxmlformats.org/drawingml/2006/table">
            <a:tbl>
              <a:tblPr firstRow="1" bandRow="1">
                <a:tableStyleId>{5940675A-B579-460E-94D1-54222C63F5DA}</a:tableStyleId>
              </a:tblPr>
              <a:tblGrid>
                <a:gridCol w="197485"/>
                <a:gridCol w="1580515"/>
                <a:gridCol w="922020"/>
              </a:tblGrid>
              <a:tr h="177800">
                <a:tc>
                  <a:txBody>
                    <a:bodyPr/>
                    <a:p>
                      <a:pPr indent="0">
                        <a:buNone/>
                      </a:pPr>
                      <a:r>
                        <a:rPr lang="en-US" sz="1200" b="1">
                          <a:latin typeface="Times New Roman" panose="02020603050405020304" pitchFamily="18" charset="0"/>
                          <a:cs typeface="Times New Roman" panose="02020603050405020304" pitchFamily="18" charset="0"/>
                        </a:rPr>
                        <a:t>A#</a:t>
                      </a:r>
                      <a:endParaRPr lang="en-US" sz="12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Times New Roman" panose="02020603050405020304" pitchFamily="18" charset="0"/>
                          <a:cs typeface="Times New Roman" panose="02020603050405020304" pitchFamily="18" charset="0"/>
                        </a:rPr>
                        <a:t>B</a:t>
                      </a:r>
                      <a:endParaRPr lang="en-US" sz="12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1">
                          <a:latin typeface="Times New Roman" panose="02020603050405020304" pitchFamily="18" charset="0"/>
                          <a:cs typeface="Times New Roman" panose="02020603050405020304" pitchFamily="18" charset="0"/>
                        </a:rPr>
                        <a:t>C^</a:t>
                      </a:r>
                      <a:endParaRPr lang="en-US" sz="12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5100">
                <a:tc>
                  <a:txBody>
                    <a:bodyPr/>
                    <a:p>
                      <a:pPr indent="0">
                        <a:buNone/>
                      </a:pPr>
                      <a:r>
                        <a:rPr lang="en-US" sz="1200" b="0">
                          <a:latin typeface="Times New Roman" panose="02020603050405020304" pitchFamily="18" charset="0"/>
                          <a:cs typeface="Times New Roman" panose="02020603050405020304" pitchFamily="18" charset="0"/>
                        </a:rPr>
                        <a:t>A1</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Times New Roman" panose="02020603050405020304" pitchFamily="18" charset="0"/>
                          <a:cs typeface="Times New Roman" panose="02020603050405020304" pitchFamily="18" charset="0"/>
                        </a:rPr>
                        <a:t>B1</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Times New Roman" panose="02020603050405020304" pitchFamily="18" charset="0"/>
                          <a:cs typeface="Times New Roman" panose="02020603050405020304" pitchFamily="18" charset="0"/>
                        </a:rPr>
                        <a:t>C1</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4465">
                <a:tc>
                  <a:txBody>
                    <a:bodyPr/>
                    <a:p>
                      <a:pPr indent="0">
                        <a:buNone/>
                      </a:pPr>
                      <a:r>
                        <a:rPr lang="en-US" sz="1200" b="0">
                          <a:latin typeface="Times New Roman" panose="02020603050405020304" pitchFamily="18" charset="0"/>
                          <a:cs typeface="Times New Roman" panose="02020603050405020304" pitchFamily="18" charset="0"/>
                        </a:rPr>
                        <a:t>A2</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Times New Roman" panose="02020603050405020304" pitchFamily="18" charset="0"/>
                          <a:cs typeface="Times New Roman" panose="02020603050405020304" pitchFamily="18" charset="0"/>
                        </a:rPr>
                        <a:t>B2</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Times New Roman" panose="02020603050405020304" pitchFamily="18" charset="0"/>
                          <a:cs typeface="Times New Roman" panose="02020603050405020304" pitchFamily="18" charset="0"/>
                        </a:rPr>
                        <a:t>C2</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5100">
                <a:tc>
                  <a:txBody>
                    <a:bodyPr/>
                    <a:p>
                      <a:pPr indent="0">
                        <a:buNone/>
                      </a:pPr>
                      <a:r>
                        <a:rPr lang="en-US" sz="1200" b="0">
                          <a:latin typeface="Times New Roman" panose="02020603050405020304" pitchFamily="18" charset="0"/>
                          <a:cs typeface="Times New Roman" panose="02020603050405020304" pitchFamily="18" charset="0"/>
                        </a:rPr>
                        <a:t>A3</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Times New Roman" panose="02020603050405020304" pitchFamily="18" charset="0"/>
                          <a:cs typeface="Times New Roman" panose="02020603050405020304" pitchFamily="18" charset="0"/>
                        </a:rPr>
                        <a:t>B3</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Times New Roman" panose="02020603050405020304" pitchFamily="18" charset="0"/>
                          <a:cs typeface="Times New Roman" panose="02020603050405020304" pitchFamily="18" charset="0"/>
                        </a:rPr>
                        <a:t>C3</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5100">
                <a:tc>
                  <a:txBody>
                    <a:bodyPr/>
                    <a:p>
                      <a:pPr indent="0">
                        <a:buNone/>
                      </a:pPr>
                      <a:r>
                        <a:rPr lang="en-US" sz="1200" b="0">
                          <a:latin typeface="Times New Roman" panose="02020603050405020304" pitchFamily="18" charset="0"/>
                          <a:cs typeface="Times New Roman" panose="02020603050405020304" pitchFamily="18" charset="0"/>
                        </a:rPr>
                        <a:t>A4</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Times New Roman" panose="02020603050405020304" pitchFamily="18" charset="0"/>
                          <a:cs typeface="Times New Roman" panose="02020603050405020304" pitchFamily="18" charset="0"/>
                        </a:rPr>
                        <a:t>B4</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Times New Roman" panose="02020603050405020304" pitchFamily="18" charset="0"/>
                          <a:cs typeface="Times New Roman" panose="02020603050405020304" pitchFamily="18" charset="0"/>
                        </a:rPr>
                        <a:t>C3</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5100">
                <a:tc>
                  <a:txBody>
                    <a:bodyPr/>
                    <a:p>
                      <a:pPr indent="0">
                        <a:buNone/>
                      </a:pPr>
                      <a:r>
                        <a:rPr lang="en-US" sz="1200" b="0">
                          <a:latin typeface="Times New Roman" panose="02020603050405020304" pitchFamily="18" charset="0"/>
                          <a:cs typeface="Times New Roman" panose="02020603050405020304" pitchFamily="18" charset="0"/>
                        </a:rPr>
                        <a:t>A5</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Times New Roman" panose="02020603050405020304" pitchFamily="18" charset="0"/>
                          <a:cs typeface="Times New Roman" panose="02020603050405020304" pitchFamily="18" charset="0"/>
                        </a:rPr>
                        <a:t>B1</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Times New Roman" panose="02020603050405020304" pitchFamily="18" charset="0"/>
                          <a:cs typeface="Times New Roman" panose="02020603050405020304" pitchFamily="18" charset="0"/>
                        </a:rPr>
                        <a:t>C5</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5" name="Content Placeholder 4"/>
          <p:cNvGraphicFramePr/>
          <p:nvPr>
            <p:ph sz="half" idx="2"/>
          </p:nvPr>
        </p:nvGraphicFramePr>
        <p:xfrm>
          <a:off x="6055360" y="2123440"/>
          <a:ext cx="2249805" cy="1061720"/>
        </p:xfrm>
        <a:graphic>
          <a:graphicData uri="http://schemas.openxmlformats.org/drawingml/2006/table">
            <a:tbl>
              <a:tblPr firstRow="1" bandRow="1">
                <a:tableStyleId>{5940675A-B579-460E-94D1-54222C63F5DA}</a:tableStyleId>
              </a:tblPr>
              <a:tblGrid>
                <a:gridCol w="1141095"/>
                <a:gridCol w="1108710"/>
              </a:tblGrid>
              <a:tr h="117475">
                <a:tc>
                  <a:txBody>
                    <a:bodyPr/>
                    <a:p>
                      <a:pPr indent="0" algn="ctr">
                        <a:buNone/>
                      </a:pPr>
                      <a:r>
                        <a:rPr lang="en-US" sz="1200" b="1">
                          <a:latin typeface="Times New Roman" panose="02020603050405020304" pitchFamily="18" charset="0"/>
                          <a:cs typeface="Times New Roman" panose="02020603050405020304" pitchFamily="18" charset="0"/>
                        </a:rPr>
                        <a:t>E</a:t>
                      </a:r>
                      <a:endParaRPr lang="en-US" sz="12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r">
                        <a:buNone/>
                      </a:pPr>
                      <a:r>
                        <a:rPr lang="en-US" sz="1200" b="1">
                          <a:latin typeface="Times New Roman" panose="02020603050405020304" pitchFamily="18" charset="0"/>
                          <a:cs typeface="Times New Roman" panose="02020603050405020304" pitchFamily="18" charset="0"/>
                        </a:rPr>
                        <a:t>C#</a:t>
                      </a:r>
                      <a:endParaRPr lang="en-US" sz="12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200" b="0">
                          <a:latin typeface="Times New Roman" panose="02020603050405020304" pitchFamily="18" charset="0"/>
                          <a:cs typeface="Times New Roman" panose="02020603050405020304" pitchFamily="18" charset="0"/>
                        </a:rPr>
                        <a:t>E1</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r">
                        <a:buNone/>
                      </a:pPr>
                      <a:r>
                        <a:rPr lang="en-US" sz="1200" b="0">
                          <a:latin typeface="Times New Roman" panose="02020603050405020304" pitchFamily="18" charset="0"/>
                          <a:cs typeface="Times New Roman" panose="02020603050405020304" pitchFamily="18" charset="0"/>
                        </a:rPr>
                        <a:t>C1</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200" b="0">
                          <a:latin typeface="Times New Roman" panose="02020603050405020304" pitchFamily="18" charset="0"/>
                          <a:cs typeface="Times New Roman" panose="02020603050405020304" pitchFamily="18" charset="0"/>
                        </a:rPr>
                        <a:t>E2</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r">
                        <a:buNone/>
                      </a:pPr>
                      <a:r>
                        <a:rPr lang="en-US" sz="1200" b="0">
                          <a:latin typeface="Times New Roman" panose="02020603050405020304" pitchFamily="18" charset="0"/>
                          <a:cs typeface="Times New Roman" panose="02020603050405020304" pitchFamily="18" charset="0"/>
                        </a:rPr>
                        <a:t>C3</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200" b="0">
                          <a:latin typeface="Times New Roman" panose="02020603050405020304" pitchFamily="18" charset="0"/>
                          <a:cs typeface="Times New Roman" panose="02020603050405020304" pitchFamily="18" charset="0"/>
                        </a:rPr>
                        <a:t>E3</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r">
                        <a:buNone/>
                      </a:pPr>
                      <a:r>
                        <a:rPr lang="en-US" sz="1200" b="0">
                          <a:latin typeface="Times New Roman" panose="02020603050405020304" pitchFamily="18" charset="0"/>
                          <a:cs typeface="Times New Roman" panose="02020603050405020304" pitchFamily="18" charset="0"/>
                        </a:rPr>
                        <a:t>C5</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9710">
                <a:tc>
                  <a:txBody>
                    <a:bodyPr/>
                    <a:p>
                      <a:pPr indent="0" algn="ctr">
                        <a:buNone/>
                      </a:pPr>
                      <a:r>
                        <a:rPr lang="en-US" sz="1200" b="0">
                          <a:latin typeface="Times New Roman" panose="02020603050405020304" pitchFamily="18" charset="0"/>
                          <a:cs typeface="Times New Roman" panose="02020603050405020304" pitchFamily="18" charset="0"/>
                        </a:rPr>
                        <a:t>E2</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r">
                        <a:buNone/>
                      </a:pPr>
                      <a:r>
                        <a:rPr lang="en-US" sz="1200" b="0">
                          <a:latin typeface="Times New Roman" panose="02020603050405020304" pitchFamily="18" charset="0"/>
                          <a:cs typeface="Times New Roman" panose="02020603050405020304" pitchFamily="18" charset="0"/>
                        </a:rPr>
                        <a:t>C2</a:t>
                      </a:r>
                      <a:endParaRPr lang="en-US" sz="12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8" name="Text Box 7"/>
          <p:cNvSpPr txBox="1"/>
          <p:nvPr/>
        </p:nvSpPr>
        <p:spPr>
          <a:xfrm>
            <a:off x="2413000" y="3670300"/>
            <a:ext cx="7987665" cy="2861310"/>
          </a:xfrm>
          <a:prstGeom prst="rect">
            <a:avLst/>
          </a:prstGeom>
          <a:noFill/>
        </p:spPr>
        <p:txBody>
          <a:bodyPr wrap="square" rtlCol="0">
            <a:spAutoFit/>
          </a:bodyPr>
          <a:p>
            <a:pPr algn="just"/>
            <a:r>
              <a:rPr lang="en-US" sz="1800" b="1">
                <a:latin typeface="Times New Roman" panose="02020603050405020304" pitchFamily="18" charset="0"/>
                <a:cs typeface="Times New Roman" panose="02020603050405020304" pitchFamily="18" charset="0"/>
              </a:rPr>
              <a:t>Note:</a:t>
            </a:r>
            <a:endParaRPr lang="en-US" sz="1800" b="1">
              <a:latin typeface="Times New Roman" panose="02020603050405020304" pitchFamily="18" charset="0"/>
              <a:cs typeface="Times New Roman" panose="02020603050405020304" pitchFamily="18" charset="0"/>
            </a:endParaRPr>
          </a:p>
          <a:p>
            <a:pPr algn="just"/>
            <a:endParaRPr lang="en-US" sz="1800">
              <a:latin typeface="Times New Roman" panose="02020603050405020304" pitchFamily="18" charset="0"/>
              <a:cs typeface="Times New Roman" panose="02020603050405020304" pitchFamily="18" charset="0"/>
            </a:endParaRPr>
          </a:p>
          <a:p>
            <a:pPr algn="just"/>
            <a:r>
              <a:rPr lang="en-US" sz="1800">
                <a:latin typeface="Times New Roman" panose="02020603050405020304" pitchFamily="18" charset="0"/>
                <a:cs typeface="Times New Roman" panose="02020603050405020304" pitchFamily="18" charset="0"/>
              </a:rPr>
              <a:t>1) </a:t>
            </a:r>
            <a:r>
              <a:rPr lang="en-US" sz="1800" b="1">
                <a:latin typeface="Times New Roman" panose="02020603050405020304" pitchFamily="18" charset="0"/>
                <a:cs typeface="Times New Roman" panose="02020603050405020304" pitchFamily="18" charset="0"/>
              </a:rPr>
              <a:t>“#”</a:t>
            </a:r>
            <a:r>
              <a:rPr lang="en-US" sz="1800">
                <a:latin typeface="Times New Roman" panose="02020603050405020304" pitchFamily="18" charset="0"/>
                <a:cs typeface="Times New Roman" panose="02020603050405020304" pitchFamily="18" charset="0"/>
              </a:rPr>
              <a:t>  identifies the Primary key of a relation.</a:t>
            </a:r>
            <a:endParaRPr lang="en-US" sz="1800">
              <a:latin typeface="Times New Roman" panose="02020603050405020304" pitchFamily="18" charset="0"/>
              <a:cs typeface="Times New Roman" panose="02020603050405020304" pitchFamily="18" charset="0"/>
            </a:endParaRPr>
          </a:p>
          <a:p>
            <a:pPr algn="just"/>
            <a:endParaRPr lang="en-US" sz="1800">
              <a:latin typeface="Times New Roman" panose="02020603050405020304" pitchFamily="18" charset="0"/>
              <a:cs typeface="Times New Roman" panose="02020603050405020304" pitchFamily="18" charset="0"/>
            </a:endParaRPr>
          </a:p>
          <a:p>
            <a:pPr algn="just"/>
            <a:r>
              <a:rPr lang="en-US" sz="1800">
                <a:latin typeface="Times New Roman" panose="02020603050405020304" pitchFamily="18" charset="0"/>
                <a:cs typeface="Times New Roman" panose="02020603050405020304" pitchFamily="18" charset="0"/>
              </a:rPr>
              <a:t>2) </a:t>
            </a:r>
            <a:r>
              <a:rPr lang="en-US" sz="1800" b="1">
                <a:latin typeface="Times New Roman" panose="02020603050405020304" pitchFamily="18" charset="0"/>
                <a:cs typeface="Times New Roman" panose="02020603050405020304" pitchFamily="18" charset="0"/>
              </a:rPr>
              <a:t>“^”</a:t>
            </a:r>
            <a:r>
              <a:rPr lang="en-US" sz="1800">
                <a:latin typeface="Times New Roman" panose="02020603050405020304" pitchFamily="18" charset="0"/>
                <a:cs typeface="Times New Roman" panose="02020603050405020304" pitchFamily="18" charset="0"/>
              </a:rPr>
              <a:t> identifies the Foreign key of a relation.</a:t>
            </a:r>
            <a:endParaRPr lang="en-US" sz="1800">
              <a:latin typeface="Times New Roman" panose="02020603050405020304" pitchFamily="18" charset="0"/>
              <a:cs typeface="Times New Roman" panose="02020603050405020304" pitchFamily="18" charset="0"/>
            </a:endParaRPr>
          </a:p>
          <a:p>
            <a:pPr algn="just"/>
            <a:endParaRPr lang="en-US" sz="1800">
              <a:latin typeface="Times New Roman" panose="02020603050405020304" pitchFamily="18" charset="0"/>
              <a:cs typeface="Times New Roman" panose="02020603050405020304" pitchFamily="18" charset="0"/>
            </a:endParaRPr>
          </a:p>
          <a:p>
            <a:pPr algn="just"/>
            <a:r>
              <a:rPr lang="en-US" sz="1800">
                <a:latin typeface="Times New Roman" panose="02020603050405020304" pitchFamily="18" charset="0"/>
                <a:cs typeface="Times New Roman" panose="02020603050405020304" pitchFamily="18" charset="0"/>
              </a:rPr>
              <a:t>In the example above, the value of C^ in every R tuple is matching with the value of C# in some S tuple. If a tuple having values (A6, B2, C4) is added then it is invalid since referenced relation S doesn‟t include C4. Thus, it will be a violation of referential integrity constraint.</a:t>
            </a:r>
            <a:endParaRPr 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spc="-5" dirty="0" smtClean="0">
                <a:latin typeface="Times New Roman" panose="02020603050405020304" pitchFamily="18" charset="0"/>
                <a:cs typeface="Times New Roman" panose="02020603050405020304" pitchFamily="18" charset="0"/>
                <a:sym typeface="+mn-ea"/>
              </a:rPr>
              <a:t>Operational Constraints</a:t>
            </a:r>
            <a:endParaRPr lang="en-US"/>
          </a:p>
        </p:txBody>
      </p:sp>
      <p:sp>
        <p:nvSpPr>
          <p:cNvPr id="3" name="Content Placeholder 2"/>
          <p:cNvSpPr>
            <a:spLocks noGrp="1"/>
          </p:cNvSpPr>
          <p:nvPr>
            <p:ph idx="1"/>
          </p:nvPr>
        </p:nvSpPr>
        <p:spPr/>
        <p:txBody>
          <a:bodyPr/>
          <a:p>
            <a:pPr marL="600710" marR="170180" lvl="2" indent="0" algn="just">
              <a:spcBef>
                <a:spcPts val="295"/>
              </a:spcBef>
              <a:buSzPct val="90000"/>
              <a:buFont typeface="Wingdings" panose="05000000000000000000" pitchFamily="2" charset="2"/>
              <a:buNone/>
              <a:tabLst>
                <a:tab pos="266065" algn="l"/>
              </a:tabLst>
            </a:pPr>
            <a:r>
              <a:rPr lang="en-US" sz="2800" kern="0" dirty="0" smtClean="0">
                <a:latin typeface="Times New Roman" panose="02020603050405020304" pitchFamily="18" charset="0"/>
                <a:cs typeface="Times New Roman" panose="02020603050405020304" pitchFamily="18" charset="0"/>
                <a:sym typeface="+mn-ea"/>
              </a:rPr>
              <a:t>These are the constraints enforced in the database by the business rules or real world limitations.</a:t>
            </a:r>
            <a:endParaRPr lang="en-US" sz="2800" kern="0" dirty="0" smtClean="0">
              <a:latin typeface="Times New Roman" panose="02020603050405020304" pitchFamily="18" charset="0"/>
              <a:cs typeface="Times New Roman" panose="02020603050405020304" pitchFamily="18" charset="0"/>
              <a:sym typeface="+mn-ea"/>
            </a:endParaRPr>
          </a:p>
          <a:p>
            <a:pPr marL="355600" indent="-342900" algn="just">
              <a:spcBef>
                <a:spcPts val="430"/>
              </a:spcBef>
              <a:buFont typeface="Wingdings" panose="05000000000000000000" pitchFamily="2" charset="2"/>
              <a:buChar char="Ø"/>
            </a:pPr>
            <a:r>
              <a:rPr lang="en-US" sz="2800" kern="0" dirty="0" smtClean="0">
                <a:latin typeface="Times New Roman" panose="02020603050405020304" pitchFamily="18" charset="0"/>
                <a:cs typeface="Times New Roman" panose="02020603050405020304" pitchFamily="18" charset="0"/>
                <a:sym typeface="+mn-ea"/>
              </a:rPr>
              <a:t>There are three basic operations to be performed on relations:</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Insertion</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Deletion</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Update</a:t>
            </a:r>
            <a:endParaRPr lang="en-US" sz="2800" kern="0" dirty="0" smtClean="0">
              <a:latin typeface="Times New Roman" panose="02020603050405020304" pitchFamily="18" charset="0"/>
              <a:cs typeface="Times New Roman" panose="02020603050405020304" pitchFamily="18" charset="0"/>
            </a:endParaRPr>
          </a:p>
          <a:p>
            <a:pPr marL="600710" marR="170180" lvl="2" indent="0" algn="just">
              <a:spcBef>
                <a:spcPts val="295"/>
              </a:spcBef>
              <a:buSzPct val="90000"/>
              <a:buFont typeface="Wingdings" panose="05000000000000000000" pitchFamily="2" charset="2"/>
              <a:buNone/>
              <a:tabLst>
                <a:tab pos="266065" algn="l"/>
              </a:tabLst>
            </a:pP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kern="0" dirty="0" smtClean="0">
                <a:latin typeface="Times New Roman" panose="02020603050405020304" pitchFamily="18" charset="0"/>
                <a:cs typeface="Times New Roman" panose="02020603050405020304" pitchFamily="18" charset="0"/>
                <a:sym typeface="+mn-ea"/>
              </a:rPr>
              <a:t>The INSERT Operation</a:t>
            </a:r>
            <a:endParaRPr lang="en-US"/>
          </a:p>
        </p:txBody>
      </p:sp>
      <p:sp>
        <p:nvSpPr>
          <p:cNvPr id="3" name="Content Placeholder 2"/>
          <p:cNvSpPr>
            <a:spLocks noGrp="1"/>
          </p:cNvSpPr>
          <p:nvPr>
            <p:ph idx="1"/>
          </p:nvPr>
        </p:nvSpPr>
        <p:spPr/>
        <p:txBody>
          <a:bodyPr>
            <a:normAutofit lnSpcReduction="10000"/>
          </a:bodyPr>
          <a:p>
            <a:pPr marL="12700" lvl="0" indent="0" algn="just">
              <a:spcBef>
                <a:spcPts val="430"/>
              </a:spcBef>
              <a:buFont typeface="Wingdings" panose="05000000000000000000" charset="0"/>
              <a:buNone/>
            </a:pPr>
            <a:r>
              <a:rPr lang="en-US" sz="2800" kern="0" dirty="0" smtClean="0">
                <a:latin typeface="Times New Roman" panose="02020603050405020304" pitchFamily="18" charset="0"/>
                <a:cs typeface="Times New Roman" panose="02020603050405020304" pitchFamily="18" charset="0"/>
                <a:sym typeface="+mn-ea"/>
              </a:rPr>
              <a:t>The insert operation allows us to insert a new tuple in a relation. When we try to insert a new record, then any of the following four types of constraints can be violated:</a:t>
            </a:r>
            <a:endParaRPr lang="en-US" sz="2800"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Domain constraint: If the value given to an attribute lies outside the domain of that attribute.</a:t>
            </a:r>
            <a:endParaRPr lang="en-US" sz="2800"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Key constraint: If the value of the key attribute in new tuple t is the same as in the existing tuple in relation R.</a:t>
            </a:r>
            <a:endParaRPr lang="en-US" sz="2800"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Entity Integrity constraint: If the primary key attribute value of new tuple t is given as null.</a:t>
            </a:r>
            <a:endParaRPr lang="en-US" sz="2800"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Referential Integrity constraint: If the value of the foreign key in t refers to a tuple that doesn‟t appear in the referenced relation.</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Content Placeholder 2"/>
          <p:cNvSpPr txBox="1"/>
          <p:nvPr/>
        </p:nvSpPr>
        <p:spPr bwMode="auto">
          <a:xfrm>
            <a:off x="785786" y="1071546"/>
            <a:ext cx="7858180" cy="5357850"/>
          </a:xfrm>
          <a:prstGeom prst="rect">
            <a:avLst/>
          </a:prstGeom>
          <a:noFill/>
          <a:ln w="9525">
            <a:noFill/>
            <a:miter lim="800000"/>
          </a:ln>
        </p:spPr>
        <p:txBody>
          <a:bodyPr/>
          <a:p>
            <a:pPr marL="12700" indent="0" algn="just">
              <a:spcBef>
                <a:spcPts val="430"/>
              </a:spcBef>
              <a:buFont typeface="Wingdings" panose="05000000000000000000" pitchFamily="2" charset="2"/>
              <a:buNone/>
            </a:pPr>
            <a:r>
              <a:rPr lang="en-US" b="1" kern="0" dirty="0" smtClean="0">
                <a:latin typeface="Times New Roman" panose="02020603050405020304" pitchFamily="18" charset="0"/>
                <a:cs typeface="Times New Roman" panose="02020603050405020304" pitchFamily="18" charset="0"/>
              </a:rPr>
              <a:t>Dealing with constraints violation during insertion:</a:t>
            </a:r>
            <a:endParaRPr lang="en-US" b="1" kern="0" dirty="0" smtClean="0">
              <a:latin typeface="Times New Roman" panose="02020603050405020304" pitchFamily="18" charset="0"/>
              <a:cs typeface="Times New Roman" panose="02020603050405020304" pitchFamily="18" charset="0"/>
            </a:endParaRPr>
          </a:p>
          <a:p>
            <a:pPr marL="12700" indent="0" algn="just">
              <a:spcBef>
                <a:spcPts val="430"/>
              </a:spcBef>
              <a:buFont typeface="Wingdings" panose="05000000000000000000" pitchFamily="2" charset="2"/>
              <a:buNone/>
            </a:pPr>
            <a:r>
              <a:rPr lang="en-US" kern="0" dirty="0" smtClean="0">
                <a:latin typeface="Times New Roman" panose="02020603050405020304" pitchFamily="18" charset="0"/>
                <a:cs typeface="Times New Roman" panose="02020603050405020304" pitchFamily="18" charset="0"/>
              </a:rPr>
              <a:t>If the insertion violates one or more constraints, then two options are available:</a:t>
            </a: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r>
              <a:rPr lang="en-US" b="1" kern="0" dirty="0" smtClean="0">
                <a:latin typeface="Times New Roman" panose="02020603050405020304" pitchFamily="18" charset="0"/>
                <a:cs typeface="Times New Roman" panose="02020603050405020304" pitchFamily="18" charset="0"/>
              </a:rPr>
              <a:t>Default option:</a:t>
            </a:r>
            <a:r>
              <a:rPr lang="en-US" b="1" kern="0" dirty="0" smtClean="0">
                <a:latin typeface="Times New Roman" panose="02020603050405020304" pitchFamily="18" charset="0"/>
                <a:cs typeface="Times New Roman" panose="02020603050405020304" pitchFamily="18" charset="0"/>
              </a:rPr>
              <a:t> </a:t>
            </a:r>
            <a:r>
              <a:rPr lang="en-US" kern="0" dirty="0" smtClean="0">
                <a:latin typeface="Times New Roman" panose="02020603050405020304" pitchFamily="18" charset="0"/>
                <a:cs typeface="Times New Roman" panose="02020603050405020304" pitchFamily="18" charset="0"/>
              </a:rPr>
              <a:t>- Insertion can be rejected and the reason of rejection can also be explained to the user by DBMS.</a:t>
            </a: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r>
              <a:rPr lang="en-US" kern="0" dirty="0" smtClean="0">
                <a:latin typeface="Times New Roman" panose="02020603050405020304" pitchFamily="18" charset="0"/>
                <a:cs typeface="Times New Roman" panose="02020603050405020304" pitchFamily="18" charset="0"/>
              </a:rPr>
              <a:t>Ask the user to correct the data, resubmit, also give the reason for rejecting the insertion.</a:t>
            </a: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endParaRPr lang="en-US" kern="0" dirty="0" smtClean="0">
              <a:latin typeface="Times New Roman" panose="02020603050405020304" pitchFamily="18" charset="0"/>
              <a:cs typeface="Times New Roman" panose="02020603050405020304" pitchFamily="18" charset="0"/>
            </a:endParaRPr>
          </a:p>
          <a:p>
            <a:pPr marL="469900" lvl="1" indent="0" algn="just">
              <a:spcBef>
                <a:spcPts val="430"/>
              </a:spcBef>
              <a:buFont typeface="Wingdings" panose="05000000000000000000" charset="0"/>
              <a:buNone/>
            </a:pP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endParaRPr lang="en-US" kern="0" dirty="0" smtClean="0">
              <a:latin typeface="Times New Roman" panose="02020603050405020304" pitchFamily="18" charset="0"/>
              <a:cs typeface="Times New Roman" panose="02020603050405020304" pitchFamily="18" charset="0"/>
            </a:endParaRPr>
          </a:p>
          <a:p>
            <a:pPr marL="755650" lvl="1" indent="-285750" algn="just">
              <a:spcBef>
                <a:spcPts val="430"/>
              </a:spcBef>
              <a:buFont typeface="Wingdings" panose="05000000000000000000" charset="0"/>
              <a:buChar char="ü"/>
            </a:pPr>
            <a:endParaRPr lang="en-US" kern="0" dirty="0" smtClean="0">
              <a:latin typeface="Times New Roman" panose="02020603050405020304" pitchFamily="18" charset="0"/>
              <a:cs typeface="Times New Roman" panose="02020603050405020304" pitchFamily="18" charset="0"/>
            </a:endParaRPr>
          </a:p>
        </p:txBody>
      </p:sp>
      <p:graphicFrame>
        <p:nvGraphicFramePr>
          <p:cNvPr id="4" name="Table 3"/>
          <p:cNvGraphicFramePr/>
          <p:nvPr/>
        </p:nvGraphicFramePr>
        <p:xfrm>
          <a:off x="1871980" y="3230245"/>
          <a:ext cx="5175885" cy="1635760"/>
        </p:xfrm>
        <a:graphic>
          <a:graphicData uri="http://schemas.openxmlformats.org/drawingml/2006/table">
            <a:tbl>
              <a:tblPr firstRow="1" bandRow="1">
                <a:tableStyleId>{5940675A-B579-460E-94D1-54222C63F5DA}</a:tableStyleId>
              </a:tblPr>
              <a:tblGrid>
                <a:gridCol w="1108075"/>
                <a:gridCol w="1247775"/>
                <a:gridCol w="1128395"/>
                <a:gridCol w="1691640"/>
              </a:tblGrid>
              <a:tr h="645795">
                <a:tc>
                  <a:txBody>
                    <a:bodyPr/>
                    <a:p>
                      <a:pPr indent="0" algn="ctr">
                        <a:buNone/>
                      </a:pPr>
                      <a:r>
                        <a:rPr lang="en-US" sz="1400" b="1">
                          <a:latin typeface="Times New Roman" panose="02020603050405020304" pitchFamily="18" charset="0"/>
                          <a:cs typeface="Times New Roman" panose="02020603050405020304" pitchFamily="18" charset="0"/>
                        </a:rPr>
                        <a:t>PERSON_ID</a:t>
                      </a:r>
                      <a:endParaRPr lang="en-US" sz="14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1">
                          <a:latin typeface="Times New Roman" panose="02020603050405020304" pitchFamily="18" charset="0"/>
                          <a:cs typeface="Times New Roman" panose="02020603050405020304" pitchFamily="18" charset="0"/>
                        </a:rPr>
                        <a:t>NAME</a:t>
                      </a:r>
                      <a:endParaRPr lang="en-US" sz="14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1">
                          <a:latin typeface="Times New Roman" panose="02020603050405020304" pitchFamily="18" charset="0"/>
                          <a:cs typeface="Times New Roman" panose="02020603050405020304" pitchFamily="18" charset="0"/>
                        </a:rPr>
                        <a:t>AGE</a:t>
                      </a:r>
                      <a:endParaRPr lang="en-US" sz="14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1">
                          <a:latin typeface="Times New Roman" panose="02020603050405020304" pitchFamily="18" charset="0"/>
                          <a:cs typeface="Times New Roman" panose="02020603050405020304" pitchFamily="18" charset="0"/>
                        </a:rPr>
                        <a:t>ADDRESS</a:t>
                      </a:r>
                      <a:endParaRPr lang="en-US" sz="14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r>
              <a:tr h="213360">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r>
              <a:tr h="193675">
                <a:tc>
                  <a:txBody>
                    <a:bodyPr/>
                    <a:p>
                      <a:pPr indent="0" algn="ctr">
                        <a:buNone/>
                      </a:pPr>
                      <a:r>
                        <a:rPr lang="en-US" sz="1400" b="0">
                          <a:latin typeface="Times New Roman" panose="02020603050405020304" pitchFamily="18" charset="0"/>
                          <a:cs typeface="Times New Roman" panose="02020603050405020304" pitchFamily="18" charset="0"/>
                        </a:rPr>
                        <a:t>1</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Sanjay Prasad</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35</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b-4,Modi Nagar</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indent="0" algn="ctr">
                        <a:buNone/>
                      </a:pPr>
                      <a:r>
                        <a:rPr lang="en-US" sz="1400" b="0">
                          <a:latin typeface="Times New Roman" panose="02020603050405020304" pitchFamily="18" charset="0"/>
                          <a:cs typeface="Times New Roman" panose="02020603050405020304" pitchFamily="18" charset="0"/>
                        </a:rPr>
                        <a:t>2</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Sharad Gupta</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30</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Pocket 2, Mayur</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r>
              <a:tr h="194310">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Vihar.</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r>
              <a:tr h="194310">
                <a:tc>
                  <a:txBody>
                    <a:bodyPr/>
                    <a:p>
                      <a:pPr indent="0" algn="ctr">
                        <a:buNone/>
                      </a:pPr>
                      <a:r>
                        <a:rPr lang="en-US" sz="1400" b="0">
                          <a:latin typeface="Times New Roman" panose="02020603050405020304" pitchFamily="18" charset="0"/>
                          <a:cs typeface="Times New Roman" panose="02020603050405020304" pitchFamily="18" charset="0"/>
                        </a:rPr>
                        <a:t>3</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Vibhu Datt</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36</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c-2, New Delhi</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fontScale="60000"/>
          </a:bodyPr>
          <a:p>
            <a:pPr marL="355600" indent="-342900" algn="just">
              <a:spcBef>
                <a:spcPts val="430"/>
              </a:spcBef>
              <a:buFont typeface="Wingdings" panose="05000000000000000000" pitchFamily="2" charset="2"/>
              <a:buChar char="Ø"/>
            </a:pPr>
            <a:r>
              <a:rPr lang="en-US" sz="2800" kern="0" dirty="0" smtClean="0">
                <a:latin typeface="Times New Roman" panose="02020603050405020304" pitchFamily="18" charset="0"/>
                <a:cs typeface="Times New Roman" panose="02020603050405020304" pitchFamily="18" charset="0"/>
                <a:sym typeface="+mn-ea"/>
              </a:rPr>
              <a:t>(1)</a:t>
            </a:r>
            <a:r>
              <a:rPr lang="en-US" sz="2800" b="1" kern="0" dirty="0" smtClean="0">
                <a:latin typeface="Times New Roman" panose="02020603050405020304" pitchFamily="18" charset="0"/>
                <a:cs typeface="Times New Roman" panose="02020603050405020304" pitchFamily="18" charset="0"/>
                <a:sym typeface="+mn-ea"/>
              </a:rPr>
              <a:t>Insert&lt;1, ‘Vipin’, 20, ‘Mayur Vihar’&gt; into PERSON</a:t>
            </a:r>
            <a:endParaRPr lang="en-US" sz="2800" b="1" kern="0" dirty="0" smtClean="0">
              <a:latin typeface="Times New Roman" panose="02020603050405020304" pitchFamily="18" charset="0"/>
              <a:cs typeface="Times New Roman" panose="02020603050405020304" pitchFamily="18" charset="0"/>
            </a:endParaRPr>
          </a:p>
          <a:p>
            <a:pPr marL="469900" lvl="1" indent="0" algn="just">
              <a:spcBef>
                <a:spcPts val="430"/>
              </a:spcBef>
              <a:buNone/>
            </a:pPr>
            <a:r>
              <a:rPr lang="en-US" sz="2800" b="1" kern="0" dirty="0" smtClean="0">
                <a:latin typeface="Times New Roman" panose="02020603050405020304" pitchFamily="18" charset="0"/>
                <a:cs typeface="Times New Roman" panose="02020603050405020304" pitchFamily="18" charset="0"/>
                <a:sym typeface="+mn-ea"/>
              </a:rPr>
              <a:t>Violated constraint</a:t>
            </a:r>
            <a:r>
              <a:rPr lang="en-US" sz="2800" kern="0" dirty="0" smtClean="0">
                <a:latin typeface="Times New Roman" panose="02020603050405020304" pitchFamily="18" charset="0"/>
                <a:cs typeface="Times New Roman" panose="02020603050405020304" pitchFamily="18" charset="0"/>
                <a:sym typeface="+mn-ea"/>
              </a:rPr>
              <a:t>: - Key constraint</a:t>
            </a:r>
            <a:endParaRPr lang="en-US" sz="2800" kern="0" dirty="0" smtClean="0">
              <a:latin typeface="Times New Roman" panose="02020603050405020304" pitchFamily="18" charset="0"/>
              <a:cs typeface="Times New Roman" panose="02020603050405020304" pitchFamily="18" charset="0"/>
            </a:endParaRPr>
          </a:p>
          <a:p>
            <a:pPr marL="469900" lvl="1" indent="0" algn="just">
              <a:spcBef>
                <a:spcPts val="430"/>
              </a:spcBef>
              <a:buNone/>
            </a:pPr>
            <a:r>
              <a:rPr lang="en-US" sz="2800" b="1" kern="0" dirty="0" smtClean="0">
                <a:latin typeface="Times New Roman" panose="02020603050405020304" pitchFamily="18" charset="0"/>
                <a:cs typeface="Times New Roman" panose="02020603050405020304" pitchFamily="18" charset="0"/>
                <a:sym typeface="+mn-ea"/>
              </a:rPr>
              <a:t>Reason: </a:t>
            </a:r>
            <a:r>
              <a:rPr lang="en-US" sz="2800" kern="0" dirty="0" smtClean="0">
                <a:latin typeface="Times New Roman" panose="02020603050405020304" pitchFamily="18" charset="0"/>
                <a:cs typeface="Times New Roman" panose="02020603050405020304" pitchFamily="18" charset="0"/>
                <a:sym typeface="+mn-ea"/>
              </a:rPr>
              <a:t>- Primary key 1 already exists in PERSON.</a:t>
            </a:r>
            <a:endParaRPr lang="en-US" sz="2800" kern="0" dirty="0" smtClean="0">
              <a:latin typeface="Times New Roman" panose="02020603050405020304" pitchFamily="18" charset="0"/>
              <a:cs typeface="Times New Roman" panose="02020603050405020304" pitchFamily="18" charset="0"/>
            </a:endParaRPr>
          </a:p>
          <a:p>
            <a:pPr marL="469900" lvl="1" indent="0" algn="just">
              <a:spcBef>
                <a:spcPts val="430"/>
              </a:spcBef>
              <a:buNone/>
            </a:pPr>
            <a:r>
              <a:rPr lang="en-US" sz="2800" b="1" kern="0" dirty="0" smtClean="0">
                <a:latin typeface="Times New Roman" panose="02020603050405020304" pitchFamily="18" charset="0"/>
                <a:cs typeface="Times New Roman" panose="02020603050405020304" pitchFamily="18" charset="0"/>
                <a:sym typeface="+mn-ea"/>
              </a:rPr>
              <a:t>Dealing:</a:t>
            </a:r>
            <a:r>
              <a:rPr lang="en-US" sz="2800" kern="0" dirty="0" smtClean="0">
                <a:latin typeface="Times New Roman" panose="02020603050405020304" pitchFamily="18" charset="0"/>
                <a:cs typeface="Times New Roman" panose="02020603050405020304" pitchFamily="18" charset="0"/>
                <a:sym typeface="+mn-ea"/>
              </a:rPr>
              <a:t> - DBMS could ask the user to provide valid PERSON_ID value and accept the insertion if valid PERSON_ID value is provided.</a:t>
            </a:r>
            <a:endParaRPr lang="en-US" sz="2800" kern="0" dirty="0" smtClean="0">
              <a:latin typeface="Times New Roman" panose="02020603050405020304" pitchFamily="18" charset="0"/>
              <a:cs typeface="Times New Roman" panose="02020603050405020304" pitchFamily="18" charset="0"/>
            </a:endParaRPr>
          </a:p>
          <a:p>
            <a:pPr marL="298450" lvl="0" indent="-285750" algn="just">
              <a:spcBef>
                <a:spcPts val="430"/>
              </a:spcBef>
              <a:buFont typeface="Wingdings" panose="05000000000000000000" charset="0"/>
              <a:buChar char="Ø"/>
            </a:pPr>
            <a:r>
              <a:rPr lang="en-US" sz="2800" kern="0" dirty="0" smtClean="0">
                <a:latin typeface="Times New Roman" panose="02020603050405020304" pitchFamily="18" charset="0"/>
                <a:cs typeface="Times New Roman" panose="02020603050405020304" pitchFamily="18" charset="0"/>
                <a:sym typeface="+mn-ea"/>
              </a:rPr>
              <a:t>(2)</a:t>
            </a:r>
            <a:r>
              <a:rPr lang="en-US" sz="2800" b="1" kern="0" dirty="0" smtClean="0">
                <a:latin typeface="Times New Roman" panose="02020603050405020304" pitchFamily="18" charset="0"/>
                <a:cs typeface="Times New Roman" panose="02020603050405020304" pitchFamily="18" charset="0"/>
                <a:sym typeface="+mn-ea"/>
              </a:rPr>
              <a:t>Insert&lt;’null’, ‘Anurag’, 25, ‘Patparganj’&gt; into PERSON</a:t>
            </a:r>
            <a:endParaRPr lang="en-US" sz="2800" b="1" kern="0" dirty="0" smtClean="0">
              <a:latin typeface="Times New Roman" panose="02020603050405020304" pitchFamily="18" charset="0"/>
              <a:cs typeface="Times New Roman" panose="02020603050405020304" pitchFamily="18" charset="0"/>
            </a:endParaRPr>
          </a:p>
          <a:p>
            <a:pPr marL="469900" lvl="1" indent="0" algn="just">
              <a:spcBef>
                <a:spcPts val="430"/>
              </a:spcBef>
              <a:buNone/>
            </a:pPr>
            <a:r>
              <a:rPr lang="en-US" sz="2800" b="1" kern="0" dirty="0" smtClean="0">
                <a:latin typeface="Times New Roman" panose="02020603050405020304" pitchFamily="18" charset="0"/>
                <a:cs typeface="Times New Roman" panose="02020603050405020304" pitchFamily="18" charset="0"/>
                <a:sym typeface="+mn-ea"/>
              </a:rPr>
              <a:t>Violated constraint:</a:t>
            </a:r>
            <a:r>
              <a:rPr lang="en-US" sz="2800" kern="0" dirty="0" smtClean="0">
                <a:latin typeface="Times New Roman" panose="02020603050405020304" pitchFamily="18" charset="0"/>
                <a:cs typeface="Times New Roman" panose="02020603050405020304" pitchFamily="18" charset="0"/>
                <a:sym typeface="+mn-ea"/>
              </a:rPr>
              <a:t> - Entity Integrity constraint</a:t>
            </a:r>
            <a:endParaRPr lang="en-US" sz="2800" kern="0" dirty="0" smtClean="0">
              <a:latin typeface="Times New Roman" panose="02020603050405020304" pitchFamily="18" charset="0"/>
              <a:cs typeface="Times New Roman" panose="02020603050405020304" pitchFamily="18" charset="0"/>
            </a:endParaRPr>
          </a:p>
          <a:p>
            <a:pPr marL="469900" lvl="1" indent="0" algn="just">
              <a:spcBef>
                <a:spcPts val="430"/>
              </a:spcBef>
              <a:buNone/>
            </a:pPr>
            <a:r>
              <a:rPr lang="en-US" sz="2800" b="1" kern="0" dirty="0" smtClean="0">
                <a:latin typeface="Times New Roman" panose="02020603050405020304" pitchFamily="18" charset="0"/>
                <a:cs typeface="Times New Roman" panose="02020603050405020304" pitchFamily="18" charset="0"/>
                <a:sym typeface="+mn-ea"/>
              </a:rPr>
              <a:t>Reason:</a:t>
            </a:r>
            <a:r>
              <a:rPr lang="en-US" sz="2800" kern="0" dirty="0" smtClean="0">
                <a:latin typeface="Times New Roman" panose="02020603050405020304" pitchFamily="18" charset="0"/>
                <a:cs typeface="Times New Roman" panose="02020603050405020304" pitchFamily="18" charset="0"/>
                <a:sym typeface="+mn-ea"/>
              </a:rPr>
              <a:t> - Primary key is „null‟.</a:t>
            </a:r>
            <a:endParaRPr lang="en-US" sz="2800" kern="0" dirty="0" smtClean="0">
              <a:latin typeface="Times New Roman" panose="02020603050405020304" pitchFamily="18" charset="0"/>
              <a:cs typeface="Times New Roman" panose="02020603050405020304" pitchFamily="18" charset="0"/>
            </a:endParaRPr>
          </a:p>
          <a:p>
            <a:pPr marL="469900" lvl="1" indent="0" algn="just">
              <a:spcBef>
                <a:spcPts val="430"/>
              </a:spcBef>
              <a:buNone/>
            </a:pPr>
            <a:r>
              <a:rPr lang="en-US" sz="2800" b="1" kern="0" dirty="0" smtClean="0">
                <a:latin typeface="Times New Roman" panose="02020603050405020304" pitchFamily="18" charset="0"/>
                <a:cs typeface="Times New Roman" panose="02020603050405020304" pitchFamily="18" charset="0"/>
                <a:sym typeface="+mn-ea"/>
              </a:rPr>
              <a:t>Dealing: -</a:t>
            </a:r>
            <a:r>
              <a:rPr lang="en-US" sz="2800" kern="0" dirty="0" smtClean="0">
                <a:latin typeface="Times New Roman" panose="02020603050405020304" pitchFamily="18" charset="0"/>
                <a:cs typeface="Times New Roman" panose="02020603050405020304" pitchFamily="18" charset="0"/>
                <a:sym typeface="+mn-ea"/>
              </a:rPr>
              <a:t> DBMS could ask the user to provide valid PERSON_ID value and accept the insertion if valid PERSON_ID value is provided.</a:t>
            </a:r>
            <a:endParaRPr lang="en-US" sz="2800" kern="0" dirty="0" smtClean="0">
              <a:latin typeface="Times New Roman" panose="02020603050405020304" pitchFamily="18" charset="0"/>
              <a:cs typeface="Times New Roman" panose="02020603050405020304" pitchFamily="18" charset="0"/>
            </a:endParaRPr>
          </a:p>
          <a:p>
            <a:pPr marL="298450" lvl="0" indent="-285750" algn="just">
              <a:spcBef>
                <a:spcPts val="430"/>
              </a:spcBef>
              <a:buFont typeface="Wingdings" panose="05000000000000000000" charset="0"/>
              <a:buChar char="Ø"/>
            </a:pPr>
            <a:r>
              <a:rPr lang="en-US" sz="2800" kern="0" dirty="0" smtClean="0">
                <a:latin typeface="Times New Roman" panose="02020603050405020304" pitchFamily="18" charset="0"/>
                <a:cs typeface="Times New Roman" panose="02020603050405020304" pitchFamily="18" charset="0"/>
                <a:sym typeface="+mn-ea"/>
              </a:rPr>
              <a:t>(</a:t>
            </a:r>
            <a:r>
              <a:rPr lang="en-US" sz="2800" b="1" kern="0" dirty="0" smtClean="0">
                <a:latin typeface="Times New Roman" panose="02020603050405020304" pitchFamily="18" charset="0"/>
                <a:cs typeface="Times New Roman" panose="02020603050405020304" pitchFamily="18" charset="0"/>
                <a:sym typeface="+mn-ea"/>
              </a:rPr>
              <a:t>3)Insert&lt;’abc’, ‘Suman’, 25, ‘IP college’&gt; into PERSON</a:t>
            </a:r>
            <a:endParaRPr lang="en-US" sz="2800" b="1" kern="0" dirty="0" smtClean="0">
              <a:latin typeface="Times New Roman" panose="02020603050405020304" pitchFamily="18" charset="0"/>
              <a:cs typeface="Times New Roman" panose="02020603050405020304" pitchFamily="18" charset="0"/>
            </a:endParaRPr>
          </a:p>
          <a:p>
            <a:pPr marL="469900" lvl="1" indent="0" algn="just">
              <a:spcBef>
                <a:spcPts val="430"/>
              </a:spcBef>
              <a:buNone/>
            </a:pPr>
            <a:r>
              <a:rPr lang="en-US" sz="2800" b="1" kern="0" dirty="0" smtClean="0">
                <a:latin typeface="Times New Roman" panose="02020603050405020304" pitchFamily="18" charset="0"/>
                <a:cs typeface="Times New Roman" panose="02020603050405020304" pitchFamily="18" charset="0"/>
                <a:sym typeface="+mn-ea"/>
              </a:rPr>
              <a:t>Violated constraint: -</a:t>
            </a:r>
            <a:r>
              <a:rPr lang="en-US" sz="2800" kern="0" dirty="0" smtClean="0">
                <a:latin typeface="Times New Roman" panose="02020603050405020304" pitchFamily="18" charset="0"/>
                <a:cs typeface="Times New Roman" panose="02020603050405020304" pitchFamily="18" charset="0"/>
                <a:sym typeface="+mn-ea"/>
              </a:rPr>
              <a:t> Domain constraint</a:t>
            </a:r>
            <a:endParaRPr lang="en-US" sz="2800" kern="0" dirty="0" smtClean="0">
              <a:latin typeface="Times New Roman" panose="02020603050405020304" pitchFamily="18" charset="0"/>
              <a:cs typeface="Times New Roman" panose="02020603050405020304" pitchFamily="18" charset="0"/>
            </a:endParaRPr>
          </a:p>
          <a:p>
            <a:pPr marL="469900" lvl="1" indent="0" algn="just">
              <a:spcBef>
                <a:spcPts val="430"/>
              </a:spcBef>
              <a:buNone/>
            </a:pPr>
            <a:r>
              <a:rPr lang="en-US" sz="2800" kern="0" dirty="0" smtClean="0">
                <a:latin typeface="Times New Roman" panose="02020603050405020304" pitchFamily="18" charset="0"/>
                <a:cs typeface="Times New Roman" panose="02020603050405020304" pitchFamily="18" charset="0"/>
                <a:sym typeface="+mn-ea"/>
              </a:rPr>
              <a:t>Reason: - value of PERSON_ID is given a string which is not valid.</a:t>
            </a:r>
            <a:endParaRPr lang="en-US" sz="2800" kern="0" dirty="0" smtClean="0">
              <a:latin typeface="Times New Roman" panose="02020603050405020304" pitchFamily="18" charset="0"/>
              <a:cs typeface="Times New Roman" panose="02020603050405020304" pitchFamily="18" charset="0"/>
            </a:endParaRPr>
          </a:p>
          <a:p>
            <a:pPr marL="298450" lvl="0" indent="-285750" algn="just">
              <a:spcBef>
                <a:spcPts val="430"/>
              </a:spcBef>
              <a:buFont typeface="Wingdings" panose="05000000000000000000" charset="0"/>
              <a:buChar char="Ø"/>
            </a:pPr>
            <a:r>
              <a:rPr lang="en-US" sz="2800" kern="0" dirty="0" smtClean="0">
                <a:latin typeface="Times New Roman" panose="02020603050405020304" pitchFamily="18" charset="0"/>
                <a:cs typeface="Times New Roman" panose="02020603050405020304" pitchFamily="18" charset="0"/>
                <a:sym typeface="+mn-ea"/>
              </a:rPr>
              <a:t>(4)</a:t>
            </a:r>
            <a:r>
              <a:rPr lang="en-US" sz="2800" b="1" kern="0" dirty="0" smtClean="0">
                <a:latin typeface="Times New Roman" panose="02020603050405020304" pitchFamily="18" charset="0"/>
                <a:cs typeface="Times New Roman" panose="02020603050405020304" pitchFamily="18" charset="0"/>
                <a:sym typeface="+mn-ea"/>
              </a:rPr>
              <a:t>Insert &lt;10, ‘Anu’, 25, ‘Patpatganj’&gt; into PERSON</a:t>
            </a:r>
            <a:endParaRPr lang="en-US" sz="2800" b="1" kern="0" dirty="0" smtClean="0">
              <a:latin typeface="Times New Roman" panose="02020603050405020304" pitchFamily="18" charset="0"/>
              <a:cs typeface="Times New Roman" panose="02020603050405020304" pitchFamily="18" charset="0"/>
            </a:endParaRPr>
          </a:p>
          <a:p>
            <a:pPr marL="469900" lvl="1" indent="0" algn="just">
              <a:spcBef>
                <a:spcPts val="430"/>
              </a:spcBef>
              <a:buNone/>
            </a:pPr>
            <a:r>
              <a:rPr lang="en-US" sz="2800" kern="0" dirty="0" smtClean="0">
                <a:latin typeface="Times New Roman" panose="02020603050405020304" pitchFamily="18" charset="0"/>
                <a:cs typeface="Times New Roman" panose="02020603050405020304" pitchFamily="18" charset="0"/>
                <a:sym typeface="+mn-ea"/>
              </a:rPr>
              <a:t>Violated constraint: - None</a:t>
            </a:r>
            <a:endParaRPr lang="en-US" sz="2800" kern="0" dirty="0" smtClean="0">
              <a:latin typeface="Times New Roman" panose="02020603050405020304" pitchFamily="18" charset="0"/>
              <a:cs typeface="Times New Roman" panose="02020603050405020304" pitchFamily="18" charset="0"/>
            </a:endParaRPr>
          </a:p>
          <a:p>
            <a:endParaRPr lang="en-US"/>
          </a:p>
        </p:txBody>
      </p:sp>
      <p:graphicFrame>
        <p:nvGraphicFramePr>
          <p:cNvPr id="4" name="Table 3"/>
          <p:cNvGraphicFramePr/>
          <p:nvPr/>
        </p:nvGraphicFramePr>
        <p:xfrm>
          <a:off x="3021965" y="113030"/>
          <a:ext cx="5175885" cy="1635760"/>
        </p:xfrm>
        <a:graphic>
          <a:graphicData uri="http://schemas.openxmlformats.org/drawingml/2006/table">
            <a:tbl>
              <a:tblPr firstRow="1" bandRow="1">
                <a:tableStyleId>{5940675A-B579-460E-94D1-54222C63F5DA}</a:tableStyleId>
              </a:tblPr>
              <a:tblGrid>
                <a:gridCol w="1108075"/>
                <a:gridCol w="1247775"/>
                <a:gridCol w="1128395"/>
                <a:gridCol w="1691640"/>
              </a:tblGrid>
              <a:tr h="645795">
                <a:tc>
                  <a:txBody>
                    <a:bodyPr/>
                    <a:p>
                      <a:pPr indent="0" algn="ctr">
                        <a:buNone/>
                      </a:pPr>
                      <a:r>
                        <a:rPr lang="en-US" sz="1400" b="1">
                          <a:latin typeface="Times New Roman" panose="02020603050405020304" pitchFamily="18" charset="0"/>
                          <a:cs typeface="Times New Roman" panose="02020603050405020304" pitchFamily="18" charset="0"/>
                        </a:rPr>
                        <a:t>PERSON_ID</a:t>
                      </a:r>
                      <a:endParaRPr lang="en-US" sz="14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1">
                          <a:latin typeface="Times New Roman" panose="02020603050405020304" pitchFamily="18" charset="0"/>
                          <a:cs typeface="Times New Roman" panose="02020603050405020304" pitchFamily="18" charset="0"/>
                        </a:rPr>
                        <a:t>NAME</a:t>
                      </a:r>
                      <a:endParaRPr lang="en-US" sz="14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1">
                          <a:latin typeface="Times New Roman" panose="02020603050405020304" pitchFamily="18" charset="0"/>
                          <a:cs typeface="Times New Roman" panose="02020603050405020304" pitchFamily="18" charset="0"/>
                        </a:rPr>
                        <a:t>AGE</a:t>
                      </a:r>
                      <a:endParaRPr lang="en-US" sz="14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1">
                          <a:latin typeface="Times New Roman" panose="02020603050405020304" pitchFamily="18" charset="0"/>
                          <a:cs typeface="Times New Roman" panose="02020603050405020304" pitchFamily="18" charset="0"/>
                        </a:rPr>
                        <a:t>ADDRESS</a:t>
                      </a:r>
                      <a:endParaRPr lang="en-US" sz="14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r>
              <a:tr h="213360">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r>
              <a:tr h="193675">
                <a:tc>
                  <a:txBody>
                    <a:bodyPr/>
                    <a:p>
                      <a:pPr indent="0" algn="ctr">
                        <a:buNone/>
                      </a:pPr>
                      <a:r>
                        <a:rPr lang="en-US" sz="1400" b="0">
                          <a:latin typeface="Times New Roman" panose="02020603050405020304" pitchFamily="18" charset="0"/>
                          <a:cs typeface="Times New Roman" panose="02020603050405020304" pitchFamily="18" charset="0"/>
                        </a:rPr>
                        <a:t>1</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Sanjay Prasad</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35</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b-4,Modi Nagar</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indent="0" algn="ctr">
                        <a:buNone/>
                      </a:pPr>
                      <a:r>
                        <a:rPr lang="en-US" sz="1400" b="0">
                          <a:latin typeface="Times New Roman" panose="02020603050405020304" pitchFamily="18" charset="0"/>
                          <a:cs typeface="Times New Roman" panose="02020603050405020304" pitchFamily="18" charset="0"/>
                        </a:rPr>
                        <a:t>2</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Sharad Gupta</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30</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Pocket 2, Mayur</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r>
              <a:tr h="194310">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 </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Vihar.</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r>
              <a:tr h="194310">
                <a:tc>
                  <a:txBody>
                    <a:bodyPr/>
                    <a:p>
                      <a:pPr indent="0" algn="ctr">
                        <a:buNone/>
                      </a:pPr>
                      <a:r>
                        <a:rPr lang="en-US" sz="1400" b="0">
                          <a:latin typeface="Times New Roman" panose="02020603050405020304" pitchFamily="18" charset="0"/>
                          <a:cs typeface="Times New Roman" panose="02020603050405020304" pitchFamily="18" charset="0"/>
                        </a:rPr>
                        <a:t>3</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Vibhu Datt</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36</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Times New Roman" panose="02020603050405020304" pitchFamily="18" charset="0"/>
                          <a:cs typeface="Times New Roman" panose="02020603050405020304" pitchFamily="18" charset="0"/>
                        </a:rPr>
                        <a:t>c-2, New Delhi</a:t>
                      </a:r>
                      <a:endParaRPr 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kern="0" dirty="0" smtClean="0">
                <a:latin typeface="Times New Roman" panose="02020603050405020304" pitchFamily="18" charset="0"/>
                <a:cs typeface="Times New Roman" panose="02020603050405020304" pitchFamily="18" charset="0"/>
                <a:sym typeface="+mn-ea"/>
              </a:rPr>
              <a:t>The Deletion Operation</a:t>
            </a:r>
            <a:endParaRPr lang="en-US"/>
          </a:p>
        </p:txBody>
      </p:sp>
      <p:sp>
        <p:nvSpPr>
          <p:cNvPr id="3" name="Content Placeholder 2"/>
          <p:cNvSpPr>
            <a:spLocks noGrp="1"/>
          </p:cNvSpPr>
          <p:nvPr>
            <p:ph idx="1"/>
          </p:nvPr>
        </p:nvSpPr>
        <p:spPr/>
        <p:txBody>
          <a:bodyPr>
            <a:normAutofit fontScale="70000"/>
          </a:bodyPr>
          <a:p>
            <a:pPr marL="12700" indent="0" algn="just">
              <a:spcBef>
                <a:spcPts val="430"/>
              </a:spcBef>
              <a:buFont typeface="Wingdings" panose="05000000000000000000" pitchFamily="2" charset="2"/>
              <a:buNone/>
            </a:pPr>
            <a:r>
              <a:rPr lang="en-US" sz="2800" kern="0" dirty="0" smtClean="0">
                <a:latin typeface="Times New Roman" panose="02020603050405020304" pitchFamily="18" charset="0"/>
                <a:cs typeface="Times New Roman" panose="02020603050405020304" pitchFamily="18" charset="0"/>
                <a:sym typeface="+mn-ea"/>
              </a:rPr>
              <a:t>Using the delete operation some existing records can be deleted from a relation. To delete some specific records from the database a condition is also specified based on which records can be selected for deletion.</a:t>
            </a:r>
            <a:endParaRPr lang="en-US" sz="2800" kern="0" dirty="0" smtClean="0">
              <a:latin typeface="Times New Roman" panose="02020603050405020304" pitchFamily="18" charset="0"/>
              <a:cs typeface="Times New Roman" panose="02020603050405020304" pitchFamily="18" charset="0"/>
            </a:endParaRPr>
          </a:p>
          <a:p>
            <a:pPr marL="12700" indent="0" algn="just">
              <a:spcBef>
                <a:spcPts val="430"/>
              </a:spcBef>
              <a:buFont typeface="Wingdings" panose="05000000000000000000" pitchFamily="2" charset="2"/>
              <a:buNone/>
            </a:pPr>
            <a:r>
              <a:rPr lang="en-US" sz="2800" b="1" kern="0" dirty="0" smtClean="0">
                <a:latin typeface="Times New Roman" panose="02020603050405020304" pitchFamily="18" charset="0"/>
                <a:cs typeface="Times New Roman" panose="02020603050405020304" pitchFamily="18" charset="0"/>
                <a:sym typeface="+mn-ea"/>
              </a:rPr>
              <a:t>Constraints that can be violated during deletion</a:t>
            </a:r>
            <a:endParaRPr lang="en-US" sz="2800" b="1"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sz="2800" kern="0" dirty="0" smtClean="0">
                <a:latin typeface="Times New Roman" panose="02020603050405020304" pitchFamily="18" charset="0"/>
                <a:cs typeface="Times New Roman" panose="02020603050405020304" pitchFamily="18" charset="0"/>
                <a:sym typeface="+mn-ea"/>
              </a:rPr>
              <a:t>Only one type of constraint can be violated during deletion, it is </a:t>
            </a:r>
            <a:r>
              <a:rPr lang="en-US" sz="2800" b="1" kern="0" dirty="0" smtClean="0">
                <a:latin typeface="Times New Roman" panose="02020603050405020304" pitchFamily="18" charset="0"/>
                <a:cs typeface="Times New Roman" panose="02020603050405020304" pitchFamily="18" charset="0"/>
                <a:sym typeface="+mn-ea"/>
              </a:rPr>
              <a:t>referential</a:t>
            </a:r>
            <a:r>
              <a:rPr lang="en-US" sz="2800" kern="0" dirty="0" smtClean="0">
                <a:latin typeface="Times New Roman" panose="02020603050405020304" pitchFamily="18" charset="0"/>
                <a:cs typeface="Times New Roman" panose="02020603050405020304" pitchFamily="18" charset="0"/>
                <a:sym typeface="+mn-ea"/>
              </a:rPr>
              <a:t> </a:t>
            </a:r>
            <a:r>
              <a:rPr lang="en-US" sz="2800" b="1" kern="0" dirty="0" smtClean="0">
                <a:latin typeface="Times New Roman" panose="02020603050405020304" pitchFamily="18" charset="0"/>
                <a:cs typeface="Times New Roman" panose="02020603050405020304" pitchFamily="18" charset="0"/>
                <a:sym typeface="+mn-ea"/>
              </a:rPr>
              <a:t>integrity constraint</a:t>
            </a:r>
            <a:r>
              <a:rPr lang="en-US" sz="2800" kern="0" dirty="0" smtClean="0">
                <a:latin typeface="Times New Roman" panose="02020603050405020304" pitchFamily="18" charset="0"/>
                <a:cs typeface="Times New Roman" panose="02020603050405020304" pitchFamily="18" charset="0"/>
                <a:sym typeface="+mn-ea"/>
              </a:rPr>
              <a:t>. It can occur when you want to delete a record in the table where it is referenced by the foreign key of another table. </a:t>
            </a:r>
            <a:endParaRPr lang="en-US" sz="2800" kern="0" dirty="0" smtClean="0">
              <a:latin typeface="Times New Roman" panose="02020603050405020304" pitchFamily="18" charset="0"/>
              <a:cs typeface="Times New Roman" panose="02020603050405020304" pitchFamily="18" charset="0"/>
              <a:sym typeface="+mn-ea"/>
            </a:endParaRPr>
          </a:p>
          <a:p>
            <a:pPr marL="355600" indent="-342900" algn="just">
              <a:spcBef>
                <a:spcPts val="430"/>
              </a:spcBef>
              <a:buFont typeface="Wingdings" panose="05000000000000000000" pitchFamily="2" charset="2"/>
              <a:buChar char="Ø"/>
            </a:pPr>
            <a:r>
              <a:rPr lang="en-US" sz="2800" b="1" kern="0" dirty="0" smtClean="0">
                <a:latin typeface="Times New Roman" panose="02020603050405020304" pitchFamily="18" charset="0"/>
                <a:cs typeface="Times New Roman" panose="02020603050405020304" pitchFamily="18" charset="0"/>
                <a:sym typeface="+mn-ea"/>
              </a:rPr>
              <a:t>Dealing with Constraints Violation</a:t>
            </a:r>
            <a:endParaRPr lang="en-US" sz="2800" b="1"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If the deletion violates referential integrity constraint, then three options are available:</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charset="0"/>
              <a:buChar char="ü"/>
            </a:pPr>
            <a:r>
              <a:rPr lang="en-US" sz="2800" b="1" kern="0" dirty="0" smtClean="0">
                <a:latin typeface="Times New Roman" panose="02020603050405020304" pitchFamily="18" charset="0"/>
                <a:cs typeface="Times New Roman" panose="02020603050405020304" pitchFamily="18" charset="0"/>
                <a:sym typeface="+mn-ea"/>
              </a:rPr>
              <a:t>Default option: </a:t>
            </a:r>
            <a:r>
              <a:rPr lang="en-US" sz="2800" kern="0" dirty="0" smtClean="0">
                <a:latin typeface="Times New Roman" panose="02020603050405020304" pitchFamily="18" charset="0"/>
                <a:cs typeface="Times New Roman" panose="02020603050405020304" pitchFamily="18" charset="0"/>
                <a:sym typeface="+mn-ea"/>
              </a:rPr>
              <a:t>- Reject the deletion. It is the job of the DBMS to explain to the user why the deletion was rejected.</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Attempt to cascade (or propagate) the deletion by deleting tuples that reference the tuple that is being deleted.</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Change the value of referencing attribute that causes the violation.</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1"/>
          </p:nvPr>
        </p:nvGraphicFramePr>
        <p:xfrm>
          <a:off x="838200" y="1825625"/>
          <a:ext cx="10515600" cy="3962400"/>
        </p:xfrm>
        <a:graphic>
          <a:graphicData uri="http://schemas.openxmlformats.org/drawingml/2006/table">
            <a:tbl>
              <a:tblPr firstRow="1" bandRow="1">
                <a:tableStyleId>{5940675A-B579-460E-94D1-54222C63F5DA}</a:tableStyleId>
              </a:tblPr>
              <a:tblGrid>
                <a:gridCol w="2568575"/>
                <a:gridCol w="802640"/>
                <a:gridCol w="2086610"/>
                <a:gridCol w="1485900"/>
                <a:gridCol w="3571875"/>
              </a:tblGrid>
              <a:tr h="177800">
                <a:tc>
                  <a:txBody>
                    <a:bodyPr/>
                    <a:p>
                      <a:pPr indent="0">
                        <a:buNone/>
                      </a:pPr>
                      <a:r>
                        <a:rPr lang="en-US" sz="2000" b="1">
                          <a:latin typeface="Times New Roman" panose="02020603050405020304" pitchFamily="18" charset="0"/>
                          <a:cs typeface="Times New Roman" panose="02020603050405020304" pitchFamily="18" charset="0"/>
                        </a:rPr>
                        <a:t>A#</a:t>
                      </a:r>
                      <a:endParaRPr lang="en-US" sz="2000" b="1">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B</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C^</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52400">
                <a:tc>
                  <a:txBody>
                    <a:bodyPr/>
                    <a:p>
                      <a:pPr indent="0">
                        <a:buNone/>
                      </a:pPr>
                      <a:r>
                        <a:rPr lang="en-US" sz="2000" b="0">
                          <a:latin typeface="Times New Roman" panose="02020603050405020304" pitchFamily="18" charset="0"/>
                          <a:cs typeface="Times New Roman" panose="02020603050405020304" pitchFamily="18" charset="0"/>
                        </a:rPr>
                        <a:t>A1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B1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C1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52400">
                <a:tc>
                  <a:txBody>
                    <a:bodyPr/>
                    <a:p>
                      <a:pPr indent="0">
                        <a:buNone/>
                      </a:pPr>
                      <a:r>
                        <a:rPr lang="en-US" sz="2000" b="0">
                          <a:latin typeface="Times New Roman" panose="02020603050405020304" pitchFamily="18" charset="0"/>
                          <a:cs typeface="Times New Roman" panose="02020603050405020304" pitchFamily="18" charset="0"/>
                        </a:rPr>
                        <a:t>A2</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B3</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C3</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52400">
                <a:tc>
                  <a:txBody>
                    <a:bodyPr/>
                    <a:p>
                      <a:pPr indent="0">
                        <a:buNone/>
                      </a:pPr>
                      <a:r>
                        <a:rPr lang="en-US" sz="2000" b="0">
                          <a:latin typeface="Times New Roman" panose="02020603050405020304" pitchFamily="18" charset="0"/>
                          <a:cs typeface="Times New Roman" panose="02020603050405020304" pitchFamily="18" charset="0"/>
                        </a:rPr>
                        <a:t>A3</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B4</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C3</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65100">
                <a:tc>
                  <a:txBody>
                    <a:bodyPr/>
                    <a:p>
                      <a:pPr indent="0">
                        <a:buNone/>
                      </a:pPr>
                      <a:r>
                        <a:rPr lang="en-US" sz="2000" b="0">
                          <a:latin typeface="Times New Roman" panose="02020603050405020304" pitchFamily="18" charset="0"/>
                          <a:cs typeface="Times New Roman" panose="02020603050405020304" pitchFamily="18" charset="0"/>
                        </a:rPr>
                        <a:t>A4</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B1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C5</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9400">
                <a:tc>
                  <a:txBody>
                    <a:bodyPr/>
                    <a:p>
                      <a:pPr indent="0">
                        <a:buNone/>
                      </a:pPr>
                      <a:r>
                        <a:rPr lang="en-US" sz="2000" b="0">
                          <a:latin typeface="Times New Roman" panose="02020603050405020304" pitchFamily="18" charset="0"/>
                          <a:cs typeface="Times New Roman" panose="02020603050405020304" pitchFamily="18" charset="0"/>
                        </a:rPr>
                        <a:t>Table1 : R</a:t>
                      </a:r>
                      <a:endParaRPr lang="en-US" sz="2000" b="0">
                        <a:latin typeface="Times New Roman" panose="02020603050405020304" pitchFamily="18" charset="0"/>
                        <a:cs typeface="Times New Roman" panose="02020603050405020304" pitchFamily="18" charset="0"/>
                      </a:endParaRPr>
                    </a:p>
                    <a:p>
                      <a:pPr indent="0">
                        <a:buNone/>
                      </a:pPr>
                      <a:endParaRPr lang="en-US" sz="2000" b="0">
                        <a:latin typeface="Times New Roman" panose="02020603050405020304" pitchFamily="18" charset="0"/>
                        <a:cs typeface="Times New Roman" panose="02020603050405020304" pitchFamily="18" charset="0"/>
                      </a:endParaRPr>
                    </a:p>
                    <a:p>
                      <a:pPr indent="0">
                        <a:buNone/>
                      </a:pPr>
                      <a:r>
                        <a:rPr lang="en-US" sz="2000" b="0">
                          <a:latin typeface="Times New Roman" panose="02020603050405020304" pitchFamily="18" charset="0"/>
                          <a:cs typeface="Times New Roman" panose="02020603050405020304" pitchFamily="18" charset="0"/>
                        </a:rPr>
                        <a:t>Table 2:Q</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cap="flat">
                      <a:noFill/>
                    </a:lnR>
                    <a:lnT w="12700" cap="flat" cmpd="sng">
                      <a:solidFill>
                        <a:srgbClr val="080000"/>
                      </a:solidFill>
                      <a:prstDash val="solid"/>
                      <a:headEnd type="none" w="med" len="med"/>
                      <a:tailEnd type="none" w="med" len="med"/>
                    </a:lnT>
                    <a:lnB cap="flat">
                      <a:noFill/>
                    </a:lnB>
                    <a:lnTlToBr>
                      <a:noFill/>
                    </a:lnTlToBr>
                    <a:lnBlToTr>
                      <a:noFill/>
                    </a:lnBlToTr>
                    <a:noFill/>
                  </a:tcPr>
                </a:tc>
              </a:tr>
              <a:tr h="304800">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a:noFill/>
                    </a:lnR>
                    <a:lnT cap="flat">
                      <a:noFill/>
                    </a:lnT>
                    <a:lnB cap="flat">
                      <a:noFill/>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cap="flat">
                      <a:noFill/>
                    </a:lnR>
                    <a:lnT cap="flat">
                      <a:noFill/>
                    </a:lnT>
                    <a:lnB cap="flat">
                      <a:noFill/>
                    </a:lnB>
                    <a:lnTlToBr>
                      <a:noFill/>
                    </a:lnTlToBr>
                    <a:lnBlToTr>
                      <a:noFill/>
                    </a:lnBlToTr>
                    <a:noFill/>
                  </a:tcPr>
                </a:tc>
              </a:tr>
              <a:tr h="152400">
                <a:tc>
                  <a:txBody>
                    <a:bodyPr/>
                    <a:p>
                      <a:pPr indent="0">
                        <a:buNone/>
                      </a:pPr>
                      <a:r>
                        <a:rPr lang="en-US" sz="2000" b="0">
                          <a:latin typeface="Times New Roman" panose="02020603050405020304" pitchFamily="18" charset="0"/>
                          <a:cs typeface="Times New Roman" panose="02020603050405020304" pitchFamily="18" charset="0"/>
                        </a:rPr>
                        <a:t>C#</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D</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cap="flat">
                      <a:noFill/>
                    </a:lnT>
                    <a:lnB cap="flat">
                      <a:noFill/>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cap="flat">
                      <a:noFill/>
                    </a:lnR>
                    <a:lnT cap="flat">
                      <a:noFill/>
                    </a:lnT>
                    <a:lnB cap="flat">
                      <a:noFill/>
                    </a:lnB>
                    <a:lnTlToBr>
                      <a:noFill/>
                    </a:lnTlToBr>
                    <a:lnBlToTr>
                      <a:noFill/>
                    </a:lnBlToTr>
                    <a:noFill/>
                  </a:tcPr>
                </a:tc>
              </a:tr>
              <a:tr h="152400">
                <a:tc>
                  <a:txBody>
                    <a:bodyPr/>
                    <a:p>
                      <a:pPr indent="0">
                        <a:buNone/>
                      </a:pPr>
                      <a:r>
                        <a:rPr lang="en-US" sz="2000" b="0">
                          <a:latin typeface="Times New Roman" panose="02020603050405020304" pitchFamily="18" charset="0"/>
                          <a:cs typeface="Times New Roman" panose="02020603050405020304" pitchFamily="18" charset="0"/>
                        </a:rPr>
                        <a:t>C1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D1</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cap="flat">
                      <a:noFill/>
                    </a:lnT>
                    <a:lnB cap="flat">
                      <a:noFill/>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cap="flat">
                      <a:noFill/>
                    </a:lnR>
                    <a:lnT cap="flat">
                      <a:noFill/>
                    </a:lnT>
                    <a:lnB cap="flat">
                      <a:noFill/>
                    </a:lnB>
                    <a:lnTlToBr>
                      <a:noFill/>
                    </a:lnTlToBr>
                    <a:lnBlToTr>
                      <a:noFill/>
                    </a:lnBlToTr>
                    <a:noFill/>
                  </a:tcPr>
                </a:tc>
              </a:tr>
              <a:tr h="152400">
                <a:tc>
                  <a:txBody>
                    <a:bodyPr/>
                    <a:p>
                      <a:pPr indent="0">
                        <a:buNone/>
                      </a:pPr>
                      <a:r>
                        <a:rPr lang="en-US" sz="2000" b="0">
                          <a:latin typeface="Times New Roman" panose="02020603050405020304" pitchFamily="18" charset="0"/>
                          <a:cs typeface="Times New Roman" panose="02020603050405020304" pitchFamily="18" charset="0"/>
                        </a:rPr>
                        <a:t>C3</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D2</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cap="flat">
                      <a:noFill/>
                    </a:lnT>
                    <a:lnB cap="flat">
                      <a:noFill/>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cap="flat">
                      <a:noFill/>
                    </a:lnR>
                    <a:lnT cap="flat">
                      <a:noFill/>
                    </a:lnT>
                    <a:lnB cap="flat">
                      <a:noFill/>
                    </a:lnB>
                    <a:lnTlToBr>
                      <a:noFill/>
                    </a:lnTlToBr>
                    <a:lnBlToTr>
                      <a:noFill/>
                    </a:lnBlToTr>
                    <a:noFill/>
                  </a:tcPr>
                </a:tc>
              </a:tr>
              <a:tr h="165100">
                <a:tc>
                  <a:txBody>
                    <a:bodyPr/>
                    <a:p>
                      <a:pPr indent="0">
                        <a:buNone/>
                      </a:pPr>
                      <a:r>
                        <a:rPr lang="en-US" sz="2000" b="0">
                          <a:latin typeface="Times New Roman" panose="02020603050405020304" pitchFamily="18" charset="0"/>
                          <a:cs typeface="Times New Roman" panose="02020603050405020304" pitchFamily="18" charset="0"/>
                        </a:rPr>
                        <a:t>C5</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D3</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pitchFamily="18" charset="0"/>
                          <a:cs typeface="Times New Roman" panose="02020603050405020304" pitchFamily="18" charset="0"/>
                        </a:rPr>
                        <a:t> </a:t>
                      </a: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w="12700" cap="flat" cmpd="sng">
                      <a:solidFill>
                        <a:srgbClr val="080000"/>
                      </a:solidFill>
                      <a:prstDash val="solid"/>
                      <a:headEnd type="none" w="med" len="med"/>
                      <a:tailEnd type="none" w="med" len="med"/>
                    </a:lnL>
                    <a:lnR>
                      <a:noFill/>
                    </a:lnR>
                    <a:lnT cap="flat">
                      <a:noFill/>
                    </a:lnT>
                    <a:lnB cap="flat">
                      <a:noFill/>
                    </a:lnB>
                    <a:lnTlToBr>
                      <a:noFill/>
                    </a:lnTlToBr>
                    <a:lnBlToTr>
                      <a:noFill/>
                    </a:lnBlToTr>
                    <a:noFill/>
                  </a:tcPr>
                </a:tc>
                <a:tc>
                  <a:txBody>
                    <a:bodyPr/>
                    <a:p>
                      <a:pPr indent="0">
                        <a:buNone/>
                      </a:pPr>
                      <a:endParaRPr lang="en-US" sz="2000" b="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vert="horz" anchor="b">
                    <a:lnL>
                      <a:noFill/>
                    </a:lnL>
                    <a:lnR cap="flat">
                      <a:noFill/>
                    </a:lnR>
                    <a:lnT cap="flat">
                      <a:noFill/>
                    </a:lnT>
                    <a:lnB cap="flat">
                      <a:noFill/>
                    </a:lnB>
                    <a:lnTlToBr>
                      <a:noFill/>
                    </a:lnTlToBr>
                    <a:lnBlToTr>
                      <a:noFill/>
                    </a:lnBlToTr>
                    <a:no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88010"/>
            <a:ext cx="10515600" cy="5589270"/>
          </a:xfrm>
        </p:spPr>
        <p:txBody>
          <a:bodyPr>
            <a:normAutofit fontScale="90000"/>
          </a:bodyPr>
          <a:p>
            <a:pPr marL="355600" indent="-342900" algn="just">
              <a:spcBef>
                <a:spcPts val="430"/>
              </a:spcBef>
              <a:buFont typeface="Wingdings" panose="05000000000000000000" pitchFamily="2" charset="2"/>
              <a:buChar char="Ø"/>
            </a:pPr>
            <a:r>
              <a:rPr lang="en-US" sz="2800" kern="0" dirty="0" smtClean="0">
                <a:latin typeface="Times New Roman" panose="02020603050405020304" pitchFamily="18" charset="0"/>
                <a:cs typeface="Times New Roman" panose="02020603050405020304" pitchFamily="18" charset="0"/>
                <a:sym typeface="+mn-ea"/>
              </a:rPr>
              <a:t>Note:</a:t>
            </a:r>
            <a:endParaRPr lang="en-US" sz="2800" kern="0" dirty="0" smtClean="0">
              <a:latin typeface="Times New Roman" panose="02020603050405020304" pitchFamily="18" charset="0"/>
              <a:cs typeface="Times New Roman" panose="02020603050405020304" pitchFamily="18" charset="0"/>
            </a:endParaRPr>
          </a:p>
          <a:p>
            <a:pPr marL="12700" indent="0" algn="just">
              <a:spcBef>
                <a:spcPts val="430"/>
              </a:spcBef>
              <a:buFont typeface="Wingdings" panose="05000000000000000000" pitchFamily="2" charset="2"/>
              <a:buNone/>
            </a:pPr>
            <a:r>
              <a:rPr lang="en-US" sz="2800" kern="0" dirty="0" smtClean="0">
                <a:latin typeface="Times New Roman" panose="02020603050405020304" pitchFamily="18" charset="0"/>
                <a:cs typeface="Times New Roman" panose="02020603050405020304" pitchFamily="18" charset="0"/>
                <a:sym typeface="+mn-ea"/>
              </a:rPr>
              <a:t>1)„#‟ identifies the Primary key of a relation.</a:t>
            </a:r>
            <a:endParaRPr lang="en-US" sz="2800" kern="0" dirty="0" smtClean="0">
              <a:latin typeface="Times New Roman" panose="02020603050405020304" pitchFamily="18" charset="0"/>
              <a:cs typeface="Times New Roman" panose="02020603050405020304" pitchFamily="18" charset="0"/>
            </a:endParaRPr>
          </a:p>
          <a:p>
            <a:pPr marL="12700" indent="0" algn="just">
              <a:spcBef>
                <a:spcPts val="430"/>
              </a:spcBef>
              <a:buFont typeface="Wingdings" panose="05000000000000000000" pitchFamily="2" charset="2"/>
              <a:buNone/>
            </a:pPr>
            <a:r>
              <a:rPr lang="en-US" sz="2800" kern="0" dirty="0" smtClean="0">
                <a:latin typeface="Times New Roman" panose="02020603050405020304" pitchFamily="18" charset="0"/>
                <a:cs typeface="Times New Roman" panose="02020603050405020304" pitchFamily="18" charset="0"/>
                <a:sym typeface="+mn-ea"/>
              </a:rPr>
              <a:t>2)„^‟ identifies the Foreign key of a relation.</a:t>
            </a:r>
            <a:endParaRPr lang="en-US" sz="2800"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sz="2800" b="1" kern="0" dirty="0" smtClean="0">
                <a:latin typeface="Times New Roman" panose="02020603050405020304" pitchFamily="18" charset="0"/>
                <a:cs typeface="Times New Roman" panose="02020603050405020304" pitchFamily="18" charset="0"/>
                <a:sym typeface="+mn-ea"/>
              </a:rPr>
              <a:t>(1)Delete a tuple with C# = ‟C1‟ in Q.</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Violated constraint: - Referential Integrity constraint</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charset="0"/>
              <a:buChar char="ü"/>
            </a:pPr>
            <a:r>
              <a:rPr lang="en-US" sz="2800" kern="0" dirty="0" smtClean="0">
                <a:latin typeface="Times New Roman" panose="02020603050405020304" pitchFamily="18" charset="0"/>
                <a:cs typeface="Times New Roman" panose="02020603050405020304" pitchFamily="18" charset="0"/>
                <a:sym typeface="+mn-ea"/>
              </a:rPr>
              <a:t>Reason: - Tuples in relation A refer to tuple in Q.</a:t>
            </a:r>
            <a:endParaRPr lang="en-US" sz="2800" kern="0" dirty="0" smtClean="0">
              <a:latin typeface="Times New Roman" panose="02020603050405020304" pitchFamily="18" charset="0"/>
              <a:cs typeface="Times New Roman" panose="02020603050405020304" pitchFamily="18" charset="0"/>
            </a:endParaRPr>
          </a:p>
          <a:p>
            <a:pPr marL="12700" lvl="0" indent="0" algn="just">
              <a:spcBef>
                <a:spcPts val="430"/>
              </a:spcBef>
              <a:buFont typeface="Wingdings" panose="05000000000000000000" charset="0"/>
              <a:buNone/>
            </a:pPr>
            <a:r>
              <a:rPr lang="en-US" sz="2800" b="1" kern="0" dirty="0" smtClean="0">
                <a:latin typeface="Times New Roman" panose="02020603050405020304" pitchFamily="18" charset="0"/>
                <a:cs typeface="Times New Roman" panose="02020603050405020304" pitchFamily="18" charset="0"/>
                <a:sym typeface="+mn-ea"/>
              </a:rPr>
              <a:t>Dealing: - Options available are</a:t>
            </a:r>
            <a:endParaRPr lang="en-US" sz="2800" b="1"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mj-lt"/>
              <a:buAutoNum type="arabicParenR"/>
            </a:pPr>
            <a:r>
              <a:rPr lang="en-US" sz="2800" kern="0" dirty="0" smtClean="0">
                <a:latin typeface="Times New Roman" panose="02020603050405020304" pitchFamily="18" charset="0"/>
                <a:cs typeface="Times New Roman" panose="02020603050405020304" pitchFamily="18" charset="0"/>
                <a:sym typeface="+mn-ea"/>
              </a:rPr>
              <a:t>Reject the deletion.</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mj-lt"/>
              <a:buAutoNum type="arabicParenR"/>
            </a:pPr>
            <a:r>
              <a:rPr lang="en-US" sz="2800" kern="0" dirty="0" smtClean="0">
                <a:latin typeface="Times New Roman" panose="02020603050405020304" pitchFamily="18" charset="0"/>
                <a:cs typeface="Times New Roman" panose="02020603050405020304" pitchFamily="18" charset="0"/>
                <a:sym typeface="+mn-ea"/>
              </a:rPr>
              <a:t>DBMS may automatically delete all tuples from relation Q and S with C #</a:t>
            </a:r>
            <a:endParaRPr lang="en-US" sz="2800" kern="0" dirty="0" smtClean="0">
              <a:latin typeface="Times New Roman" panose="02020603050405020304" pitchFamily="18" charset="0"/>
              <a:cs typeface="Times New Roman" panose="02020603050405020304" pitchFamily="18" charset="0"/>
            </a:endParaRPr>
          </a:p>
          <a:p>
            <a:pPr marL="469900" lvl="1" indent="0" algn="just">
              <a:spcBef>
                <a:spcPts val="430"/>
              </a:spcBef>
              <a:buFont typeface="+mj-lt"/>
              <a:buNone/>
            </a:pPr>
            <a:r>
              <a:rPr lang="en-US" sz="2800" kern="0" dirty="0" smtClean="0">
                <a:latin typeface="Times New Roman" panose="02020603050405020304" pitchFamily="18" charset="0"/>
                <a:cs typeface="Times New Roman" panose="02020603050405020304" pitchFamily="18" charset="0"/>
                <a:sym typeface="+mn-ea"/>
              </a:rPr>
              <a:t>	= „C1‟. This is called cascade detection.</a:t>
            </a:r>
            <a:endParaRPr lang="en-US" sz="2800" kern="0" dirty="0" smtClean="0">
              <a:latin typeface="Times New Roman" panose="02020603050405020304" pitchFamily="18" charset="0"/>
              <a:cs typeface="Times New Roman" panose="02020603050405020304" pitchFamily="18" charset="0"/>
            </a:endParaRPr>
          </a:p>
          <a:p>
            <a:pPr marL="469900" lvl="1" indent="0" algn="just">
              <a:spcBef>
                <a:spcPts val="430"/>
              </a:spcBef>
              <a:buFont typeface="+mj-lt"/>
              <a:buNone/>
            </a:pPr>
            <a:r>
              <a:rPr lang="en-US" sz="2800" kern="0" dirty="0" smtClean="0">
                <a:latin typeface="Times New Roman" panose="02020603050405020304" pitchFamily="18" charset="0"/>
                <a:cs typeface="Times New Roman" panose="02020603050405020304" pitchFamily="18" charset="0"/>
                <a:sym typeface="+mn-ea"/>
              </a:rPr>
              <a:t>3) The third option would result in putting NULL value in R where C1 exist, which is the first tuple R in the attribute C.</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smtClean="0">
                <a:latin typeface="Times New Roman" panose="02020603050405020304" pitchFamily="18" charset="0"/>
                <a:cs typeface="Times New Roman" panose="02020603050405020304" pitchFamily="18" charset="0"/>
                <a:sym typeface="+mn-ea"/>
              </a:rPr>
              <a:t>Update Operations and Dealing with Constraint Violations</a:t>
            </a:r>
            <a:endParaRPr lang="en-US"/>
          </a:p>
        </p:txBody>
      </p:sp>
      <p:sp>
        <p:nvSpPr>
          <p:cNvPr id="3" name="Content Placeholder 2"/>
          <p:cNvSpPr>
            <a:spLocks noGrp="1"/>
          </p:cNvSpPr>
          <p:nvPr>
            <p:ph idx="1"/>
          </p:nvPr>
        </p:nvSpPr>
        <p:spPr/>
        <p:txBody>
          <a:bodyPr/>
          <a:p>
            <a:r>
              <a:rPr lang="en-US" kern="0" dirty="0" smtClean="0">
                <a:latin typeface="Times New Roman" panose="02020603050405020304" pitchFamily="18" charset="0"/>
                <a:cs typeface="Times New Roman" panose="02020603050405020304" pitchFamily="18" charset="0"/>
                <a:sym typeface="+mn-ea"/>
              </a:rPr>
              <a:t>Update operations are used for modifying database values. The constraint violations faced by this operation are logically the same as the problem faced by Insertion and Deletion Operations. Therefore, we will not discuss this operation in greater detail here.</a:t>
            </a: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Database Languages</a:t>
            </a:r>
            <a:endParaRPr lang="en-US"/>
          </a:p>
        </p:txBody>
      </p:sp>
      <p:sp>
        <p:nvSpPr>
          <p:cNvPr id="3" name="Content Placeholder 2"/>
          <p:cNvSpPr>
            <a:spLocks noGrp="1"/>
          </p:cNvSpPr>
          <p:nvPr>
            <p:ph idx="1"/>
          </p:nvPr>
        </p:nvSpPr>
        <p:spPr/>
        <p:txBody>
          <a:bodyPr>
            <a:normAutofit fontScale="90000" lnSpcReduction="20000"/>
          </a:bodyPr>
          <a:p>
            <a:pPr marL="355600" indent="-342900" algn="just">
              <a:spcBef>
                <a:spcPts val="430"/>
              </a:spcBef>
              <a:buFont typeface="Wingdings" panose="05000000000000000000" pitchFamily="2" charset="2"/>
              <a:buChar char="Ø"/>
            </a:pPr>
            <a:r>
              <a:rPr lang="en-US" sz="2800" b="1" kern="0" dirty="0" smtClean="0">
                <a:latin typeface="Times New Roman" panose="02020603050405020304" pitchFamily="18" charset="0"/>
                <a:cs typeface="Times New Roman" panose="02020603050405020304" pitchFamily="18" charset="0"/>
                <a:sym typeface="+mn-ea"/>
              </a:rPr>
              <a:t>DDL (Data Definition Language)</a:t>
            </a:r>
            <a:endParaRPr lang="en-US" sz="2800" b="1"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kern="0" dirty="0" smtClean="0">
                <a:latin typeface="Times New Roman" panose="02020603050405020304" pitchFamily="18" charset="0"/>
                <a:cs typeface="Times New Roman" panose="02020603050405020304" pitchFamily="18" charset="0"/>
                <a:sym typeface="+mn-ea"/>
              </a:rPr>
              <a:t>DDL is used to define the conceptual schema. The definition includes the information of all the entity sets and their associated attributes as well as the relationships between the entity sets.</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kern="0" dirty="0" smtClean="0">
                <a:latin typeface="Times New Roman" panose="02020603050405020304" pitchFamily="18" charset="0"/>
                <a:cs typeface="Times New Roman" panose="02020603050405020304" pitchFamily="18" charset="0"/>
                <a:sym typeface="+mn-ea"/>
              </a:rPr>
              <a:t>The data values stored in the database must specify certain consistency constraints. The database systems check these constraints every time the database is updated.</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kern="0" dirty="0" smtClean="0">
                <a:latin typeface="Times New Roman" panose="02020603050405020304" pitchFamily="18" charset="0"/>
                <a:cs typeface="Times New Roman" panose="02020603050405020304" pitchFamily="18" charset="0"/>
                <a:sym typeface="+mn-ea"/>
              </a:rPr>
              <a:t>The output of the DDL is placed in the Data Dictionary which contains the metadata (data about data).</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kern="0" dirty="0" smtClean="0">
                <a:latin typeface="Times New Roman" panose="02020603050405020304" pitchFamily="18" charset="0"/>
                <a:cs typeface="Times New Roman" panose="02020603050405020304" pitchFamily="18" charset="0"/>
                <a:sym typeface="+mn-ea"/>
              </a:rPr>
              <a:t>The data dictionary is considered to be a special type of table, which can only be accessed and updated by the database system itself.</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kern="0" dirty="0" smtClean="0">
                <a:latin typeface="Times New Roman" panose="02020603050405020304" pitchFamily="18" charset="0"/>
                <a:cs typeface="Times New Roman" panose="02020603050405020304" pitchFamily="18" charset="0"/>
                <a:sym typeface="+mn-ea"/>
              </a:rPr>
              <a:t>The database system consults the data dictionary, before querying or modifying the actual data, for the validation purpose.</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kern="0" dirty="0" smtClean="0">
                <a:latin typeface="Times New Roman" panose="02020603050405020304" pitchFamily="18" charset="0"/>
                <a:cs typeface="Times New Roman" panose="02020603050405020304" pitchFamily="18" charset="0"/>
                <a:sym typeface="+mn-ea"/>
              </a:rPr>
              <a:t>CREATE, ALTER, DROP, RENAME &amp; TRUNCATE</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738505"/>
            <a:ext cx="10515600" cy="4351338"/>
          </a:xfrm>
        </p:spPr>
        <p:txBody>
          <a:bodyPr>
            <a:normAutofit lnSpcReduction="10000"/>
          </a:bodyPr>
          <a:p>
            <a:pPr marL="355600" indent="-342900" algn="just">
              <a:spcBef>
                <a:spcPts val="430"/>
              </a:spcBef>
              <a:buFont typeface="Wingdings" panose="05000000000000000000" pitchFamily="2" charset="2"/>
              <a:buChar char="Ø"/>
            </a:pPr>
            <a:r>
              <a:rPr lang="en-US" sz="2800" b="1" kern="0" dirty="0" smtClean="0">
                <a:latin typeface="Times New Roman" panose="02020603050405020304" pitchFamily="18" charset="0"/>
                <a:cs typeface="Times New Roman" panose="02020603050405020304" pitchFamily="18" charset="0"/>
                <a:sym typeface="+mn-ea"/>
              </a:rPr>
              <a:t>DML (Data Manipulation Language)</a:t>
            </a:r>
            <a:endParaRPr lang="en-US" sz="2800" b="1" kern="0" dirty="0" smtClean="0">
              <a:latin typeface="Times New Roman" panose="02020603050405020304" pitchFamily="18" charset="0"/>
              <a:cs typeface="Times New Roman" panose="02020603050405020304" pitchFamily="18" charset="0"/>
            </a:endParaRPr>
          </a:p>
          <a:p>
            <a:pPr marL="591185" lvl="1" indent="-121285">
              <a:buSzPct val="90000"/>
              <a:buFont typeface="Wingdings" panose="05000000000000000000" pitchFamily="2" charset="2"/>
              <a:buChar char="ü"/>
              <a:tabLst>
                <a:tab pos="134620" algn="l"/>
              </a:tabLst>
            </a:pPr>
            <a:r>
              <a:rPr lang="en-US" sz="2800" kern="0" dirty="0" smtClean="0">
                <a:latin typeface="Times New Roman" panose="02020603050405020304" pitchFamily="18" charset="0"/>
                <a:cs typeface="Times New Roman" panose="02020603050405020304" pitchFamily="18" charset="0"/>
                <a:sym typeface="+mn-ea"/>
              </a:rPr>
              <a:t>    DML is used to manipulate data in the database.</a:t>
            </a:r>
            <a:endParaRPr lang="en-US" sz="2800" kern="0" dirty="0" smtClean="0">
              <a:latin typeface="Times New Roman" panose="02020603050405020304" pitchFamily="18" charset="0"/>
              <a:cs typeface="Times New Roman" panose="02020603050405020304" pitchFamily="18" charset="0"/>
            </a:endParaRPr>
          </a:p>
          <a:p>
            <a:pPr marL="591185" marR="5080" lvl="1" indent="-121285">
              <a:spcBef>
                <a:spcPts val="295"/>
              </a:spcBef>
              <a:buSzPct val="90000"/>
              <a:buFont typeface="Wingdings" panose="05000000000000000000" pitchFamily="2" charset="2"/>
              <a:buChar char="ü"/>
              <a:tabLst>
                <a:tab pos="134620" algn="l"/>
              </a:tabLst>
            </a:pPr>
            <a:r>
              <a:rPr lang="en-US" sz="2800" kern="0" dirty="0" smtClean="0">
                <a:latin typeface="Times New Roman" panose="02020603050405020304" pitchFamily="18" charset="0"/>
                <a:cs typeface="Times New Roman" panose="02020603050405020304" pitchFamily="18" charset="0"/>
                <a:sym typeface="+mn-ea"/>
              </a:rPr>
              <a:t>    A query is a statement in the DML that requests the retrieval of data from the database . SELECT, INSERT, UPDATE &amp; DELETE</a:t>
            </a:r>
            <a:endParaRPr lang="en-US" sz="2800"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sz="2800" b="1" kern="0" dirty="0" smtClean="0">
                <a:latin typeface="Times New Roman" panose="02020603050405020304" pitchFamily="18" charset="0"/>
                <a:cs typeface="Times New Roman" panose="02020603050405020304" pitchFamily="18" charset="0"/>
                <a:sym typeface="+mn-ea"/>
              </a:rPr>
              <a:t>DCL (Data Control Languages)</a:t>
            </a:r>
            <a:endParaRPr lang="en-US" sz="2800" b="1"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kern="0" dirty="0" smtClean="0">
                <a:latin typeface="Times New Roman" panose="02020603050405020304" pitchFamily="18" charset="0"/>
                <a:cs typeface="Times New Roman" panose="02020603050405020304" pitchFamily="18" charset="0"/>
                <a:sym typeface="+mn-ea"/>
              </a:rPr>
              <a:t>DCL allows in changing the permissions on database structures</a:t>
            </a:r>
            <a:endParaRPr lang="en-US" sz="2800" kern="0" dirty="0" smtClean="0">
              <a:latin typeface="Times New Roman" panose="02020603050405020304" pitchFamily="18" charset="0"/>
              <a:cs typeface="Times New Roman" panose="02020603050405020304" pitchFamily="18" charset="0"/>
            </a:endParaRPr>
          </a:p>
          <a:p>
            <a:pPr marL="812800" lvl="1" indent="-342900" algn="just">
              <a:spcBef>
                <a:spcPts val="430"/>
              </a:spcBef>
              <a:buFont typeface="Wingdings" panose="05000000000000000000" pitchFamily="2" charset="2"/>
              <a:buChar char="ü"/>
            </a:pPr>
            <a:r>
              <a:rPr lang="en-US" sz="2800" kern="0" dirty="0" smtClean="0">
                <a:latin typeface="Times New Roman" panose="02020603050405020304" pitchFamily="18" charset="0"/>
                <a:cs typeface="Times New Roman" panose="02020603050405020304" pitchFamily="18" charset="0"/>
                <a:sym typeface="+mn-ea"/>
              </a:rPr>
              <a:t>GRANT &amp; REVOKE</a:t>
            </a:r>
            <a:endParaRPr lang="en-US" sz="2800" kern="0" dirty="0" smtClean="0">
              <a:latin typeface="Times New Roman" panose="02020603050405020304" pitchFamily="18" charset="0"/>
              <a:cs typeface="Times New Roman" panose="02020603050405020304" pitchFamily="18" charset="0"/>
            </a:endParaRPr>
          </a:p>
          <a:p>
            <a:pPr marL="355600" indent="-342900" algn="just">
              <a:spcBef>
                <a:spcPts val="430"/>
              </a:spcBef>
              <a:buFont typeface="Wingdings" panose="05000000000000000000" pitchFamily="2" charset="2"/>
              <a:buChar char="Ø"/>
            </a:pPr>
            <a:r>
              <a:rPr lang="en-US" sz="2800" b="1" kern="0" dirty="0" smtClean="0">
                <a:latin typeface="Times New Roman" panose="02020603050405020304" pitchFamily="18" charset="0"/>
                <a:cs typeface="Times New Roman" panose="02020603050405020304" pitchFamily="18" charset="0"/>
                <a:sym typeface="+mn-ea"/>
              </a:rPr>
              <a:t>TCL (Transaction Control Language)</a:t>
            </a:r>
            <a:endParaRPr lang="en-US" sz="2800" b="1" kern="0" dirty="0" smtClean="0">
              <a:latin typeface="Times New Roman" panose="02020603050405020304" pitchFamily="18" charset="0"/>
              <a:cs typeface="Times New Roman" panose="02020603050405020304" pitchFamily="18" charset="0"/>
            </a:endParaRPr>
          </a:p>
          <a:p>
            <a:pPr marL="591185" lvl="1" indent="-121285">
              <a:buSzPct val="90000"/>
              <a:buFont typeface="Wingdings" panose="05000000000000000000" pitchFamily="2" charset="2"/>
              <a:buChar char="ü"/>
              <a:tabLst>
                <a:tab pos="134620" algn="l"/>
              </a:tabLst>
            </a:pPr>
            <a:r>
              <a:rPr lang="en-US" sz="2800" kern="0" dirty="0" smtClean="0">
                <a:latin typeface="Times New Roman" panose="02020603050405020304" pitchFamily="18" charset="0"/>
                <a:cs typeface="Times New Roman" panose="02020603050405020304" pitchFamily="18" charset="0"/>
                <a:sym typeface="+mn-ea"/>
              </a:rPr>
              <a:t>TCL allows permanently recording the changes made to the rows stored in a table or undoing such changes</a:t>
            </a:r>
            <a:endParaRPr lang="en-US" sz="2800" kern="0" dirty="0" smtClean="0">
              <a:latin typeface="Times New Roman" panose="02020603050405020304" pitchFamily="18" charset="0"/>
              <a:cs typeface="Times New Roman" panose="02020603050405020304" pitchFamily="18" charset="0"/>
            </a:endParaRPr>
          </a:p>
          <a:p>
            <a:pPr marL="591185" marR="5080" lvl="1" indent="-121285">
              <a:spcBef>
                <a:spcPts val="295"/>
              </a:spcBef>
              <a:buSzPct val="90000"/>
              <a:buFont typeface="Wingdings" panose="05000000000000000000" pitchFamily="2" charset="2"/>
              <a:buChar char="ü"/>
              <a:tabLst>
                <a:tab pos="134620" algn="l"/>
              </a:tabLst>
            </a:pPr>
            <a:r>
              <a:rPr lang="en-US" sz="2800" kern="0" dirty="0" smtClean="0">
                <a:latin typeface="Times New Roman" panose="02020603050405020304" pitchFamily="18" charset="0"/>
                <a:cs typeface="Times New Roman" panose="02020603050405020304" pitchFamily="18" charset="0"/>
                <a:sym typeface="+mn-ea"/>
              </a:rPr>
              <a:t>COMMIT, ROLLBACK &amp; SAVEPOINT</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CODD’s Rule</a:t>
            </a:r>
            <a:endParaRPr lang="en-US"/>
          </a:p>
        </p:txBody>
      </p:sp>
      <p:sp>
        <p:nvSpPr>
          <p:cNvPr id="3" name="Content Placeholder 2"/>
          <p:cNvSpPr>
            <a:spLocks noGrp="1"/>
          </p:cNvSpPr>
          <p:nvPr>
            <p:ph idx="1"/>
          </p:nvPr>
        </p:nvSpPr>
        <p:spPr/>
        <p:txBody>
          <a:bodyPr>
            <a:normAutofit fontScale="90000" lnSpcReduction="20000"/>
          </a:bodyPr>
          <a:p>
            <a:pPr marL="355600" indent="-342900" algn="just">
              <a:spcBef>
                <a:spcPts val="430"/>
              </a:spcBef>
              <a:buFont typeface="Wingdings" panose="05000000000000000000" pitchFamily="2" charset="2"/>
              <a:buChar char="Ø"/>
            </a:pPr>
            <a:r>
              <a:rPr lang="en-US" spc="-10" dirty="0" err="1" smtClean="0">
                <a:latin typeface="Arial" panose="020B0604020202020204"/>
                <a:cs typeface="Arial" panose="020B0604020202020204"/>
                <a:sym typeface="+mn-ea"/>
              </a:rPr>
              <a:t>Codd</a:t>
            </a:r>
            <a:r>
              <a:rPr lang="en-US" spc="-55" dirty="0" err="1" smtClean="0">
                <a:latin typeface="Arial" panose="020B0604020202020204"/>
                <a:cs typeface="Arial" panose="020B0604020202020204"/>
                <a:sym typeface="+mn-ea"/>
              </a:rPr>
              <a:t>’</a:t>
            </a:r>
            <a:r>
              <a:rPr lang="en-US" spc="-5" dirty="0" err="1" smtClean="0">
                <a:latin typeface="Arial" panose="020B0604020202020204"/>
                <a:cs typeface="Arial" panose="020B0604020202020204"/>
                <a:sym typeface="+mn-ea"/>
              </a:rPr>
              <a:t>s</a:t>
            </a:r>
            <a:r>
              <a:rPr lang="en-US" spc="-5"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ules are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set of </a:t>
            </a:r>
            <a:r>
              <a:rPr lang="en-US" spc="-10" dirty="0" smtClean="0">
                <a:latin typeface="Arial" panose="020B0604020202020204"/>
                <a:cs typeface="Arial" panose="020B0604020202020204"/>
                <a:sym typeface="+mn-ea"/>
              </a:rPr>
              <a:t>12</a:t>
            </a:r>
            <a:r>
              <a:rPr lang="en-US" spc="-5"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ules </a:t>
            </a:r>
            <a:r>
              <a:rPr lang="en-US" spc="-10" dirty="0" smtClean="0">
                <a:latin typeface="Arial" panose="020B0604020202020204"/>
                <a:cs typeface="Arial" panose="020B0604020202020204"/>
                <a:sym typeface="+mn-ea"/>
              </a:rPr>
              <a:t>proposed</a:t>
            </a:r>
            <a:r>
              <a:rPr lang="en-US" spc="-5" dirty="0" smtClean="0">
                <a:latin typeface="Arial" panose="020B0604020202020204"/>
                <a:cs typeface="Arial" panose="020B0604020202020204"/>
                <a:sym typeface="+mn-ea"/>
              </a:rPr>
              <a:t> </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y E. </a:t>
            </a:r>
            <a:r>
              <a:rPr lang="en-US" spc="-160" dirty="0" smtClean="0">
                <a:latin typeface="Arial" panose="020B0604020202020204"/>
                <a:cs typeface="Arial" panose="020B0604020202020204"/>
                <a:sym typeface="+mn-ea"/>
              </a:rPr>
              <a:t>F</a:t>
            </a:r>
            <a:r>
              <a:rPr lang="en-US" spc="-5" dirty="0" smtClean="0">
                <a:latin typeface="Arial" panose="020B0604020202020204"/>
                <a:cs typeface="Arial" panose="020B0604020202020204"/>
                <a:sym typeface="+mn-ea"/>
              </a:rPr>
              <a:t>. </a:t>
            </a:r>
            <a:r>
              <a:rPr lang="en-US" spc="-10" dirty="0" err="1" smtClean="0">
                <a:latin typeface="Arial" panose="020B0604020202020204"/>
                <a:cs typeface="Arial" panose="020B0604020202020204"/>
                <a:sym typeface="+mn-ea"/>
              </a:rPr>
              <a:t>Codd</a:t>
            </a:r>
            <a:r>
              <a:rPr lang="en-US" spc="-5" dirty="0" smtClean="0">
                <a:latin typeface="Arial" panose="020B0604020202020204"/>
                <a:cs typeface="Arial" panose="020B0604020202020204"/>
                <a:sym typeface="+mn-ea"/>
              </a:rPr>
              <a:t> designed to define </a:t>
            </a:r>
            <a:r>
              <a:rPr lang="en-US" spc="-10" dirty="0" smtClean="0">
                <a:latin typeface="Arial" panose="020B0604020202020204"/>
                <a:cs typeface="Arial" panose="020B0604020202020204"/>
                <a:sym typeface="+mn-ea"/>
              </a:rPr>
              <a:t>what</a:t>
            </a:r>
            <a:r>
              <a:rPr lang="en-US" spc="-5" dirty="0" smtClean="0">
                <a:latin typeface="Arial" panose="020B0604020202020204"/>
                <a:cs typeface="Arial" panose="020B0604020202020204"/>
                <a:sym typeface="+mn-ea"/>
              </a:rPr>
              <a:t> is required from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database management</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system</a:t>
            </a:r>
            <a:r>
              <a:rPr lang="en-US" spc="-5" dirty="0" smtClean="0">
                <a:latin typeface="Arial" panose="020B0604020202020204"/>
                <a:cs typeface="Arial" panose="020B0604020202020204"/>
                <a:sym typeface="+mn-ea"/>
              </a:rPr>
              <a:t> in order </a:t>
            </a:r>
            <a:r>
              <a:rPr lang="en-US" spc="-35" dirty="0" smtClean="0">
                <a:latin typeface="Arial" panose="020B0604020202020204"/>
                <a:cs typeface="Arial" panose="020B0604020202020204"/>
                <a:sym typeface="+mn-ea"/>
              </a:rPr>
              <a:t>f</a:t>
            </a:r>
            <a:r>
              <a:rPr lang="en-US" spc="-5" dirty="0" smtClean="0">
                <a:latin typeface="Arial" panose="020B0604020202020204"/>
                <a:cs typeface="Arial" panose="020B0604020202020204"/>
                <a:sym typeface="+mn-ea"/>
              </a:rPr>
              <a:t>or it to </a:t>
            </a:r>
            <a:r>
              <a:rPr lang="en-US" spc="-10" dirty="0" smtClean="0">
                <a:latin typeface="Arial" panose="020B0604020202020204"/>
                <a:cs typeface="Arial" panose="020B0604020202020204"/>
                <a:sym typeface="+mn-ea"/>
              </a:rPr>
              <a:t>be</a:t>
            </a:r>
            <a:r>
              <a:rPr lang="en-US" spc="-5" dirty="0" smtClean="0">
                <a:latin typeface="Arial" panose="020B0604020202020204"/>
                <a:cs typeface="Arial" panose="020B0604020202020204"/>
                <a:sym typeface="+mn-ea"/>
              </a:rPr>
              <a:t> considered relational, i.</a:t>
            </a:r>
            <a:r>
              <a:rPr lang="en-US" spc="-25"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RDBM</a:t>
            </a:r>
            <a:r>
              <a:rPr lang="en-US" spc="-30" dirty="0" smtClean="0">
                <a:latin typeface="Arial" panose="020B0604020202020204"/>
                <a:cs typeface="Arial" panose="020B0604020202020204"/>
                <a:sym typeface="+mn-ea"/>
              </a:rPr>
              <a:t>S</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a:t>
            </a:r>
            <a:r>
              <a:rPr lang="en-US" spc="-25" dirty="0" smtClean="0">
                <a:latin typeface="Arial" panose="020B0604020202020204"/>
                <a:cs typeface="Arial" panose="020B0604020202020204"/>
                <a:sym typeface="+mn-ea"/>
              </a:rPr>
              <a:t>n</a:t>
            </a:r>
            <a:r>
              <a:rPr lang="en-US" spc="-5" dirty="0" smtClean="0">
                <a:latin typeface="Arial" panose="020B0604020202020204"/>
                <a:cs typeface="Arial" panose="020B0604020202020204"/>
                <a:sym typeface="+mn-ea"/>
              </a:rPr>
              <a:t>y </a:t>
            </a:r>
            <a:r>
              <a:rPr lang="en-US" spc="-10" dirty="0" smtClean="0">
                <a:latin typeface="Arial" panose="020B0604020202020204"/>
                <a:cs typeface="Arial" panose="020B0604020202020204"/>
                <a:sym typeface="+mn-ea"/>
              </a:rPr>
              <a:t>database</a:t>
            </a:r>
            <a:r>
              <a:rPr lang="en-US" spc="-5" dirty="0" smtClean="0">
                <a:latin typeface="Arial" panose="020B0604020202020204"/>
                <a:cs typeface="Arial" panose="020B0604020202020204"/>
                <a:sym typeface="+mn-ea"/>
              </a:rPr>
              <a:t> that satisfies </a:t>
            </a:r>
            <a:r>
              <a:rPr lang="en-US" spc="-40" dirty="0" smtClean="0">
                <a:latin typeface="Arial" panose="020B0604020202020204"/>
                <a:cs typeface="Arial" panose="020B0604020202020204"/>
                <a:sym typeface="+mn-ea"/>
              </a:rPr>
              <a:t>e</a:t>
            </a:r>
            <a:r>
              <a:rPr lang="en-US" spc="-30" dirty="0" smtClean="0">
                <a:latin typeface="Arial" panose="020B0604020202020204"/>
                <a:cs typeface="Arial" panose="020B0604020202020204"/>
                <a:sym typeface="+mn-ea"/>
              </a:rPr>
              <a:t>v</a:t>
            </a:r>
            <a:r>
              <a:rPr lang="en-US" spc="-10" dirty="0" smtClean="0">
                <a:latin typeface="Arial" panose="020B0604020202020204"/>
                <a:cs typeface="Arial" panose="020B0604020202020204"/>
                <a:sym typeface="+mn-ea"/>
              </a:rPr>
              <a:t>en</a:t>
            </a:r>
            <a:r>
              <a:rPr lang="en-US" spc="-5" dirty="0" smtClean="0">
                <a:latin typeface="Arial" panose="020B0604020202020204"/>
                <a:cs typeface="Arial" panose="020B0604020202020204"/>
                <a:sym typeface="+mn-ea"/>
              </a:rPr>
              <a:t> six </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ules </a:t>
            </a:r>
            <a:r>
              <a:rPr lang="en-US" spc="-10" dirty="0" smtClean="0">
                <a:latin typeface="Arial" panose="020B0604020202020204"/>
                <a:cs typeface="Arial" panose="020B0604020202020204"/>
                <a:sym typeface="+mn-ea"/>
              </a:rPr>
              <a:t>m</a:t>
            </a:r>
            <a:r>
              <a:rPr lang="en-US" spc="-4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y </a:t>
            </a:r>
            <a:r>
              <a:rPr lang="en-US" spc="-10" dirty="0" smtClean="0">
                <a:latin typeface="Arial" panose="020B0604020202020204"/>
                <a:cs typeface="Arial" panose="020B0604020202020204"/>
                <a:sym typeface="+mn-ea"/>
              </a:rPr>
              <a:t>be</a:t>
            </a:r>
            <a:r>
              <a:rPr lang="en-US" spc="-5" dirty="0" smtClean="0">
                <a:latin typeface="Arial" panose="020B0604020202020204"/>
                <a:cs typeface="Arial" panose="020B0604020202020204"/>
                <a:sym typeface="+mn-ea"/>
              </a:rPr>
              <a:t> catego</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i</a:t>
            </a:r>
            <a:r>
              <a:rPr lang="en-US" spc="-20" dirty="0" smtClean="0">
                <a:latin typeface="Arial" panose="020B0604020202020204"/>
                <a:cs typeface="Arial" panose="020B0604020202020204"/>
                <a:sym typeface="+mn-ea"/>
              </a:rPr>
              <a:t>z</a:t>
            </a:r>
            <a:r>
              <a:rPr lang="en-US" spc="-10" dirty="0" smtClean="0">
                <a:latin typeface="Arial" panose="020B0604020202020204"/>
                <a:cs typeface="Arial" panose="020B0604020202020204"/>
                <a:sym typeface="+mn-ea"/>
              </a:rPr>
              <a:t>ed</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as</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RDBMS.</a:t>
            </a:r>
            <a:endParaRPr lang="en-US"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Rule0: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relational </a:t>
            </a:r>
            <a:r>
              <a:rPr lang="en-US" spc="-10" dirty="0" smtClean="0">
                <a:latin typeface="Arial" panose="020B0604020202020204"/>
                <a:cs typeface="Arial" panose="020B0604020202020204"/>
                <a:sym typeface="+mn-ea"/>
              </a:rPr>
              <a:t>system</a:t>
            </a:r>
            <a:r>
              <a:rPr lang="en-US" spc="-5" dirty="0" smtClean="0">
                <a:latin typeface="Arial" panose="020B0604020202020204"/>
                <a:cs typeface="Arial" panose="020B0604020202020204"/>
                <a:sym typeface="+mn-ea"/>
              </a:rPr>
              <a:t> should </a:t>
            </a:r>
            <a:r>
              <a:rPr lang="en-US" spc="-10" dirty="0" smtClean="0">
                <a:latin typeface="Arial" panose="020B0604020202020204"/>
                <a:cs typeface="Arial" panose="020B0604020202020204"/>
                <a:sym typeface="+mn-ea"/>
              </a:rPr>
              <a:t>be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 to </a:t>
            </a:r>
            <a:r>
              <a:rPr lang="en-US" spc="-10" dirty="0" smtClean="0">
                <a:latin typeface="Arial" panose="020B0604020202020204"/>
                <a:cs typeface="Arial" panose="020B0604020202020204"/>
                <a:sym typeface="+mn-ea"/>
              </a:rPr>
              <a:t>manage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database</a:t>
            </a:r>
            <a:r>
              <a:rPr lang="en-US" spc="-20" dirty="0" smtClean="0">
                <a:latin typeface="Arial" panose="020B0604020202020204"/>
                <a:cs typeface="Arial" panose="020B0604020202020204"/>
                <a:sym typeface="+mn-ea"/>
              </a:rPr>
              <a:t>s</a:t>
            </a:r>
            <a:r>
              <a:rPr lang="en-US" spc="-5" dirty="0" smtClean="0">
                <a:latin typeface="Arial" panose="020B0604020202020204"/>
                <a:cs typeface="Arial" panose="020B0604020202020204"/>
                <a:sym typeface="+mn-ea"/>
              </a:rPr>
              <a:t>, entirely through its relational capabilities</a:t>
            </a:r>
            <a:endParaRPr lang="en-US"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Rule1: In</a:t>
            </a:r>
            <a:r>
              <a:rPr lang="en-US" b="1" spc="-25" dirty="0" smtClean="0">
                <a:solidFill>
                  <a:srgbClr val="0000FF"/>
                </a:solidFill>
                <a:latin typeface="Arial" panose="020B0604020202020204"/>
                <a:cs typeface="Arial" panose="020B0604020202020204"/>
                <a:sym typeface="+mn-ea"/>
              </a:rPr>
              <a:t>f</a:t>
            </a:r>
            <a:r>
              <a:rPr lang="en-US" b="1" spc="-5" dirty="0" smtClean="0">
                <a:solidFill>
                  <a:srgbClr val="0000FF"/>
                </a:solidFill>
                <a:latin typeface="Arial" panose="020B0604020202020204"/>
                <a:cs typeface="Arial" panose="020B0604020202020204"/>
                <a:sym typeface="+mn-ea"/>
              </a:rPr>
              <a:t>ormation representation: </a:t>
            </a:r>
            <a:r>
              <a:rPr lang="en-US" spc="-10" dirty="0" smtClean="0">
                <a:latin typeface="Arial" panose="020B0604020202020204"/>
                <a:cs typeface="Arial" panose="020B0604020202020204"/>
                <a:sym typeface="+mn-ea"/>
              </a:rPr>
              <a:t>The</a:t>
            </a:r>
            <a:r>
              <a:rPr lang="en-US" spc="-5" dirty="0" smtClean="0">
                <a:latin typeface="Arial" panose="020B0604020202020204"/>
                <a:cs typeface="Arial" panose="020B0604020202020204"/>
                <a:sym typeface="+mn-ea"/>
              </a:rPr>
              <a:t> entire in</a:t>
            </a:r>
            <a:r>
              <a:rPr lang="en-US" spc="-35" dirty="0" smtClean="0">
                <a:latin typeface="Arial" panose="020B0604020202020204"/>
                <a:cs typeface="Arial" panose="020B0604020202020204"/>
                <a:sym typeface="+mn-ea"/>
              </a:rPr>
              <a:t>f</a:t>
            </a:r>
            <a:r>
              <a:rPr lang="en-US" spc="-10" dirty="0" smtClean="0">
                <a:latin typeface="Arial" panose="020B0604020202020204"/>
                <a:cs typeface="Arial" panose="020B0604020202020204"/>
                <a:sym typeface="+mn-ea"/>
              </a:rPr>
              <a:t>o</a:t>
            </a:r>
            <a:r>
              <a:rPr lang="en-US" spc="2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mation is </a:t>
            </a:r>
            <a:r>
              <a:rPr lang="en-US" spc="-4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xplicitly </a:t>
            </a:r>
            <a:r>
              <a:rPr lang="en-US" spc="-10" dirty="0" smtClean="0">
                <a:latin typeface="Arial" panose="020B0604020202020204"/>
                <a:cs typeface="Arial" panose="020B0604020202020204"/>
                <a:sym typeface="+mn-ea"/>
              </a:rPr>
              <a:t>and</a:t>
            </a:r>
            <a:r>
              <a:rPr lang="en-US" spc="-5" dirty="0" smtClean="0">
                <a:latin typeface="Arial" panose="020B0604020202020204"/>
                <a:cs typeface="Arial" panose="020B0604020202020204"/>
                <a:sym typeface="+mn-ea"/>
              </a:rPr>
              <a:t> logically represented </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y the data </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alues of the ta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les in the relational data </a:t>
            </a:r>
            <a:r>
              <a:rPr lang="en-US" spc="-10" dirty="0" smtClean="0">
                <a:latin typeface="Arial" panose="020B0604020202020204"/>
                <a:cs typeface="Arial" panose="020B0604020202020204"/>
                <a:sym typeface="+mn-ea"/>
              </a:rPr>
              <a:t>model</a:t>
            </a:r>
            <a:endParaRPr lang="en-US" spc="-10"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Rule2: Guaranteed access: </a:t>
            </a:r>
            <a:r>
              <a:rPr lang="en-US" spc="-5" dirty="0" smtClean="0">
                <a:latin typeface="Arial" panose="020B0604020202020204"/>
                <a:cs typeface="Arial" panose="020B0604020202020204"/>
                <a:sym typeface="+mn-ea"/>
              </a:rPr>
              <a:t>In relational model, at </a:t>
            </a:r>
            <a:r>
              <a:rPr lang="en-US" spc="-10" dirty="0" smtClean="0">
                <a:latin typeface="Arial" panose="020B0604020202020204"/>
                <a:cs typeface="Arial" panose="020B0604020202020204"/>
                <a:sym typeface="+mn-ea"/>
              </a:rPr>
              <a:t>each</a:t>
            </a:r>
            <a:r>
              <a:rPr lang="en-US" spc="-5" dirty="0" smtClean="0">
                <a:latin typeface="Arial" panose="020B0604020202020204"/>
                <a:cs typeface="Arial" panose="020B0604020202020204"/>
                <a:sym typeface="+mn-ea"/>
              </a:rPr>
              <a:t> cell, i.</a:t>
            </a:r>
            <a:r>
              <a:rPr lang="en-US" spc="-25"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the inte</a:t>
            </a:r>
            <a:r>
              <a:rPr lang="en-US" spc="-1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action of </a:t>
            </a:r>
            <a:r>
              <a:rPr lang="en-US" spc="-10" dirty="0" smtClean="0">
                <a:latin typeface="Arial" panose="020B0604020202020204"/>
                <a:cs typeface="Arial" panose="020B0604020202020204"/>
                <a:sym typeface="+mn-ea"/>
              </a:rPr>
              <a:t>each</a:t>
            </a:r>
            <a:r>
              <a:rPr lang="en-US" spc="-5" dirty="0" smtClean="0">
                <a:latin typeface="Arial" panose="020B0604020202020204"/>
                <a:cs typeface="Arial" panose="020B0604020202020204"/>
                <a:sym typeface="+mn-ea"/>
              </a:rPr>
              <a:t> r</a:t>
            </a:r>
            <a:r>
              <a:rPr lang="en-US" spc="-25" dirty="0" smtClean="0">
                <a:latin typeface="Arial" panose="020B0604020202020204"/>
                <a:cs typeface="Arial" panose="020B0604020202020204"/>
                <a:sym typeface="+mn-ea"/>
              </a:rPr>
              <a:t>o</a:t>
            </a:r>
            <a:r>
              <a:rPr lang="en-US" spc="-10" dirty="0" smtClean="0">
                <a:latin typeface="Arial" panose="020B0604020202020204"/>
                <a:cs typeface="Arial" panose="020B0604020202020204"/>
                <a:sym typeface="+mn-ea"/>
              </a:rPr>
              <a:t>w</a:t>
            </a:r>
            <a:r>
              <a:rPr lang="en-US" spc="-5" dirty="0" smtClean="0">
                <a:latin typeface="Arial" panose="020B0604020202020204"/>
                <a:cs typeface="Arial" panose="020B0604020202020204"/>
                <a:sym typeface="+mn-ea"/>
              </a:rPr>
              <a:t> and column, it will </a:t>
            </a:r>
            <a:r>
              <a:rPr lang="en-US" spc="-10" dirty="0" smtClean="0">
                <a:latin typeface="Arial" panose="020B0604020202020204"/>
                <a:cs typeface="Arial" panose="020B0604020202020204"/>
                <a:sym typeface="+mn-ea"/>
              </a:rPr>
              <a:t>h</a:t>
            </a:r>
            <a:r>
              <a:rPr lang="en-US" spc="-30" dirty="0" smtClean="0">
                <a:latin typeface="Arial" panose="020B0604020202020204"/>
                <a:cs typeface="Arial" panose="020B0604020202020204"/>
                <a:sym typeface="+mn-ea"/>
              </a:rPr>
              <a:t>av</a:t>
            </a:r>
            <a:r>
              <a:rPr lang="en-US" spc="-1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one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and</a:t>
            </a:r>
            <a:r>
              <a:rPr lang="en-US" spc="-5" dirty="0" smtClean="0">
                <a:latin typeface="Arial" panose="020B0604020202020204"/>
                <a:cs typeface="Arial" panose="020B0604020202020204"/>
                <a:sym typeface="+mn-ea"/>
              </a:rPr>
              <a:t> only </a:t>
            </a:r>
            <a:r>
              <a:rPr lang="en-US" spc="-10" dirty="0" smtClean="0">
                <a:latin typeface="Arial" panose="020B0604020202020204"/>
                <a:cs typeface="Arial" panose="020B0604020202020204"/>
                <a:sym typeface="+mn-ea"/>
              </a:rPr>
              <a:t>one</a:t>
            </a:r>
            <a:r>
              <a:rPr lang="en-US" spc="-5" dirty="0" smtClean="0">
                <a:latin typeface="Arial" panose="020B0604020202020204"/>
                <a:cs typeface="Arial" panose="020B0604020202020204"/>
                <a:sym typeface="+mn-ea"/>
              </a:rPr>
              <a:t> </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alue of data (or</a:t>
            </a:r>
            <a:r>
              <a:rPr lang="en-US" spc="-10" dirty="0" smtClean="0">
                <a:latin typeface="Arial" panose="020B0604020202020204"/>
                <a:cs typeface="Arial" panose="020B0604020202020204"/>
                <a:sym typeface="+mn-ea"/>
              </a:rPr>
              <a:t> NULL</a:t>
            </a:r>
            <a:r>
              <a:rPr lang="en-US" spc="-5" dirty="0" smtClean="0">
                <a:latin typeface="Arial" panose="020B0604020202020204"/>
                <a:cs typeface="Arial" panose="020B0604020202020204"/>
                <a:sym typeface="+mn-ea"/>
              </a:rPr>
              <a:t> </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alue). </a:t>
            </a:r>
            <a:r>
              <a:rPr lang="en-US" spc="-10" dirty="0" smtClean="0">
                <a:latin typeface="Arial" panose="020B0604020202020204"/>
                <a:cs typeface="Arial" panose="020B0604020202020204"/>
                <a:sym typeface="+mn-ea"/>
              </a:rPr>
              <a:t>Each</a:t>
            </a:r>
            <a:r>
              <a:rPr lang="en-US" spc="-5" dirty="0" smtClean="0">
                <a:latin typeface="Arial" panose="020B0604020202020204"/>
                <a:cs typeface="Arial" panose="020B0604020202020204"/>
                <a:sym typeface="+mn-ea"/>
              </a:rPr>
              <a:t> </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alue of data </a:t>
            </a:r>
            <a:r>
              <a:rPr lang="en-US" spc="-20" dirty="0" smtClean="0">
                <a:latin typeface="Arial" panose="020B0604020202020204"/>
                <a:cs typeface="Arial" panose="020B0604020202020204"/>
                <a:sym typeface="+mn-ea"/>
              </a:rPr>
              <a:t>m</a:t>
            </a:r>
            <a:r>
              <a:rPr lang="en-US" spc="-5" dirty="0" smtClean="0">
                <a:latin typeface="Arial" panose="020B0604020202020204"/>
                <a:cs typeface="Arial" panose="020B0604020202020204"/>
                <a:sym typeface="+mn-ea"/>
              </a:rPr>
              <a:t>ust </a:t>
            </a:r>
            <a:r>
              <a:rPr lang="en-US" spc="-10" dirty="0" smtClean="0">
                <a:latin typeface="Arial" panose="020B0604020202020204"/>
                <a:cs typeface="Arial" panose="020B0604020202020204"/>
                <a:sym typeface="+mn-ea"/>
              </a:rPr>
              <a:t>be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addressa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 via the combination of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ta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 </a:t>
            </a:r>
            <a:r>
              <a:rPr lang="en-US" spc="-10" dirty="0" smtClean="0">
                <a:latin typeface="Arial" panose="020B0604020202020204"/>
                <a:cs typeface="Arial" panose="020B0604020202020204"/>
                <a:sym typeface="+mn-ea"/>
              </a:rPr>
              <a:t>nam</a:t>
            </a:r>
            <a:r>
              <a:rPr lang="en-US" spc="-25"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p</a:t>
            </a:r>
            <a:r>
              <a:rPr lang="en-US" spc="5" dirty="0" smtClean="0">
                <a:latin typeface="Arial" panose="020B0604020202020204"/>
                <a:cs typeface="Arial" panose="020B0604020202020204"/>
                <a:sym typeface="+mn-ea"/>
              </a:rPr>
              <a:t>r</a:t>
            </a:r>
            <a:r>
              <a:rPr lang="en-US" spc="-10" dirty="0" smtClean="0">
                <a:latin typeface="Arial" panose="020B0604020202020204"/>
                <a:cs typeface="Arial" panose="020B0604020202020204"/>
                <a:sym typeface="+mn-ea"/>
              </a:rPr>
              <a:t>ima</a:t>
            </a:r>
            <a:r>
              <a:rPr lang="en-US" spc="2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y </a:t>
            </a:r>
            <a:r>
              <a:rPr lang="en-US" spc="-30" dirty="0" smtClean="0">
                <a:latin typeface="Arial" panose="020B0604020202020204"/>
                <a:cs typeface="Arial" panose="020B0604020202020204"/>
                <a:sym typeface="+mn-ea"/>
              </a:rPr>
              <a:t>ke</a:t>
            </a:r>
            <a:r>
              <a:rPr lang="en-US" spc="-5" dirty="0" smtClean="0">
                <a:latin typeface="Arial" panose="020B0604020202020204"/>
                <a:cs typeface="Arial" panose="020B0604020202020204"/>
                <a:sym typeface="+mn-ea"/>
              </a:rPr>
              <a:t>y </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alue </a:t>
            </a:r>
            <a:r>
              <a:rPr lang="en-US" spc="-10" dirty="0" smtClean="0">
                <a:latin typeface="Arial" panose="020B0604020202020204"/>
                <a:cs typeface="Arial" panose="020B0604020202020204"/>
                <a:sym typeface="+mn-ea"/>
              </a:rPr>
              <a:t>and</a:t>
            </a:r>
            <a:r>
              <a:rPr lang="en-US" spc="-5" dirty="0" smtClean="0">
                <a:latin typeface="Arial" panose="020B0604020202020204"/>
                <a:cs typeface="Arial" panose="020B0604020202020204"/>
                <a:sym typeface="+mn-ea"/>
              </a:rPr>
              <a:t> the column </a:t>
            </a:r>
            <a:r>
              <a:rPr lang="en-US" spc="-10" dirty="0" smtClean="0">
                <a:latin typeface="Arial" panose="020B0604020202020204"/>
                <a:cs typeface="Arial" panose="020B0604020202020204"/>
                <a:sym typeface="+mn-ea"/>
              </a:rPr>
              <a:t>name</a:t>
            </a:r>
            <a:endParaRPr lang="en-US" dirty="0" smtClean="0">
              <a:latin typeface="Arial" panose="020B0604020202020204"/>
              <a:cs typeface="Arial" panose="020B0604020202020204"/>
            </a:endParaRPr>
          </a:p>
          <a:p>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 name="Content Placeholder 2"/>
          <p:cNvSpPr>
            <a:spLocks noGrp="1"/>
          </p:cNvSpPr>
          <p:nvPr>
            <p:ph idx="1"/>
          </p:nvPr>
        </p:nvSpPr>
        <p:spPr>
          <a:xfrm>
            <a:off x="838200" y="419100"/>
            <a:ext cx="10515600" cy="6264910"/>
          </a:xfrm>
        </p:spPr>
        <p:txBody>
          <a:bodyPr>
            <a:normAutofit fontScale="80000"/>
          </a:bodyPr>
          <a:p>
            <a:r>
              <a:rPr lang="en-US" b="1" spc="-5" dirty="0" smtClean="0">
                <a:solidFill>
                  <a:srgbClr val="0000FF"/>
                </a:solidFill>
                <a:latin typeface="Arial" panose="020B0604020202020204"/>
                <a:cs typeface="Arial" panose="020B0604020202020204"/>
                <a:sym typeface="+mn-ea"/>
              </a:rPr>
              <a:t>Rule3: Systematic treatment of </a:t>
            </a:r>
            <a:r>
              <a:rPr lang="en-US" b="1" spc="-10" dirty="0" smtClean="0">
                <a:solidFill>
                  <a:srgbClr val="0000FF"/>
                </a:solidFill>
                <a:latin typeface="Arial" panose="020B0604020202020204"/>
                <a:cs typeface="Arial" panose="020B0604020202020204"/>
                <a:sym typeface="+mn-ea"/>
              </a:rPr>
              <a:t>NULL</a:t>
            </a:r>
            <a:r>
              <a:rPr lang="en-US" b="1" spc="-5" dirty="0" smtClean="0">
                <a:solidFill>
                  <a:srgbClr val="0000FF"/>
                </a:solidFill>
                <a:latin typeface="Arial" panose="020B0604020202020204"/>
                <a:cs typeface="Arial" panose="020B0604020202020204"/>
                <a:sym typeface="+mn-ea"/>
              </a:rPr>
              <a:t> </a:t>
            </a:r>
            <a:r>
              <a:rPr lang="en-US" b="1" spc="-25" dirty="0" smtClean="0">
                <a:solidFill>
                  <a:srgbClr val="0000FF"/>
                </a:solidFill>
                <a:latin typeface="Arial" panose="020B0604020202020204"/>
                <a:cs typeface="Arial" panose="020B0604020202020204"/>
                <a:sym typeface="+mn-ea"/>
              </a:rPr>
              <a:t>v</a:t>
            </a:r>
            <a:r>
              <a:rPr lang="en-US" b="1" spc="-5" dirty="0" smtClean="0">
                <a:solidFill>
                  <a:srgbClr val="0000FF"/>
                </a:solidFill>
                <a:latin typeface="Arial" panose="020B0604020202020204"/>
                <a:cs typeface="Arial" panose="020B0604020202020204"/>
                <a:sym typeface="+mn-ea"/>
              </a:rPr>
              <a:t>alues: </a:t>
            </a:r>
            <a:r>
              <a:rPr lang="en-US" spc="-10" dirty="0" smtClean="0">
                <a:latin typeface="Arial" panose="020B0604020202020204"/>
                <a:cs typeface="Arial" panose="020B0604020202020204"/>
                <a:sym typeface="+mn-ea"/>
              </a:rPr>
              <a:t>NULL</a:t>
            </a:r>
            <a:r>
              <a:rPr lang="en-US" spc="-5" dirty="0" smtClean="0">
                <a:latin typeface="Arial" panose="020B0604020202020204"/>
                <a:cs typeface="Arial" panose="020B0604020202020204"/>
                <a:sym typeface="+mn-ea"/>
              </a:rPr>
              <a:t> </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alues are </a:t>
            </a:r>
            <a:r>
              <a:rPr lang="en-US" spc="-10" dirty="0" smtClean="0">
                <a:latin typeface="Arial" panose="020B0604020202020204"/>
                <a:cs typeface="Arial" panose="020B0604020202020204"/>
                <a:sym typeface="+mn-ea"/>
              </a:rPr>
              <a:t>suppo</a:t>
            </a:r>
            <a:r>
              <a:rPr lang="en-US" spc="2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ted in fully relational </a:t>
            </a:r>
            <a:r>
              <a:rPr lang="en-US" spc="-10" dirty="0" smtClean="0">
                <a:latin typeface="Arial" panose="020B0604020202020204"/>
                <a:cs typeface="Arial" panose="020B0604020202020204"/>
                <a:sym typeface="+mn-ea"/>
              </a:rPr>
              <a:t>DBMS</a:t>
            </a:r>
            <a:r>
              <a:rPr lang="en-US" spc="-5" dirty="0" smtClean="0">
                <a:latin typeface="Arial" panose="020B0604020202020204"/>
                <a:cs typeface="Arial" panose="020B0604020202020204"/>
                <a:sym typeface="+mn-ea"/>
              </a:rPr>
              <a:t> </a:t>
            </a:r>
            <a:r>
              <a:rPr lang="en-US" spc="-35" dirty="0" smtClean="0">
                <a:latin typeface="Arial" panose="020B0604020202020204"/>
                <a:cs typeface="Arial" panose="020B0604020202020204"/>
                <a:sym typeface="+mn-ea"/>
              </a:rPr>
              <a:t>f</a:t>
            </a:r>
            <a:r>
              <a:rPr lang="en-US" spc="-5" dirty="0" smtClean="0">
                <a:latin typeface="Arial" panose="020B0604020202020204"/>
                <a:cs typeface="Arial" panose="020B0604020202020204"/>
                <a:sym typeface="+mn-ea"/>
              </a:rPr>
              <a:t>or representing missing in</a:t>
            </a:r>
            <a:r>
              <a:rPr lang="en-US" spc="-35" dirty="0" smtClean="0">
                <a:latin typeface="Arial" panose="020B0604020202020204"/>
                <a:cs typeface="Arial" panose="020B0604020202020204"/>
                <a:sym typeface="+mn-ea"/>
              </a:rPr>
              <a:t>f</a:t>
            </a:r>
            <a:r>
              <a:rPr lang="en-US" spc="-10" dirty="0" smtClean="0">
                <a:latin typeface="Arial" panose="020B0604020202020204"/>
                <a:cs typeface="Arial" panose="020B0604020202020204"/>
                <a:sym typeface="+mn-ea"/>
              </a:rPr>
              <a:t>o</a:t>
            </a:r>
            <a:r>
              <a:rPr lang="en-US" spc="2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mation </a:t>
            </a:r>
            <a:r>
              <a:rPr lang="en-US" spc="-10" dirty="0" smtClean="0">
                <a:latin typeface="Arial" panose="020B0604020202020204"/>
                <a:cs typeface="Arial" panose="020B0604020202020204"/>
                <a:sym typeface="+mn-ea"/>
              </a:rPr>
              <a:t>and</a:t>
            </a:r>
            <a:r>
              <a:rPr lang="en-US" spc="-5" dirty="0" smtClean="0">
                <a:latin typeface="Arial" panose="020B0604020202020204"/>
                <a:cs typeface="Arial" panose="020B0604020202020204"/>
                <a:sym typeface="+mn-ea"/>
              </a:rPr>
              <a:t> inapplica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 in</a:t>
            </a:r>
            <a:r>
              <a:rPr lang="en-US" spc="-35" dirty="0" smtClean="0">
                <a:latin typeface="Arial" panose="020B0604020202020204"/>
                <a:cs typeface="Arial" panose="020B0604020202020204"/>
                <a:sym typeface="+mn-ea"/>
              </a:rPr>
              <a:t>f</a:t>
            </a:r>
            <a:r>
              <a:rPr lang="en-US" spc="-10" dirty="0" smtClean="0">
                <a:latin typeface="Arial" panose="020B0604020202020204"/>
                <a:cs typeface="Arial" panose="020B0604020202020204"/>
                <a:sym typeface="+mn-ea"/>
              </a:rPr>
              <a:t>o</a:t>
            </a:r>
            <a:r>
              <a:rPr lang="en-US" spc="2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mation in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systematic </a:t>
            </a:r>
            <a:r>
              <a:rPr lang="en-US" spc="-25" dirty="0" smtClean="0">
                <a:latin typeface="Arial" panose="020B0604020202020204"/>
                <a:cs typeface="Arial" panose="020B0604020202020204"/>
                <a:sym typeface="+mn-ea"/>
              </a:rPr>
              <a:t>w</a:t>
            </a:r>
            <a:r>
              <a:rPr lang="en-US" spc="-4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y independent of data type.</a:t>
            </a:r>
            <a:endParaRPr lang="en-US"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Rule4: Database description rule: </a:t>
            </a:r>
            <a:r>
              <a:rPr lang="en-US" spc="-10" dirty="0" smtClean="0">
                <a:latin typeface="Arial" panose="020B0604020202020204"/>
                <a:cs typeface="Arial" panose="020B0604020202020204"/>
                <a:sym typeface="+mn-ea"/>
              </a:rPr>
              <a:t>The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database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desc</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iption is represented at the logical l</a:t>
            </a:r>
            <a:r>
              <a:rPr lang="en-US" spc="-40" dirty="0" smtClean="0">
                <a:latin typeface="Arial" panose="020B0604020202020204"/>
                <a:cs typeface="Arial" panose="020B0604020202020204"/>
                <a:sym typeface="+mn-ea"/>
              </a:rPr>
              <a:t>e</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el in the </a:t>
            </a:r>
            <a:r>
              <a:rPr lang="en-US" spc="-10" dirty="0" smtClean="0">
                <a:latin typeface="Arial" panose="020B0604020202020204"/>
                <a:cs typeface="Arial" panose="020B0604020202020204"/>
                <a:sym typeface="+mn-ea"/>
              </a:rPr>
              <a:t>same</a:t>
            </a:r>
            <a:r>
              <a:rPr lang="en-US" spc="-5" dirty="0" smtClean="0">
                <a:latin typeface="Arial" panose="020B0604020202020204"/>
                <a:cs typeface="Arial" panose="020B0604020202020204"/>
                <a:sym typeface="+mn-ea"/>
              </a:rPr>
              <a:t> </a:t>
            </a:r>
            <a:r>
              <a:rPr lang="en-US" spc="-25" dirty="0" smtClean="0">
                <a:latin typeface="Arial" panose="020B0604020202020204"/>
                <a:cs typeface="Arial" panose="020B0604020202020204"/>
                <a:sym typeface="+mn-ea"/>
              </a:rPr>
              <a:t>w</a:t>
            </a:r>
            <a:r>
              <a:rPr lang="en-US" spc="-4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y </a:t>
            </a:r>
            <a:r>
              <a:rPr lang="en-US" spc="-10" dirty="0" smtClean="0">
                <a:latin typeface="Arial" panose="020B0604020202020204"/>
                <a:cs typeface="Arial" panose="020B0604020202020204"/>
                <a:sym typeface="+mn-ea"/>
              </a:rPr>
              <a:t>as</a:t>
            </a:r>
            <a:r>
              <a:rPr lang="en-US" spc="-5" dirty="0" smtClean="0">
                <a:latin typeface="Arial" panose="020B0604020202020204"/>
                <a:cs typeface="Arial" panose="020B0604020202020204"/>
                <a:sym typeface="+mn-ea"/>
              </a:rPr>
              <a:t> ordina</a:t>
            </a:r>
            <a:r>
              <a:rPr lang="en-US" spc="2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y data, </a:t>
            </a:r>
            <a:r>
              <a:rPr lang="en-US" spc="-10" dirty="0" smtClean="0">
                <a:latin typeface="Arial" panose="020B0604020202020204"/>
                <a:cs typeface="Arial" panose="020B0604020202020204"/>
                <a:sym typeface="+mn-ea"/>
              </a:rPr>
              <a:t>so</a:t>
            </a:r>
            <a:r>
              <a:rPr lang="en-US" spc="-5" dirty="0" smtClean="0">
                <a:latin typeface="Arial" panose="020B0604020202020204"/>
                <a:cs typeface="Arial" panose="020B0604020202020204"/>
                <a:sym typeface="+mn-ea"/>
              </a:rPr>
              <a:t> that autho</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i</a:t>
            </a:r>
            <a:r>
              <a:rPr lang="en-US" spc="-20" dirty="0" smtClean="0">
                <a:latin typeface="Arial" panose="020B0604020202020204"/>
                <a:cs typeface="Arial" panose="020B0604020202020204"/>
                <a:sym typeface="+mn-ea"/>
              </a:rPr>
              <a:t>z</a:t>
            </a:r>
            <a:r>
              <a:rPr lang="en-US" spc="-10" dirty="0" smtClean="0">
                <a:latin typeface="Arial" panose="020B0604020202020204"/>
                <a:cs typeface="Arial" panose="020B0604020202020204"/>
                <a:sym typeface="+mn-ea"/>
              </a:rPr>
              <a:t>ed</a:t>
            </a:r>
            <a:r>
              <a:rPr lang="en-US" spc="-5" dirty="0" smtClean="0">
                <a:latin typeface="Arial" panose="020B0604020202020204"/>
                <a:cs typeface="Arial" panose="020B0604020202020204"/>
                <a:sym typeface="+mn-ea"/>
              </a:rPr>
              <a:t> users </a:t>
            </a:r>
            <a:r>
              <a:rPr lang="en-US" spc="-10" dirty="0" smtClean="0">
                <a:latin typeface="Arial" panose="020B0604020202020204"/>
                <a:cs typeface="Arial" panose="020B0604020202020204"/>
                <a:sym typeface="+mn-ea"/>
              </a:rPr>
              <a:t>can</a:t>
            </a:r>
            <a:r>
              <a:rPr lang="en-US" spc="-5" dirty="0" smtClean="0">
                <a:latin typeface="Arial" panose="020B0604020202020204"/>
                <a:cs typeface="Arial" panose="020B0604020202020204"/>
                <a:sym typeface="+mn-ea"/>
              </a:rPr>
              <a:t> apply the </a:t>
            </a:r>
            <a:r>
              <a:rPr lang="en-US" spc="-10" dirty="0" smtClean="0">
                <a:latin typeface="Arial" panose="020B0604020202020204"/>
                <a:cs typeface="Arial" panose="020B0604020202020204"/>
                <a:sym typeface="+mn-ea"/>
              </a:rPr>
              <a:t>same</a:t>
            </a:r>
            <a:r>
              <a:rPr lang="en-US" spc="-5" dirty="0" smtClean="0">
                <a:latin typeface="Arial" panose="020B0604020202020204"/>
                <a:cs typeface="Arial" panose="020B0604020202020204"/>
                <a:sym typeface="+mn-ea"/>
              </a:rPr>
              <a:t> relational </a:t>
            </a:r>
            <a:r>
              <a:rPr lang="en-US" spc="-10" dirty="0" smtClean="0">
                <a:latin typeface="Arial" panose="020B0604020202020204"/>
                <a:cs typeface="Arial" panose="020B0604020202020204"/>
                <a:sym typeface="+mn-ea"/>
              </a:rPr>
              <a:t>language</a:t>
            </a:r>
            <a:r>
              <a:rPr lang="en-US" spc="-5" dirty="0" smtClean="0">
                <a:latin typeface="Arial" panose="020B0604020202020204"/>
                <a:cs typeface="Arial" panose="020B0604020202020204"/>
                <a:sym typeface="+mn-ea"/>
              </a:rPr>
              <a:t> to its interrogation </a:t>
            </a:r>
            <a:r>
              <a:rPr lang="en-US" spc="-10" dirty="0" smtClean="0">
                <a:latin typeface="Arial" panose="020B0604020202020204"/>
                <a:cs typeface="Arial" panose="020B0604020202020204"/>
                <a:sym typeface="+mn-ea"/>
              </a:rPr>
              <a:t>as</a:t>
            </a:r>
            <a:r>
              <a:rPr lang="en-US" spc="-5" dirty="0" smtClean="0">
                <a:latin typeface="Arial" panose="020B0604020202020204"/>
                <a:cs typeface="Arial" panose="020B0604020202020204"/>
                <a:sym typeface="+mn-ea"/>
              </a:rPr>
              <a:t> th</a:t>
            </a:r>
            <a:r>
              <a:rPr lang="en-US" spc="-3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y apply</a:t>
            </a:r>
            <a:r>
              <a:rPr lang="en-US" spc="-10"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to</a:t>
            </a:r>
            <a:r>
              <a:rPr lang="en-US" spc="-10"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the</a:t>
            </a:r>
            <a:r>
              <a:rPr lang="en-US" spc="-10"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regular</a:t>
            </a:r>
            <a:r>
              <a:rPr lang="en-US" spc="-10"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data.</a:t>
            </a:r>
            <a:r>
              <a:rPr lang="en-US" spc="-10"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This</a:t>
            </a:r>
            <a:r>
              <a:rPr lang="en-US" spc="-10" dirty="0" smtClean="0">
                <a:latin typeface="Arial" panose="020B0604020202020204"/>
                <a:cs typeface="Arial" panose="020B0604020202020204"/>
                <a:sym typeface="+mn-ea"/>
              </a:rPr>
              <a:t> mean</a:t>
            </a:r>
            <a:r>
              <a:rPr lang="en-US" spc="-20" dirty="0" smtClean="0">
                <a:latin typeface="Arial" panose="020B0604020202020204"/>
                <a:cs typeface="Arial" panose="020B0604020202020204"/>
                <a:sym typeface="+mn-ea"/>
              </a:rPr>
              <a:t>s</a:t>
            </a:r>
            <a:r>
              <a:rPr lang="en-US" spc="-5" dirty="0" smtClean="0">
                <a:latin typeface="Arial" panose="020B0604020202020204"/>
                <a:cs typeface="Arial" panose="020B0604020202020204"/>
                <a:sym typeface="+mn-ea"/>
              </a:rPr>
              <a:t>,</a:t>
            </a:r>
            <a:r>
              <a:rPr lang="en-US" spc="-10"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the</a:t>
            </a:r>
            <a:r>
              <a:rPr lang="en-US" spc="-10" dirty="0" smtClean="0">
                <a:latin typeface="Arial" panose="020B0604020202020204"/>
                <a:cs typeface="Arial" panose="020B0604020202020204"/>
                <a:sym typeface="+mn-ea"/>
              </a:rPr>
              <a:t> RDBMS </a:t>
            </a:r>
            <a:r>
              <a:rPr lang="en-US" spc="-5" dirty="0" smtClean="0">
                <a:latin typeface="Arial" panose="020B0604020202020204"/>
                <a:cs typeface="Arial" panose="020B0604020202020204"/>
                <a:sym typeface="+mn-ea"/>
              </a:rPr>
              <a:t>should</a:t>
            </a:r>
            <a:r>
              <a:rPr lang="en-US" spc="-10" dirty="0" smtClean="0">
                <a:latin typeface="Arial" panose="020B0604020202020204"/>
                <a:cs typeface="Arial" panose="020B0604020202020204"/>
                <a:sym typeface="+mn-ea"/>
              </a:rPr>
              <a:t> h</a:t>
            </a:r>
            <a:r>
              <a:rPr lang="en-US" spc="-30" dirty="0" smtClean="0">
                <a:latin typeface="Arial" panose="020B0604020202020204"/>
                <a:cs typeface="Arial" panose="020B0604020202020204"/>
                <a:sym typeface="+mn-ea"/>
              </a:rPr>
              <a:t>av</a:t>
            </a:r>
            <a:r>
              <a:rPr lang="en-US" spc="-1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a data dictiona</a:t>
            </a:r>
            <a:r>
              <a:rPr lang="en-US" spc="2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y</a:t>
            </a:r>
            <a:endParaRPr lang="en-US"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Rule5: </a:t>
            </a:r>
            <a:r>
              <a:rPr lang="en-US" b="1" spc="-10" dirty="0" smtClean="0">
                <a:solidFill>
                  <a:srgbClr val="0000FF"/>
                </a:solidFill>
                <a:latin typeface="Arial" panose="020B0604020202020204"/>
                <a:cs typeface="Arial" panose="020B0604020202020204"/>
                <a:sym typeface="+mn-ea"/>
              </a:rPr>
              <a:t>Comprehensive</a:t>
            </a:r>
            <a:r>
              <a:rPr lang="en-US" b="1" spc="-5" dirty="0" smtClean="0">
                <a:solidFill>
                  <a:srgbClr val="0000FF"/>
                </a:solidFill>
                <a:latin typeface="Arial" panose="020B0604020202020204"/>
                <a:cs typeface="Arial" panose="020B0604020202020204"/>
                <a:sym typeface="+mn-ea"/>
              </a:rPr>
              <a:t> data sub-langu</a:t>
            </a:r>
            <a:r>
              <a:rPr lang="en-US" b="1" spc="-15" dirty="0" smtClean="0">
                <a:solidFill>
                  <a:srgbClr val="0000FF"/>
                </a:solidFill>
                <a:latin typeface="Arial" panose="020B0604020202020204"/>
                <a:cs typeface="Arial" panose="020B0604020202020204"/>
                <a:sym typeface="+mn-ea"/>
              </a:rPr>
              <a:t>a</a:t>
            </a:r>
            <a:r>
              <a:rPr lang="en-US" b="1" spc="-5" dirty="0" smtClean="0">
                <a:solidFill>
                  <a:srgbClr val="0000FF"/>
                </a:solidFill>
                <a:latin typeface="Arial" panose="020B0604020202020204"/>
                <a:cs typeface="Arial" panose="020B0604020202020204"/>
                <a:sym typeface="+mn-ea"/>
              </a:rPr>
              <a:t>ge: </a:t>
            </a:r>
            <a:r>
              <a:rPr lang="en-US" spc="-10" dirty="0" smtClean="0">
                <a:latin typeface="Arial" panose="020B0604020202020204"/>
                <a:cs typeface="Arial" panose="020B0604020202020204"/>
                <a:sym typeface="+mn-ea"/>
              </a:rPr>
              <a:t>The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RDBMS</a:t>
            </a:r>
            <a:r>
              <a:rPr lang="en-US" spc="-5" dirty="0" smtClean="0">
                <a:latin typeface="Arial" panose="020B0604020202020204"/>
                <a:cs typeface="Arial" panose="020B0604020202020204"/>
                <a:sym typeface="+mn-ea"/>
              </a:rPr>
              <a:t> should </a:t>
            </a:r>
            <a:r>
              <a:rPr lang="en-US" spc="-10" dirty="0" smtClean="0">
                <a:latin typeface="Arial" panose="020B0604020202020204"/>
                <a:cs typeface="Arial" panose="020B0604020202020204"/>
                <a:sym typeface="+mn-ea"/>
              </a:rPr>
              <a:t>h</a:t>
            </a:r>
            <a:r>
              <a:rPr lang="en-US" spc="-30" dirty="0" smtClean="0">
                <a:latin typeface="Arial" panose="020B0604020202020204"/>
                <a:cs typeface="Arial" panose="020B0604020202020204"/>
                <a:sym typeface="+mn-ea"/>
              </a:rPr>
              <a:t>av</a:t>
            </a:r>
            <a:r>
              <a:rPr lang="en-US" spc="-1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its </a:t>
            </a:r>
            <a:r>
              <a:rPr lang="en-US" spc="-25" dirty="0" smtClean="0">
                <a:latin typeface="Arial" panose="020B0604020202020204"/>
                <a:cs typeface="Arial" panose="020B0604020202020204"/>
                <a:sym typeface="+mn-ea"/>
              </a:rPr>
              <a:t>o</a:t>
            </a:r>
            <a:r>
              <a:rPr lang="en-US" spc="-10" dirty="0" smtClean="0">
                <a:latin typeface="Arial" panose="020B0604020202020204"/>
                <a:cs typeface="Arial" panose="020B0604020202020204"/>
                <a:sym typeface="+mn-ea"/>
              </a:rPr>
              <a:t>wn</a:t>
            </a:r>
            <a:r>
              <a:rPr lang="en-US" spc="-5" dirty="0" smtClean="0">
                <a:latin typeface="Arial" panose="020B0604020202020204"/>
                <a:cs typeface="Arial" panose="020B0604020202020204"/>
                <a:sym typeface="+mn-ea"/>
              </a:rPr>
              <a:t> </a:t>
            </a:r>
            <a:r>
              <a:rPr lang="en-US" spc="-4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xtension of </a:t>
            </a:r>
            <a:r>
              <a:rPr lang="en-US" spc="-10" dirty="0" smtClean="0">
                <a:latin typeface="Arial" panose="020B0604020202020204"/>
                <a:cs typeface="Arial" panose="020B0604020202020204"/>
                <a:sym typeface="+mn-ea"/>
              </a:rPr>
              <a:t>SQL.</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The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SQL</a:t>
            </a:r>
            <a:r>
              <a:rPr lang="en-US" spc="-5" dirty="0" smtClean="0">
                <a:latin typeface="Arial" panose="020B0604020202020204"/>
                <a:cs typeface="Arial" panose="020B0604020202020204"/>
                <a:sym typeface="+mn-ea"/>
              </a:rPr>
              <a:t> should </a:t>
            </a:r>
            <a:r>
              <a:rPr lang="en-US" spc="-10" dirty="0" smtClean="0">
                <a:latin typeface="Arial" panose="020B0604020202020204"/>
                <a:cs typeface="Arial" panose="020B0604020202020204"/>
                <a:sym typeface="+mn-ea"/>
              </a:rPr>
              <a:t>suppo</a:t>
            </a:r>
            <a:r>
              <a:rPr lang="en-US" spc="2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t </a:t>
            </a:r>
            <a:r>
              <a:rPr lang="en-US" spc="-10" dirty="0" smtClean="0">
                <a:latin typeface="Arial" panose="020B0604020202020204"/>
                <a:cs typeface="Arial" panose="020B0604020202020204"/>
                <a:sym typeface="+mn-ea"/>
              </a:rPr>
              <a:t>Data</a:t>
            </a:r>
            <a:r>
              <a:rPr lang="en-US" spc="-5" dirty="0" smtClean="0">
                <a:latin typeface="Arial" panose="020B0604020202020204"/>
                <a:cs typeface="Arial" panose="020B0604020202020204"/>
                <a:sym typeface="+mn-ea"/>
              </a:rPr>
              <a:t> Definition, Vi</a:t>
            </a:r>
            <a:r>
              <a:rPr lang="en-US" spc="-30" dirty="0" smtClean="0">
                <a:latin typeface="Arial" panose="020B0604020202020204"/>
                <a:cs typeface="Arial" panose="020B0604020202020204"/>
                <a:sym typeface="+mn-ea"/>
              </a:rPr>
              <a:t>e</a:t>
            </a:r>
            <a:r>
              <a:rPr lang="en-US" spc="-10" dirty="0" smtClean="0">
                <a:latin typeface="Arial" panose="020B0604020202020204"/>
                <a:cs typeface="Arial" panose="020B0604020202020204"/>
                <a:sym typeface="+mn-ea"/>
              </a:rPr>
              <a:t>w</a:t>
            </a:r>
            <a:r>
              <a:rPr lang="en-US" spc="-5" dirty="0" smtClean="0">
                <a:latin typeface="Arial" panose="020B0604020202020204"/>
                <a:cs typeface="Arial" panose="020B0604020202020204"/>
                <a:sym typeface="+mn-ea"/>
              </a:rPr>
              <a:t> Definition, </a:t>
            </a:r>
            <a:r>
              <a:rPr lang="en-US" spc="-10" dirty="0" smtClean="0">
                <a:latin typeface="Arial" panose="020B0604020202020204"/>
                <a:cs typeface="Arial" panose="020B0604020202020204"/>
                <a:sym typeface="+mn-ea"/>
              </a:rPr>
              <a:t>Data</a:t>
            </a:r>
            <a:r>
              <a:rPr lang="en-US" spc="-5" dirty="0" smtClean="0">
                <a:latin typeface="Arial" panose="020B0604020202020204"/>
                <a:cs typeface="Arial" panose="020B0604020202020204"/>
                <a:sym typeface="+mn-ea"/>
              </a:rPr>
              <a:t> Manipulation, Inte</a:t>
            </a:r>
            <a:r>
              <a:rPr lang="en-US" spc="-20" dirty="0" smtClean="0">
                <a:latin typeface="Arial" panose="020B0604020202020204"/>
                <a:cs typeface="Arial" panose="020B0604020202020204"/>
                <a:sym typeface="+mn-ea"/>
              </a:rPr>
              <a:t>g</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ity </a:t>
            </a:r>
            <a:r>
              <a:rPr lang="en-US" spc="-10" dirty="0" smtClean="0">
                <a:latin typeface="Arial" panose="020B0604020202020204"/>
                <a:cs typeface="Arial" panose="020B0604020202020204"/>
                <a:sym typeface="+mn-ea"/>
              </a:rPr>
              <a:t>Const</a:t>
            </a:r>
            <a:r>
              <a:rPr lang="en-US" spc="-1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aint, </a:t>
            </a:r>
            <a:r>
              <a:rPr lang="en-US" spc="-10" dirty="0" smtClean="0">
                <a:latin typeface="Arial" panose="020B0604020202020204"/>
                <a:cs typeface="Arial" panose="020B0604020202020204"/>
                <a:sym typeface="+mn-ea"/>
              </a:rPr>
              <a:t>and</a:t>
            </a:r>
            <a:r>
              <a:rPr lang="en-US" spc="-5" dirty="0" smtClean="0">
                <a:latin typeface="Arial" panose="020B0604020202020204"/>
                <a:cs typeface="Arial" panose="020B0604020202020204"/>
                <a:sym typeface="+mn-ea"/>
              </a:rPr>
              <a:t> </a:t>
            </a:r>
            <a:r>
              <a:rPr lang="en-US" spc="-4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utho</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ization</a:t>
            </a:r>
            <a:endParaRPr lang="en-US"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Rule6: Vi</a:t>
            </a:r>
            <a:r>
              <a:rPr lang="en-US" b="1" spc="-20" dirty="0" smtClean="0">
                <a:solidFill>
                  <a:srgbClr val="0000FF"/>
                </a:solidFill>
                <a:latin typeface="Arial" panose="020B0604020202020204"/>
                <a:cs typeface="Arial" panose="020B0604020202020204"/>
                <a:sym typeface="+mn-ea"/>
              </a:rPr>
              <a:t>e</a:t>
            </a:r>
            <a:r>
              <a:rPr lang="en-US" b="1" spc="-10" dirty="0" smtClean="0">
                <a:solidFill>
                  <a:srgbClr val="0000FF"/>
                </a:solidFill>
                <a:latin typeface="Arial" panose="020B0604020202020204"/>
                <a:cs typeface="Arial" panose="020B0604020202020204"/>
                <a:sym typeface="+mn-ea"/>
              </a:rPr>
              <a:t>ws</a:t>
            </a:r>
            <a:r>
              <a:rPr lang="en-US" b="1" spc="-5" dirty="0" smtClean="0">
                <a:solidFill>
                  <a:srgbClr val="0000FF"/>
                </a:solidFill>
                <a:latin typeface="Arial" panose="020B0604020202020204"/>
                <a:cs typeface="Arial" panose="020B0604020202020204"/>
                <a:sym typeface="+mn-ea"/>
              </a:rPr>
              <a:t> updation:  </a:t>
            </a:r>
            <a:r>
              <a:rPr lang="en-US" spc="-5" dirty="0" smtClean="0">
                <a:latin typeface="Arial" panose="020B0604020202020204"/>
                <a:cs typeface="Arial" panose="020B0604020202020204"/>
                <a:sym typeface="+mn-ea"/>
              </a:rPr>
              <a:t>All vi</a:t>
            </a:r>
            <a:r>
              <a:rPr lang="en-US" spc="-30" dirty="0" smtClean="0">
                <a:latin typeface="Arial" panose="020B0604020202020204"/>
                <a:cs typeface="Arial" panose="020B0604020202020204"/>
                <a:sym typeface="+mn-ea"/>
              </a:rPr>
              <a:t>e</a:t>
            </a:r>
            <a:r>
              <a:rPr lang="en-US" spc="-10" dirty="0" smtClean="0">
                <a:latin typeface="Arial" panose="020B0604020202020204"/>
                <a:cs typeface="Arial" panose="020B0604020202020204"/>
                <a:sym typeface="+mn-ea"/>
              </a:rPr>
              <a:t>ws</a:t>
            </a:r>
            <a:r>
              <a:rPr lang="en-US" spc="-5" dirty="0" smtClean="0">
                <a:latin typeface="Arial" panose="020B0604020202020204"/>
                <a:cs typeface="Arial" panose="020B0604020202020204"/>
                <a:sym typeface="+mn-ea"/>
              </a:rPr>
              <a:t> that are theoretically updata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 are also updata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 </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y the system. Simila</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l</a:t>
            </a:r>
            <a:r>
              <a:rPr lang="en-US" spc="-105" dirty="0" smtClean="0">
                <a:latin typeface="Arial" panose="020B0604020202020204"/>
                <a:cs typeface="Arial" panose="020B0604020202020204"/>
                <a:sym typeface="+mn-ea"/>
              </a:rPr>
              <a:t>y</a:t>
            </a:r>
            <a:r>
              <a:rPr lang="en-US" spc="-5" dirty="0" smtClean="0">
                <a:latin typeface="Arial" panose="020B0604020202020204"/>
                <a:cs typeface="Arial" panose="020B0604020202020204"/>
                <a:sym typeface="+mn-ea"/>
              </a:rPr>
              <a:t>, the vi</a:t>
            </a:r>
            <a:r>
              <a:rPr lang="en-US" spc="-30" dirty="0" smtClean="0">
                <a:latin typeface="Arial" panose="020B0604020202020204"/>
                <a:cs typeface="Arial" panose="020B0604020202020204"/>
                <a:sym typeface="+mn-ea"/>
              </a:rPr>
              <a:t>e</a:t>
            </a:r>
            <a:r>
              <a:rPr lang="en-US" spc="-10" dirty="0" smtClean="0">
                <a:latin typeface="Arial" panose="020B0604020202020204"/>
                <a:cs typeface="Arial" panose="020B0604020202020204"/>
                <a:sym typeface="+mn-ea"/>
              </a:rPr>
              <a:t>ws</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which</a:t>
            </a:r>
            <a:r>
              <a:rPr lang="en-US" spc="-5" dirty="0" smtClean="0">
                <a:latin typeface="Arial" panose="020B0604020202020204"/>
                <a:cs typeface="Arial" panose="020B0604020202020204"/>
                <a:sym typeface="+mn-ea"/>
              </a:rPr>
              <a:t> are theoretically non-updata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 are also non-updata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 </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y the </a:t>
            </a:r>
            <a:r>
              <a:rPr lang="en-US" spc="-10" dirty="0" smtClean="0">
                <a:latin typeface="Arial" panose="020B0604020202020204"/>
                <a:cs typeface="Arial" panose="020B0604020202020204"/>
                <a:sym typeface="+mn-ea"/>
              </a:rPr>
              <a:t>database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system.</a:t>
            </a:r>
            <a:endParaRPr lang="en-US" spc="-10"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Rule7: High-l</a:t>
            </a:r>
            <a:r>
              <a:rPr lang="en-US" b="1" spc="-20" dirty="0" smtClean="0">
                <a:solidFill>
                  <a:srgbClr val="0000FF"/>
                </a:solidFill>
                <a:latin typeface="Arial" panose="020B0604020202020204"/>
                <a:cs typeface="Arial" panose="020B0604020202020204"/>
                <a:sym typeface="+mn-ea"/>
              </a:rPr>
              <a:t>e</a:t>
            </a:r>
            <a:r>
              <a:rPr lang="en-US" b="1" spc="-5" dirty="0" smtClean="0">
                <a:solidFill>
                  <a:srgbClr val="0000FF"/>
                </a:solidFill>
                <a:latin typeface="Arial" panose="020B0604020202020204"/>
                <a:cs typeface="Arial" panose="020B0604020202020204"/>
                <a:sym typeface="+mn-ea"/>
              </a:rPr>
              <a:t>vel updat</a:t>
            </a:r>
            <a:r>
              <a:rPr lang="en-US" b="1" dirty="0" smtClean="0">
                <a:solidFill>
                  <a:srgbClr val="0000FF"/>
                </a:solidFill>
                <a:latin typeface="Arial" panose="020B0604020202020204"/>
                <a:cs typeface="Arial" panose="020B0604020202020204"/>
                <a:sym typeface="+mn-ea"/>
              </a:rPr>
              <a:t>e</a:t>
            </a:r>
            <a:r>
              <a:rPr lang="en-US" b="1" spc="-5" dirty="0" smtClean="0">
                <a:solidFill>
                  <a:srgbClr val="0000FF"/>
                </a:solidFill>
                <a:latin typeface="Arial" panose="020B0604020202020204"/>
                <a:cs typeface="Arial" panose="020B0604020202020204"/>
                <a:sym typeface="+mn-ea"/>
              </a:rPr>
              <a:t>, inse</a:t>
            </a:r>
            <a:r>
              <a:rPr lang="en-US" b="1" spc="5" dirty="0" smtClean="0">
                <a:solidFill>
                  <a:srgbClr val="0000FF"/>
                </a:solidFill>
                <a:latin typeface="Arial" panose="020B0604020202020204"/>
                <a:cs typeface="Arial" panose="020B0604020202020204"/>
                <a:sym typeface="+mn-ea"/>
              </a:rPr>
              <a:t>r</a:t>
            </a:r>
            <a:r>
              <a:rPr lang="en-US" b="1" spc="-5" dirty="0" smtClean="0">
                <a:solidFill>
                  <a:srgbClr val="0000FF"/>
                </a:solidFill>
                <a:latin typeface="Arial" panose="020B0604020202020204"/>
                <a:cs typeface="Arial" panose="020B0604020202020204"/>
                <a:sym typeface="+mn-ea"/>
              </a:rPr>
              <a:t>t, deletes: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RDBMS</a:t>
            </a:r>
            <a:r>
              <a:rPr lang="en-US" spc="-5" dirty="0" smtClean="0">
                <a:latin typeface="Arial" panose="020B0604020202020204"/>
                <a:cs typeface="Arial" panose="020B0604020202020204"/>
                <a:sym typeface="+mn-ea"/>
              </a:rPr>
              <a:t> should not only </a:t>
            </a:r>
            <a:r>
              <a:rPr lang="en-US" spc="-10" dirty="0" smtClean="0">
                <a:latin typeface="Arial" panose="020B0604020202020204"/>
                <a:cs typeface="Arial" panose="020B0604020202020204"/>
                <a:sym typeface="+mn-ea"/>
              </a:rPr>
              <a:t>suppo</a:t>
            </a:r>
            <a:r>
              <a:rPr lang="en-US" spc="2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t ret</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i</a:t>
            </a:r>
            <a:r>
              <a:rPr lang="en-US" spc="-40" dirty="0" smtClean="0">
                <a:latin typeface="Arial" panose="020B0604020202020204"/>
                <a:cs typeface="Arial" panose="020B0604020202020204"/>
                <a:sym typeface="+mn-ea"/>
              </a:rPr>
              <a:t>e</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 of data </a:t>
            </a:r>
            <a:r>
              <a:rPr lang="en-US" spc="-10" dirty="0" smtClean="0">
                <a:latin typeface="Arial" panose="020B0604020202020204"/>
                <a:cs typeface="Arial" panose="020B0604020202020204"/>
                <a:sym typeface="+mn-ea"/>
              </a:rPr>
              <a:t>as</a:t>
            </a:r>
            <a:r>
              <a:rPr lang="en-US" spc="-5" dirty="0" smtClean="0">
                <a:latin typeface="Arial" panose="020B0604020202020204"/>
                <a:cs typeface="Arial" panose="020B0604020202020204"/>
                <a:sym typeface="+mn-ea"/>
              </a:rPr>
              <a:t> relational set</a:t>
            </a:r>
            <a:r>
              <a:rPr lang="en-US" spc="-20" dirty="0" smtClean="0">
                <a:latin typeface="Arial" panose="020B0604020202020204"/>
                <a:cs typeface="Arial" panose="020B0604020202020204"/>
                <a:sym typeface="+mn-ea"/>
              </a:rPr>
              <a:t>s</a:t>
            </a:r>
            <a:r>
              <a:rPr lang="en-US" spc="-5" dirty="0" smtClean="0">
                <a:latin typeface="Arial" panose="020B0604020202020204"/>
                <a:cs typeface="Arial" panose="020B0604020202020204"/>
                <a:sym typeface="+mn-ea"/>
              </a:rPr>
              <a:t>, </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ut should also </a:t>
            </a:r>
            <a:r>
              <a:rPr lang="en-US" spc="-10" dirty="0" smtClean="0">
                <a:latin typeface="Arial" panose="020B0604020202020204"/>
                <a:cs typeface="Arial" panose="020B0604020202020204"/>
                <a:sym typeface="+mn-ea"/>
              </a:rPr>
              <a:t>suppo</a:t>
            </a:r>
            <a:r>
              <a:rPr lang="en-US" spc="2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t inse</a:t>
            </a:r>
            <a:r>
              <a:rPr lang="en-US" spc="2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tion, updation </a:t>
            </a:r>
            <a:r>
              <a:rPr lang="en-US" spc="-10" dirty="0" smtClean="0">
                <a:latin typeface="Arial" panose="020B0604020202020204"/>
                <a:cs typeface="Arial" panose="020B0604020202020204"/>
                <a:sym typeface="+mn-ea"/>
              </a:rPr>
              <a:t>and</a:t>
            </a:r>
            <a:r>
              <a:rPr lang="en-US" spc="-5" dirty="0" smtClean="0">
                <a:latin typeface="Arial" panose="020B0604020202020204"/>
                <a:cs typeface="Arial" panose="020B0604020202020204"/>
                <a:sym typeface="+mn-ea"/>
              </a:rPr>
              <a:t> deletion of data </a:t>
            </a:r>
            <a:r>
              <a:rPr lang="en-US" spc="-10" dirty="0" smtClean="0">
                <a:latin typeface="Arial" panose="020B0604020202020204"/>
                <a:cs typeface="Arial" panose="020B0604020202020204"/>
                <a:sym typeface="+mn-ea"/>
              </a:rPr>
              <a:t>as</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relational set.</a:t>
            </a:r>
            <a:endParaRPr lang="en-US" spc="-5"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Rule8: </a:t>
            </a:r>
            <a:r>
              <a:rPr lang="en-US" b="1" spc="-10" dirty="0" smtClean="0">
                <a:solidFill>
                  <a:srgbClr val="0000FF"/>
                </a:solidFill>
                <a:latin typeface="Arial" panose="020B0604020202020204"/>
                <a:cs typeface="Arial" panose="020B0604020202020204"/>
                <a:sym typeface="+mn-ea"/>
              </a:rPr>
              <a:t>P</a:t>
            </a:r>
            <a:r>
              <a:rPr lang="en-US" b="1" spc="-30" dirty="0" smtClean="0">
                <a:solidFill>
                  <a:srgbClr val="0000FF"/>
                </a:solidFill>
                <a:latin typeface="Arial" panose="020B0604020202020204"/>
                <a:cs typeface="Arial" panose="020B0604020202020204"/>
                <a:sym typeface="+mn-ea"/>
              </a:rPr>
              <a:t>h</a:t>
            </a:r>
            <a:r>
              <a:rPr lang="en-US" b="1" spc="-5" dirty="0" smtClean="0">
                <a:solidFill>
                  <a:srgbClr val="0000FF"/>
                </a:solidFill>
                <a:latin typeface="Arial" panose="020B0604020202020204"/>
                <a:cs typeface="Arial" panose="020B0604020202020204"/>
                <a:sym typeface="+mn-ea"/>
              </a:rPr>
              <a:t>ysical data independence: </a:t>
            </a:r>
            <a:r>
              <a:rPr lang="en-US" spc="-5" dirty="0" smtClean="0">
                <a:latin typeface="Arial" panose="020B0604020202020204"/>
                <a:cs typeface="Arial" panose="020B0604020202020204"/>
                <a:sym typeface="+mn-ea"/>
              </a:rPr>
              <a:t>Application pro</a:t>
            </a:r>
            <a:r>
              <a:rPr lang="en-US" spc="-15" dirty="0" smtClean="0">
                <a:latin typeface="Arial" panose="020B0604020202020204"/>
                <a:cs typeface="Arial" panose="020B0604020202020204"/>
                <a:sym typeface="+mn-ea"/>
              </a:rPr>
              <a:t>gr</a:t>
            </a:r>
            <a:r>
              <a:rPr lang="en-US" spc="-10" dirty="0" smtClean="0">
                <a:latin typeface="Arial" panose="020B0604020202020204"/>
                <a:cs typeface="Arial" panose="020B0604020202020204"/>
                <a:sym typeface="+mn-ea"/>
              </a:rPr>
              <a:t>ams</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and</a:t>
            </a:r>
            <a:r>
              <a:rPr lang="en-US" spc="-5" dirty="0" smtClean="0">
                <a:latin typeface="Arial" panose="020B0604020202020204"/>
                <a:cs typeface="Arial" panose="020B0604020202020204"/>
                <a:sym typeface="+mn-ea"/>
              </a:rPr>
              <a:t> te</a:t>
            </a:r>
            <a:r>
              <a:rPr lang="en-US" spc="1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minal activities are not disturbed if a</a:t>
            </a:r>
            <a:r>
              <a:rPr lang="en-US" spc="-25" dirty="0" smtClean="0">
                <a:latin typeface="Arial" panose="020B0604020202020204"/>
                <a:cs typeface="Arial" panose="020B0604020202020204"/>
                <a:sym typeface="+mn-ea"/>
              </a:rPr>
              <a:t>n</a:t>
            </a:r>
            <a:r>
              <a:rPr lang="en-US" spc="-5" dirty="0" smtClean="0">
                <a:latin typeface="Arial" panose="020B0604020202020204"/>
                <a:cs typeface="Arial" panose="020B0604020202020204"/>
                <a:sym typeface="+mn-ea"/>
              </a:rPr>
              <a:t>y </a:t>
            </a:r>
            <a:r>
              <a:rPr lang="en-US" spc="-10" dirty="0" smtClean="0">
                <a:latin typeface="Arial" panose="020B0604020202020204"/>
                <a:cs typeface="Arial" panose="020B0604020202020204"/>
                <a:sym typeface="+mn-ea"/>
              </a:rPr>
              <a:t>changes</a:t>
            </a:r>
            <a:r>
              <a:rPr lang="en-US" spc="-5" dirty="0" smtClean="0">
                <a:latin typeface="Arial" panose="020B0604020202020204"/>
                <a:cs typeface="Arial" panose="020B0604020202020204"/>
                <a:sym typeface="+mn-ea"/>
              </a:rPr>
              <a:t> are </a:t>
            </a:r>
            <a:r>
              <a:rPr lang="en-US" spc="-10" dirty="0" smtClean="0">
                <a:latin typeface="Arial" panose="020B0604020202020204"/>
                <a:cs typeface="Arial" panose="020B0604020202020204"/>
                <a:sym typeface="+mn-ea"/>
              </a:rPr>
              <a:t>made</a:t>
            </a:r>
            <a:r>
              <a:rPr lang="en-US" spc="-5" dirty="0" smtClean="0">
                <a:latin typeface="Arial" panose="020B0604020202020204"/>
                <a:cs typeface="Arial" panose="020B0604020202020204"/>
                <a:sym typeface="+mn-ea"/>
              </a:rPr>
              <a:t> either in sto</a:t>
            </a:r>
            <a:r>
              <a:rPr lang="en-US" spc="-15" dirty="0" smtClean="0">
                <a:latin typeface="Arial" panose="020B0604020202020204"/>
                <a:cs typeface="Arial" panose="020B0604020202020204"/>
                <a:sym typeface="+mn-ea"/>
              </a:rPr>
              <a:t>r</a:t>
            </a:r>
            <a:r>
              <a:rPr lang="en-US" spc="-10" dirty="0" smtClean="0">
                <a:latin typeface="Arial" panose="020B0604020202020204"/>
                <a:cs typeface="Arial" panose="020B0604020202020204"/>
                <a:sym typeface="+mn-ea"/>
              </a:rPr>
              <a:t>age</a:t>
            </a:r>
            <a:r>
              <a:rPr lang="en-US" spc="-5" dirty="0" smtClean="0">
                <a:latin typeface="Arial" panose="020B0604020202020204"/>
                <a:cs typeface="Arial" panose="020B0604020202020204"/>
                <a:sym typeface="+mn-ea"/>
              </a:rPr>
              <a:t> representations or access </a:t>
            </a:r>
            <a:r>
              <a:rPr lang="en-US" spc="-10" dirty="0" smtClean="0">
                <a:latin typeface="Arial" panose="020B0604020202020204"/>
                <a:cs typeface="Arial" panose="020B0604020202020204"/>
                <a:sym typeface="+mn-ea"/>
              </a:rPr>
              <a:t>methods.</a:t>
            </a:r>
            <a:endParaRPr lang="en-US" spc="-10" dirty="0" smtClean="0">
              <a:latin typeface="Arial" panose="020B0604020202020204"/>
              <a:cs typeface="Arial" panose="020B0604020202020204"/>
            </a:endParaRPr>
          </a:p>
          <a:p>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 name="Content Placeholder 2"/>
          <p:cNvSpPr>
            <a:spLocks noGrp="1"/>
          </p:cNvSpPr>
          <p:nvPr>
            <p:ph idx="1"/>
          </p:nvPr>
        </p:nvSpPr>
        <p:spPr>
          <a:xfrm>
            <a:off x="838200" y="362585"/>
            <a:ext cx="10515600" cy="5814695"/>
          </a:xfrm>
        </p:spPr>
        <p:txBody>
          <a:bodyPr>
            <a:normAutofit fontScale="80000"/>
          </a:bodyPr>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 9: Logical data independence: </a:t>
            </a:r>
            <a:r>
              <a:rPr lang="en-US" spc="-10" dirty="0" smtClean="0">
                <a:latin typeface="Arial" panose="020B0604020202020204"/>
                <a:cs typeface="Arial" panose="020B0604020202020204"/>
                <a:sym typeface="+mn-ea"/>
              </a:rPr>
              <a:t>User</a:t>
            </a:r>
            <a:r>
              <a:rPr lang="en-US" spc="-5" dirty="0" smtClean="0">
                <a:latin typeface="Arial" panose="020B0604020202020204"/>
                <a:cs typeface="Arial" panose="020B0604020202020204"/>
                <a:sym typeface="+mn-ea"/>
              </a:rPr>
              <a:t> pro</a:t>
            </a:r>
            <a:r>
              <a:rPr lang="en-US" spc="-15" dirty="0" smtClean="0">
                <a:latin typeface="Arial" panose="020B0604020202020204"/>
                <a:cs typeface="Arial" panose="020B0604020202020204"/>
                <a:sym typeface="+mn-ea"/>
              </a:rPr>
              <a:t>gr</a:t>
            </a:r>
            <a:r>
              <a:rPr lang="en-US" spc="-10" dirty="0" smtClean="0">
                <a:latin typeface="Arial" panose="020B0604020202020204"/>
                <a:cs typeface="Arial" panose="020B0604020202020204"/>
                <a:sym typeface="+mn-ea"/>
              </a:rPr>
              <a:t>ams</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and</a:t>
            </a:r>
            <a:r>
              <a:rPr lang="en-US" spc="-5" dirty="0" smtClean="0">
                <a:latin typeface="Arial" panose="020B0604020202020204"/>
                <a:cs typeface="Arial" panose="020B0604020202020204"/>
                <a:sym typeface="+mn-ea"/>
              </a:rPr>
              <a:t> the user should not </a:t>
            </a:r>
            <a:r>
              <a:rPr lang="en-US" spc="-10" dirty="0" smtClean="0">
                <a:latin typeface="Arial" panose="020B0604020202020204"/>
                <a:cs typeface="Arial" panose="020B0604020202020204"/>
                <a:sym typeface="+mn-ea"/>
              </a:rPr>
              <a:t>be</a:t>
            </a:r>
            <a:r>
              <a:rPr lang="en-US" spc="-5" dirty="0" smtClean="0">
                <a:latin typeface="Arial" panose="020B0604020202020204"/>
                <a:cs typeface="Arial" panose="020B0604020202020204"/>
                <a:sym typeface="+mn-ea"/>
              </a:rPr>
              <a:t> </a:t>
            </a:r>
            <a:r>
              <a:rPr lang="en-US" spc="-30" dirty="0" smtClean="0">
                <a:latin typeface="Arial" panose="020B0604020202020204"/>
                <a:cs typeface="Arial" panose="020B0604020202020204"/>
                <a:sym typeface="+mn-ea"/>
              </a:rPr>
              <a:t>a</a:t>
            </a:r>
            <a:r>
              <a:rPr lang="en-US" spc="-25" dirty="0" smtClean="0">
                <a:latin typeface="Arial" panose="020B0604020202020204"/>
                <a:cs typeface="Arial" panose="020B0604020202020204"/>
                <a:sym typeface="+mn-ea"/>
              </a:rPr>
              <a:t>w</a:t>
            </a:r>
            <a:r>
              <a:rPr lang="en-US" spc="-5" dirty="0" smtClean="0">
                <a:latin typeface="Arial" panose="020B0604020202020204"/>
                <a:cs typeface="Arial" panose="020B0604020202020204"/>
                <a:sym typeface="+mn-ea"/>
              </a:rPr>
              <a:t>are of </a:t>
            </a:r>
            <a:r>
              <a:rPr lang="en-US" spc="-10" dirty="0" smtClean="0">
                <a:latin typeface="Arial" panose="020B0604020202020204"/>
                <a:cs typeface="Arial" panose="020B0604020202020204"/>
                <a:sym typeface="+mn-ea"/>
              </a:rPr>
              <a:t>a</a:t>
            </a:r>
            <a:r>
              <a:rPr lang="en-US" spc="-25" dirty="0" smtClean="0">
                <a:latin typeface="Arial" panose="020B0604020202020204"/>
                <a:cs typeface="Arial" panose="020B0604020202020204"/>
                <a:sym typeface="+mn-ea"/>
              </a:rPr>
              <a:t>n</a:t>
            </a:r>
            <a:r>
              <a:rPr lang="en-US" spc="-5" dirty="0" smtClean="0">
                <a:latin typeface="Arial" panose="020B0604020202020204"/>
                <a:cs typeface="Arial" panose="020B0604020202020204"/>
                <a:sym typeface="+mn-ea"/>
              </a:rPr>
              <a:t>y changes to the st</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ucture of the ta</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les </a:t>
            </a:r>
            <a:r>
              <a:rPr lang="en-US" spc="-10" dirty="0" smtClean="0">
                <a:latin typeface="Arial" panose="020B0604020202020204"/>
                <a:cs typeface="Arial" panose="020B0604020202020204"/>
                <a:sym typeface="+mn-ea"/>
              </a:rPr>
              <a:t>such</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as</a:t>
            </a:r>
            <a:r>
              <a:rPr lang="en-US" spc="-5" dirty="0" smtClean="0">
                <a:latin typeface="Arial" panose="020B0604020202020204"/>
                <a:cs typeface="Arial" panose="020B0604020202020204"/>
                <a:sym typeface="+mn-ea"/>
              </a:rPr>
              <a:t> the addition of </a:t>
            </a:r>
            <a:r>
              <a:rPr lang="en-US" spc="-4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xt</a:t>
            </a:r>
            <a:r>
              <a:rPr lang="en-US" spc="-15" dirty="0" smtClean="0">
                <a:latin typeface="Arial" panose="020B0604020202020204"/>
                <a:cs typeface="Arial" panose="020B0604020202020204"/>
                <a:sym typeface="+mn-ea"/>
              </a:rPr>
              <a:t>r</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columns</a:t>
            </a:r>
            <a:endParaRPr lang="en-US" spc="-10"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Rule10: Distri</a:t>
            </a:r>
            <a:r>
              <a:rPr lang="en-US" b="1" spc="-30" dirty="0" smtClean="0">
                <a:solidFill>
                  <a:srgbClr val="0000FF"/>
                </a:solidFill>
                <a:latin typeface="Arial" panose="020B0604020202020204"/>
                <a:cs typeface="Arial" panose="020B0604020202020204"/>
                <a:sym typeface="+mn-ea"/>
              </a:rPr>
              <a:t>b</a:t>
            </a:r>
            <a:r>
              <a:rPr lang="en-US" b="1" spc="-5" dirty="0" smtClean="0">
                <a:solidFill>
                  <a:srgbClr val="0000FF"/>
                </a:solidFill>
                <a:latin typeface="Arial" panose="020B0604020202020204"/>
                <a:cs typeface="Arial" panose="020B0604020202020204"/>
                <a:sym typeface="+mn-ea"/>
              </a:rPr>
              <a:t>ution independence: </a:t>
            </a:r>
            <a:r>
              <a:rPr lang="en-US" spc="-5" dirty="0" smtClean="0">
                <a:latin typeface="Arial" panose="020B0604020202020204"/>
                <a:cs typeface="Arial" panose="020B0604020202020204"/>
                <a:sym typeface="+mn-ea"/>
              </a:rPr>
              <a:t>A relational DBMS has distribution independence. The RDBMS may spread across more than one system and across several networks. However to the end-user, the tables should appear no different to those that are local.</a:t>
            </a:r>
            <a:endParaRPr lang="en-US" spc="-10"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Rule11: Integrity rule: </a:t>
            </a:r>
            <a:r>
              <a:rPr lang="en-US" spc="-5" dirty="0" smtClean="0">
                <a:latin typeface="Arial" panose="020B0604020202020204"/>
                <a:cs typeface="Arial" panose="020B0604020202020204"/>
                <a:sym typeface="+mn-ea"/>
              </a:rPr>
              <a:t>Inte</a:t>
            </a:r>
            <a:r>
              <a:rPr lang="en-US" spc="-20" dirty="0" smtClean="0">
                <a:latin typeface="Arial" panose="020B0604020202020204"/>
                <a:cs typeface="Arial" panose="020B0604020202020204"/>
                <a:sym typeface="+mn-ea"/>
              </a:rPr>
              <a:t>g</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ity </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ules </a:t>
            </a:r>
            <a:r>
              <a:rPr lang="en-US" spc="-20" dirty="0" smtClean="0">
                <a:latin typeface="Arial" panose="020B0604020202020204"/>
                <a:cs typeface="Arial" panose="020B0604020202020204"/>
                <a:sym typeface="+mn-ea"/>
              </a:rPr>
              <a:t>m</a:t>
            </a:r>
            <a:r>
              <a:rPr lang="en-US" spc="-5" dirty="0" smtClean="0">
                <a:latin typeface="Arial" panose="020B0604020202020204"/>
                <a:cs typeface="Arial" panose="020B0604020202020204"/>
                <a:sym typeface="+mn-ea"/>
              </a:rPr>
              <a:t>ust </a:t>
            </a:r>
            <a:r>
              <a:rPr lang="en-US" spc="-10" dirty="0" smtClean="0">
                <a:latin typeface="Arial" panose="020B0604020202020204"/>
                <a:cs typeface="Arial" panose="020B0604020202020204"/>
                <a:sym typeface="+mn-ea"/>
              </a:rPr>
              <a:t>be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suppo</a:t>
            </a:r>
            <a:r>
              <a:rPr lang="en-US" spc="2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ted </a:t>
            </a:r>
            <a:r>
              <a:rPr lang="en-US" spc="-30" dirty="0" smtClean="0">
                <a:latin typeface="Arial" panose="020B0604020202020204"/>
                <a:cs typeface="Arial" panose="020B0604020202020204"/>
                <a:sym typeface="+mn-ea"/>
              </a:rPr>
              <a:t>b</a:t>
            </a:r>
            <a:r>
              <a:rPr lang="en-US" spc="-5" dirty="0" smtClean="0">
                <a:latin typeface="Arial" panose="020B0604020202020204"/>
                <a:cs typeface="Arial" panose="020B0604020202020204"/>
                <a:sym typeface="+mn-ea"/>
              </a:rPr>
              <a:t>y the relational data sub-language; th</a:t>
            </a:r>
            <a:r>
              <a:rPr lang="en-US" spc="-3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y </a:t>
            </a:r>
            <a:r>
              <a:rPr lang="en-US" spc="-10" dirty="0" smtClean="0">
                <a:latin typeface="Arial" panose="020B0604020202020204"/>
                <a:cs typeface="Arial" panose="020B0604020202020204"/>
                <a:sym typeface="+mn-ea"/>
              </a:rPr>
              <a:t>can</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be</a:t>
            </a:r>
            <a:r>
              <a:rPr lang="en-US" spc="-5" dirty="0" smtClean="0">
                <a:latin typeface="Arial" panose="020B0604020202020204"/>
                <a:cs typeface="Arial" panose="020B0604020202020204"/>
                <a:sym typeface="+mn-ea"/>
              </a:rPr>
              <a:t> stored in the catalogue </a:t>
            </a:r>
            <a:r>
              <a:rPr lang="en-US" spc="-10" dirty="0" smtClean="0">
                <a:latin typeface="Arial" panose="020B0604020202020204"/>
                <a:cs typeface="Arial" panose="020B0604020202020204"/>
                <a:sym typeface="+mn-ea"/>
              </a:rPr>
              <a:t>and</a:t>
            </a:r>
            <a:r>
              <a:rPr lang="en-US" spc="-5" dirty="0" smtClean="0">
                <a:latin typeface="Arial" panose="020B0604020202020204"/>
                <a:cs typeface="Arial" panose="020B0604020202020204"/>
                <a:sym typeface="+mn-ea"/>
              </a:rPr>
              <a:t> not in the application pro</a:t>
            </a:r>
            <a:r>
              <a:rPr lang="en-US" spc="-15" dirty="0" smtClean="0">
                <a:latin typeface="Arial" panose="020B0604020202020204"/>
                <a:cs typeface="Arial" panose="020B0604020202020204"/>
                <a:sym typeface="+mn-ea"/>
              </a:rPr>
              <a:t>gr</a:t>
            </a:r>
            <a:r>
              <a:rPr lang="en-US" spc="-10" dirty="0" smtClean="0">
                <a:latin typeface="Arial" panose="020B0604020202020204"/>
                <a:cs typeface="Arial" panose="020B0604020202020204"/>
                <a:sym typeface="+mn-ea"/>
              </a:rPr>
              <a:t>am.</a:t>
            </a:r>
            <a:r>
              <a:rPr lang="en-US" spc="-5" dirty="0" smtClean="0">
                <a:latin typeface="Arial" panose="020B0604020202020204"/>
                <a:cs typeface="Arial" panose="020B0604020202020204"/>
                <a:sym typeface="+mn-ea"/>
              </a:rPr>
              <a:t> </a:t>
            </a:r>
            <a:r>
              <a:rPr lang="en-US" b="1" spc="-5" dirty="0" smtClean="0">
                <a:latin typeface="Arial" panose="020B0604020202020204"/>
                <a:cs typeface="Arial" panose="020B0604020202020204"/>
                <a:sym typeface="+mn-ea"/>
              </a:rPr>
              <a:t>Entity integrity</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no</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component</a:t>
            </a:r>
            <a:r>
              <a:rPr lang="en-US" spc="-5" dirty="0" smtClean="0">
                <a:latin typeface="Arial" panose="020B0604020202020204"/>
                <a:cs typeface="Arial" panose="020B0604020202020204"/>
                <a:sym typeface="+mn-ea"/>
              </a:rPr>
              <a:t> of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p</a:t>
            </a:r>
            <a:r>
              <a:rPr lang="en-US" spc="5" dirty="0" smtClean="0">
                <a:latin typeface="Arial" panose="020B0604020202020204"/>
                <a:cs typeface="Arial" panose="020B0604020202020204"/>
                <a:sym typeface="+mn-ea"/>
              </a:rPr>
              <a:t>r</a:t>
            </a:r>
            <a:r>
              <a:rPr lang="en-US" spc="-10" dirty="0" smtClean="0">
                <a:latin typeface="Arial" panose="020B0604020202020204"/>
                <a:cs typeface="Arial" panose="020B0604020202020204"/>
                <a:sym typeface="+mn-ea"/>
              </a:rPr>
              <a:t>ima</a:t>
            </a:r>
            <a:r>
              <a:rPr lang="en-US" spc="2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y </a:t>
            </a:r>
            <a:r>
              <a:rPr lang="en-US" spc="-30" dirty="0" smtClean="0">
                <a:latin typeface="Arial" panose="020B0604020202020204"/>
                <a:cs typeface="Arial" panose="020B0604020202020204"/>
                <a:sym typeface="+mn-ea"/>
              </a:rPr>
              <a:t>ke</a:t>
            </a:r>
            <a:r>
              <a:rPr lang="en-US" spc="-5" dirty="0" smtClean="0">
                <a:latin typeface="Arial" panose="020B0604020202020204"/>
                <a:cs typeface="Arial" panose="020B0604020202020204"/>
                <a:sym typeface="+mn-ea"/>
              </a:rPr>
              <a:t>y </a:t>
            </a:r>
            <a:r>
              <a:rPr lang="en-US" spc="-10" dirty="0" smtClean="0">
                <a:latin typeface="Arial" panose="020B0604020202020204"/>
                <a:cs typeface="Arial" panose="020B0604020202020204"/>
                <a:sym typeface="+mn-ea"/>
              </a:rPr>
              <a:t>m</a:t>
            </a:r>
            <a:r>
              <a:rPr lang="en-US" spc="-4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y </a:t>
            </a:r>
            <a:r>
              <a:rPr lang="en-US" spc="-10" dirty="0" smtClean="0">
                <a:latin typeface="Arial" panose="020B0604020202020204"/>
                <a:cs typeface="Arial" panose="020B0604020202020204"/>
                <a:sym typeface="+mn-ea"/>
              </a:rPr>
              <a:t>h</a:t>
            </a:r>
            <a:r>
              <a:rPr lang="en-US" spc="-30" dirty="0" smtClean="0">
                <a:latin typeface="Arial" panose="020B0604020202020204"/>
                <a:cs typeface="Arial" panose="020B0604020202020204"/>
                <a:sym typeface="+mn-ea"/>
              </a:rPr>
              <a:t>av</a:t>
            </a:r>
            <a:r>
              <a:rPr lang="en-US" spc="-1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NULL</a:t>
            </a:r>
            <a:r>
              <a:rPr lang="en-US" spc="-5" dirty="0" smtClean="0">
                <a:latin typeface="Arial" panose="020B0604020202020204"/>
                <a:cs typeface="Arial" panose="020B0604020202020204"/>
                <a:sym typeface="+mn-ea"/>
              </a:rPr>
              <a:t> </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alu</a:t>
            </a:r>
            <a:r>
              <a:rPr lang="en-US" spc="-25"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a:t>
            </a:r>
            <a:r>
              <a:rPr lang="en-US" b="1" spc="-10" dirty="0" smtClean="0">
                <a:latin typeface="Arial" panose="020B0604020202020204"/>
                <a:cs typeface="Arial" panose="020B0604020202020204"/>
                <a:sym typeface="+mn-ea"/>
              </a:rPr>
              <a:t>Re</a:t>
            </a:r>
            <a:r>
              <a:rPr lang="en-US" b="1" spc="-15" dirty="0" smtClean="0">
                <a:latin typeface="Arial" panose="020B0604020202020204"/>
                <a:cs typeface="Arial" panose="020B0604020202020204"/>
                <a:sym typeface="+mn-ea"/>
              </a:rPr>
              <a:t>f</a:t>
            </a:r>
            <a:r>
              <a:rPr lang="en-US" b="1" spc="-5" dirty="0" smtClean="0">
                <a:latin typeface="Arial" panose="020B0604020202020204"/>
                <a:cs typeface="Arial" panose="020B0604020202020204"/>
                <a:sym typeface="+mn-ea"/>
              </a:rPr>
              <a:t>erential integrit</a:t>
            </a:r>
            <a:r>
              <a:rPr lang="en-US" b="1" spc="-15" dirty="0" smtClean="0">
                <a:latin typeface="Arial" panose="020B0604020202020204"/>
                <a:cs typeface="Arial" panose="020B0604020202020204"/>
                <a:sym typeface="+mn-ea"/>
              </a:rPr>
              <a:t>y</a:t>
            </a:r>
            <a:r>
              <a:rPr lang="en-US" spc="-5" dirty="0" smtClean="0">
                <a:latin typeface="Arial" panose="020B0604020202020204"/>
                <a:cs typeface="Arial" panose="020B0604020202020204"/>
                <a:sym typeface="+mn-ea"/>
              </a:rPr>
              <a:t>: </a:t>
            </a:r>
            <a:r>
              <a:rPr lang="en-US" spc="-35" dirty="0" smtClean="0">
                <a:latin typeface="Arial" panose="020B0604020202020204"/>
                <a:cs typeface="Arial" panose="020B0604020202020204"/>
                <a:sym typeface="+mn-ea"/>
              </a:rPr>
              <a:t>f</a:t>
            </a:r>
            <a:r>
              <a:rPr lang="en-US" spc="-5" dirty="0" smtClean="0">
                <a:latin typeface="Arial" panose="020B0604020202020204"/>
                <a:cs typeface="Arial" panose="020B0604020202020204"/>
                <a:sym typeface="+mn-ea"/>
              </a:rPr>
              <a:t>or </a:t>
            </a:r>
            <a:r>
              <a:rPr lang="en-US" spc="-40" dirty="0" smtClean="0">
                <a:latin typeface="Arial" panose="020B0604020202020204"/>
                <a:cs typeface="Arial" panose="020B0604020202020204"/>
                <a:sym typeface="+mn-ea"/>
              </a:rPr>
              <a:t>e</a:t>
            </a:r>
            <a:r>
              <a:rPr lang="en-US" spc="-30" dirty="0" smtClean="0">
                <a:latin typeface="Arial" panose="020B0604020202020204"/>
                <a:cs typeface="Arial" panose="020B0604020202020204"/>
                <a:sym typeface="+mn-ea"/>
              </a:rPr>
              <a:t>v</a:t>
            </a:r>
            <a:r>
              <a:rPr lang="en-US" spc="-10" dirty="0" smtClean="0">
                <a:latin typeface="Arial" panose="020B0604020202020204"/>
                <a:cs typeface="Arial" panose="020B0604020202020204"/>
                <a:sym typeface="+mn-ea"/>
              </a:rPr>
              <a:t>e</a:t>
            </a:r>
            <a:r>
              <a:rPr lang="en-US" spc="2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y unique non-</a:t>
            </a:r>
            <a:r>
              <a:rPr lang="en-US" spc="-20" dirty="0" smtClean="0">
                <a:latin typeface="Arial" panose="020B0604020202020204"/>
                <a:cs typeface="Arial" panose="020B0604020202020204"/>
                <a:sym typeface="+mn-ea"/>
              </a:rPr>
              <a:t>n</a:t>
            </a:r>
            <a:r>
              <a:rPr lang="en-US" spc="-5" dirty="0" smtClean="0">
                <a:latin typeface="Arial" panose="020B0604020202020204"/>
                <a:cs typeface="Arial" panose="020B0604020202020204"/>
                <a:sym typeface="+mn-ea"/>
              </a:rPr>
              <a:t>ull ’</a:t>
            </a:r>
            <a:r>
              <a:rPr lang="en-US" spc="-35" dirty="0" smtClean="0">
                <a:latin typeface="Arial" panose="020B0604020202020204"/>
                <a:cs typeface="Arial" panose="020B0604020202020204"/>
                <a:sym typeface="+mn-ea"/>
              </a:rPr>
              <a:t>f</a:t>
            </a:r>
            <a:r>
              <a:rPr lang="en-US" spc="-5" dirty="0" smtClean="0">
                <a:latin typeface="Arial" panose="020B0604020202020204"/>
                <a:cs typeface="Arial" panose="020B0604020202020204"/>
                <a:sym typeface="+mn-ea"/>
              </a:rPr>
              <a:t>oreign </a:t>
            </a:r>
            <a:r>
              <a:rPr lang="en-US" spc="-30" dirty="0" smtClean="0">
                <a:latin typeface="Arial" panose="020B0604020202020204"/>
                <a:cs typeface="Arial" panose="020B0604020202020204"/>
                <a:sym typeface="+mn-ea"/>
              </a:rPr>
              <a:t>ke</a:t>
            </a:r>
            <a:r>
              <a:rPr lang="en-US" spc="-5" dirty="0" smtClean="0">
                <a:latin typeface="Arial" panose="020B0604020202020204"/>
                <a:cs typeface="Arial" panose="020B0604020202020204"/>
                <a:sym typeface="+mn-ea"/>
              </a:rPr>
              <a:t>y’</a:t>
            </a:r>
            <a:r>
              <a:rPr lang="en-US" dirty="0" smtClean="0">
                <a:latin typeface="Arial" panose="020B0604020202020204"/>
                <a:cs typeface="Arial" panose="020B0604020202020204"/>
                <a:sym typeface="+mn-ea"/>
              </a:rPr>
              <a:t> </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alues in the databas</a:t>
            </a:r>
            <a:r>
              <a:rPr lang="en-US" spc="-25"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there should </a:t>
            </a:r>
            <a:r>
              <a:rPr lang="en-US" spc="-10" dirty="0" smtClean="0">
                <a:latin typeface="Arial" panose="020B0604020202020204"/>
                <a:cs typeface="Arial" panose="020B0604020202020204"/>
                <a:sym typeface="+mn-ea"/>
              </a:rPr>
              <a:t>be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matching </a:t>
            </a:r>
            <a:r>
              <a:rPr lang="en-US" spc="-10" dirty="0" smtClean="0">
                <a:latin typeface="Arial" panose="020B0604020202020204"/>
                <a:cs typeface="Arial" panose="020B0604020202020204"/>
                <a:sym typeface="+mn-ea"/>
              </a:rPr>
              <a:t>p</a:t>
            </a:r>
            <a:r>
              <a:rPr lang="en-US" spc="5" dirty="0" smtClean="0">
                <a:latin typeface="Arial" panose="020B0604020202020204"/>
                <a:cs typeface="Arial" panose="020B0604020202020204"/>
                <a:sym typeface="+mn-ea"/>
              </a:rPr>
              <a:t>r</a:t>
            </a:r>
            <a:r>
              <a:rPr lang="en-US" spc="-10" dirty="0" smtClean="0">
                <a:latin typeface="Arial" panose="020B0604020202020204"/>
                <a:cs typeface="Arial" panose="020B0604020202020204"/>
                <a:sym typeface="+mn-ea"/>
              </a:rPr>
              <a:t>ima</a:t>
            </a:r>
            <a:r>
              <a:rPr lang="en-US" spc="20"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y </a:t>
            </a:r>
            <a:r>
              <a:rPr lang="en-US" spc="-30" dirty="0" smtClean="0">
                <a:latin typeface="Arial" panose="020B0604020202020204"/>
                <a:cs typeface="Arial" panose="020B0604020202020204"/>
                <a:sym typeface="+mn-ea"/>
              </a:rPr>
              <a:t>ke</a:t>
            </a:r>
            <a:r>
              <a:rPr lang="en-US" spc="-5" dirty="0" smtClean="0">
                <a:latin typeface="Arial" panose="020B0604020202020204"/>
                <a:cs typeface="Arial" panose="020B0604020202020204"/>
                <a:sym typeface="+mn-ea"/>
              </a:rPr>
              <a:t>y </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alue from the </a:t>
            </a:r>
            <a:r>
              <a:rPr lang="en-US" spc="-10" dirty="0" smtClean="0">
                <a:latin typeface="Arial" panose="020B0604020202020204"/>
                <a:cs typeface="Arial" panose="020B0604020202020204"/>
                <a:sym typeface="+mn-ea"/>
              </a:rPr>
              <a:t>same</a:t>
            </a:r>
            <a:r>
              <a:rPr lang="en-US" spc="-5" dirty="0" smtClean="0">
                <a:latin typeface="Arial" panose="020B0604020202020204"/>
                <a:cs typeface="Arial" panose="020B0604020202020204"/>
                <a:sym typeface="+mn-ea"/>
              </a:rPr>
              <a:t> domain.</a:t>
            </a:r>
            <a:endParaRPr lang="en-US" spc="-5" dirty="0" smtClean="0">
              <a:latin typeface="Arial" panose="020B0604020202020204"/>
              <a:cs typeface="Arial" panose="020B0604020202020204"/>
            </a:endParaRPr>
          </a:p>
          <a:p>
            <a:pPr marL="355600" indent="-342900" algn="just">
              <a:spcBef>
                <a:spcPts val="430"/>
              </a:spcBef>
              <a:buFont typeface="Wingdings" panose="05000000000000000000" pitchFamily="2" charset="2"/>
              <a:buChar char="Ø"/>
            </a:pPr>
            <a:r>
              <a:rPr lang="en-US" b="1" spc="-5" dirty="0" smtClean="0">
                <a:solidFill>
                  <a:srgbClr val="0000FF"/>
                </a:solidFill>
                <a:latin typeface="Arial" panose="020B0604020202020204"/>
                <a:cs typeface="Arial" panose="020B0604020202020204"/>
                <a:sym typeface="+mn-ea"/>
              </a:rPr>
              <a:t>Rule12: Data integrity cannot </a:t>
            </a:r>
            <a:r>
              <a:rPr lang="en-US" b="1" spc="-10" dirty="0" smtClean="0">
                <a:solidFill>
                  <a:srgbClr val="0000FF"/>
                </a:solidFill>
                <a:latin typeface="Arial" panose="020B0604020202020204"/>
                <a:cs typeface="Arial" panose="020B0604020202020204"/>
                <a:sym typeface="+mn-ea"/>
              </a:rPr>
              <a:t>be</a:t>
            </a:r>
            <a:r>
              <a:rPr lang="en-US" b="1" spc="-5" dirty="0" smtClean="0">
                <a:solidFill>
                  <a:srgbClr val="0000FF"/>
                </a:solidFill>
                <a:latin typeface="Arial" panose="020B0604020202020204"/>
                <a:cs typeface="Arial" panose="020B0604020202020204"/>
                <a:sym typeface="+mn-ea"/>
              </a:rPr>
              <a:t> </a:t>
            </a:r>
            <a:r>
              <a:rPr lang="en-US" b="1" spc="-10" dirty="0" smtClean="0">
                <a:solidFill>
                  <a:srgbClr val="0000FF"/>
                </a:solidFill>
                <a:latin typeface="Arial" panose="020B0604020202020204"/>
                <a:cs typeface="Arial" panose="020B0604020202020204"/>
                <a:sym typeface="+mn-ea"/>
              </a:rPr>
              <a:t>su</a:t>
            </a:r>
            <a:r>
              <a:rPr lang="en-US" b="1" spc="-30" dirty="0" smtClean="0">
                <a:solidFill>
                  <a:srgbClr val="0000FF"/>
                </a:solidFill>
                <a:latin typeface="Arial" panose="020B0604020202020204"/>
                <a:cs typeface="Arial" panose="020B0604020202020204"/>
                <a:sym typeface="+mn-ea"/>
              </a:rPr>
              <a:t>b</a:t>
            </a:r>
            <a:r>
              <a:rPr lang="en-US" b="1" spc="-5" dirty="0" smtClean="0">
                <a:solidFill>
                  <a:srgbClr val="0000FF"/>
                </a:solidFill>
                <a:latin typeface="Arial" panose="020B0604020202020204"/>
                <a:cs typeface="Arial" panose="020B0604020202020204"/>
                <a:sym typeface="+mn-ea"/>
              </a:rPr>
              <a:t>ve</a:t>
            </a:r>
            <a:r>
              <a:rPr lang="en-US" b="1" spc="5" dirty="0" smtClean="0">
                <a:solidFill>
                  <a:srgbClr val="0000FF"/>
                </a:solidFill>
                <a:latin typeface="Arial" panose="020B0604020202020204"/>
                <a:cs typeface="Arial" panose="020B0604020202020204"/>
                <a:sym typeface="+mn-ea"/>
              </a:rPr>
              <a:t>r</a:t>
            </a:r>
            <a:r>
              <a:rPr lang="en-US" b="1" spc="-5" dirty="0" smtClean="0">
                <a:solidFill>
                  <a:srgbClr val="0000FF"/>
                </a:solidFill>
                <a:latin typeface="Arial" panose="020B0604020202020204"/>
                <a:cs typeface="Arial" panose="020B0604020202020204"/>
                <a:sym typeface="+mn-ea"/>
              </a:rPr>
              <a:t>ted: </a:t>
            </a:r>
            <a:r>
              <a:rPr lang="en-US" spc="-5" dirty="0" smtClean="0">
                <a:latin typeface="Arial" panose="020B0604020202020204"/>
                <a:cs typeface="Arial" panose="020B0604020202020204"/>
                <a:sym typeface="+mn-ea"/>
              </a:rPr>
              <a:t>If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relational </a:t>
            </a:r>
            <a:r>
              <a:rPr lang="en-US" spc="-10" dirty="0" smtClean="0">
                <a:latin typeface="Arial" panose="020B0604020202020204"/>
                <a:cs typeface="Arial" panose="020B0604020202020204"/>
                <a:sym typeface="+mn-ea"/>
              </a:rPr>
              <a:t>system</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has</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a</a:t>
            </a:r>
            <a:r>
              <a:rPr lang="en-US" spc="-5" dirty="0" smtClean="0">
                <a:latin typeface="Arial" panose="020B0604020202020204"/>
                <a:cs typeface="Arial" panose="020B0604020202020204"/>
                <a:sym typeface="+mn-ea"/>
              </a:rPr>
              <a:t> l</a:t>
            </a:r>
            <a:r>
              <a:rPr lang="en-US" spc="-25" dirty="0" smtClean="0">
                <a:latin typeface="Arial" panose="020B0604020202020204"/>
                <a:cs typeface="Arial" panose="020B0604020202020204"/>
                <a:sym typeface="+mn-ea"/>
              </a:rPr>
              <a:t>o</a:t>
            </a:r>
            <a:r>
              <a:rPr lang="en-US" spc="-5" dirty="0" smtClean="0">
                <a:latin typeface="Arial" panose="020B0604020202020204"/>
                <a:cs typeface="Arial" panose="020B0604020202020204"/>
                <a:sym typeface="+mn-ea"/>
              </a:rPr>
              <a:t>w-l</a:t>
            </a:r>
            <a:r>
              <a:rPr lang="en-US" spc="-40" dirty="0" smtClean="0">
                <a:latin typeface="Arial" panose="020B0604020202020204"/>
                <a:cs typeface="Arial" panose="020B0604020202020204"/>
                <a:sym typeface="+mn-ea"/>
              </a:rPr>
              <a:t>e</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el languag</a:t>
            </a:r>
            <a:r>
              <a:rPr lang="en-US" spc="-25"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 that l</a:t>
            </a:r>
            <a:r>
              <a:rPr lang="en-US" spc="-25" dirty="0" smtClean="0">
                <a:latin typeface="Arial" panose="020B0604020202020204"/>
                <a:cs typeface="Arial" panose="020B0604020202020204"/>
                <a:sym typeface="+mn-ea"/>
              </a:rPr>
              <a:t>o</a:t>
            </a:r>
            <a:r>
              <a:rPr lang="en-US" spc="-10" dirty="0" smtClean="0">
                <a:latin typeface="Arial" panose="020B0604020202020204"/>
                <a:cs typeface="Arial" panose="020B0604020202020204"/>
                <a:sym typeface="+mn-ea"/>
              </a:rPr>
              <a:t>w</a:t>
            </a:r>
            <a:r>
              <a:rPr lang="en-US" spc="-5" dirty="0" smtClean="0">
                <a:latin typeface="Arial" panose="020B0604020202020204"/>
                <a:cs typeface="Arial" panose="020B0604020202020204"/>
                <a:sym typeface="+mn-ea"/>
              </a:rPr>
              <a:t> l</a:t>
            </a:r>
            <a:r>
              <a:rPr lang="en-US" spc="-40" dirty="0" smtClean="0">
                <a:latin typeface="Arial" panose="020B0604020202020204"/>
                <a:cs typeface="Arial" panose="020B0604020202020204"/>
                <a:sym typeface="+mn-ea"/>
              </a:rPr>
              <a:t>e</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el cannot </a:t>
            </a:r>
            <a:r>
              <a:rPr lang="en-US" spc="-10" dirty="0" smtClean="0">
                <a:latin typeface="Arial" panose="020B0604020202020204"/>
                <a:cs typeface="Arial" panose="020B0604020202020204"/>
                <a:sym typeface="+mn-ea"/>
              </a:rPr>
              <a:t>be</a:t>
            </a:r>
            <a:r>
              <a:rPr lang="en-US" spc="-5" dirty="0" smtClean="0">
                <a:latin typeface="Arial" panose="020B0604020202020204"/>
                <a:cs typeface="Arial" panose="020B0604020202020204"/>
                <a:sym typeface="+mn-ea"/>
              </a:rPr>
              <a:t> </a:t>
            </a:r>
            <a:r>
              <a:rPr lang="en-US" spc="-10" dirty="0" smtClean="0">
                <a:latin typeface="Arial" panose="020B0604020202020204"/>
                <a:cs typeface="Arial" panose="020B0604020202020204"/>
                <a:sym typeface="+mn-ea"/>
              </a:rPr>
              <a:t>used</a:t>
            </a:r>
            <a:r>
              <a:rPr lang="en-US" spc="-5" dirty="0" smtClean="0">
                <a:latin typeface="Arial" panose="020B0604020202020204"/>
                <a:cs typeface="Arial" panose="020B0604020202020204"/>
                <a:sym typeface="+mn-ea"/>
              </a:rPr>
              <a:t> to </a:t>
            </a:r>
            <a:r>
              <a:rPr lang="en-US" spc="-10" dirty="0" smtClean="0">
                <a:latin typeface="Arial" panose="020B0604020202020204"/>
                <a:cs typeface="Arial" panose="020B0604020202020204"/>
                <a:sym typeface="+mn-ea"/>
              </a:rPr>
              <a:t>su</a:t>
            </a:r>
            <a:r>
              <a:rPr lang="en-US" spc="-30" dirty="0" smtClean="0">
                <a:latin typeface="Arial" panose="020B0604020202020204"/>
                <a:cs typeface="Arial" panose="020B0604020202020204"/>
                <a:sym typeface="+mn-ea"/>
              </a:rPr>
              <a:t>bv</a:t>
            </a:r>
            <a:r>
              <a:rPr lang="en-US" spc="-10" dirty="0" smtClean="0">
                <a:latin typeface="Arial" panose="020B0604020202020204"/>
                <a:cs typeface="Arial" panose="020B0604020202020204"/>
                <a:sym typeface="+mn-ea"/>
              </a:rPr>
              <a:t>e</a:t>
            </a:r>
            <a:r>
              <a:rPr lang="en-US" spc="2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t or </a:t>
            </a:r>
            <a:r>
              <a:rPr lang="en-US" spc="-30" dirty="0" smtClean="0">
                <a:latin typeface="Arial" panose="020B0604020202020204"/>
                <a:cs typeface="Arial" panose="020B0604020202020204"/>
                <a:sym typeface="+mn-ea"/>
              </a:rPr>
              <a:t>b</a:t>
            </a:r>
            <a:r>
              <a:rPr lang="en-US" spc="-10" dirty="0" smtClean="0">
                <a:latin typeface="Arial" panose="020B0604020202020204"/>
                <a:cs typeface="Arial" panose="020B0604020202020204"/>
                <a:sym typeface="+mn-ea"/>
              </a:rPr>
              <a:t>ypass</a:t>
            </a:r>
            <a:r>
              <a:rPr lang="en-US" spc="-5" dirty="0" smtClean="0">
                <a:latin typeface="Arial" panose="020B0604020202020204"/>
                <a:cs typeface="Arial" panose="020B0604020202020204"/>
                <a:sym typeface="+mn-ea"/>
              </a:rPr>
              <a:t> the inte</a:t>
            </a:r>
            <a:r>
              <a:rPr lang="en-US" spc="-20" dirty="0" smtClean="0">
                <a:latin typeface="Arial" panose="020B0604020202020204"/>
                <a:cs typeface="Arial" panose="020B0604020202020204"/>
                <a:sym typeface="+mn-ea"/>
              </a:rPr>
              <a:t>g</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ity </a:t>
            </a:r>
            <a:r>
              <a:rPr lang="en-US" spc="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ules </a:t>
            </a:r>
            <a:r>
              <a:rPr lang="en-US" spc="-10" dirty="0" smtClean="0">
                <a:latin typeface="Arial" panose="020B0604020202020204"/>
                <a:cs typeface="Arial" panose="020B0604020202020204"/>
                <a:sym typeface="+mn-ea"/>
              </a:rPr>
              <a:t>and </a:t>
            </a:r>
            <a:r>
              <a:rPr lang="en-US" spc="-5" dirty="0" smtClean="0">
                <a:latin typeface="Arial" panose="020B0604020202020204"/>
                <a:cs typeface="Arial" panose="020B0604020202020204"/>
                <a:sym typeface="+mn-ea"/>
              </a:rPr>
              <a:t>const</a:t>
            </a:r>
            <a:r>
              <a:rPr lang="en-US" spc="-15" dirty="0" smtClean="0">
                <a:latin typeface="Arial" panose="020B0604020202020204"/>
                <a:cs typeface="Arial" panose="020B0604020202020204"/>
                <a:sym typeface="+mn-ea"/>
              </a:rPr>
              <a:t>r</a:t>
            </a:r>
            <a:r>
              <a:rPr lang="en-US" spc="-5" dirty="0" smtClean="0">
                <a:latin typeface="Arial" panose="020B0604020202020204"/>
                <a:cs typeface="Arial" panose="020B0604020202020204"/>
                <a:sym typeface="+mn-ea"/>
              </a:rPr>
              <a:t>aints </a:t>
            </a:r>
            <a:r>
              <a:rPr lang="en-US" spc="-40" dirty="0" smtClean="0">
                <a:latin typeface="Arial" panose="020B0604020202020204"/>
                <a:cs typeface="Arial" panose="020B0604020202020204"/>
                <a:sym typeface="+mn-ea"/>
              </a:rPr>
              <a:t>e</a:t>
            </a:r>
            <a:r>
              <a:rPr lang="en-US" spc="-5" dirty="0" smtClean="0">
                <a:latin typeface="Arial" panose="020B0604020202020204"/>
                <a:cs typeface="Arial" panose="020B0604020202020204"/>
                <a:sym typeface="+mn-ea"/>
              </a:rPr>
              <a:t>xpressed in the higher l</a:t>
            </a:r>
            <a:r>
              <a:rPr lang="en-US" spc="-40" dirty="0" smtClean="0">
                <a:latin typeface="Arial" panose="020B0604020202020204"/>
                <a:cs typeface="Arial" panose="020B0604020202020204"/>
                <a:sym typeface="+mn-ea"/>
              </a:rPr>
              <a:t>e</a:t>
            </a:r>
            <a:r>
              <a:rPr lang="en-US" spc="-30" dirty="0" smtClean="0">
                <a:latin typeface="Arial" panose="020B0604020202020204"/>
                <a:cs typeface="Arial" panose="020B0604020202020204"/>
                <a:sym typeface="+mn-ea"/>
              </a:rPr>
              <a:t>v</a:t>
            </a:r>
            <a:r>
              <a:rPr lang="en-US" spc="-5" dirty="0" smtClean="0">
                <a:latin typeface="Arial" panose="020B0604020202020204"/>
                <a:cs typeface="Arial" panose="020B0604020202020204"/>
                <a:sym typeface="+mn-ea"/>
              </a:rPr>
              <a:t>el relational </a:t>
            </a:r>
            <a:r>
              <a:rPr lang="en-US" spc="-10" dirty="0" smtClean="0">
                <a:latin typeface="Arial" panose="020B0604020202020204"/>
                <a:cs typeface="Arial" panose="020B0604020202020204"/>
                <a:sym typeface="+mn-ea"/>
              </a:rPr>
              <a:t>language</a:t>
            </a:r>
            <a:endParaRPr lang="en-US" dirty="0" smtClean="0">
              <a:latin typeface="Arial" panose="020B0604020202020204"/>
              <a:cs typeface="Arial" panose="020B0604020202020204"/>
            </a:endParaRPr>
          </a:p>
          <a:p>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Query Language</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Language in which user requests information from the database are:</a:t>
            </a:r>
            <a:endParaRPr lang="en-US" sz="2800" kern="0" dirty="0" smtClean="0">
              <a:latin typeface="Times New Roman" panose="02020603050405020304" pitchFamily="18" charset="0"/>
              <a:cs typeface="Times New Roman" panose="02020603050405020304" pitchFamily="18" charset="0"/>
            </a:endParaRPr>
          </a:p>
          <a:p>
            <a:pPr marL="722630" lvl="1" indent="-121920" algn="just">
              <a:spcBef>
                <a:spcPts val="490"/>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Procedural language</a:t>
            </a:r>
            <a:endParaRPr lang="en-US" sz="2800" kern="0" dirty="0" smtClean="0">
              <a:latin typeface="Times New Roman" panose="02020603050405020304" pitchFamily="18" charset="0"/>
              <a:cs typeface="Times New Roman" panose="02020603050405020304" pitchFamily="18" charset="0"/>
            </a:endParaRPr>
          </a:p>
          <a:p>
            <a:pPr marL="722630" lvl="1" indent="-121920" algn="just">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Nonprocedural language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categories of different languages are:</a:t>
            </a:r>
            <a:endParaRPr lang="en-US" sz="2800" kern="0" dirty="0" smtClean="0">
              <a:latin typeface="Times New Roman" panose="02020603050405020304" pitchFamily="18" charset="0"/>
              <a:cs typeface="Times New Roman" panose="02020603050405020304" pitchFamily="18" charset="0"/>
            </a:endParaRPr>
          </a:p>
          <a:p>
            <a:pPr marL="1179830" lvl="2"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SQL</a:t>
            </a:r>
            <a:endParaRPr lang="en-US" sz="2800" kern="0" dirty="0" smtClean="0">
              <a:latin typeface="Times New Roman" panose="02020603050405020304" pitchFamily="18" charset="0"/>
              <a:cs typeface="Times New Roman" panose="02020603050405020304" pitchFamily="18" charset="0"/>
            </a:endParaRPr>
          </a:p>
          <a:p>
            <a:pPr marL="1179830" lvl="2"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Relational Algebra</a:t>
            </a:r>
            <a:endParaRPr lang="en-US" sz="2800" kern="0" dirty="0" smtClean="0">
              <a:latin typeface="Times New Roman" panose="02020603050405020304" pitchFamily="18" charset="0"/>
              <a:cs typeface="Times New Roman" panose="02020603050405020304" pitchFamily="18" charset="0"/>
            </a:endParaRPr>
          </a:p>
          <a:p>
            <a:pPr marL="1179830" lvl="2" indent="-121920">
              <a:spcBef>
                <a:spcPts val="1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Relational Calculus</a:t>
            </a:r>
            <a:endParaRPr lang="en-US" sz="2800" kern="0" dirty="0" smtClean="0">
              <a:latin typeface="Times New Roman" panose="02020603050405020304" pitchFamily="18" charset="0"/>
              <a:cs typeface="Times New Roman" panose="02020603050405020304" pitchFamily="18" charset="0"/>
            </a:endParaRPr>
          </a:p>
          <a:p>
            <a:pPr marL="1433195" lvl="3" indent="-117475">
              <a:spcBef>
                <a:spcPts val="195"/>
              </a:spcBef>
              <a:buSzPct val="89000"/>
              <a:buFont typeface="Wingdings" panose="05000000000000000000" pitchFamily="2" charset="2"/>
              <a:buChar char="Ø"/>
              <a:tabLst>
                <a:tab pos="519430" algn="l"/>
              </a:tabLst>
            </a:pPr>
            <a:r>
              <a:rPr lang="en-US" sz="2800" kern="0" dirty="0" smtClean="0">
                <a:latin typeface="Times New Roman" panose="02020603050405020304" pitchFamily="18" charset="0"/>
                <a:cs typeface="Times New Roman" panose="02020603050405020304" pitchFamily="18" charset="0"/>
                <a:sym typeface="+mn-ea"/>
              </a:rPr>
              <a:t>Tuple Relational Calculus</a:t>
            </a:r>
            <a:endParaRPr lang="en-US" sz="2800" kern="0" dirty="0" smtClean="0">
              <a:latin typeface="Times New Roman" panose="02020603050405020304" pitchFamily="18" charset="0"/>
              <a:cs typeface="Times New Roman" panose="02020603050405020304" pitchFamily="18" charset="0"/>
            </a:endParaRPr>
          </a:p>
          <a:p>
            <a:pPr marL="1433195" lvl="3" indent="-117475">
              <a:spcBef>
                <a:spcPts val="15"/>
              </a:spcBef>
              <a:buSzPct val="89000"/>
              <a:buFont typeface="Wingdings" panose="05000000000000000000" pitchFamily="2" charset="2"/>
              <a:buChar char="Ø"/>
              <a:tabLst>
                <a:tab pos="519430" algn="l"/>
              </a:tabLst>
            </a:pPr>
            <a:r>
              <a:rPr lang="en-US" sz="2800" kern="0" dirty="0" smtClean="0">
                <a:latin typeface="Times New Roman" panose="02020603050405020304" pitchFamily="18" charset="0"/>
                <a:cs typeface="Times New Roman" panose="02020603050405020304" pitchFamily="18" charset="0"/>
                <a:sym typeface="+mn-ea"/>
              </a:rPr>
              <a:t>Domain Relational Calculus</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Relational Algebra</a:t>
            </a:r>
            <a:endParaRPr lang="en-US"/>
          </a:p>
        </p:txBody>
      </p:sp>
      <p:sp>
        <p:nvSpPr>
          <p:cNvPr id="3" name="Content Placeholder 2"/>
          <p:cNvSpPr>
            <a:spLocks noGrp="1"/>
          </p:cNvSpPr>
          <p:nvPr>
            <p:ph idx="1"/>
          </p:nvPr>
        </p:nvSpPr>
        <p:spPr>
          <a:xfrm>
            <a:off x="838200" y="1825625"/>
            <a:ext cx="10515600" cy="4793615"/>
          </a:xfrm>
        </p:spPr>
        <p:txBody>
          <a:bodyPr>
            <a:normAutofit fontScale="60000"/>
          </a:bodyPr>
          <a:p>
            <a:pPr marL="342900" indent="-342900" algn="just">
              <a:spcBef>
                <a:spcPct val="20000"/>
              </a:spcBef>
              <a:buFont typeface="Wingdings" panose="05000000000000000000" pitchFamily="2" charset="2"/>
              <a:buChar char="Ø"/>
              <a:defRPr/>
            </a:pPr>
            <a:r>
              <a:rPr lang="en-US" sz="2800" b="1" kern="0" dirty="0" smtClean="0">
                <a:latin typeface="Times New Roman" panose="02020603050405020304" pitchFamily="18" charset="0"/>
                <a:cs typeface="Times New Roman" panose="02020603050405020304" pitchFamily="18" charset="0"/>
                <a:sym typeface="+mn-ea"/>
              </a:rPr>
              <a:t>Relational Algebra i</a:t>
            </a:r>
            <a:r>
              <a:rPr lang="en-US" sz="2800" kern="0" dirty="0" smtClean="0">
                <a:latin typeface="Times New Roman" panose="02020603050405020304" pitchFamily="18" charset="0"/>
                <a:cs typeface="Times New Roman" panose="02020603050405020304" pitchFamily="18" charset="0"/>
                <a:sym typeface="+mn-ea"/>
              </a:rPr>
              <a:t>s a set of basic operations used to manipulate the data in relational model. These operations enable the user to specify basic retrieval request. The result of retrieval is a new relation, formed from one or more relations. These operations can be classified in two categories: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mj-lt"/>
              <a:buAutoNum type="alphaUcPeriod"/>
              <a:defRPr/>
            </a:pPr>
            <a:r>
              <a:rPr lang="en-US" sz="2800" b="1" kern="0" dirty="0" smtClean="0">
                <a:latin typeface="Times New Roman" panose="02020603050405020304" pitchFamily="18" charset="0"/>
                <a:cs typeface="Times New Roman" panose="02020603050405020304" pitchFamily="18" charset="0"/>
                <a:sym typeface="+mn-ea"/>
              </a:rPr>
              <a:t>Basic Set Operations</a:t>
            </a:r>
            <a:endParaRPr lang="en-US" sz="2800" b="1"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UNION</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INTERSECTION</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SET DIFFERENCE</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CARTESIAN PRODUCT</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mj-lt"/>
              <a:buAutoNum type="alphaUcPeriod"/>
              <a:defRPr/>
            </a:pPr>
            <a:r>
              <a:rPr lang="en-US" sz="2800" b="1" kern="0" dirty="0" smtClean="0">
                <a:latin typeface="Times New Roman" panose="02020603050405020304" pitchFamily="18" charset="0"/>
                <a:cs typeface="Times New Roman" panose="02020603050405020304" pitchFamily="18" charset="0"/>
                <a:sym typeface="+mn-ea"/>
              </a:rPr>
              <a:t>Relational Operations</a:t>
            </a:r>
            <a:endParaRPr lang="en-US" sz="2800" b="1"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SELECT  (Unary Operation)</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PROJECT (Unary Operation)</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Rename  (Umnary Operation)</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JOIN</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DIVISION</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Asignment</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Relational Algebra…</a:t>
            </a:r>
            <a:endParaRPr lang="en-US"/>
          </a:p>
        </p:txBody>
      </p:sp>
      <p:sp>
        <p:nvSpPr>
          <p:cNvPr id="3" name="Content Placeholder 2"/>
          <p:cNvSpPr>
            <a:spLocks noGrp="1"/>
          </p:cNvSpPr>
          <p:nvPr>
            <p:ph idx="1"/>
          </p:nvPr>
        </p:nvSpPr>
        <p:spPr/>
        <p:txBody>
          <a:bodyPr>
            <a:normAutofit fontScale="90000" lnSpcReduction="2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relational schemas used for different operations are: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3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a:t>
            </a:r>
            <a:r>
              <a:rPr lang="en-US" sz="2800" b="1" kern="0" dirty="0" smtClean="0">
                <a:latin typeface="Times New Roman" panose="02020603050405020304" pitchFamily="18" charset="0"/>
                <a:cs typeface="Times New Roman" panose="02020603050405020304" pitchFamily="18" charset="0"/>
                <a:sym typeface="+mn-ea"/>
              </a:rPr>
              <a:t>Customer(</a:t>
            </a:r>
            <a:r>
              <a:rPr lang="en-US" sz="2800" b="1" kern="0" dirty="0" err="1" smtClean="0">
                <a:latin typeface="Times New Roman" panose="02020603050405020304" pitchFamily="18" charset="0"/>
                <a:cs typeface="Times New Roman" panose="02020603050405020304" pitchFamily="18" charset="0"/>
                <a:sym typeface="+mn-ea"/>
              </a:rPr>
              <a:t>cust_name</a:t>
            </a:r>
            <a:r>
              <a:rPr lang="en-US" sz="2800" b="1" kern="0" dirty="0" smtClean="0">
                <a:latin typeface="Times New Roman" panose="02020603050405020304" pitchFamily="18" charset="0"/>
                <a:cs typeface="Times New Roman" panose="02020603050405020304" pitchFamily="18" charset="0"/>
                <a:sym typeface="+mn-ea"/>
              </a:rPr>
              <a:t>, </a:t>
            </a:r>
            <a:r>
              <a:rPr lang="en-US" sz="2800" b="1" kern="0" dirty="0" err="1" smtClean="0">
                <a:latin typeface="Times New Roman" panose="02020603050405020304" pitchFamily="18" charset="0"/>
                <a:cs typeface="Times New Roman" panose="02020603050405020304" pitchFamily="18" charset="0"/>
                <a:sym typeface="+mn-ea"/>
              </a:rPr>
              <a:t>cust_street</a:t>
            </a:r>
            <a:r>
              <a:rPr lang="en-US" sz="2800" b="1" kern="0" dirty="0" smtClean="0">
                <a:latin typeface="Times New Roman" panose="02020603050405020304" pitchFamily="18" charset="0"/>
                <a:cs typeface="Times New Roman" panose="02020603050405020304" pitchFamily="18" charset="0"/>
                <a:sym typeface="+mn-ea"/>
              </a:rPr>
              <a:t>, </a:t>
            </a:r>
            <a:r>
              <a:rPr lang="en-US" sz="2800" b="1" kern="0" dirty="0" err="1" smtClean="0">
                <a:latin typeface="Times New Roman" panose="02020603050405020304" pitchFamily="18" charset="0"/>
                <a:cs typeface="Times New Roman" panose="02020603050405020304" pitchFamily="18" charset="0"/>
                <a:sym typeface="+mn-ea"/>
              </a:rPr>
              <a:t>cust_city</a:t>
            </a:r>
            <a:r>
              <a:rPr lang="en-US" sz="2800" b="1" kern="0" dirty="0" smtClean="0">
                <a:latin typeface="Times New Roman" panose="02020603050405020304" pitchFamily="18" charset="0"/>
                <a:cs typeface="Times New Roman" panose="02020603050405020304" pitchFamily="18" charset="0"/>
                <a:sym typeface="+mn-ea"/>
              </a:rPr>
              <a:t>)</a:t>
            </a:r>
            <a:endParaRPr lang="en-US" sz="2800" b="1" kern="0" dirty="0" smtClean="0">
              <a:latin typeface="Times New Roman" panose="02020603050405020304" pitchFamily="18" charset="0"/>
              <a:cs typeface="Times New Roman" panose="02020603050405020304" pitchFamily="18" charset="0"/>
            </a:endParaRPr>
          </a:p>
          <a:p>
            <a:pPr marL="975995" lvl="2" indent="-117475">
              <a:spcBef>
                <a:spcPts val="195"/>
              </a:spcBef>
              <a:buSzPct val="89000"/>
              <a:tabLst>
                <a:tab pos="519430" algn="l"/>
              </a:tabLst>
            </a:pPr>
            <a:r>
              <a:rPr lang="en-US" sz="2800" kern="0" dirty="0" smtClean="0">
                <a:latin typeface="Times New Roman" panose="02020603050405020304" pitchFamily="18" charset="0"/>
                <a:cs typeface="Times New Roman" panose="02020603050405020304" pitchFamily="18" charset="0"/>
                <a:sym typeface="+mn-ea"/>
              </a:rPr>
              <a:t>      used to store customer details</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1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a:t>
            </a:r>
            <a:r>
              <a:rPr lang="en-US" sz="2800" b="1" kern="0" dirty="0" smtClean="0">
                <a:latin typeface="Times New Roman" panose="02020603050405020304" pitchFamily="18" charset="0"/>
                <a:cs typeface="Times New Roman" panose="02020603050405020304" pitchFamily="18" charset="0"/>
                <a:sym typeface="+mn-ea"/>
              </a:rPr>
              <a:t>Branch(</a:t>
            </a:r>
            <a:r>
              <a:rPr lang="en-US" sz="2800" b="1" kern="0" dirty="0" err="1" smtClean="0">
                <a:latin typeface="Times New Roman" panose="02020603050405020304" pitchFamily="18" charset="0"/>
                <a:cs typeface="Times New Roman" panose="02020603050405020304" pitchFamily="18" charset="0"/>
                <a:sym typeface="+mn-ea"/>
              </a:rPr>
              <a:t>branch_name</a:t>
            </a:r>
            <a:r>
              <a:rPr lang="en-US" sz="2800" b="1" kern="0" dirty="0" smtClean="0">
                <a:latin typeface="Times New Roman" panose="02020603050405020304" pitchFamily="18" charset="0"/>
                <a:cs typeface="Times New Roman" panose="02020603050405020304" pitchFamily="18" charset="0"/>
                <a:sym typeface="+mn-ea"/>
              </a:rPr>
              <a:t>, </a:t>
            </a:r>
            <a:r>
              <a:rPr lang="en-US" sz="2800" b="1" kern="0" dirty="0" err="1" smtClean="0">
                <a:latin typeface="Times New Roman" panose="02020603050405020304" pitchFamily="18" charset="0"/>
                <a:cs typeface="Times New Roman" panose="02020603050405020304" pitchFamily="18" charset="0"/>
                <a:sym typeface="+mn-ea"/>
              </a:rPr>
              <a:t>branch_city</a:t>
            </a:r>
            <a:r>
              <a:rPr lang="en-US" sz="2800" b="1" kern="0" dirty="0" smtClean="0">
                <a:latin typeface="Times New Roman" panose="02020603050405020304" pitchFamily="18" charset="0"/>
                <a:cs typeface="Times New Roman" panose="02020603050405020304" pitchFamily="18" charset="0"/>
                <a:sym typeface="+mn-ea"/>
              </a:rPr>
              <a:t>, assets)</a:t>
            </a:r>
            <a:endParaRPr lang="en-US" sz="2800" b="1" kern="0" dirty="0" smtClean="0">
              <a:latin typeface="Times New Roman" panose="02020603050405020304" pitchFamily="18" charset="0"/>
              <a:cs typeface="Times New Roman" panose="02020603050405020304" pitchFamily="18" charset="0"/>
            </a:endParaRPr>
          </a:p>
          <a:p>
            <a:pPr marL="975995" lvl="2" indent="-117475">
              <a:spcBef>
                <a:spcPts val="195"/>
              </a:spcBef>
              <a:buSzPct val="89000"/>
              <a:tabLst>
                <a:tab pos="519430" algn="l"/>
              </a:tabLst>
            </a:pPr>
            <a:r>
              <a:rPr lang="en-US" sz="2800" kern="0" dirty="0" smtClean="0">
                <a:latin typeface="Times New Roman" panose="02020603050405020304" pitchFamily="18" charset="0"/>
                <a:cs typeface="Times New Roman" panose="02020603050405020304" pitchFamily="18" charset="0"/>
                <a:sym typeface="+mn-ea"/>
              </a:rPr>
              <a:t>      used to store branch details</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15"/>
              </a:spcBef>
              <a:buSzPct val="90000"/>
              <a:buFont typeface="Wingdings" panose="05000000000000000000" pitchFamily="2" charset="2"/>
              <a:buChar char="ü"/>
              <a:tabLst>
                <a:tab pos="266065" algn="l"/>
              </a:tabLst>
            </a:pPr>
            <a:r>
              <a:rPr lang="en-US" sz="2800" b="1" kern="0" dirty="0" smtClean="0">
                <a:latin typeface="Times New Roman" panose="02020603050405020304" pitchFamily="18" charset="0"/>
                <a:cs typeface="Times New Roman" panose="02020603050405020304" pitchFamily="18" charset="0"/>
                <a:sym typeface="+mn-ea"/>
              </a:rPr>
              <a:t>Account(</a:t>
            </a:r>
            <a:r>
              <a:rPr lang="en-US" sz="2800" b="1" kern="0" dirty="0" err="1" smtClean="0">
                <a:latin typeface="Times New Roman" panose="02020603050405020304" pitchFamily="18" charset="0"/>
                <a:cs typeface="Times New Roman" panose="02020603050405020304" pitchFamily="18" charset="0"/>
                <a:sym typeface="+mn-ea"/>
              </a:rPr>
              <a:t>acc_no</a:t>
            </a:r>
            <a:r>
              <a:rPr lang="en-US" sz="2800" b="1" kern="0" dirty="0" smtClean="0">
                <a:latin typeface="Times New Roman" panose="02020603050405020304" pitchFamily="18" charset="0"/>
                <a:cs typeface="Times New Roman" panose="02020603050405020304" pitchFamily="18" charset="0"/>
                <a:sym typeface="+mn-ea"/>
              </a:rPr>
              <a:t>, </a:t>
            </a:r>
            <a:r>
              <a:rPr lang="en-US" sz="2800" b="1" kern="0" dirty="0" err="1" smtClean="0">
                <a:latin typeface="Times New Roman" panose="02020603050405020304" pitchFamily="18" charset="0"/>
                <a:cs typeface="Times New Roman" panose="02020603050405020304" pitchFamily="18" charset="0"/>
                <a:sym typeface="+mn-ea"/>
              </a:rPr>
              <a:t>branch_name</a:t>
            </a:r>
            <a:r>
              <a:rPr lang="en-US" sz="2800" b="1" kern="0" dirty="0" smtClean="0">
                <a:latin typeface="Times New Roman" panose="02020603050405020304" pitchFamily="18" charset="0"/>
                <a:cs typeface="Times New Roman" panose="02020603050405020304" pitchFamily="18" charset="0"/>
                <a:sym typeface="+mn-ea"/>
              </a:rPr>
              <a:t>, balance)</a:t>
            </a:r>
            <a:endParaRPr lang="en-US" sz="2800" b="1" kern="0" dirty="0" smtClean="0">
              <a:latin typeface="Times New Roman" panose="02020603050405020304" pitchFamily="18" charset="0"/>
              <a:cs typeface="Times New Roman" panose="02020603050405020304" pitchFamily="18" charset="0"/>
            </a:endParaRPr>
          </a:p>
          <a:p>
            <a:pPr marL="975995" lvl="2" indent="-117475">
              <a:spcBef>
                <a:spcPts val="195"/>
              </a:spcBef>
              <a:buSzPct val="89000"/>
              <a:tabLst>
                <a:tab pos="519430" algn="l"/>
              </a:tabLst>
            </a:pPr>
            <a:r>
              <a:rPr lang="en-US" sz="2800" kern="0" dirty="0" smtClean="0">
                <a:latin typeface="Times New Roman" panose="02020603050405020304" pitchFamily="18" charset="0"/>
                <a:cs typeface="Times New Roman" panose="02020603050405020304" pitchFamily="18" charset="0"/>
                <a:sym typeface="+mn-ea"/>
              </a:rPr>
              <a:t>      stores the account details</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1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a:t>
            </a:r>
            <a:r>
              <a:rPr lang="en-US" sz="2800" b="1" kern="0" dirty="0" smtClean="0">
                <a:latin typeface="Times New Roman" panose="02020603050405020304" pitchFamily="18" charset="0"/>
                <a:cs typeface="Times New Roman" panose="02020603050405020304" pitchFamily="18" charset="0"/>
                <a:sym typeface="+mn-ea"/>
              </a:rPr>
              <a:t>Loan(</a:t>
            </a:r>
            <a:r>
              <a:rPr lang="en-US" sz="2800" b="1" kern="0" dirty="0" err="1" smtClean="0">
                <a:latin typeface="Times New Roman" panose="02020603050405020304" pitchFamily="18" charset="0"/>
                <a:cs typeface="Times New Roman" panose="02020603050405020304" pitchFamily="18" charset="0"/>
                <a:sym typeface="+mn-ea"/>
              </a:rPr>
              <a:t>loan_no</a:t>
            </a:r>
            <a:r>
              <a:rPr lang="en-US" sz="2800" b="1" kern="0" dirty="0" smtClean="0">
                <a:latin typeface="Times New Roman" panose="02020603050405020304" pitchFamily="18" charset="0"/>
                <a:cs typeface="Times New Roman" panose="02020603050405020304" pitchFamily="18" charset="0"/>
                <a:sym typeface="+mn-ea"/>
              </a:rPr>
              <a:t>, </a:t>
            </a:r>
            <a:r>
              <a:rPr lang="en-US" sz="2800" b="1" kern="0" dirty="0" err="1" smtClean="0">
                <a:latin typeface="Times New Roman" panose="02020603050405020304" pitchFamily="18" charset="0"/>
                <a:cs typeface="Times New Roman" panose="02020603050405020304" pitchFamily="18" charset="0"/>
                <a:sym typeface="+mn-ea"/>
              </a:rPr>
              <a:t>branch_name</a:t>
            </a:r>
            <a:r>
              <a:rPr lang="en-US" sz="2800" b="1" kern="0" dirty="0" smtClean="0">
                <a:latin typeface="Times New Roman" panose="02020603050405020304" pitchFamily="18" charset="0"/>
                <a:cs typeface="Times New Roman" panose="02020603050405020304" pitchFamily="18" charset="0"/>
                <a:sym typeface="+mn-ea"/>
              </a:rPr>
              <a:t>, amount)</a:t>
            </a:r>
            <a:endParaRPr lang="en-US" sz="2800" b="1" kern="0" dirty="0" smtClean="0">
              <a:latin typeface="Times New Roman" panose="02020603050405020304" pitchFamily="18" charset="0"/>
              <a:cs typeface="Times New Roman" panose="02020603050405020304" pitchFamily="18" charset="0"/>
            </a:endParaRPr>
          </a:p>
          <a:p>
            <a:pPr marL="975995" lvl="2" indent="-117475">
              <a:spcBef>
                <a:spcPts val="195"/>
              </a:spcBef>
              <a:buSzPct val="89000"/>
              <a:tabLst>
                <a:tab pos="519430" algn="l"/>
              </a:tabLst>
            </a:pPr>
            <a:r>
              <a:rPr lang="en-US" sz="2800" kern="0" dirty="0" smtClean="0">
                <a:latin typeface="Times New Roman" panose="02020603050405020304" pitchFamily="18" charset="0"/>
                <a:cs typeface="Times New Roman" panose="02020603050405020304" pitchFamily="18" charset="0"/>
                <a:sym typeface="+mn-ea"/>
              </a:rPr>
              <a:t>      stores the loan details</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1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a:t>
            </a:r>
            <a:r>
              <a:rPr lang="en-US" sz="2800" b="1" kern="0" dirty="0" smtClean="0">
                <a:latin typeface="Times New Roman" panose="02020603050405020304" pitchFamily="18" charset="0"/>
                <a:cs typeface="Times New Roman" panose="02020603050405020304" pitchFamily="18" charset="0"/>
                <a:sym typeface="+mn-ea"/>
              </a:rPr>
              <a:t>Depositor(</a:t>
            </a:r>
            <a:r>
              <a:rPr lang="en-US" sz="2800" b="1" kern="0" dirty="0" err="1" smtClean="0">
                <a:latin typeface="Times New Roman" panose="02020603050405020304" pitchFamily="18" charset="0"/>
                <a:cs typeface="Times New Roman" panose="02020603050405020304" pitchFamily="18" charset="0"/>
                <a:sym typeface="+mn-ea"/>
              </a:rPr>
              <a:t>cust_name</a:t>
            </a:r>
            <a:r>
              <a:rPr lang="en-US" sz="2800" b="1" kern="0" dirty="0" smtClean="0">
                <a:latin typeface="Times New Roman" panose="02020603050405020304" pitchFamily="18" charset="0"/>
                <a:cs typeface="Times New Roman" panose="02020603050405020304" pitchFamily="18" charset="0"/>
                <a:sym typeface="+mn-ea"/>
              </a:rPr>
              <a:t>, </a:t>
            </a:r>
            <a:r>
              <a:rPr lang="en-US" sz="2800" b="1" kern="0" dirty="0" err="1" smtClean="0">
                <a:latin typeface="Times New Roman" panose="02020603050405020304" pitchFamily="18" charset="0"/>
                <a:cs typeface="Times New Roman" panose="02020603050405020304" pitchFamily="18" charset="0"/>
                <a:sym typeface="+mn-ea"/>
              </a:rPr>
              <a:t>acc_no</a:t>
            </a:r>
            <a:r>
              <a:rPr lang="en-US" sz="2800" b="1" kern="0" dirty="0" smtClean="0">
                <a:latin typeface="Times New Roman" panose="02020603050405020304" pitchFamily="18" charset="0"/>
                <a:cs typeface="Times New Roman" panose="02020603050405020304" pitchFamily="18" charset="0"/>
                <a:sym typeface="+mn-ea"/>
              </a:rPr>
              <a:t>)</a:t>
            </a:r>
            <a:endParaRPr lang="en-US" sz="2800" b="1" kern="0" dirty="0" smtClean="0">
              <a:latin typeface="Times New Roman" panose="02020603050405020304" pitchFamily="18" charset="0"/>
              <a:cs typeface="Times New Roman" panose="02020603050405020304" pitchFamily="18" charset="0"/>
            </a:endParaRPr>
          </a:p>
          <a:p>
            <a:pPr marL="975995" lvl="2" indent="-117475">
              <a:spcBef>
                <a:spcPts val="195"/>
              </a:spcBef>
              <a:buSzPct val="89000"/>
              <a:tabLst>
                <a:tab pos="519430" algn="l"/>
              </a:tabLst>
            </a:pPr>
            <a:r>
              <a:rPr lang="en-US" sz="2800" kern="0" dirty="0" smtClean="0">
                <a:latin typeface="Times New Roman" panose="02020603050405020304" pitchFamily="18" charset="0"/>
                <a:cs typeface="Times New Roman" panose="02020603050405020304" pitchFamily="18" charset="0"/>
                <a:sym typeface="+mn-ea"/>
              </a:rPr>
              <a:t>      stores the details about the customers’ account</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1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a:t>
            </a:r>
            <a:r>
              <a:rPr lang="en-US" sz="2800" b="1" kern="0" dirty="0" smtClean="0">
                <a:latin typeface="Times New Roman" panose="02020603050405020304" pitchFamily="18" charset="0"/>
                <a:cs typeface="Times New Roman" panose="02020603050405020304" pitchFamily="18" charset="0"/>
                <a:sym typeface="+mn-ea"/>
              </a:rPr>
              <a:t>Borrower(</a:t>
            </a:r>
            <a:r>
              <a:rPr lang="en-US" sz="2800" b="1" kern="0" dirty="0" err="1" smtClean="0">
                <a:latin typeface="Times New Roman" panose="02020603050405020304" pitchFamily="18" charset="0"/>
                <a:cs typeface="Times New Roman" panose="02020603050405020304" pitchFamily="18" charset="0"/>
                <a:sym typeface="+mn-ea"/>
              </a:rPr>
              <a:t>cust_name</a:t>
            </a:r>
            <a:r>
              <a:rPr lang="en-US" sz="2800" b="1" kern="0" dirty="0" smtClean="0">
                <a:latin typeface="Times New Roman" panose="02020603050405020304" pitchFamily="18" charset="0"/>
                <a:cs typeface="Times New Roman" panose="02020603050405020304" pitchFamily="18" charset="0"/>
                <a:sym typeface="+mn-ea"/>
              </a:rPr>
              <a:t>, </a:t>
            </a:r>
            <a:r>
              <a:rPr lang="en-US" sz="2800" b="1" kern="0" dirty="0" err="1" smtClean="0">
                <a:latin typeface="Times New Roman" panose="02020603050405020304" pitchFamily="18" charset="0"/>
                <a:cs typeface="Times New Roman" panose="02020603050405020304" pitchFamily="18" charset="0"/>
                <a:sym typeface="+mn-ea"/>
              </a:rPr>
              <a:t>loan_no</a:t>
            </a:r>
            <a:r>
              <a:rPr lang="en-US" sz="2800" b="1" kern="0" dirty="0" smtClean="0">
                <a:latin typeface="Times New Roman" panose="02020603050405020304" pitchFamily="18" charset="0"/>
                <a:cs typeface="Times New Roman" panose="02020603050405020304" pitchFamily="18" charset="0"/>
                <a:sym typeface="+mn-ea"/>
              </a:rPr>
              <a:t>)</a:t>
            </a:r>
            <a:endParaRPr lang="en-US" sz="2800" b="1" kern="0" dirty="0" smtClean="0">
              <a:latin typeface="Times New Roman" panose="02020603050405020304" pitchFamily="18" charset="0"/>
              <a:cs typeface="Times New Roman" panose="02020603050405020304" pitchFamily="18" charset="0"/>
            </a:endParaRPr>
          </a:p>
          <a:p>
            <a:pPr marL="722630" lvl="1" indent="-121920">
              <a:spcBef>
                <a:spcPts val="215"/>
              </a:spcBef>
              <a:buSzPct val="90000"/>
              <a:tabLst>
                <a:tab pos="266065" algn="l"/>
              </a:tabLst>
            </a:pPr>
            <a:r>
              <a:rPr lang="en-US" sz="2800" kern="0" dirty="0" smtClean="0">
                <a:latin typeface="Times New Roman" panose="02020603050405020304" pitchFamily="18" charset="0"/>
                <a:cs typeface="Times New Roman" panose="02020603050405020304" pitchFamily="18" charset="0"/>
                <a:sym typeface="+mn-ea"/>
              </a:rPr>
              <a:t>           used to store the details about the customers’ loan</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SELECT Operator (</a:t>
            </a:r>
            <a:r>
              <a:rPr lang="el-GR" b="1" dirty="0" smtClean="0">
                <a:latin typeface="Times New Roman" panose="02020603050405020304" pitchFamily="18" charset="0"/>
                <a:cs typeface="Times New Roman" panose="02020603050405020304" pitchFamily="18" charset="0"/>
                <a:sym typeface="+mn-ea"/>
              </a:rPr>
              <a:t>σ)</a:t>
            </a:r>
            <a:endParaRPr lang="en-US"/>
          </a:p>
        </p:txBody>
      </p:sp>
      <p:sp>
        <p:nvSpPr>
          <p:cNvPr id="3" name="Content Placeholder 2"/>
          <p:cNvSpPr>
            <a:spLocks noGrp="1"/>
          </p:cNvSpPr>
          <p:nvPr>
            <p:ph idx="1"/>
          </p:nvPr>
        </p:nvSpPr>
        <p:spPr/>
        <p:txBody>
          <a:bodyPr>
            <a:normAutofit fontScale="90000" lnSpcReduction="20000"/>
          </a:bodyPr>
          <a:p>
            <a:pPr marL="342900" indent="-342900" algn="just">
              <a:spcBef>
                <a:spcPct val="20000"/>
              </a:spcBef>
              <a:buFont typeface="Wingdings" panose="05000000000000000000" pitchFamily="2" charset="2"/>
              <a:buChar char="Ø"/>
              <a:defRPr/>
            </a:pPr>
            <a:r>
              <a:rPr lang="en-US" sz="2800" b="1" kern="0" dirty="0" smtClean="0">
                <a:latin typeface="Times New Roman" panose="02020603050405020304" pitchFamily="18" charset="0"/>
                <a:cs typeface="Times New Roman" panose="02020603050405020304" pitchFamily="18" charset="0"/>
                <a:sym typeface="+mn-ea"/>
              </a:rPr>
              <a:t>SELECT operation </a:t>
            </a:r>
            <a:r>
              <a:rPr lang="en-US" sz="2800" kern="0" dirty="0" smtClean="0">
                <a:latin typeface="Times New Roman" panose="02020603050405020304" pitchFamily="18" charset="0"/>
                <a:cs typeface="Times New Roman" panose="02020603050405020304" pitchFamily="18" charset="0"/>
                <a:sym typeface="+mn-ea"/>
              </a:rPr>
              <a:t>is used to create a relation from another relation by selecting only those tuples or rows from the original relation that satisfy a specified condition. It is denoted by sigma (σ) symbol. The predicate appears as a subscript to σ.</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argument relation is in parenthesis after the σ. The result is a relation that has the same attributes as the relation specified in &lt;relation-name&gt;. The general syntax of select operator is: </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z="2800" kern="0" dirty="0" smtClean="0">
                <a:latin typeface="Times New Roman" panose="02020603050405020304" pitchFamily="18" charset="0"/>
                <a:cs typeface="Times New Roman" panose="02020603050405020304" pitchFamily="18" charset="0"/>
                <a:sym typeface="+mn-ea"/>
              </a:rPr>
              <a:t>			</a:t>
            </a:r>
            <a:r>
              <a:rPr lang="en-US" sz="2800" b="1" kern="0" dirty="0" smtClean="0">
                <a:latin typeface="Times New Roman" panose="02020603050405020304" pitchFamily="18" charset="0"/>
                <a:cs typeface="Times New Roman" panose="02020603050405020304" pitchFamily="18" charset="0"/>
                <a:sym typeface="+mn-ea"/>
              </a:rPr>
              <a:t> σ &lt;selection−condition&gt; (&lt;relation name&gt;)</a:t>
            </a:r>
            <a:endParaRPr lang="en-US" sz="2800"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b="1" kern="0" dirty="0" smtClean="0">
                <a:latin typeface="Times New Roman" panose="02020603050405020304" pitchFamily="18" charset="0"/>
                <a:cs typeface="Times New Roman" panose="02020603050405020304" pitchFamily="18" charset="0"/>
                <a:sym typeface="+mn-ea"/>
              </a:rPr>
              <a:t>Query: </a:t>
            </a:r>
            <a:r>
              <a:rPr lang="en-US" sz="2800" kern="0" dirty="0" smtClean="0">
                <a:latin typeface="Times New Roman" panose="02020603050405020304" pitchFamily="18" charset="0"/>
                <a:cs typeface="Times New Roman" panose="02020603050405020304" pitchFamily="18" charset="0"/>
                <a:sym typeface="+mn-ea"/>
              </a:rPr>
              <a:t>Find the details of the loans taken from ’Bhubaneswar Main’ branch.</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z="2800" kern="0" dirty="0" smtClean="0">
                <a:latin typeface="Times New Roman" panose="02020603050405020304" pitchFamily="18" charset="0"/>
                <a:cs typeface="Times New Roman" panose="02020603050405020304" pitchFamily="18" charset="0"/>
                <a:sym typeface="+mn-ea"/>
              </a:rPr>
              <a:t>	</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z="2800" kern="0" dirty="0" smtClean="0">
                <a:latin typeface="Times New Roman" panose="02020603050405020304" pitchFamily="18" charset="0"/>
                <a:cs typeface="Times New Roman" panose="02020603050405020304" pitchFamily="18" charset="0"/>
                <a:sym typeface="+mn-ea"/>
              </a:rPr>
              <a:t>	</a:t>
            </a:r>
            <a:r>
              <a:rPr lang="en-US" sz="2800" b="1" kern="0" dirty="0" smtClean="0">
                <a:latin typeface="Times New Roman" panose="02020603050405020304" pitchFamily="18" charset="0"/>
                <a:cs typeface="Times New Roman" panose="02020603050405020304" pitchFamily="18" charset="0"/>
                <a:sym typeface="+mn-ea"/>
              </a:rPr>
              <a:t> σ </a:t>
            </a:r>
            <a:r>
              <a:rPr lang="en-US" sz="2800" kern="0" dirty="0" err="1" smtClean="0">
                <a:latin typeface="Times New Roman" panose="02020603050405020304" pitchFamily="18" charset="0"/>
                <a:cs typeface="Times New Roman" panose="02020603050405020304" pitchFamily="18" charset="0"/>
                <a:sym typeface="+mn-ea"/>
              </a:rPr>
              <a:t>branch_name</a:t>
            </a:r>
            <a:r>
              <a:rPr lang="en-US" sz="2800" kern="0" dirty="0" smtClean="0">
                <a:latin typeface="Times New Roman" panose="02020603050405020304" pitchFamily="18" charset="0"/>
                <a:cs typeface="Times New Roman" panose="02020603050405020304" pitchFamily="18" charset="0"/>
                <a:sym typeface="+mn-ea"/>
              </a:rPr>
              <a:t>=′ </a:t>
            </a:r>
            <a:r>
              <a:rPr lang="en-US" sz="2800" kern="0" dirty="0" err="1" smtClean="0">
                <a:latin typeface="Times New Roman" panose="02020603050405020304" pitchFamily="18" charset="0"/>
                <a:cs typeface="Times New Roman" panose="02020603050405020304" pitchFamily="18" charset="0"/>
                <a:sym typeface="+mn-ea"/>
              </a:rPr>
              <a:t>BhubaneswarMain</a:t>
            </a:r>
            <a:r>
              <a:rPr lang="en-US" sz="2800" kern="0" dirty="0" smtClean="0">
                <a:latin typeface="Times New Roman" panose="02020603050405020304" pitchFamily="18" charset="0"/>
                <a:cs typeface="Times New Roman" panose="02020603050405020304" pitchFamily="18" charset="0"/>
                <a:sym typeface="+mn-ea"/>
              </a:rPr>
              <a:t>′  (Loan)</a:t>
            </a:r>
            <a:endParaRPr lang="en-US" sz="2800" kern="0" dirty="0" smtClean="0">
              <a:latin typeface="Times New Roman" panose="02020603050405020304" pitchFamily="18" charset="0"/>
              <a:cs typeface="Times New Roman" panose="02020603050405020304" pitchFamily="18" charset="0"/>
            </a:endParaRPr>
          </a:p>
          <a:p>
            <a:pPr marL="722630" lvl="2" indent="-121920">
              <a:spcBef>
                <a:spcPts val="140"/>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The operators used in selection predicate may be: =, 6=, &lt;, ≤, &gt;, ≥.</a:t>
            </a:r>
            <a:endParaRPr lang="en-US" sz="2800" kern="0" dirty="0" smtClean="0">
              <a:latin typeface="Times New Roman" panose="02020603050405020304" pitchFamily="18" charset="0"/>
              <a:cs typeface="Times New Roman" panose="02020603050405020304" pitchFamily="18" charset="0"/>
            </a:endParaRPr>
          </a:p>
          <a:p>
            <a:pPr marL="722630" marR="139065" lvl="2"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Different predicates can be combined into a larger predicate by using the connectors like: AND(V), OR(W), NOT(¬)</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SELECT Operator (</a:t>
            </a:r>
            <a:r>
              <a:rPr lang="el-GR" b="1" dirty="0" smtClean="0">
                <a:latin typeface="Times New Roman" panose="02020603050405020304" pitchFamily="18" charset="0"/>
                <a:cs typeface="Times New Roman" panose="02020603050405020304" pitchFamily="18" charset="0"/>
                <a:sym typeface="+mn-ea"/>
              </a:rPr>
              <a:t>σ)</a:t>
            </a:r>
            <a:endParaRPr lang="en-US"/>
          </a:p>
        </p:txBody>
      </p:sp>
      <p:pic>
        <p:nvPicPr>
          <p:cNvPr id="4" name="Content Placeholder 1" descr="select-1"/>
          <p:cNvPicPr>
            <a:picLocks noGrp="1" noChangeAspect="1"/>
          </p:cNvPicPr>
          <p:nvPr>
            <p:ph idx="1"/>
          </p:nvPr>
        </p:nvPicPr>
        <p:blipFill>
          <a:blip r:embed="rId1"/>
          <a:stretch>
            <a:fillRect/>
          </a:stretch>
        </p:blipFill>
        <p:spPr>
          <a:xfrm>
            <a:off x="621030" y="1809750"/>
            <a:ext cx="10866120" cy="27990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PROJECT Operator(</a:t>
            </a:r>
            <a:r>
              <a:rPr lang="el-GR" b="1" dirty="0" smtClean="0">
                <a:latin typeface="Times New Roman" panose="02020603050405020304" pitchFamily="18" charset="0"/>
                <a:cs typeface="Times New Roman" panose="02020603050405020304" pitchFamily="18" charset="0"/>
                <a:sym typeface="+mn-ea"/>
              </a:rPr>
              <a:t>π)</a:t>
            </a:r>
            <a:endParaRPr lang="en-US"/>
          </a:p>
        </p:txBody>
      </p:sp>
      <p:sp>
        <p:nvSpPr>
          <p:cNvPr id="3" name="Content Placeholder 2"/>
          <p:cNvSpPr>
            <a:spLocks noGrp="1"/>
          </p:cNvSpPr>
          <p:nvPr>
            <p:ph idx="1"/>
          </p:nvPr>
        </p:nvSpPr>
        <p:spPr>
          <a:xfrm>
            <a:off x="838200" y="1825625"/>
            <a:ext cx="10515600" cy="3041015"/>
          </a:xfrm>
        </p:spPr>
        <p:txBody>
          <a:bodyPr>
            <a:normAutofit lnSpcReduction="20000"/>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PROJECT operation can be thought of as eliminating unwanted columns. It is denoted by pie (π) symbol. The attributes needed to be appeared in the resultant relation appear as subscript to π.</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argument relation follows in parenthesis. The general syntax of project operator is: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kern="0" dirty="0" smtClean="0">
                <a:latin typeface="Times New Roman" panose="02020603050405020304" pitchFamily="18" charset="0"/>
                <a:cs typeface="Times New Roman" panose="02020603050405020304" pitchFamily="18" charset="0"/>
                <a:sym typeface="+mn-ea"/>
              </a:rPr>
              <a:t>			</a:t>
            </a:r>
            <a:r>
              <a:rPr lang="en-US" b="1" kern="0" dirty="0" smtClean="0">
                <a:latin typeface="Times New Roman" panose="02020603050405020304" pitchFamily="18" charset="0"/>
                <a:cs typeface="Times New Roman" panose="02020603050405020304" pitchFamily="18" charset="0"/>
                <a:sym typeface="+mn-ea"/>
              </a:rPr>
              <a:t>π &lt;attribute−list &gt; (&lt;relation name&gt;)</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Query: Find the loan numbers and respective loan amounts.</a:t>
            </a:r>
            <a:endParaRPr lang="en-US" kern="0" dirty="0" smtClean="0">
              <a:latin typeface="Times New Roman" panose="02020603050405020304" pitchFamily="18" charset="0"/>
              <a:cs typeface="Times New Roman" panose="02020603050405020304" pitchFamily="18" charset="0"/>
            </a:endParaRPr>
          </a:p>
          <a:p>
            <a:pPr marL="12700">
              <a:lnSpc>
                <a:spcPct val="100000"/>
              </a:lnSpc>
              <a:spcBef>
                <a:spcPts val="150"/>
              </a:spcBef>
            </a:pPr>
            <a:r>
              <a:rPr lang="en-US" spc="-187" baseline="8000" dirty="0" smtClean="0">
                <a:latin typeface="Arial" panose="020B0604020202020204"/>
                <a:cs typeface="Arial" panose="020B0604020202020204"/>
                <a:sym typeface="+mn-ea"/>
              </a:rPr>
              <a:t>	</a:t>
            </a:r>
            <a:r>
              <a:rPr lang="en-US" spc="-187" baseline="8000" dirty="0" smtClean="0">
                <a:latin typeface="Times New Roman" panose="02020603050405020304" pitchFamily="18" charset="0"/>
                <a:cs typeface="Times New Roman" panose="02020603050405020304" pitchFamily="18" charset="0"/>
                <a:sym typeface="+mn-ea"/>
              </a:rPr>
              <a:t>	</a:t>
            </a:r>
            <a:r>
              <a:rPr lang="en-US" b="1" spc="-187" baseline="8000" dirty="0" smtClean="0">
                <a:latin typeface="Times New Roman" panose="02020603050405020304" pitchFamily="18" charset="0"/>
                <a:cs typeface="Times New Roman" panose="02020603050405020304" pitchFamily="18" charset="0"/>
                <a:sym typeface="+mn-ea"/>
              </a:rPr>
              <a:t>π</a:t>
            </a:r>
            <a:r>
              <a:rPr lang="en-US" b="1" spc="44" baseline="8000" dirty="0" smtClean="0">
                <a:latin typeface="Times New Roman" panose="02020603050405020304" pitchFamily="18" charset="0"/>
                <a:cs typeface="Times New Roman" panose="02020603050405020304" pitchFamily="18" charset="0"/>
                <a:sym typeface="+mn-ea"/>
              </a:rPr>
              <a:t> </a:t>
            </a:r>
            <a:r>
              <a:rPr lang="en-US" b="1" i="1" spc="-5" dirty="0" err="1" smtClean="0">
                <a:latin typeface="Times New Roman" panose="02020603050405020304" pitchFamily="18" charset="0"/>
                <a:cs typeface="Times New Roman" panose="02020603050405020304" pitchFamily="18" charset="0"/>
                <a:sym typeface="+mn-ea"/>
              </a:rPr>
              <a:t>loa</a:t>
            </a:r>
            <a:r>
              <a:rPr lang="en-US" b="1" i="1" dirty="0" err="1" smtClean="0">
                <a:latin typeface="Times New Roman" panose="02020603050405020304" pitchFamily="18" charset="0"/>
                <a:cs typeface="Times New Roman" panose="02020603050405020304" pitchFamily="18" charset="0"/>
                <a:sym typeface="+mn-ea"/>
              </a:rPr>
              <a:t>n</a:t>
            </a:r>
            <a:r>
              <a:rPr lang="en-US" b="1" spc="-5" dirty="0" err="1" smtClean="0">
                <a:latin typeface="Times New Roman" panose="02020603050405020304" pitchFamily="18" charset="0"/>
                <a:cs typeface="Times New Roman" panose="02020603050405020304" pitchFamily="18" charset="0"/>
                <a:sym typeface="+mn-ea"/>
              </a:rPr>
              <a:t>_</a:t>
            </a:r>
            <a:r>
              <a:rPr lang="en-US" b="1" i="1" spc="-5" dirty="0" err="1" smtClean="0">
                <a:latin typeface="Times New Roman" panose="02020603050405020304" pitchFamily="18" charset="0"/>
                <a:cs typeface="Times New Roman" panose="02020603050405020304" pitchFamily="18" charset="0"/>
                <a:sym typeface="+mn-ea"/>
              </a:rPr>
              <a:t>n</a:t>
            </a:r>
            <a:r>
              <a:rPr lang="en-US" b="1" i="1" spc="10" dirty="0" err="1" smtClean="0">
                <a:latin typeface="Times New Roman" panose="02020603050405020304" pitchFamily="18" charset="0"/>
                <a:cs typeface="Times New Roman" panose="02020603050405020304" pitchFamily="18" charset="0"/>
                <a:sym typeface="+mn-ea"/>
              </a:rPr>
              <a:t>o</a:t>
            </a:r>
            <a:r>
              <a:rPr lang="en-US" b="1" spc="-25" dirty="0" err="1" smtClean="0">
                <a:latin typeface="Times New Roman" panose="02020603050405020304" pitchFamily="18" charset="0"/>
                <a:cs typeface="Times New Roman" panose="02020603050405020304" pitchFamily="18" charset="0"/>
                <a:sym typeface="+mn-ea"/>
              </a:rPr>
              <a:t>,</a:t>
            </a:r>
            <a:r>
              <a:rPr lang="en-US" b="1" i="1" spc="-5" dirty="0" err="1" smtClean="0">
                <a:latin typeface="Times New Roman" panose="02020603050405020304" pitchFamily="18" charset="0"/>
                <a:cs typeface="Times New Roman" panose="02020603050405020304" pitchFamily="18" charset="0"/>
                <a:sym typeface="+mn-ea"/>
              </a:rPr>
              <a:t>amount</a:t>
            </a:r>
            <a:r>
              <a:rPr lang="en-US" b="1" i="1" dirty="0" smtClean="0">
                <a:latin typeface="Times New Roman" panose="02020603050405020304" pitchFamily="18" charset="0"/>
                <a:cs typeface="Times New Roman" panose="02020603050405020304" pitchFamily="18" charset="0"/>
                <a:sym typeface="+mn-ea"/>
              </a:rPr>
              <a:t>  </a:t>
            </a:r>
            <a:r>
              <a:rPr lang="en-US" b="1" spc="-7" baseline="8000" dirty="0" smtClean="0">
                <a:latin typeface="Times New Roman" panose="02020603050405020304" pitchFamily="18" charset="0"/>
                <a:cs typeface="Times New Roman" panose="02020603050405020304" pitchFamily="18" charset="0"/>
                <a:sym typeface="+mn-ea"/>
              </a:rPr>
              <a:t>(Loan)</a:t>
            </a:r>
            <a:endParaRPr lang="en-US" b="1" baseline="8000" dirty="0" smtClean="0">
              <a:latin typeface="Times New Roman" panose="02020603050405020304" pitchFamily="18" charset="0"/>
              <a:cs typeface="Times New Roman" panose="02020603050405020304" pitchFamily="18" charset="0"/>
            </a:endParaRPr>
          </a:p>
          <a:p>
            <a:endParaRPr lang="en-US"/>
          </a:p>
        </p:txBody>
      </p:sp>
      <p:sp>
        <p:nvSpPr>
          <p:cNvPr id="8" name="object 9"/>
          <p:cNvSpPr txBox="1"/>
          <p:nvPr/>
        </p:nvSpPr>
        <p:spPr>
          <a:xfrm>
            <a:off x="3947778" y="4844738"/>
            <a:ext cx="1681106" cy="276999"/>
          </a:xfrm>
          <a:prstGeom prst="rect">
            <a:avLst/>
          </a:prstGeom>
        </p:spPr>
        <p:txBody>
          <a:bodyPr vert="horz" wrap="square" lIns="0" tIns="0" rIns="0" bIns="0" rtlCol="0">
            <a:spAutoFit/>
          </a:bodyPr>
          <a:p>
            <a:pPr marL="12700">
              <a:lnSpc>
                <a:spcPct val="100000"/>
              </a:lnSpc>
            </a:pPr>
            <a:r>
              <a:rPr spc="-10" dirty="0">
                <a:latin typeface="Times New Roman" panose="02020603050405020304" pitchFamily="18" charset="0"/>
                <a:cs typeface="Times New Roman" panose="02020603050405020304" pitchFamily="18" charset="0"/>
              </a:rPr>
              <a:t>Loan</a:t>
            </a:r>
            <a:endParaRPr>
              <a:latin typeface="Times New Roman" panose="02020603050405020304" pitchFamily="18" charset="0"/>
              <a:cs typeface="Times New Roman" panose="02020603050405020304" pitchFamily="18" charset="0"/>
            </a:endParaRPr>
          </a:p>
        </p:txBody>
      </p:sp>
      <p:sp>
        <p:nvSpPr>
          <p:cNvPr id="14" name="object 11"/>
          <p:cNvSpPr txBox="1"/>
          <p:nvPr/>
        </p:nvSpPr>
        <p:spPr>
          <a:xfrm>
            <a:off x="7322835" y="4710615"/>
            <a:ext cx="3125801" cy="369332"/>
          </a:xfrm>
          <a:prstGeom prst="rect">
            <a:avLst/>
          </a:prstGeom>
        </p:spPr>
        <p:txBody>
          <a:bodyPr vert="horz" wrap="square" lIns="0" tIns="0" rIns="0" bIns="0" rtlCol="0">
            <a:spAutoFit/>
          </a:bodyPr>
          <a:p>
            <a:pPr marL="12700">
              <a:lnSpc>
                <a:spcPct val="100000"/>
              </a:lnSpc>
            </a:pPr>
            <a:r>
              <a:rPr lang="el-GR" sz="3600" b="1" spc="-187" baseline="8000" dirty="0" smtClean="0">
                <a:latin typeface="Times New Roman" panose="02020603050405020304" pitchFamily="18" charset="0"/>
                <a:cs typeface="Times New Roman" panose="02020603050405020304" pitchFamily="18" charset="0"/>
              </a:rPr>
              <a:t>π</a:t>
            </a:r>
            <a:r>
              <a:rPr spc="44" baseline="8000" smtClean="0">
                <a:latin typeface="Times New Roman" panose="02020603050405020304" pitchFamily="18" charset="0"/>
                <a:cs typeface="Times New Roman" panose="02020603050405020304" pitchFamily="18" charset="0"/>
              </a:rPr>
              <a:t> </a:t>
            </a:r>
            <a:r>
              <a:rPr lang="en-US" spc="44" baseline="8000" dirty="0" smtClean="0">
                <a:latin typeface="Times New Roman" panose="02020603050405020304" pitchFamily="18" charset="0"/>
                <a:cs typeface="Times New Roman" panose="02020603050405020304" pitchFamily="18" charset="0"/>
              </a:rPr>
              <a:t> </a:t>
            </a:r>
            <a:r>
              <a:rPr i="1" spc="-5" smtClean="0">
                <a:latin typeface="Times New Roman" panose="02020603050405020304" pitchFamily="18" charset="0"/>
                <a:cs typeface="Times New Roman" panose="02020603050405020304" pitchFamily="18" charset="0"/>
              </a:rPr>
              <a:t>loa</a:t>
            </a:r>
            <a:r>
              <a:rPr i="1" spc="0" smtClean="0">
                <a:latin typeface="Times New Roman" panose="02020603050405020304" pitchFamily="18" charset="0"/>
                <a:cs typeface="Times New Roman" panose="02020603050405020304" pitchFamily="18" charset="0"/>
              </a:rPr>
              <a:t>n</a:t>
            </a:r>
            <a:r>
              <a:rPr spc="-5" smtClean="0">
                <a:latin typeface="Times New Roman" panose="02020603050405020304" pitchFamily="18" charset="0"/>
                <a:cs typeface="Times New Roman" panose="02020603050405020304" pitchFamily="18" charset="0"/>
              </a:rPr>
              <a:t>_</a:t>
            </a:r>
            <a:r>
              <a:rPr i="1" spc="-5" smtClean="0">
                <a:latin typeface="Times New Roman" panose="02020603050405020304" pitchFamily="18" charset="0"/>
                <a:cs typeface="Times New Roman" panose="02020603050405020304" pitchFamily="18" charset="0"/>
              </a:rPr>
              <a:t>n</a:t>
            </a:r>
            <a:r>
              <a:rPr i="1" spc="10" smtClean="0">
                <a:latin typeface="Times New Roman" panose="02020603050405020304" pitchFamily="18" charset="0"/>
                <a:cs typeface="Times New Roman" panose="02020603050405020304" pitchFamily="18" charset="0"/>
              </a:rPr>
              <a:t>o</a:t>
            </a:r>
            <a:r>
              <a:rPr spc="-25" smtClean="0">
                <a:latin typeface="Times New Roman" panose="02020603050405020304" pitchFamily="18" charset="0"/>
                <a:cs typeface="Times New Roman" panose="02020603050405020304" pitchFamily="18" charset="0"/>
              </a:rPr>
              <a:t>,</a:t>
            </a:r>
            <a:r>
              <a:rPr lang="en-US" spc="-25" dirty="0" smtClean="0">
                <a:latin typeface="Times New Roman" panose="02020603050405020304" pitchFamily="18" charset="0"/>
                <a:cs typeface="Times New Roman" panose="02020603050405020304" pitchFamily="18" charset="0"/>
              </a:rPr>
              <a:t> </a:t>
            </a:r>
            <a:r>
              <a:rPr i="1" spc="-5" smtClean="0">
                <a:latin typeface="Times New Roman" panose="02020603050405020304" pitchFamily="18" charset="0"/>
                <a:cs typeface="Times New Roman" panose="02020603050405020304" pitchFamily="18" charset="0"/>
              </a:rPr>
              <a:t>amount</a:t>
            </a:r>
            <a:r>
              <a:rPr i="1" smtClean="0">
                <a:latin typeface="Times New Roman" panose="02020603050405020304" pitchFamily="18" charset="0"/>
                <a:cs typeface="Times New Roman" panose="02020603050405020304" pitchFamily="18" charset="0"/>
              </a:rPr>
              <a:t>  </a:t>
            </a:r>
            <a:r>
              <a:rPr spc="-7" baseline="8000" dirty="0">
                <a:latin typeface="Times New Roman" panose="02020603050405020304" pitchFamily="18" charset="0"/>
                <a:cs typeface="Times New Roman" panose="02020603050405020304" pitchFamily="18" charset="0"/>
              </a:rPr>
              <a:t>(Loan)</a:t>
            </a:r>
            <a:endParaRPr baseline="8000">
              <a:latin typeface="Times New Roman" panose="02020603050405020304" pitchFamily="18" charset="0"/>
              <a:cs typeface="Times New Roman" panose="02020603050405020304" pitchFamily="18" charset="0"/>
            </a:endParaRPr>
          </a:p>
        </p:txBody>
      </p:sp>
      <p:graphicFrame>
        <p:nvGraphicFramePr>
          <p:cNvPr id="15" name="object 10"/>
          <p:cNvGraphicFramePr>
            <a:graphicFrameLocks noGrp="1"/>
          </p:cNvGraphicFramePr>
          <p:nvPr/>
        </p:nvGraphicFramePr>
        <p:xfrm>
          <a:off x="2304704" y="5201928"/>
          <a:ext cx="4643470" cy="1371600"/>
        </p:xfrm>
        <a:graphic>
          <a:graphicData uri="http://schemas.openxmlformats.org/drawingml/2006/table">
            <a:tbl>
              <a:tblPr firstRow="1" bandRow="1">
                <a:tableStyleId>{2D5ABB26-0587-4C30-8999-92F81FD0307C}</a:tableStyleId>
              </a:tblPr>
              <a:tblGrid>
                <a:gridCol w="979805"/>
                <a:gridCol w="1991445"/>
                <a:gridCol w="1672220"/>
              </a:tblGrid>
              <a:tr h="135492">
                <a:tc>
                  <a:txBody>
                    <a:bodyPr/>
                    <a:p>
                      <a:pPr marL="65405">
                        <a:lnSpc>
                          <a:spcPct val="100000"/>
                        </a:lnSpc>
                      </a:pPr>
                      <a:r>
                        <a:rPr sz="1800" u="sng" dirty="0">
                          <a:latin typeface="Times New Roman" panose="02020603050405020304" pitchFamily="18" charset="0"/>
                          <a:cs typeface="Times New Roman" panose="02020603050405020304" pitchFamily="18" charset="0"/>
                        </a:rPr>
                        <a:t>loan_no</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lnT w="4365">
                      <a:solidFill>
                        <a:srgbClr val="000000"/>
                      </a:solidFill>
                      <a:prstDash val="solid"/>
                    </a:lnT>
                    <a:lnB w="4365">
                      <a:solidFill>
                        <a:srgbClr val="000000"/>
                      </a:solidFill>
                      <a:prstDash val="solid"/>
                    </a:lnB>
                  </a:tcPr>
                </a:tc>
                <a:tc>
                  <a:txBody>
                    <a:bodyPr/>
                    <a:p>
                      <a:pPr marL="65405">
                        <a:lnSpc>
                          <a:spcPct val="100000"/>
                        </a:lnSpc>
                      </a:pPr>
                      <a:r>
                        <a:rPr sz="1800" dirty="0">
                          <a:latin typeface="Times New Roman" panose="02020603050405020304" pitchFamily="18" charset="0"/>
                          <a:cs typeface="Times New Roman" panose="02020603050405020304" pitchFamily="18" charset="0"/>
                        </a:rPr>
                        <a:t>b</a:t>
                      </a:r>
                      <a:r>
                        <a:rPr sz="1800" spc="-10"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anch_name</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lnT w="4365">
                      <a:solidFill>
                        <a:srgbClr val="000000"/>
                      </a:solidFill>
                      <a:prstDash val="solid"/>
                    </a:lnT>
                    <a:lnB w="4365">
                      <a:solidFill>
                        <a:srgbClr val="000000"/>
                      </a:solidFill>
                      <a:prstDash val="solid"/>
                    </a:lnB>
                  </a:tcPr>
                </a:tc>
                <a:tc>
                  <a:txBody>
                    <a:bodyPr/>
                    <a:p>
                      <a:pPr marL="460375">
                        <a:lnSpc>
                          <a:spcPct val="100000"/>
                        </a:lnSpc>
                      </a:pPr>
                      <a:r>
                        <a:rPr sz="1800" dirty="0">
                          <a:latin typeface="Times New Roman" panose="02020603050405020304" pitchFamily="18" charset="0"/>
                          <a:cs typeface="Times New Roman" panose="02020603050405020304" pitchFamily="18" charset="0"/>
                        </a:rPr>
                        <a:t>amount</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lnT w="4365">
                      <a:solidFill>
                        <a:srgbClr val="000000"/>
                      </a:solidFill>
                      <a:prstDash val="solid"/>
                    </a:lnT>
                    <a:lnB w="4365">
                      <a:solidFill>
                        <a:srgbClr val="000000"/>
                      </a:solidFill>
                      <a:prstDash val="solid"/>
                    </a:lnB>
                  </a:tcPr>
                </a:tc>
              </a:tr>
              <a:tr h="129754">
                <a:tc>
                  <a:txBody>
                    <a:bodyPr/>
                    <a:p>
                      <a:pPr marL="65405">
                        <a:lnSpc>
                          <a:spcPct val="100000"/>
                        </a:lnSpc>
                      </a:pPr>
                      <a:r>
                        <a:rPr sz="1800" dirty="0">
                          <a:latin typeface="Times New Roman" panose="02020603050405020304" pitchFamily="18" charset="0"/>
                          <a:cs typeface="Times New Roman" panose="02020603050405020304" pitchFamily="18" charset="0"/>
                        </a:rPr>
                        <a:t>L201</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lnT w="4365">
                      <a:solidFill>
                        <a:srgbClr val="000000"/>
                      </a:solidFill>
                      <a:prstDash val="solid"/>
                    </a:lnT>
                  </a:tcPr>
                </a:tc>
                <a:tc>
                  <a:txBody>
                    <a:bodyPr/>
                    <a:p>
                      <a:pPr marL="65405">
                        <a:lnSpc>
                          <a:spcPct val="100000"/>
                        </a:lnSpc>
                      </a:pPr>
                      <a:r>
                        <a:rPr sz="1800" dirty="0">
                          <a:latin typeface="Times New Roman" panose="02020603050405020304" pitchFamily="18" charset="0"/>
                          <a:cs typeface="Times New Roman" panose="02020603050405020304" pitchFamily="18" charset="0"/>
                        </a:rPr>
                        <a:t>Bhubane</a:t>
                      </a:r>
                      <a:r>
                        <a:rPr sz="1800" spc="-30" dirty="0">
                          <a:latin typeface="Times New Roman" panose="02020603050405020304" pitchFamily="18" charset="0"/>
                          <a:cs typeface="Times New Roman" panose="02020603050405020304" pitchFamily="18" charset="0"/>
                        </a:rPr>
                        <a:t>s</a:t>
                      </a:r>
                      <a:r>
                        <a:rPr sz="1800" spc="-15" dirty="0">
                          <a:latin typeface="Times New Roman" panose="02020603050405020304" pitchFamily="18" charset="0"/>
                          <a:cs typeface="Times New Roman" panose="02020603050405020304" pitchFamily="18" charset="0"/>
                        </a:rPr>
                        <a:t>w</a:t>
                      </a:r>
                      <a:r>
                        <a:rPr sz="1800" dirty="0">
                          <a:latin typeface="Times New Roman" panose="02020603050405020304" pitchFamily="18" charset="0"/>
                          <a:cs typeface="Times New Roman" panose="02020603050405020304" pitchFamily="18" charset="0"/>
                        </a:rPr>
                        <a:t>ar Main</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lnT w="4365">
                      <a:solidFill>
                        <a:srgbClr val="000000"/>
                      </a:solidFill>
                      <a:prstDash val="solid"/>
                    </a:lnT>
                  </a:tcPr>
                </a:tc>
                <a:tc>
                  <a:txBody>
                    <a:bodyPr/>
                    <a:p>
                      <a:pPr marL="125730">
                        <a:lnSpc>
                          <a:spcPct val="100000"/>
                        </a:lnSpc>
                      </a:pPr>
                      <a:r>
                        <a:rPr sz="1800" dirty="0">
                          <a:latin typeface="Times New Roman" panose="02020603050405020304" pitchFamily="18" charset="0"/>
                          <a:cs typeface="Times New Roman" panose="02020603050405020304" pitchFamily="18" charset="0"/>
                        </a:rPr>
                        <a:t>50,000,000.00</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lnT w="4365">
                      <a:solidFill>
                        <a:srgbClr val="000000"/>
                      </a:solidFill>
                      <a:prstDash val="solid"/>
                    </a:lnT>
                  </a:tcPr>
                </a:tc>
              </a:tr>
              <a:tr h="131140">
                <a:tc>
                  <a:txBody>
                    <a:bodyPr/>
                    <a:p>
                      <a:pPr marL="65405">
                        <a:lnSpc>
                          <a:spcPct val="100000"/>
                        </a:lnSpc>
                      </a:pPr>
                      <a:r>
                        <a:rPr sz="1800" dirty="0">
                          <a:latin typeface="Times New Roman" panose="02020603050405020304" pitchFamily="18" charset="0"/>
                          <a:cs typeface="Times New Roman" panose="02020603050405020304" pitchFamily="18" charset="0"/>
                        </a:rPr>
                        <a:t>L202</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tcPr>
                </a:tc>
                <a:tc>
                  <a:txBody>
                    <a:bodyPr/>
                    <a:p>
                      <a:pPr marL="65405">
                        <a:lnSpc>
                          <a:spcPct val="100000"/>
                        </a:lnSpc>
                      </a:pPr>
                      <a:r>
                        <a:rPr sz="1800" dirty="0">
                          <a:latin typeface="Times New Roman" panose="02020603050405020304" pitchFamily="18" charset="0"/>
                          <a:cs typeface="Times New Roman" panose="02020603050405020304" pitchFamily="18" charset="0"/>
                        </a:rPr>
                        <a:t>Bhubane</a:t>
                      </a:r>
                      <a:r>
                        <a:rPr sz="1800" spc="-30" dirty="0">
                          <a:latin typeface="Times New Roman" panose="02020603050405020304" pitchFamily="18" charset="0"/>
                          <a:cs typeface="Times New Roman" panose="02020603050405020304" pitchFamily="18" charset="0"/>
                        </a:rPr>
                        <a:t>s</a:t>
                      </a:r>
                      <a:r>
                        <a:rPr sz="1800" spc="-15" dirty="0">
                          <a:latin typeface="Times New Roman" panose="02020603050405020304" pitchFamily="18" charset="0"/>
                          <a:cs typeface="Times New Roman" panose="02020603050405020304" pitchFamily="18" charset="0"/>
                        </a:rPr>
                        <a:t>w</a:t>
                      </a:r>
                      <a:r>
                        <a:rPr sz="1800" dirty="0">
                          <a:latin typeface="Times New Roman" panose="02020603050405020304" pitchFamily="18" charset="0"/>
                          <a:cs typeface="Times New Roman" panose="02020603050405020304" pitchFamily="18" charset="0"/>
                        </a:rPr>
                        <a:t>ar Main</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tcPr>
                </a:tc>
                <a:tc>
                  <a:txBody>
                    <a:bodyPr/>
                    <a:p>
                      <a:pPr marL="186690">
                        <a:lnSpc>
                          <a:spcPct val="100000"/>
                        </a:lnSpc>
                      </a:pPr>
                      <a:r>
                        <a:rPr sz="1800" dirty="0">
                          <a:latin typeface="Times New Roman" panose="02020603050405020304" pitchFamily="18" charset="0"/>
                          <a:cs typeface="Times New Roman" panose="02020603050405020304" pitchFamily="18" charset="0"/>
                        </a:rPr>
                        <a:t>5,000,000.00</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tcPr>
                </a:tc>
              </a:tr>
              <a:tr h="131146">
                <a:tc>
                  <a:txBody>
                    <a:bodyPr/>
                    <a:p>
                      <a:pPr marL="65405">
                        <a:lnSpc>
                          <a:spcPct val="100000"/>
                        </a:lnSpc>
                      </a:pPr>
                      <a:r>
                        <a:rPr sz="1800" dirty="0">
                          <a:latin typeface="Times New Roman" panose="02020603050405020304" pitchFamily="18" charset="0"/>
                          <a:cs typeface="Times New Roman" panose="02020603050405020304" pitchFamily="18" charset="0"/>
                        </a:rPr>
                        <a:t>L203</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tcPr>
                </a:tc>
                <a:tc>
                  <a:txBody>
                    <a:bodyPr/>
                    <a:p>
                      <a:pPr marL="65405">
                        <a:lnSpc>
                          <a:spcPct val="100000"/>
                        </a:lnSpc>
                      </a:pPr>
                      <a:r>
                        <a:rPr sz="1800" dirty="0">
                          <a:latin typeface="Times New Roman" panose="02020603050405020304" pitchFamily="18" charset="0"/>
                          <a:cs typeface="Times New Roman" panose="02020603050405020304" pitchFamily="18" charset="0"/>
                        </a:rPr>
                        <a:t>Mumbai Main</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tcPr>
                </a:tc>
                <a:tc>
                  <a:txBody>
                    <a:bodyPr/>
                    <a:p>
                      <a:pPr marL="65405">
                        <a:lnSpc>
                          <a:spcPct val="100000"/>
                        </a:lnSpc>
                      </a:pPr>
                      <a:r>
                        <a:rPr sz="1800" dirty="0">
                          <a:latin typeface="Times New Roman" panose="02020603050405020304" pitchFamily="18" charset="0"/>
                          <a:cs typeface="Times New Roman" panose="02020603050405020304" pitchFamily="18" charset="0"/>
                        </a:rPr>
                        <a:t>100,000,000.00</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tcPr>
                </a:tc>
              </a:tr>
              <a:tr h="136893">
                <a:tc>
                  <a:txBody>
                    <a:bodyPr/>
                    <a:p>
                      <a:pPr marL="65405">
                        <a:lnSpc>
                          <a:spcPct val="100000"/>
                        </a:lnSpc>
                      </a:pPr>
                      <a:r>
                        <a:rPr sz="1800" dirty="0">
                          <a:latin typeface="Times New Roman" panose="02020603050405020304" pitchFamily="18" charset="0"/>
                          <a:cs typeface="Times New Roman" panose="02020603050405020304" pitchFamily="18" charset="0"/>
                        </a:rPr>
                        <a:t>L204</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lnB w="4365">
                      <a:solidFill>
                        <a:srgbClr val="000000"/>
                      </a:solidFill>
                      <a:prstDash val="solid"/>
                    </a:lnB>
                  </a:tcPr>
                </a:tc>
                <a:tc>
                  <a:txBody>
                    <a:bodyPr/>
                    <a:p>
                      <a:pPr marL="65405">
                        <a:lnSpc>
                          <a:spcPct val="100000"/>
                        </a:lnSpc>
                      </a:pPr>
                      <a:r>
                        <a:rPr sz="1800" spc="-20" dirty="0">
                          <a:latin typeface="Times New Roman" panose="02020603050405020304" pitchFamily="18" charset="0"/>
                          <a:cs typeface="Times New Roman" panose="02020603050405020304" pitchFamily="18" charset="0"/>
                        </a:rPr>
                        <a:t>J</a:t>
                      </a:r>
                      <a:r>
                        <a:rPr sz="1800" dirty="0">
                          <a:latin typeface="Times New Roman" panose="02020603050405020304" pitchFamily="18" charset="0"/>
                          <a:cs typeface="Times New Roman" panose="02020603050405020304" pitchFamily="18" charset="0"/>
                        </a:rPr>
                        <a:t>uhu</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lnB w="4365">
                      <a:solidFill>
                        <a:srgbClr val="000000"/>
                      </a:solidFill>
                      <a:prstDash val="solid"/>
                    </a:lnB>
                  </a:tcPr>
                </a:tc>
                <a:tc>
                  <a:txBody>
                    <a:bodyPr/>
                    <a:p>
                      <a:pPr marL="125730">
                        <a:lnSpc>
                          <a:spcPct val="100000"/>
                        </a:lnSpc>
                      </a:pPr>
                      <a:r>
                        <a:rPr sz="1800" dirty="0">
                          <a:latin typeface="Times New Roman" panose="02020603050405020304" pitchFamily="18" charset="0"/>
                          <a:cs typeface="Times New Roman" panose="02020603050405020304" pitchFamily="18" charset="0"/>
                        </a:rPr>
                        <a:t>60,000,000.00</a:t>
                      </a:r>
                      <a:endParaRPr sz="1800">
                        <a:latin typeface="Times New Roman" panose="02020603050405020304" pitchFamily="18" charset="0"/>
                        <a:cs typeface="Times New Roman" panose="02020603050405020304" pitchFamily="18" charset="0"/>
                      </a:endParaRPr>
                    </a:p>
                  </a:txBody>
                  <a:tcPr marL="0" marR="0" marT="0" marB="0">
                    <a:lnL w="4365">
                      <a:solidFill>
                        <a:srgbClr val="000000"/>
                      </a:solidFill>
                      <a:prstDash val="solid"/>
                    </a:lnL>
                    <a:lnR w="4365">
                      <a:solidFill>
                        <a:srgbClr val="000000"/>
                      </a:solidFill>
                      <a:prstDash val="solid"/>
                    </a:lnR>
                    <a:lnB w="4365">
                      <a:solidFill>
                        <a:srgbClr val="000000"/>
                      </a:solidFill>
                      <a:prstDash val="solid"/>
                    </a:lnB>
                  </a:tcPr>
                </a:tc>
              </a:tr>
            </a:tbl>
          </a:graphicData>
        </a:graphic>
      </p:graphicFrame>
      <p:graphicFrame>
        <p:nvGraphicFramePr>
          <p:cNvPr id="16" name="object 12"/>
          <p:cNvGraphicFramePr>
            <a:graphicFrameLocks noGrp="1"/>
          </p:cNvGraphicFramePr>
          <p:nvPr/>
        </p:nvGraphicFramePr>
        <p:xfrm>
          <a:off x="7091050" y="5201928"/>
          <a:ext cx="3214710" cy="1371600"/>
        </p:xfrm>
        <a:graphic>
          <a:graphicData uri="http://schemas.openxmlformats.org/drawingml/2006/table">
            <a:tbl>
              <a:tblPr firstRow="1" bandRow="1">
                <a:tableStyleId>{2D5ABB26-0587-4C30-8999-92F81FD0307C}</a:tableStyleId>
              </a:tblPr>
              <a:tblGrid>
                <a:gridCol w="1187573"/>
                <a:gridCol w="2027137"/>
              </a:tblGrid>
              <a:tr h="134206">
                <a:tc>
                  <a:txBody>
                    <a:bodyPr/>
                    <a:p>
                      <a:pPr marL="64770">
                        <a:lnSpc>
                          <a:spcPct val="100000"/>
                        </a:lnSpc>
                      </a:pPr>
                      <a:r>
                        <a:rPr sz="1800" dirty="0">
                          <a:latin typeface="Times New Roman" panose="02020603050405020304" pitchFamily="18" charset="0"/>
                          <a:cs typeface="Times New Roman" panose="02020603050405020304" pitchFamily="18" charset="0"/>
                        </a:rPr>
                        <a:t>loan_no</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lnT w="4323">
                      <a:solidFill>
                        <a:srgbClr val="000000"/>
                      </a:solidFill>
                      <a:prstDash val="solid"/>
                    </a:lnT>
                    <a:lnB w="4323">
                      <a:solidFill>
                        <a:srgbClr val="000000"/>
                      </a:solidFill>
                      <a:prstDash val="solid"/>
                    </a:lnB>
                  </a:tcPr>
                </a:tc>
                <a:tc>
                  <a:txBody>
                    <a:bodyPr/>
                    <a:p>
                      <a:pPr marL="64770">
                        <a:lnSpc>
                          <a:spcPct val="100000"/>
                        </a:lnSpc>
                      </a:pPr>
                      <a:r>
                        <a:rPr sz="1800" dirty="0">
                          <a:latin typeface="Times New Roman" panose="02020603050405020304" pitchFamily="18" charset="0"/>
                          <a:cs typeface="Times New Roman" panose="02020603050405020304" pitchFamily="18" charset="0"/>
                        </a:rPr>
                        <a:t>amount</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lnT w="4323">
                      <a:solidFill>
                        <a:srgbClr val="000000"/>
                      </a:solidFill>
                      <a:prstDash val="solid"/>
                    </a:lnT>
                    <a:lnB w="4323">
                      <a:solidFill>
                        <a:srgbClr val="000000"/>
                      </a:solidFill>
                      <a:prstDash val="solid"/>
                    </a:lnB>
                  </a:tcPr>
                </a:tc>
              </a:tr>
              <a:tr h="128486">
                <a:tc>
                  <a:txBody>
                    <a:bodyPr/>
                    <a:p>
                      <a:pPr marL="64770">
                        <a:lnSpc>
                          <a:spcPct val="100000"/>
                        </a:lnSpc>
                      </a:pPr>
                      <a:r>
                        <a:rPr sz="1800" dirty="0">
                          <a:latin typeface="Times New Roman" panose="02020603050405020304" pitchFamily="18" charset="0"/>
                          <a:cs typeface="Times New Roman" panose="02020603050405020304" pitchFamily="18" charset="0"/>
                        </a:rPr>
                        <a:t>L201</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lnT w="4323">
                      <a:solidFill>
                        <a:srgbClr val="000000"/>
                      </a:solidFill>
                      <a:prstDash val="solid"/>
                    </a:lnT>
                  </a:tcPr>
                </a:tc>
                <a:tc>
                  <a:txBody>
                    <a:bodyPr/>
                    <a:p>
                      <a:pPr marL="64770">
                        <a:lnSpc>
                          <a:spcPct val="100000"/>
                        </a:lnSpc>
                      </a:pPr>
                      <a:r>
                        <a:rPr sz="1800" dirty="0">
                          <a:latin typeface="Times New Roman" panose="02020603050405020304" pitchFamily="18" charset="0"/>
                          <a:cs typeface="Times New Roman" panose="02020603050405020304" pitchFamily="18" charset="0"/>
                        </a:rPr>
                        <a:t>50,000,000.00</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lnT w="4323">
                      <a:solidFill>
                        <a:srgbClr val="000000"/>
                      </a:solidFill>
                      <a:prstDash val="solid"/>
                    </a:lnT>
                  </a:tcPr>
                </a:tc>
              </a:tr>
              <a:tr h="129876">
                <a:tc>
                  <a:txBody>
                    <a:bodyPr/>
                    <a:p>
                      <a:pPr marL="64770">
                        <a:lnSpc>
                          <a:spcPct val="100000"/>
                        </a:lnSpc>
                      </a:pPr>
                      <a:r>
                        <a:rPr sz="1800" dirty="0">
                          <a:latin typeface="Times New Roman" panose="02020603050405020304" pitchFamily="18" charset="0"/>
                          <a:cs typeface="Times New Roman" panose="02020603050405020304" pitchFamily="18" charset="0"/>
                        </a:rPr>
                        <a:t>L202</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tcPr>
                </a:tc>
                <a:tc>
                  <a:txBody>
                    <a:bodyPr/>
                    <a:p>
                      <a:pPr marL="64770">
                        <a:lnSpc>
                          <a:spcPct val="100000"/>
                        </a:lnSpc>
                      </a:pPr>
                      <a:r>
                        <a:rPr sz="1800" dirty="0">
                          <a:latin typeface="Times New Roman" panose="02020603050405020304" pitchFamily="18" charset="0"/>
                          <a:cs typeface="Times New Roman" panose="02020603050405020304" pitchFamily="18" charset="0"/>
                        </a:rPr>
                        <a:t>5,000,000.00</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tcPr>
                </a:tc>
              </a:tr>
              <a:tr h="129867">
                <a:tc>
                  <a:txBody>
                    <a:bodyPr/>
                    <a:p>
                      <a:pPr marL="64770">
                        <a:lnSpc>
                          <a:spcPct val="100000"/>
                        </a:lnSpc>
                      </a:pPr>
                      <a:r>
                        <a:rPr sz="1800" dirty="0">
                          <a:latin typeface="Times New Roman" panose="02020603050405020304" pitchFamily="18" charset="0"/>
                          <a:cs typeface="Times New Roman" panose="02020603050405020304" pitchFamily="18" charset="0"/>
                        </a:rPr>
                        <a:t>L203</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tcPr>
                </a:tc>
                <a:tc>
                  <a:txBody>
                    <a:bodyPr/>
                    <a:p>
                      <a:pPr marL="64770">
                        <a:lnSpc>
                          <a:spcPct val="100000"/>
                        </a:lnSpc>
                      </a:pPr>
                      <a:r>
                        <a:rPr sz="1800" dirty="0">
                          <a:latin typeface="Times New Roman" panose="02020603050405020304" pitchFamily="18" charset="0"/>
                          <a:cs typeface="Times New Roman" panose="02020603050405020304" pitchFamily="18" charset="0"/>
                        </a:rPr>
                        <a:t>100,000,000.00</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tcPr>
                </a:tc>
              </a:tr>
              <a:tr h="135571">
                <a:tc>
                  <a:txBody>
                    <a:bodyPr/>
                    <a:p>
                      <a:pPr marL="64770">
                        <a:lnSpc>
                          <a:spcPct val="100000"/>
                        </a:lnSpc>
                      </a:pPr>
                      <a:r>
                        <a:rPr sz="1800" dirty="0">
                          <a:latin typeface="Times New Roman" panose="02020603050405020304" pitchFamily="18" charset="0"/>
                          <a:cs typeface="Times New Roman" panose="02020603050405020304" pitchFamily="18" charset="0"/>
                        </a:rPr>
                        <a:t>L204</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lnB w="4323">
                      <a:solidFill>
                        <a:srgbClr val="000000"/>
                      </a:solidFill>
                      <a:prstDash val="solid"/>
                    </a:lnB>
                  </a:tcPr>
                </a:tc>
                <a:tc>
                  <a:txBody>
                    <a:bodyPr/>
                    <a:p>
                      <a:pPr marL="64770">
                        <a:lnSpc>
                          <a:spcPct val="100000"/>
                        </a:lnSpc>
                      </a:pPr>
                      <a:r>
                        <a:rPr sz="1800" dirty="0">
                          <a:latin typeface="Times New Roman" panose="02020603050405020304" pitchFamily="18" charset="0"/>
                          <a:cs typeface="Times New Roman" panose="02020603050405020304" pitchFamily="18" charset="0"/>
                        </a:rPr>
                        <a:t>60,000,000.00</a:t>
                      </a:r>
                      <a:endParaRPr sz="1800">
                        <a:latin typeface="Times New Roman" panose="02020603050405020304" pitchFamily="18" charset="0"/>
                        <a:cs typeface="Times New Roman" panose="02020603050405020304" pitchFamily="18" charset="0"/>
                      </a:endParaRPr>
                    </a:p>
                  </a:txBody>
                  <a:tcPr marL="0" marR="0" marT="0" marB="0">
                    <a:lnL w="4323">
                      <a:solidFill>
                        <a:srgbClr val="000000"/>
                      </a:solidFill>
                      <a:prstDash val="solid"/>
                    </a:lnL>
                    <a:lnR w="4323">
                      <a:solidFill>
                        <a:srgbClr val="000000"/>
                      </a:solidFill>
                      <a:prstDash val="solid"/>
                    </a:lnR>
                    <a:lnB w="4323">
                      <a:solidFill>
                        <a:srgbClr val="000000"/>
                      </a:solidFill>
                      <a:prstDash val="solid"/>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PROJECT Operator(</a:t>
            </a:r>
            <a:r>
              <a:rPr lang="el-GR" b="1" dirty="0" smtClean="0">
                <a:latin typeface="Times New Roman" panose="02020603050405020304" pitchFamily="18" charset="0"/>
                <a:cs typeface="Times New Roman" panose="02020603050405020304" pitchFamily="18" charset="0"/>
                <a:sym typeface="+mn-ea"/>
              </a:rPr>
              <a:t>π)</a:t>
            </a:r>
            <a:endParaRPr lang="en-US"/>
          </a:p>
        </p:txBody>
      </p:sp>
      <p:pic>
        <p:nvPicPr>
          <p:cNvPr id="4" name="Content Placeholder 1" descr="project-1"/>
          <p:cNvPicPr>
            <a:picLocks noGrp="1" noChangeAspect="1"/>
          </p:cNvPicPr>
          <p:nvPr>
            <p:ph idx="1"/>
          </p:nvPr>
        </p:nvPicPr>
        <p:blipFill>
          <a:blip r:embed="rId1"/>
          <a:stretch>
            <a:fillRect/>
          </a:stretch>
        </p:blipFill>
        <p:spPr>
          <a:xfrm>
            <a:off x="2619375" y="2084705"/>
            <a:ext cx="7921625" cy="17049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Composition of Relational Operators</a:t>
            </a:r>
            <a:endParaRPr lang="en-US"/>
          </a:p>
        </p:txBody>
      </p:sp>
      <p:sp>
        <p:nvSpPr>
          <p:cNvPr id="3" name="Content Placeholder 2"/>
          <p:cNvSpPr>
            <a:spLocks noGrp="1"/>
          </p:cNvSpPr>
          <p:nvPr>
            <p:ph idx="1"/>
          </p:nvPr>
        </p:nvSpPr>
        <p:spPr>
          <a:xfrm>
            <a:off x="838200" y="1825625"/>
            <a:ext cx="10515600" cy="1457325"/>
          </a:xfrm>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Relational algebra operators can be composed together into a relational algebra expression to answer the complex queries.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Q: Find the name of the customers who live in Bhubaneswar.</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kern="0" dirty="0" smtClean="0">
              <a:latin typeface="Times New Roman" panose="02020603050405020304" pitchFamily="18" charset="0"/>
              <a:cs typeface="Times New Roman" panose="02020603050405020304" pitchFamily="18" charset="0"/>
            </a:endParaRPr>
          </a:p>
          <a:p>
            <a:endParaRPr lang="en-US"/>
          </a:p>
        </p:txBody>
      </p:sp>
      <p:sp>
        <p:nvSpPr>
          <p:cNvPr id="17" name="object 16"/>
          <p:cNvSpPr txBox="1"/>
          <p:nvPr/>
        </p:nvSpPr>
        <p:spPr>
          <a:xfrm>
            <a:off x="4593268" y="3069583"/>
            <a:ext cx="1214446" cy="276999"/>
          </a:xfrm>
          <a:prstGeom prst="rect">
            <a:avLst/>
          </a:prstGeom>
        </p:spPr>
        <p:txBody>
          <a:bodyPr vert="horz" wrap="square" lIns="0" tIns="0" rIns="0" bIns="0" rtlCol="0">
            <a:spAutoFit/>
          </a:bodyPr>
          <a:p>
            <a:pPr marL="12700">
              <a:lnSpc>
                <a:spcPct val="100000"/>
              </a:lnSpc>
            </a:pPr>
            <a:r>
              <a:rPr spc="-10" dirty="0">
                <a:latin typeface="Times New Roman" panose="02020603050405020304" pitchFamily="18" charset="0"/>
                <a:cs typeface="Times New Roman" panose="02020603050405020304" pitchFamily="18" charset="0"/>
              </a:rPr>
              <a:t>Customer</a:t>
            </a:r>
            <a:endParaRPr>
              <a:latin typeface="Times New Roman" panose="02020603050405020304" pitchFamily="18" charset="0"/>
              <a:cs typeface="Times New Roman" panose="02020603050405020304" pitchFamily="18" charset="0"/>
            </a:endParaRPr>
          </a:p>
        </p:txBody>
      </p:sp>
      <p:sp>
        <p:nvSpPr>
          <p:cNvPr id="18" name="object 18"/>
          <p:cNvSpPr txBox="1"/>
          <p:nvPr/>
        </p:nvSpPr>
        <p:spPr>
          <a:xfrm>
            <a:off x="3092450" y="5215890"/>
            <a:ext cx="5644515" cy="359410"/>
          </a:xfrm>
          <a:prstGeom prst="rect">
            <a:avLst/>
          </a:prstGeom>
        </p:spPr>
        <p:txBody>
          <a:bodyPr vert="horz" wrap="square" lIns="0" tIns="0" rIns="0" bIns="0" rtlCol="0">
            <a:spAutoFit/>
          </a:bodyPr>
          <a:p>
            <a:pPr marL="12700">
              <a:lnSpc>
                <a:spcPct val="100000"/>
              </a:lnSpc>
            </a:pPr>
            <a:r>
              <a:rPr lang="el-GR" sz="3600" spc="-187" baseline="8000" dirty="0" smtClean="0">
                <a:latin typeface="Times New Roman" panose="02020603050405020304" pitchFamily="18" charset="0"/>
                <a:cs typeface="Times New Roman" panose="02020603050405020304" pitchFamily="18" charset="0"/>
              </a:rPr>
              <a:t>π</a:t>
            </a:r>
            <a:r>
              <a:rPr lang="en-US" sz="3600" spc="-187" baseline="8000" dirty="0" smtClean="0">
                <a:latin typeface="Times New Roman" panose="02020603050405020304" pitchFamily="18" charset="0"/>
                <a:cs typeface="Times New Roman" panose="02020603050405020304" pitchFamily="18" charset="0"/>
              </a:rPr>
              <a:t> </a:t>
            </a:r>
            <a:r>
              <a:rPr spc="44" baseline="8000" smtClean="0">
                <a:latin typeface="Times New Roman" panose="02020603050405020304" pitchFamily="18" charset="0"/>
                <a:cs typeface="Times New Roman" panose="02020603050405020304" pitchFamily="18" charset="0"/>
              </a:rPr>
              <a:t> </a:t>
            </a:r>
            <a:r>
              <a:rPr i="1" spc="-5" dirty="0">
                <a:latin typeface="Times New Roman" panose="02020603050405020304" pitchFamily="18" charset="0"/>
                <a:cs typeface="Times New Roman" panose="02020603050405020304" pitchFamily="18" charset="0"/>
              </a:rPr>
              <a:t>cust</a:t>
            </a:r>
            <a:r>
              <a:rPr i="1" spc="-135" dirty="0">
                <a:latin typeface="Times New Roman" panose="02020603050405020304" pitchFamily="18" charset="0"/>
                <a:cs typeface="Times New Roman" panose="02020603050405020304" pitchFamily="18" charset="0"/>
              </a:rPr>
              <a:t> </a:t>
            </a:r>
            <a:r>
              <a:rPr spc="-5" dirty="0">
                <a:latin typeface="Times New Roman" panose="02020603050405020304" pitchFamily="18" charset="0"/>
                <a:cs typeface="Times New Roman" panose="02020603050405020304" pitchFamily="18" charset="0"/>
              </a:rPr>
              <a:t>_</a:t>
            </a:r>
            <a:r>
              <a:rPr i="1" spc="-5" dirty="0">
                <a:latin typeface="Times New Roman" panose="02020603050405020304" pitchFamily="18" charset="0"/>
                <a:cs typeface="Times New Roman" panose="02020603050405020304" pitchFamily="18" charset="0"/>
              </a:rPr>
              <a:t>name</a:t>
            </a:r>
            <a:r>
              <a:rPr i="1" dirty="0">
                <a:latin typeface="Times New Roman" panose="02020603050405020304" pitchFamily="18" charset="0"/>
                <a:cs typeface="Times New Roman" panose="02020603050405020304" pitchFamily="18" charset="0"/>
              </a:rPr>
              <a:t> </a:t>
            </a:r>
            <a:r>
              <a:rPr i="1" spc="-50" dirty="0">
                <a:latin typeface="Times New Roman" panose="02020603050405020304" pitchFamily="18" charset="0"/>
                <a:cs typeface="Times New Roman" panose="02020603050405020304" pitchFamily="18" charset="0"/>
              </a:rPr>
              <a:t> </a:t>
            </a:r>
            <a:r>
              <a:rPr spc="-7" baseline="8000" dirty="0">
                <a:latin typeface="Times New Roman" panose="02020603050405020304" pitchFamily="18" charset="0"/>
                <a:cs typeface="Times New Roman" panose="02020603050405020304" pitchFamily="18" charset="0"/>
              </a:rPr>
              <a:t>(</a:t>
            </a:r>
            <a:r>
              <a:rPr sz="3600" b="1" spc="15" baseline="8000" dirty="0">
                <a:latin typeface="Times New Roman" panose="02020603050405020304" pitchFamily="18" charset="0"/>
                <a:cs typeface="Times New Roman" panose="02020603050405020304" pitchFamily="18" charset="0"/>
              </a:rPr>
              <a:t>σ</a:t>
            </a:r>
            <a:r>
              <a:rPr spc="52" baseline="8000" dirty="0">
                <a:latin typeface="Times New Roman" panose="02020603050405020304" pitchFamily="18" charset="0"/>
                <a:cs typeface="Times New Roman" panose="02020603050405020304" pitchFamily="18" charset="0"/>
              </a:rPr>
              <a:t> </a:t>
            </a:r>
            <a:r>
              <a:rPr i="1" spc="-5" dirty="0">
                <a:latin typeface="Times New Roman" panose="02020603050405020304" pitchFamily="18" charset="0"/>
                <a:cs typeface="Times New Roman" panose="02020603050405020304" pitchFamily="18" charset="0"/>
              </a:rPr>
              <a:t>cust</a:t>
            </a:r>
            <a:r>
              <a:rPr i="1" spc="-135" dirty="0">
                <a:latin typeface="Times New Roman" panose="02020603050405020304" pitchFamily="18" charset="0"/>
                <a:cs typeface="Times New Roman" panose="02020603050405020304" pitchFamily="18" charset="0"/>
              </a:rPr>
              <a:t> </a:t>
            </a:r>
            <a:r>
              <a:rPr spc="-5" dirty="0">
                <a:latin typeface="Times New Roman" panose="02020603050405020304" pitchFamily="18" charset="0"/>
                <a:cs typeface="Times New Roman" panose="02020603050405020304" pitchFamily="18" charset="0"/>
              </a:rPr>
              <a:t>_</a:t>
            </a:r>
            <a:r>
              <a:rPr i="1" spc="-5" dirty="0">
                <a:latin typeface="Times New Roman" panose="02020603050405020304" pitchFamily="18" charset="0"/>
                <a:cs typeface="Times New Roman" panose="02020603050405020304" pitchFamily="18" charset="0"/>
              </a:rPr>
              <a:t>city</a:t>
            </a:r>
            <a:r>
              <a:rPr i="1" spc="-1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82" baseline="22000" dirty="0">
                <a:latin typeface="Times New Roman" panose="02020603050405020304" pitchFamily="18" charset="0"/>
                <a:cs typeface="Times New Roman" panose="02020603050405020304" pitchFamily="18" charset="0"/>
              </a:rPr>
              <a:t>′</a:t>
            </a:r>
            <a:r>
              <a:rPr spc="-165" baseline="22000" dirty="0">
                <a:latin typeface="Times New Roman" panose="02020603050405020304" pitchFamily="18" charset="0"/>
                <a:cs typeface="Times New Roman" panose="02020603050405020304" pitchFamily="18" charset="0"/>
              </a:rPr>
              <a:t> </a:t>
            </a:r>
            <a:r>
              <a:rPr i="1" spc="-5" dirty="0">
                <a:latin typeface="Times New Roman" panose="02020603050405020304" pitchFamily="18" charset="0"/>
                <a:cs typeface="Times New Roman" panose="02020603050405020304" pitchFamily="18" charset="0"/>
              </a:rPr>
              <a:t>Bhubane</a:t>
            </a:r>
            <a:r>
              <a:rPr i="1" spc="-30" dirty="0">
                <a:latin typeface="Times New Roman" panose="02020603050405020304" pitchFamily="18" charset="0"/>
                <a:cs typeface="Times New Roman" panose="02020603050405020304" pitchFamily="18" charset="0"/>
              </a:rPr>
              <a:t>s</a:t>
            </a:r>
            <a:r>
              <a:rPr i="1" spc="-20" dirty="0">
                <a:latin typeface="Times New Roman" panose="02020603050405020304" pitchFamily="18" charset="0"/>
                <a:cs typeface="Times New Roman" panose="02020603050405020304" pitchFamily="18" charset="0"/>
              </a:rPr>
              <a:t>w</a:t>
            </a:r>
            <a:r>
              <a:rPr i="1" spc="-5" dirty="0">
                <a:latin typeface="Times New Roman" panose="02020603050405020304" pitchFamily="18" charset="0"/>
                <a:cs typeface="Times New Roman" panose="02020603050405020304" pitchFamily="18" charset="0"/>
              </a:rPr>
              <a:t>ar</a:t>
            </a:r>
            <a:r>
              <a:rPr i="1" spc="-120" dirty="0">
                <a:latin typeface="Times New Roman" panose="02020603050405020304" pitchFamily="18" charset="0"/>
                <a:cs typeface="Times New Roman" panose="02020603050405020304" pitchFamily="18" charset="0"/>
              </a:rPr>
              <a:t> </a:t>
            </a:r>
            <a:r>
              <a:rPr spc="82" baseline="22000" dirty="0">
                <a:latin typeface="Times New Roman" panose="02020603050405020304" pitchFamily="18" charset="0"/>
                <a:cs typeface="Times New Roman" panose="02020603050405020304" pitchFamily="18" charset="0"/>
              </a:rPr>
              <a:t>′</a:t>
            </a:r>
            <a:r>
              <a:rPr spc="-89" baseline="22000" dirty="0">
                <a:latin typeface="Times New Roman" panose="02020603050405020304" pitchFamily="18" charset="0"/>
                <a:cs typeface="Times New Roman" panose="02020603050405020304" pitchFamily="18" charset="0"/>
              </a:rPr>
              <a:t> </a:t>
            </a:r>
            <a:r>
              <a:rPr sz="2400" b="1" spc="-7" baseline="8000" dirty="0">
                <a:latin typeface="Times New Roman" panose="02020603050405020304" pitchFamily="18" charset="0"/>
                <a:cs typeface="Times New Roman" panose="02020603050405020304" pitchFamily="18" charset="0"/>
              </a:rPr>
              <a:t>(Customer</a:t>
            </a:r>
            <a:r>
              <a:rPr spc="-7" baseline="8000" dirty="0">
                <a:latin typeface="Times New Roman" panose="02020603050405020304" pitchFamily="18" charset="0"/>
                <a:cs typeface="Times New Roman" panose="02020603050405020304" pitchFamily="18" charset="0"/>
              </a:rPr>
              <a:t>))</a:t>
            </a:r>
            <a:endParaRPr baseline="8000">
              <a:latin typeface="Times New Roman" panose="02020603050405020304" pitchFamily="18" charset="0"/>
              <a:cs typeface="Times New Roman" panose="02020603050405020304" pitchFamily="18" charset="0"/>
            </a:endParaRPr>
          </a:p>
        </p:txBody>
      </p:sp>
      <p:graphicFrame>
        <p:nvGraphicFramePr>
          <p:cNvPr id="26" name="object 17"/>
          <p:cNvGraphicFramePr>
            <a:graphicFrameLocks noGrp="1"/>
          </p:cNvGraphicFramePr>
          <p:nvPr/>
        </p:nvGraphicFramePr>
        <p:xfrm>
          <a:off x="1950062" y="3346517"/>
          <a:ext cx="7143800" cy="1700848"/>
        </p:xfrm>
        <a:graphic>
          <a:graphicData uri="http://schemas.openxmlformats.org/drawingml/2006/table">
            <a:tbl>
              <a:tblPr firstRow="1" bandRow="1">
                <a:tableStyleId>{2D5ABB26-0587-4C30-8999-92F81FD0307C}</a:tableStyleId>
              </a:tblPr>
              <a:tblGrid>
                <a:gridCol w="2104889"/>
                <a:gridCol w="2529596"/>
                <a:gridCol w="2509315"/>
              </a:tblGrid>
              <a:tr h="147922">
                <a:tc>
                  <a:txBody>
                    <a:bodyPr/>
                    <a:p>
                      <a:pPr marL="71120">
                        <a:lnSpc>
                          <a:spcPct val="100000"/>
                        </a:lnSpc>
                      </a:pPr>
                      <a:r>
                        <a:rPr sz="1800" u="sng" dirty="0">
                          <a:latin typeface="Times New Roman" panose="02020603050405020304" pitchFamily="18" charset="0"/>
                          <a:cs typeface="Times New Roman" panose="02020603050405020304" pitchFamily="18" charset="0"/>
                        </a:rPr>
                        <a:t>cust_name</a:t>
                      </a:r>
                      <a:endParaRPr sz="1800">
                        <a:latin typeface="Times New Roman" panose="02020603050405020304" pitchFamily="18" charset="0"/>
                        <a:cs typeface="Times New Roman" panose="02020603050405020304" pitchFamily="18" charset="0"/>
                      </a:endParaRPr>
                    </a:p>
                  </a:txBody>
                  <a:tcPr marL="0" marR="0" marT="0" marB="0">
                    <a:lnL w="4765">
                      <a:solidFill>
                        <a:srgbClr val="000000"/>
                      </a:solidFill>
                      <a:prstDash val="solid"/>
                    </a:lnL>
                    <a:lnR w="4765">
                      <a:solidFill>
                        <a:srgbClr val="000000"/>
                      </a:solidFill>
                      <a:prstDash val="solid"/>
                    </a:lnR>
                    <a:lnT w="4765">
                      <a:solidFill>
                        <a:srgbClr val="000000"/>
                      </a:solidFill>
                      <a:prstDash val="solid"/>
                    </a:lnT>
                    <a:lnB w="4765">
                      <a:solidFill>
                        <a:srgbClr val="000000"/>
                      </a:solidFill>
                      <a:prstDash val="solid"/>
                    </a:lnB>
                  </a:tcPr>
                </a:tc>
                <a:tc>
                  <a:txBody>
                    <a:bodyPr/>
                    <a:p>
                      <a:pPr marL="71120">
                        <a:lnSpc>
                          <a:spcPct val="100000"/>
                        </a:lnSpc>
                      </a:pPr>
                      <a:r>
                        <a:rPr sz="1800" dirty="0">
                          <a:latin typeface="Times New Roman" panose="02020603050405020304" pitchFamily="18" charset="0"/>
                          <a:cs typeface="Times New Roman" panose="02020603050405020304" pitchFamily="18" charset="0"/>
                        </a:rPr>
                        <a:t>cust_street</a:t>
                      </a:r>
                      <a:endParaRPr sz="1800">
                        <a:latin typeface="Times New Roman" panose="02020603050405020304" pitchFamily="18" charset="0"/>
                        <a:cs typeface="Times New Roman" panose="02020603050405020304" pitchFamily="18" charset="0"/>
                      </a:endParaRPr>
                    </a:p>
                  </a:txBody>
                  <a:tcPr marL="0" marR="0" marT="0" marB="0">
                    <a:lnL w="4765">
                      <a:solidFill>
                        <a:srgbClr val="000000"/>
                      </a:solidFill>
                      <a:prstDash val="solid"/>
                    </a:lnL>
                    <a:lnR w="4765">
                      <a:solidFill>
                        <a:srgbClr val="000000"/>
                      </a:solidFill>
                      <a:prstDash val="solid"/>
                    </a:lnR>
                    <a:lnT w="4765">
                      <a:solidFill>
                        <a:srgbClr val="000000"/>
                      </a:solidFill>
                      <a:prstDash val="solid"/>
                    </a:lnT>
                    <a:lnB w="4765">
                      <a:solidFill>
                        <a:srgbClr val="000000"/>
                      </a:solidFill>
                      <a:prstDash val="solid"/>
                    </a:lnB>
                  </a:tcPr>
                </a:tc>
                <a:tc>
                  <a:txBody>
                    <a:bodyPr/>
                    <a:p>
                      <a:pPr marL="71120">
                        <a:lnSpc>
                          <a:spcPct val="100000"/>
                        </a:lnSpc>
                      </a:pPr>
                      <a:r>
                        <a:rPr sz="1800" dirty="0">
                          <a:latin typeface="Times New Roman" panose="02020603050405020304" pitchFamily="18" charset="0"/>
                          <a:cs typeface="Times New Roman" panose="02020603050405020304" pitchFamily="18" charset="0"/>
                        </a:rPr>
                        <a:t>cust_city</a:t>
                      </a:r>
                      <a:endParaRPr sz="1800">
                        <a:latin typeface="Times New Roman" panose="02020603050405020304" pitchFamily="18" charset="0"/>
                        <a:cs typeface="Times New Roman" panose="02020603050405020304" pitchFamily="18" charset="0"/>
                      </a:endParaRPr>
                    </a:p>
                  </a:txBody>
                  <a:tcPr marL="0" marR="0" marT="0" marB="0">
                    <a:lnL w="4765">
                      <a:solidFill>
                        <a:srgbClr val="000000"/>
                      </a:solidFill>
                      <a:prstDash val="solid"/>
                    </a:lnL>
                    <a:lnR w="4765">
                      <a:solidFill>
                        <a:srgbClr val="000000"/>
                      </a:solidFill>
                      <a:prstDash val="solid"/>
                    </a:lnR>
                    <a:lnT w="4765">
                      <a:solidFill>
                        <a:srgbClr val="000000"/>
                      </a:solidFill>
                      <a:prstDash val="solid"/>
                    </a:lnT>
                    <a:lnB w="4765">
                      <a:solidFill>
                        <a:srgbClr val="000000"/>
                      </a:solidFill>
                      <a:prstDash val="solid"/>
                    </a:lnB>
                  </a:tcPr>
                </a:tc>
              </a:tr>
              <a:tr h="1219835">
                <a:tc>
                  <a:txBody>
                    <a:bodyPr/>
                    <a:p>
                      <a:pPr marL="71120" marR="203200">
                        <a:lnSpc>
                          <a:spcPct val="104000"/>
                        </a:lnSpc>
                      </a:pPr>
                      <a:r>
                        <a:rPr sz="1800" dirty="0">
                          <a:latin typeface="Times New Roman" panose="02020603050405020304" pitchFamily="18" charset="0"/>
                          <a:cs typeface="Times New Roman" panose="02020603050405020304" pitchFamily="18" charset="0"/>
                        </a:rPr>
                        <a:t>Rishi </a:t>
                      </a:r>
                      <a:endParaRPr sz="1800" dirty="0">
                        <a:latin typeface="Times New Roman" panose="02020603050405020304" pitchFamily="18" charset="0"/>
                        <a:cs typeface="Times New Roman" panose="02020603050405020304" pitchFamily="18" charset="0"/>
                      </a:endParaRPr>
                    </a:p>
                    <a:p>
                      <a:pPr marL="71120" marR="203200">
                        <a:lnSpc>
                          <a:spcPct val="104000"/>
                        </a:lnSpc>
                      </a:pPr>
                      <a:r>
                        <a:rPr sz="1800" dirty="0">
                          <a:latin typeface="Times New Roman" panose="02020603050405020304" pitchFamily="18" charset="0"/>
                          <a:cs typeface="Times New Roman" panose="02020603050405020304" pitchFamily="18" charset="0"/>
                        </a:rPr>
                        <a:t>Sa</a:t>
                      </a:r>
                      <a:r>
                        <a:rPr sz="1800" spc="35"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thak</a:t>
                      </a:r>
                      <a:endParaRPr sz="1800" dirty="0">
                        <a:latin typeface="Times New Roman" panose="02020603050405020304" pitchFamily="18" charset="0"/>
                        <a:cs typeface="Times New Roman" panose="02020603050405020304" pitchFamily="18" charset="0"/>
                      </a:endParaRPr>
                    </a:p>
                    <a:p>
                      <a:pPr marL="71120" marR="203200">
                        <a:lnSpc>
                          <a:spcPct val="104000"/>
                        </a:lnSpc>
                      </a:pPr>
                      <a:r>
                        <a:rPr sz="1800" dirty="0">
                          <a:latin typeface="Times New Roman" panose="02020603050405020304" pitchFamily="18" charset="0"/>
                          <a:cs typeface="Times New Roman" panose="02020603050405020304" pitchFamily="18" charset="0"/>
                        </a:rPr>
                        <a:t> Manas </a:t>
                      </a:r>
                      <a:endParaRPr sz="1800" dirty="0">
                        <a:latin typeface="Times New Roman" panose="02020603050405020304" pitchFamily="18" charset="0"/>
                        <a:cs typeface="Times New Roman" panose="02020603050405020304" pitchFamily="18" charset="0"/>
                      </a:endParaRPr>
                    </a:p>
                    <a:p>
                      <a:pPr marL="71120" marR="203200">
                        <a:lnSpc>
                          <a:spcPct val="104000"/>
                        </a:lnSpc>
                      </a:pPr>
                      <a:r>
                        <a:rPr sz="1800" dirty="0">
                          <a:latin typeface="Times New Roman" panose="02020603050405020304" pitchFamily="18" charset="0"/>
                          <a:cs typeface="Times New Roman" panose="02020603050405020304" pitchFamily="18" charset="0"/>
                        </a:rPr>
                        <a:t>Ramesh</a:t>
                      </a:r>
                      <a:endParaRPr sz="1800" dirty="0">
                        <a:latin typeface="Times New Roman" panose="02020603050405020304" pitchFamily="18" charset="0"/>
                        <a:cs typeface="Times New Roman" panose="02020603050405020304" pitchFamily="18" charset="0"/>
                      </a:endParaRPr>
                    </a:p>
                    <a:p>
                      <a:pPr marL="71120" marR="203200">
                        <a:lnSpc>
                          <a:spcPct val="104000"/>
                        </a:lnSpc>
                      </a:pPr>
                      <a:r>
                        <a:rPr sz="1800" dirty="0">
                          <a:latin typeface="Times New Roman" panose="02020603050405020304" pitchFamily="18" charset="0"/>
                          <a:cs typeface="Times New Roman" panose="02020603050405020304" pitchFamily="18" charset="0"/>
                        </a:rPr>
                        <a:t> Mahesh</a:t>
                      </a:r>
                      <a:endParaRPr sz="1800">
                        <a:latin typeface="Times New Roman" panose="02020603050405020304" pitchFamily="18" charset="0"/>
                        <a:cs typeface="Times New Roman" panose="02020603050405020304" pitchFamily="18" charset="0"/>
                      </a:endParaRPr>
                    </a:p>
                  </a:txBody>
                  <a:tcPr marL="0" marR="0" marT="0" marB="0">
                    <a:lnL w="4765">
                      <a:solidFill>
                        <a:srgbClr val="000000"/>
                      </a:solidFill>
                      <a:prstDash val="solid"/>
                    </a:lnL>
                    <a:lnR w="4765">
                      <a:solidFill>
                        <a:srgbClr val="000000"/>
                      </a:solidFill>
                      <a:prstDash val="solid"/>
                    </a:lnR>
                    <a:lnT w="4765">
                      <a:solidFill>
                        <a:srgbClr val="000000"/>
                      </a:solidFill>
                      <a:prstDash val="solid"/>
                    </a:lnT>
                    <a:lnB w="4765">
                      <a:solidFill>
                        <a:srgbClr val="000000"/>
                      </a:solidFill>
                      <a:prstDash val="solid"/>
                    </a:lnB>
                  </a:tcPr>
                </a:tc>
                <a:tc>
                  <a:txBody>
                    <a:bodyPr/>
                    <a:p>
                      <a:pPr marL="71120">
                        <a:lnSpc>
                          <a:spcPct val="100000"/>
                        </a:lnSpc>
                      </a:pPr>
                      <a:r>
                        <a:rPr sz="1800" dirty="0">
                          <a:latin typeface="Times New Roman" panose="02020603050405020304" pitchFamily="18" charset="0"/>
                          <a:cs typeface="Times New Roman" panose="02020603050405020304" pitchFamily="18" charset="0"/>
                        </a:rPr>
                        <a:t>India</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Gate</a:t>
                      </a:r>
                      <a:endParaRPr sz="1800">
                        <a:latin typeface="Times New Roman" panose="02020603050405020304" pitchFamily="18" charset="0"/>
                        <a:cs typeface="Times New Roman" panose="02020603050405020304" pitchFamily="18" charset="0"/>
                      </a:endParaRPr>
                    </a:p>
                    <a:p>
                      <a:pPr marL="71120" marR="63500">
                        <a:lnSpc>
                          <a:spcPct val="104000"/>
                        </a:lnSpc>
                      </a:pPr>
                      <a:r>
                        <a:rPr sz="1800" dirty="0">
                          <a:latin typeface="Times New Roman" panose="02020603050405020304" pitchFamily="18" charset="0"/>
                          <a:cs typeface="Times New Roman" panose="02020603050405020304" pitchFamily="18" charset="0"/>
                        </a:rPr>
                        <a:t>M.</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Road </a:t>
                      </a:r>
                      <a:endParaRPr sz="1800" dirty="0">
                        <a:latin typeface="Times New Roman" panose="02020603050405020304" pitchFamily="18" charset="0"/>
                        <a:cs typeface="Times New Roman" panose="02020603050405020304" pitchFamily="18" charset="0"/>
                      </a:endParaRPr>
                    </a:p>
                    <a:p>
                      <a:pPr marL="71120" marR="63500">
                        <a:lnSpc>
                          <a:spcPct val="104000"/>
                        </a:lnSpc>
                      </a:pPr>
                      <a:r>
                        <a:rPr sz="1800" dirty="0">
                          <a:latin typeface="Times New Roman" panose="02020603050405020304" pitchFamily="18" charset="0"/>
                          <a:cs typeface="Times New Roman" panose="02020603050405020304" pitchFamily="18" charset="0"/>
                        </a:rPr>
                        <a:t>Shast</a:t>
                      </a:r>
                      <a:r>
                        <a:rPr sz="1800" spc="10"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i</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Nagar</a:t>
                      </a:r>
                      <a:endParaRPr sz="1800">
                        <a:latin typeface="Times New Roman" panose="02020603050405020304" pitchFamily="18" charset="0"/>
                        <a:cs typeface="Times New Roman" panose="02020603050405020304" pitchFamily="18" charset="0"/>
                      </a:endParaRPr>
                    </a:p>
                    <a:p>
                      <a:pPr marL="71120" marR="184785">
                        <a:lnSpc>
                          <a:spcPct val="104000"/>
                        </a:lnSpc>
                      </a:pPr>
                      <a:r>
                        <a:rPr sz="1800" dirty="0">
                          <a:latin typeface="Times New Roman" panose="02020603050405020304" pitchFamily="18" charset="0"/>
                          <a:cs typeface="Times New Roman" panose="02020603050405020304" pitchFamily="18" charset="0"/>
                        </a:rPr>
                        <a:t>M.</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Road </a:t>
                      </a:r>
                      <a:endParaRPr sz="1800" dirty="0">
                        <a:latin typeface="Times New Roman" panose="02020603050405020304" pitchFamily="18" charset="0"/>
                        <a:cs typeface="Times New Roman" panose="02020603050405020304" pitchFamily="18" charset="0"/>
                      </a:endParaRPr>
                    </a:p>
                    <a:p>
                      <a:pPr marL="71120" marR="184785">
                        <a:lnSpc>
                          <a:spcPct val="104000"/>
                        </a:lnSpc>
                      </a:pPr>
                      <a:r>
                        <a:rPr sz="1800" spc="-20" dirty="0">
                          <a:latin typeface="Times New Roman" panose="02020603050405020304" pitchFamily="18" charset="0"/>
                          <a:cs typeface="Times New Roman" panose="02020603050405020304" pitchFamily="18" charset="0"/>
                        </a:rPr>
                        <a:t>J</a:t>
                      </a:r>
                      <a:r>
                        <a:rPr sz="1800" dirty="0">
                          <a:latin typeface="Times New Roman" panose="02020603050405020304" pitchFamily="18" charset="0"/>
                          <a:cs typeface="Times New Roman" panose="02020603050405020304" pitchFamily="18" charset="0"/>
                        </a:rPr>
                        <a:t>uhu</a:t>
                      </a:r>
                      <a:endParaRPr sz="1800">
                        <a:latin typeface="Times New Roman" panose="02020603050405020304" pitchFamily="18" charset="0"/>
                        <a:cs typeface="Times New Roman" panose="02020603050405020304" pitchFamily="18" charset="0"/>
                      </a:endParaRPr>
                    </a:p>
                  </a:txBody>
                  <a:tcPr marL="0" marR="0" marT="0" marB="0">
                    <a:lnL w="4765">
                      <a:solidFill>
                        <a:srgbClr val="000000"/>
                      </a:solidFill>
                      <a:prstDash val="solid"/>
                    </a:lnL>
                    <a:lnR w="4765">
                      <a:solidFill>
                        <a:srgbClr val="000000"/>
                      </a:solidFill>
                      <a:prstDash val="solid"/>
                    </a:lnR>
                    <a:lnT w="4765">
                      <a:solidFill>
                        <a:srgbClr val="000000"/>
                      </a:solidFill>
                      <a:prstDash val="solid"/>
                    </a:lnT>
                    <a:lnB w="4765">
                      <a:solidFill>
                        <a:srgbClr val="000000"/>
                      </a:solidFill>
                      <a:prstDash val="solid"/>
                    </a:lnB>
                  </a:tcPr>
                </a:tc>
                <a:tc>
                  <a:txBody>
                    <a:bodyPr/>
                    <a:p>
                      <a:pPr marL="71120" marR="63500">
                        <a:lnSpc>
                          <a:spcPct val="104000"/>
                        </a:lnSpc>
                      </a:pPr>
                      <a:r>
                        <a:rPr sz="1800" dirty="0">
                          <a:latin typeface="Times New Roman" panose="02020603050405020304" pitchFamily="18" charset="0"/>
                          <a:cs typeface="Times New Roman" panose="02020603050405020304" pitchFamily="18" charset="0"/>
                        </a:rPr>
                        <a:t>N</a:t>
                      </a:r>
                      <a:r>
                        <a:rPr sz="1800" spc="-20" dirty="0">
                          <a:latin typeface="Times New Roman" panose="02020603050405020304" pitchFamily="18" charset="0"/>
                          <a:cs typeface="Times New Roman" panose="02020603050405020304" pitchFamily="18" charset="0"/>
                        </a:rPr>
                        <a:t>e</a:t>
                      </a:r>
                      <a:r>
                        <a:rPr sz="1800" dirty="0">
                          <a:latin typeface="Times New Roman" panose="02020603050405020304" pitchFamily="18" charset="0"/>
                          <a:cs typeface="Times New Roman" panose="02020603050405020304" pitchFamily="18" charset="0"/>
                        </a:rPr>
                        <a:t>w</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Delhi </a:t>
                      </a:r>
                      <a:endParaRPr sz="1800" dirty="0">
                        <a:latin typeface="Times New Roman" panose="02020603050405020304" pitchFamily="18" charset="0"/>
                        <a:cs typeface="Times New Roman" panose="02020603050405020304" pitchFamily="18" charset="0"/>
                      </a:endParaRPr>
                    </a:p>
                    <a:p>
                      <a:pPr marL="71120" marR="63500">
                        <a:lnSpc>
                          <a:spcPct val="104000"/>
                        </a:lnSpc>
                      </a:pPr>
                      <a:r>
                        <a:rPr sz="1800" dirty="0">
                          <a:latin typeface="Times New Roman" panose="02020603050405020304" pitchFamily="18" charset="0"/>
                          <a:cs typeface="Times New Roman" panose="02020603050405020304" pitchFamily="18" charset="0"/>
                        </a:rPr>
                        <a:t>Bangalore </a:t>
                      </a:r>
                      <a:endParaRPr sz="1800" dirty="0">
                        <a:latin typeface="Times New Roman" panose="02020603050405020304" pitchFamily="18" charset="0"/>
                        <a:cs typeface="Times New Roman" panose="02020603050405020304" pitchFamily="18" charset="0"/>
                      </a:endParaRPr>
                    </a:p>
                    <a:p>
                      <a:pPr marL="71120" marR="63500">
                        <a:lnSpc>
                          <a:spcPct val="104000"/>
                        </a:lnSpc>
                      </a:pPr>
                      <a:r>
                        <a:rPr sz="1800" dirty="0">
                          <a:latin typeface="Times New Roman" panose="02020603050405020304" pitchFamily="18" charset="0"/>
                          <a:cs typeface="Times New Roman" panose="02020603050405020304" pitchFamily="18" charset="0"/>
                        </a:rPr>
                        <a:t>Bhubane</a:t>
                      </a:r>
                      <a:r>
                        <a:rPr sz="1800" spc="-30" dirty="0">
                          <a:latin typeface="Times New Roman" panose="02020603050405020304" pitchFamily="18" charset="0"/>
                          <a:cs typeface="Times New Roman" panose="02020603050405020304" pitchFamily="18" charset="0"/>
                        </a:rPr>
                        <a:t>s</a:t>
                      </a:r>
                      <a:r>
                        <a:rPr sz="1800" spc="-15" dirty="0">
                          <a:latin typeface="Times New Roman" panose="02020603050405020304" pitchFamily="18" charset="0"/>
                          <a:cs typeface="Times New Roman" panose="02020603050405020304" pitchFamily="18" charset="0"/>
                        </a:rPr>
                        <a:t>w</a:t>
                      </a:r>
                      <a:r>
                        <a:rPr sz="1800" dirty="0">
                          <a:latin typeface="Times New Roman" panose="02020603050405020304" pitchFamily="18" charset="0"/>
                          <a:cs typeface="Times New Roman" panose="02020603050405020304" pitchFamily="18" charset="0"/>
                        </a:rPr>
                        <a:t>ar Bhubane</a:t>
                      </a:r>
                      <a:r>
                        <a:rPr sz="1800" spc="-30" dirty="0">
                          <a:latin typeface="Times New Roman" panose="02020603050405020304" pitchFamily="18" charset="0"/>
                          <a:cs typeface="Times New Roman" panose="02020603050405020304" pitchFamily="18" charset="0"/>
                        </a:rPr>
                        <a:t>s</a:t>
                      </a:r>
                      <a:r>
                        <a:rPr sz="1800" spc="-15" dirty="0">
                          <a:latin typeface="Times New Roman" panose="02020603050405020304" pitchFamily="18" charset="0"/>
                          <a:cs typeface="Times New Roman" panose="02020603050405020304" pitchFamily="18" charset="0"/>
                        </a:rPr>
                        <a:t>w</a:t>
                      </a:r>
                      <a:r>
                        <a:rPr sz="1800" dirty="0">
                          <a:latin typeface="Times New Roman" panose="02020603050405020304" pitchFamily="18" charset="0"/>
                          <a:cs typeface="Times New Roman" panose="02020603050405020304" pitchFamily="18" charset="0"/>
                        </a:rPr>
                        <a:t>ar</a:t>
                      </a:r>
                      <a:endParaRPr sz="1800" dirty="0">
                        <a:latin typeface="Times New Roman" panose="02020603050405020304" pitchFamily="18" charset="0"/>
                        <a:cs typeface="Times New Roman" panose="02020603050405020304" pitchFamily="18" charset="0"/>
                      </a:endParaRPr>
                    </a:p>
                    <a:p>
                      <a:pPr marL="71120" marR="63500">
                        <a:lnSpc>
                          <a:spcPct val="104000"/>
                        </a:lnSpc>
                      </a:pPr>
                      <a:r>
                        <a:rPr sz="1800" dirty="0">
                          <a:latin typeface="Times New Roman" panose="02020603050405020304" pitchFamily="18" charset="0"/>
                          <a:cs typeface="Times New Roman" panose="02020603050405020304" pitchFamily="18" charset="0"/>
                        </a:rPr>
                        <a:t> Mumbai</a:t>
                      </a:r>
                      <a:endParaRPr sz="1800">
                        <a:latin typeface="Times New Roman" panose="02020603050405020304" pitchFamily="18" charset="0"/>
                        <a:cs typeface="Times New Roman" panose="02020603050405020304" pitchFamily="18" charset="0"/>
                      </a:endParaRPr>
                    </a:p>
                  </a:txBody>
                  <a:tcPr marL="0" marR="0" marT="0" marB="0">
                    <a:lnL w="4765">
                      <a:solidFill>
                        <a:srgbClr val="000000"/>
                      </a:solidFill>
                      <a:prstDash val="solid"/>
                    </a:lnL>
                    <a:lnR w="4765">
                      <a:solidFill>
                        <a:srgbClr val="000000"/>
                      </a:solidFill>
                      <a:prstDash val="solid"/>
                    </a:lnR>
                    <a:lnT w="4765">
                      <a:solidFill>
                        <a:srgbClr val="000000"/>
                      </a:solidFill>
                      <a:prstDash val="solid"/>
                    </a:lnT>
                    <a:lnB w="4765">
                      <a:solidFill>
                        <a:srgbClr val="000000"/>
                      </a:solidFill>
                      <a:prstDash val="solid"/>
                    </a:lnB>
                  </a:tcPr>
                </a:tc>
              </a:tr>
            </a:tbl>
          </a:graphicData>
        </a:graphic>
      </p:graphicFrame>
      <p:graphicFrame>
        <p:nvGraphicFramePr>
          <p:cNvPr id="27" name="Table 26"/>
          <p:cNvGraphicFramePr>
            <a:graphicFrameLocks noGrp="1"/>
          </p:cNvGraphicFramePr>
          <p:nvPr/>
        </p:nvGraphicFramePr>
        <p:xfrm>
          <a:off x="4128762" y="5859790"/>
          <a:ext cx="2500330" cy="1010920"/>
        </p:xfrm>
        <a:graphic>
          <a:graphicData uri="http://schemas.openxmlformats.org/drawingml/2006/table">
            <a:tbl>
              <a:tblPr firstRow="1" bandRow="1">
                <a:tableStyleId>{5940675A-B579-460E-94D1-54222C63F5DA}</a:tableStyleId>
              </a:tblPr>
              <a:tblGrid>
                <a:gridCol w="2500330"/>
              </a:tblGrid>
              <a:tr h="370840">
                <a:tc>
                  <a:txBody>
                    <a:bodyPr/>
                    <a:p>
                      <a:pPr marL="0" marR="0" indent="0" algn="l" defTabSz="914400" rtl="0" eaLnBrk="1" fontAlgn="auto" latinLnBrk="0" hangingPunct="1">
                        <a:lnSpc>
                          <a:spcPct val="100000"/>
                        </a:lnSpc>
                        <a:spcBef>
                          <a:spcPts val="0"/>
                        </a:spcBef>
                        <a:spcAft>
                          <a:spcPts val="0"/>
                        </a:spcAft>
                        <a:buClrTx/>
                        <a:buSzTx/>
                        <a:buFontTx/>
                        <a:buNone/>
                        <a:defRPr/>
                      </a:pPr>
                      <a:r>
                        <a:rPr lang="en-US" sz="1800" kern="1200" dirty="0" err="1" smtClean="0">
                          <a:solidFill>
                            <a:schemeClr val="tx1"/>
                          </a:solidFill>
                          <a:latin typeface="Times New Roman" panose="02020603050405020304" pitchFamily="18" charset="0"/>
                          <a:ea typeface="+mn-ea"/>
                          <a:cs typeface="Times New Roman" panose="02020603050405020304" pitchFamily="18" charset="0"/>
                        </a:rPr>
                        <a:t>cust_name</a:t>
                      </a:r>
                      <a:endParaRPr lang="en-US" sz="1800" kern="1200" dirty="0" smtClean="0">
                        <a:solidFill>
                          <a:schemeClr val="tx1"/>
                        </a:solidFill>
                        <a:latin typeface="Times New Roman" panose="02020603050405020304" pitchFamily="18" charset="0"/>
                        <a:ea typeface="+mn-ea"/>
                        <a:cs typeface="Times New Roman" panose="02020603050405020304" pitchFamily="18" charset="0"/>
                      </a:endParaRPr>
                    </a:p>
                  </a:txBody>
                  <a:tcPr/>
                </a:tc>
              </a:tr>
              <a:tr h="370840">
                <a:tc>
                  <a:txBody>
                    <a:bodyPr/>
                    <a:p>
                      <a:pPr marL="0" marR="0" indent="0" algn="l" defTabSz="914400" rtl="0" eaLnBrk="1" fontAlgn="auto" latinLnBrk="0" hangingPunct="1">
                        <a:lnSpc>
                          <a:spcPct val="100000"/>
                        </a:lnSpc>
                        <a:spcBef>
                          <a:spcPts val="0"/>
                        </a:spcBef>
                        <a:spcAft>
                          <a:spcPts val="0"/>
                        </a:spcAft>
                        <a:buClrTx/>
                        <a:buSzTx/>
                        <a:buFontTx/>
                        <a:buNone/>
                        <a:defRPr/>
                      </a:pPr>
                      <a:r>
                        <a:rPr lang="en-US" sz="1800" kern="1200" dirty="0" err="1" smtClean="0">
                          <a:solidFill>
                            <a:schemeClr val="tx1"/>
                          </a:solidFill>
                          <a:latin typeface="Times New Roman" panose="02020603050405020304" pitchFamily="18" charset="0"/>
                          <a:ea typeface="+mn-ea"/>
                          <a:cs typeface="Times New Roman" panose="02020603050405020304" pitchFamily="18" charset="0"/>
                        </a:rPr>
                        <a:t>Manas</a:t>
                      </a:r>
                      <a:r>
                        <a:rPr lang="en-US" sz="1800" kern="1200" dirty="0" smtClean="0">
                          <a:solidFill>
                            <a:schemeClr val="tx1"/>
                          </a:solidFill>
                          <a:latin typeface="Times New Roman" panose="02020603050405020304" pitchFamily="18" charset="0"/>
                          <a:ea typeface="+mn-ea"/>
                          <a:cs typeface="Times New Roman" panose="02020603050405020304" pitchFamily="18" charset="0"/>
                        </a:rPr>
                        <a:t> </a:t>
                      </a:r>
                      <a:endParaRPr lang="en-US" sz="1800" kern="1200" dirty="0" smtClean="0">
                        <a:solidFill>
                          <a:schemeClr val="tx1"/>
                        </a:solidFill>
                        <a:latin typeface="Times New Roman" panose="02020603050405020304" pitchFamily="18" charset="0"/>
                        <a:ea typeface="+mn-ea"/>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sz="1800" kern="1200" dirty="0" err="1" smtClean="0">
                          <a:solidFill>
                            <a:schemeClr val="tx1"/>
                          </a:solidFill>
                          <a:latin typeface="Times New Roman" panose="02020603050405020304" pitchFamily="18" charset="0"/>
                          <a:ea typeface="+mn-ea"/>
                          <a:cs typeface="Times New Roman" panose="02020603050405020304" pitchFamily="18" charset="0"/>
                        </a:rPr>
                        <a:t>Ramesh</a:t>
                      </a:r>
                      <a:endParaRPr lang="en-US" sz="1800" kern="1200" dirty="0" smtClean="0">
                        <a:solidFill>
                          <a:schemeClr val="tx1"/>
                        </a:solidFill>
                        <a:latin typeface="Times New Roman" panose="02020603050405020304" pitchFamily="18" charset="0"/>
                        <a:ea typeface="+mn-ea"/>
                        <a:cs typeface="Times New Roman" panose="02020603050405020304" pitchFamily="18" charset="0"/>
                      </a:endParaRPr>
                    </a:p>
                  </a:txBody>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RENAME Operator(</a:t>
            </a:r>
            <a:r>
              <a:rPr lang="el-GR" b="1" dirty="0" smtClean="0">
                <a:latin typeface="Times New Roman" panose="02020603050405020304" pitchFamily="18" charset="0"/>
                <a:cs typeface="Times New Roman" panose="02020603050405020304" pitchFamily="18" charset="0"/>
                <a:sym typeface="+mn-ea"/>
              </a:rPr>
              <a:t>ρ)</a:t>
            </a:r>
            <a:endParaRPr lang="en-US"/>
          </a:p>
        </p:txBody>
      </p:sp>
      <p:sp>
        <p:nvSpPr>
          <p:cNvPr id="3" name="Content Placeholder 2"/>
          <p:cNvSpPr>
            <a:spLocks noGrp="1"/>
          </p:cNvSpPr>
          <p:nvPr>
            <p:ph idx="1"/>
          </p:nvPr>
        </p:nvSpPr>
        <p:spPr/>
        <p:txBody>
          <a:bodyPr>
            <a:normAutofit fontScale="90000" lnSpcReduction="20000"/>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results of relational algebra expressions do not have a name that can be used to refer them. It is useful to be able to give them names; the rename operator is used for this purpose. It is denoted by rho (ρ) symbol.</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general syntax of rename operator is: </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b="1" kern="0" dirty="0" smtClean="0">
                <a:latin typeface="Times New Roman" panose="02020603050405020304" pitchFamily="18" charset="0"/>
                <a:cs typeface="Times New Roman" panose="02020603050405020304" pitchFamily="18" charset="0"/>
                <a:sym typeface="+mn-ea"/>
              </a:rPr>
              <a:t>				ρ X  (E)</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Assume E is a relational-algebra expression with </a:t>
            </a:r>
            <a:r>
              <a:rPr lang="en-US" kern="0" dirty="0" err="1" smtClean="0">
                <a:latin typeface="Times New Roman" panose="02020603050405020304" pitchFamily="18" charset="0"/>
                <a:cs typeface="Times New Roman" panose="02020603050405020304" pitchFamily="18" charset="0"/>
                <a:sym typeface="+mn-ea"/>
              </a:rPr>
              <a:t>arity</a:t>
            </a:r>
            <a:r>
              <a:rPr lang="en-US" kern="0" dirty="0" smtClean="0">
                <a:latin typeface="Times New Roman" panose="02020603050405020304" pitchFamily="18" charset="0"/>
                <a:cs typeface="Times New Roman" panose="02020603050405020304" pitchFamily="18" charset="0"/>
                <a:sym typeface="+mn-ea"/>
              </a:rPr>
              <a:t> n. The second form of rename operation is: </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b="1" kern="0" dirty="0" smtClean="0">
                <a:latin typeface="Times New Roman" panose="02020603050405020304" pitchFamily="18" charset="0"/>
                <a:cs typeface="Times New Roman" panose="02020603050405020304" pitchFamily="18" charset="0"/>
                <a:sym typeface="+mn-ea"/>
              </a:rPr>
              <a:t>				</a:t>
            </a:r>
            <a:r>
              <a:rPr lang="el-GR" b="1" kern="0" dirty="0" smtClean="0">
                <a:latin typeface="Times New Roman" panose="02020603050405020304" pitchFamily="18" charset="0"/>
                <a:cs typeface="Times New Roman" panose="02020603050405020304" pitchFamily="18" charset="0"/>
                <a:sym typeface="+mn-ea"/>
              </a:rPr>
              <a:t>ρ </a:t>
            </a:r>
            <a:r>
              <a:rPr lang="en-US" b="1" kern="0" dirty="0" smtClean="0">
                <a:latin typeface="Times New Roman" panose="02020603050405020304" pitchFamily="18" charset="0"/>
                <a:cs typeface="Times New Roman" panose="02020603050405020304" pitchFamily="18" charset="0"/>
                <a:sym typeface="+mn-ea"/>
              </a:rPr>
              <a:t>X (b1 ,b2 ,...</a:t>
            </a:r>
            <a:r>
              <a:rPr lang="en-US" b="1" kern="0" dirty="0" err="1" smtClean="0">
                <a:latin typeface="Times New Roman" panose="02020603050405020304" pitchFamily="18" charset="0"/>
                <a:cs typeface="Times New Roman" panose="02020603050405020304" pitchFamily="18" charset="0"/>
                <a:sym typeface="+mn-ea"/>
              </a:rPr>
              <a:t>bn</a:t>
            </a:r>
            <a:r>
              <a:rPr lang="en-US" b="1" kern="0" dirty="0" smtClean="0">
                <a:latin typeface="Times New Roman" panose="02020603050405020304" pitchFamily="18" charset="0"/>
                <a:cs typeface="Times New Roman" panose="02020603050405020304" pitchFamily="18" charset="0"/>
                <a:sym typeface="+mn-ea"/>
              </a:rPr>
              <a:t> ) (E)</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l-GR" kern="0" dirty="0" smtClean="0">
                <a:latin typeface="Times New Roman" panose="02020603050405020304" pitchFamily="18" charset="0"/>
                <a:cs typeface="Times New Roman" panose="02020603050405020304" pitchFamily="18" charset="0"/>
                <a:sym typeface="+mn-ea"/>
              </a:rPr>
              <a:t>π </a:t>
            </a:r>
            <a:r>
              <a:rPr lang="en-US" kern="0" dirty="0" err="1" smtClean="0">
                <a:latin typeface="Times New Roman" panose="02020603050405020304" pitchFamily="18" charset="0"/>
                <a:cs typeface="Times New Roman" panose="02020603050405020304" pitchFamily="18" charset="0"/>
                <a:sym typeface="+mn-ea"/>
              </a:rPr>
              <a:t>cust</a:t>
            </a:r>
            <a:r>
              <a:rPr lang="en-US" kern="0" dirty="0" smtClean="0">
                <a:latin typeface="Times New Roman" panose="02020603050405020304" pitchFamily="18" charset="0"/>
                <a:cs typeface="Times New Roman" panose="02020603050405020304" pitchFamily="18" charset="0"/>
                <a:sym typeface="+mn-ea"/>
              </a:rPr>
              <a:t> _name  (</a:t>
            </a:r>
            <a:r>
              <a:rPr lang="el-GR" kern="0" dirty="0" smtClean="0">
                <a:latin typeface="Times New Roman" panose="02020603050405020304" pitchFamily="18" charset="0"/>
                <a:cs typeface="Times New Roman" panose="02020603050405020304" pitchFamily="18" charset="0"/>
                <a:sym typeface="+mn-ea"/>
              </a:rPr>
              <a:t>σ </a:t>
            </a:r>
            <a:r>
              <a:rPr lang="en-US" kern="0" dirty="0" err="1" smtClean="0">
                <a:latin typeface="Times New Roman" panose="02020603050405020304" pitchFamily="18" charset="0"/>
                <a:cs typeface="Times New Roman" panose="02020603050405020304" pitchFamily="18" charset="0"/>
                <a:sym typeface="+mn-ea"/>
              </a:rPr>
              <a:t>cust</a:t>
            </a:r>
            <a:r>
              <a:rPr lang="en-US" kern="0" dirty="0" smtClean="0">
                <a:latin typeface="Times New Roman" panose="02020603050405020304" pitchFamily="18" charset="0"/>
                <a:cs typeface="Times New Roman" panose="02020603050405020304" pitchFamily="18" charset="0"/>
                <a:sym typeface="+mn-ea"/>
              </a:rPr>
              <a:t> _city =′ Bhubaneswar ′ (Customer)) can be written as: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kern="0" dirty="0" smtClean="0">
              <a:latin typeface="Times New Roman" panose="02020603050405020304" pitchFamily="18" charset="0"/>
              <a:cs typeface="Times New Roman" panose="02020603050405020304" pitchFamily="18" charset="0"/>
            </a:endParaRPr>
          </a:p>
          <a:p>
            <a:pPr marL="12700">
              <a:lnSpc>
                <a:spcPct val="100000"/>
              </a:lnSpc>
              <a:spcBef>
                <a:spcPts val="165"/>
              </a:spcBef>
            </a:pPr>
            <a:r>
              <a:rPr lang="en-US" b="1" kern="0" dirty="0" smtClean="0">
                <a:latin typeface="Times New Roman" panose="02020603050405020304" pitchFamily="18" charset="0"/>
                <a:cs typeface="Times New Roman" panose="02020603050405020304" pitchFamily="18" charset="0"/>
                <a:sym typeface="+mn-ea"/>
              </a:rPr>
              <a:t>      1. </a:t>
            </a:r>
            <a:r>
              <a:rPr lang="el-GR" b="1" kern="0" dirty="0" smtClean="0">
                <a:latin typeface="Times New Roman" panose="02020603050405020304" pitchFamily="18" charset="0"/>
                <a:cs typeface="Times New Roman" panose="02020603050405020304" pitchFamily="18" charset="0"/>
                <a:sym typeface="+mn-ea"/>
              </a:rPr>
              <a:t>ρ </a:t>
            </a:r>
            <a:r>
              <a:rPr lang="en-US" b="1" kern="0" dirty="0" smtClean="0">
                <a:latin typeface="Times New Roman" panose="02020603050405020304" pitchFamily="18" charset="0"/>
                <a:cs typeface="Times New Roman" panose="02020603050405020304" pitchFamily="18" charset="0"/>
                <a:sym typeface="+mn-ea"/>
              </a:rPr>
              <a:t>Customer _Bhubaneswar  (</a:t>
            </a:r>
            <a:r>
              <a:rPr lang="el-GR" b="1" kern="0" dirty="0" smtClean="0">
                <a:latin typeface="Times New Roman" panose="02020603050405020304" pitchFamily="18" charset="0"/>
                <a:cs typeface="Times New Roman" panose="02020603050405020304" pitchFamily="18" charset="0"/>
                <a:sym typeface="+mn-ea"/>
              </a:rPr>
              <a:t>σ </a:t>
            </a:r>
            <a:r>
              <a:rPr lang="en-US" b="1" kern="0" dirty="0" err="1" smtClean="0">
                <a:latin typeface="Times New Roman" panose="02020603050405020304" pitchFamily="18" charset="0"/>
                <a:cs typeface="Times New Roman" panose="02020603050405020304" pitchFamily="18" charset="0"/>
                <a:sym typeface="+mn-ea"/>
              </a:rPr>
              <a:t>cust</a:t>
            </a:r>
            <a:r>
              <a:rPr lang="en-US" b="1" kern="0" dirty="0" smtClean="0">
                <a:latin typeface="Times New Roman" panose="02020603050405020304" pitchFamily="18" charset="0"/>
                <a:cs typeface="Times New Roman" panose="02020603050405020304" pitchFamily="18" charset="0"/>
                <a:sym typeface="+mn-ea"/>
              </a:rPr>
              <a:t> _city =′ Bhubaneswar ′ (Customer))</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b="1" spc="-5" dirty="0" smtClean="0">
                <a:latin typeface="Arial" panose="020B0604020202020204"/>
                <a:cs typeface="Arial" panose="020B0604020202020204"/>
                <a:sym typeface="+mn-ea"/>
              </a:rPr>
              <a:t>	2. </a:t>
            </a:r>
            <a:r>
              <a:rPr lang="en-US" b="1" spc="-125" dirty="0" smtClean="0">
                <a:latin typeface="Arial" panose="020B0604020202020204"/>
                <a:cs typeface="Arial" panose="020B0604020202020204"/>
                <a:sym typeface="+mn-ea"/>
              </a:rPr>
              <a:t>π</a:t>
            </a:r>
            <a:r>
              <a:rPr lang="en-US" b="1" spc="30" dirty="0" smtClean="0">
                <a:latin typeface="Arial" panose="020B0604020202020204"/>
                <a:cs typeface="Arial" panose="020B0604020202020204"/>
                <a:sym typeface="+mn-ea"/>
              </a:rPr>
              <a:t> </a:t>
            </a:r>
            <a:r>
              <a:rPr lang="en-US" b="1" i="1" spc="-7" baseline="-12000" dirty="0" err="1" smtClean="0">
                <a:latin typeface="Arial" panose="020B0604020202020204"/>
                <a:cs typeface="Arial" panose="020B0604020202020204"/>
                <a:sym typeface="+mn-ea"/>
              </a:rPr>
              <a:t>cust</a:t>
            </a:r>
            <a:r>
              <a:rPr lang="en-US" b="1" i="1" spc="-202" baseline="-12000" dirty="0" smtClean="0">
                <a:latin typeface="Arial" panose="020B0604020202020204"/>
                <a:cs typeface="Arial" panose="020B0604020202020204"/>
                <a:sym typeface="+mn-ea"/>
              </a:rPr>
              <a:t> </a:t>
            </a:r>
            <a:r>
              <a:rPr lang="en-US" b="1" spc="-7" baseline="-12000" dirty="0" smtClean="0">
                <a:latin typeface="Arial" panose="020B0604020202020204"/>
                <a:cs typeface="Arial" panose="020B0604020202020204"/>
                <a:sym typeface="+mn-ea"/>
              </a:rPr>
              <a:t>_</a:t>
            </a:r>
            <a:r>
              <a:rPr lang="en-US" b="1" i="1" spc="-7" baseline="-12000" dirty="0" smtClean="0">
                <a:latin typeface="Arial" panose="020B0604020202020204"/>
                <a:cs typeface="Arial" panose="020B0604020202020204"/>
                <a:sym typeface="+mn-ea"/>
              </a:rPr>
              <a:t>name</a:t>
            </a:r>
            <a:r>
              <a:rPr lang="en-US" b="1" i="1" baseline="-12000" dirty="0" smtClean="0">
                <a:latin typeface="Arial" panose="020B0604020202020204"/>
                <a:cs typeface="Arial" panose="020B0604020202020204"/>
                <a:sym typeface="+mn-ea"/>
              </a:rPr>
              <a:t> </a:t>
            </a:r>
            <a:r>
              <a:rPr lang="en-US" b="1" i="1" spc="-75" baseline="-12000" dirty="0" smtClean="0">
                <a:latin typeface="Arial" panose="020B0604020202020204"/>
                <a:cs typeface="Arial" panose="020B0604020202020204"/>
                <a:sym typeface="+mn-ea"/>
              </a:rPr>
              <a:t> </a:t>
            </a:r>
            <a:r>
              <a:rPr lang="en-US" b="1" spc="-10" dirty="0" smtClean="0">
                <a:latin typeface="Arial" panose="020B0604020202020204"/>
                <a:cs typeface="Arial" panose="020B0604020202020204"/>
                <a:sym typeface="+mn-ea"/>
              </a:rPr>
              <a:t>(</a:t>
            </a:r>
            <a:r>
              <a:rPr lang="en-US" b="1" spc="-10" dirty="0" err="1" smtClean="0">
                <a:latin typeface="Arial" panose="020B0604020202020204"/>
                <a:cs typeface="Arial" panose="020B0604020202020204"/>
                <a:sym typeface="+mn-ea"/>
              </a:rPr>
              <a:t>Customer_Bhubane</a:t>
            </a:r>
            <a:r>
              <a:rPr lang="en-US" b="1" spc="-35" dirty="0" err="1" smtClean="0">
                <a:latin typeface="Arial" panose="020B0604020202020204"/>
                <a:cs typeface="Arial" panose="020B0604020202020204"/>
                <a:sym typeface="+mn-ea"/>
              </a:rPr>
              <a:t>s</a:t>
            </a:r>
            <a:r>
              <a:rPr lang="en-US" b="1" spc="-25" dirty="0" err="1" smtClean="0">
                <a:latin typeface="Arial" panose="020B0604020202020204"/>
                <a:cs typeface="Arial" panose="020B0604020202020204"/>
                <a:sym typeface="+mn-ea"/>
              </a:rPr>
              <a:t>w</a:t>
            </a:r>
            <a:r>
              <a:rPr lang="en-US" b="1" spc="-5" dirty="0" err="1" smtClean="0">
                <a:latin typeface="Arial" panose="020B0604020202020204"/>
                <a:cs typeface="Arial" panose="020B0604020202020204"/>
                <a:sym typeface="+mn-ea"/>
              </a:rPr>
              <a:t>ar</a:t>
            </a:r>
            <a:r>
              <a:rPr lang="en-US" b="1" spc="-5" dirty="0" smtClean="0">
                <a:latin typeface="Arial" panose="020B0604020202020204"/>
                <a:cs typeface="Arial" panose="020B0604020202020204"/>
                <a:sym typeface="+mn-ea"/>
              </a:rPr>
              <a:t>)</a:t>
            </a:r>
            <a:endParaRPr lang="en-US" b="1" dirty="0" smtClean="0">
              <a:latin typeface="Arial" panose="020B0604020202020204"/>
              <a:cs typeface="Arial" panose="020B0604020202020204"/>
            </a:endParaRPr>
          </a:p>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RENAME Operator(</a:t>
            </a:r>
            <a:r>
              <a:rPr lang="el-GR" b="1" dirty="0" smtClean="0">
                <a:latin typeface="Times New Roman" panose="02020603050405020304" pitchFamily="18" charset="0"/>
                <a:cs typeface="Times New Roman" panose="02020603050405020304" pitchFamily="18" charset="0"/>
                <a:sym typeface="+mn-ea"/>
              </a:rPr>
              <a:t>ρ)</a:t>
            </a:r>
            <a:r>
              <a:rPr lang="en-US" b="1" dirty="0" smtClean="0">
                <a:latin typeface="Times New Roman" panose="02020603050405020304" pitchFamily="18" charset="0"/>
                <a:cs typeface="Times New Roman" panose="02020603050405020304" pitchFamily="18" charset="0"/>
                <a:sym typeface="+mn-ea"/>
              </a:rPr>
              <a:t>…</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different forms of the rename operation for renaming the relation are: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z="2800" spc="-5" dirty="0" smtClean="0">
                <a:latin typeface="Arial" panose="020B0604020202020204"/>
                <a:cs typeface="Arial" panose="020B0604020202020204"/>
                <a:sym typeface="+mn-ea"/>
              </a:rPr>
              <a:t>		</a:t>
            </a:r>
            <a:r>
              <a:rPr lang="en-US" sz="2800" spc="-5" dirty="0" smtClean="0">
                <a:latin typeface="Times New Roman" panose="02020603050405020304" pitchFamily="18" charset="0"/>
                <a:cs typeface="Times New Roman" panose="02020603050405020304" pitchFamily="18" charset="0"/>
                <a:sym typeface="+mn-ea"/>
              </a:rPr>
              <a:t>a.  </a:t>
            </a:r>
            <a:r>
              <a:rPr lang="el-GR" sz="2800" spc="-60" dirty="0" smtClean="0">
                <a:latin typeface="Times New Roman" panose="02020603050405020304" pitchFamily="18" charset="0"/>
                <a:cs typeface="Times New Roman" panose="02020603050405020304" pitchFamily="18" charset="0"/>
                <a:sym typeface="+mn-ea"/>
              </a:rPr>
              <a:t>ρ</a:t>
            </a:r>
            <a:r>
              <a:rPr lang="el-GR" sz="2800" spc="-5" dirty="0" smtClean="0">
                <a:latin typeface="Times New Roman" panose="02020603050405020304" pitchFamily="18" charset="0"/>
                <a:cs typeface="Times New Roman" panose="02020603050405020304" pitchFamily="18" charset="0"/>
                <a:sym typeface="+mn-ea"/>
              </a:rPr>
              <a:t> </a:t>
            </a:r>
            <a:r>
              <a:rPr lang="en-US" sz="2800" i="1" spc="-7" baseline="-12000" dirty="0" smtClean="0">
                <a:latin typeface="Times New Roman" panose="02020603050405020304" pitchFamily="18" charset="0"/>
                <a:cs typeface="Times New Roman" panose="02020603050405020304" pitchFamily="18" charset="0"/>
                <a:sym typeface="+mn-ea"/>
              </a:rPr>
              <a:t>S</a:t>
            </a:r>
            <a:r>
              <a:rPr lang="en-US" sz="2800" i="1" baseline="-12000" dirty="0" smtClean="0">
                <a:latin typeface="Times New Roman" panose="02020603050405020304" pitchFamily="18" charset="0"/>
                <a:cs typeface="Times New Roman" panose="02020603050405020304" pitchFamily="18" charset="0"/>
                <a:sym typeface="+mn-ea"/>
              </a:rPr>
              <a:t> </a:t>
            </a:r>
            <a:r>
              <a:rPr lang="en-US" sz="2800" i="1" spc="-52" baseline="-12000" dirty="0" smtClean="0">
                <a:latin typeface="Times New Roman" panose="02020603050405020304" pitchFamily="18" charset="0"/>
                <a:cs typeface="Times New Roman" panose="02020603050405020304" pitchFamily="18" charset="0"/>
                <a:sym typeface="+mn-ea"/>
              </a:rPr>
              <a:t> </a:t>
            </a:r>
            <a:r>
              <a:rPr lang="en-US" sz="2800" b="1" spc="-5" dirty="0" smtClean="0">
                <a:latin typeface="Times New Roman" panose="02020603050405020304" pitchFamily="18" charset="0"/>
                <a:cs typeface="Times New Roman" panose="02020603050405020304" pitchFamily="18" charset="0"/>
                <a:sym typeface="+mn-ea"/>
              </a:rPr>
              <a:t>(R)</a:t>
            </a:r>
            <a:endParaRPr lang="en-US" sz="280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pt-BR" sz="2800" spc="-5" dirty="0" smtClean="0">
                <a:latin typeface="Times New Roman" panose="02020603050405020304" pitchFamily="18" charset="0"/>
                <a:cs typeface="Times New Roman" panose="02020603050405020304" pitchFamily="18" charset="0"/>
                <a:sym typeface="+mn-ea"/>
              </a:rPr>
              <a:t>		b.  ρ S(b1 ,b2 ,...bn ) (</a:t>
            </a:r>
            <a:r>
              <a:rPr lang="pt-BR" sz="2800" b="1" spc="-5" dirty="0" smtClean="0">
                <a:latin typeface="Times New Roman" panose="02020603050405020304" pitchFamily="18" charset="0"/>
                <a:cs typeface="Times New Roman" panose="02020603050405020304" pitchFamily="18" charset="0"/>
                <a:sym typeface="+mn-ea"/>
              </a:rPr>
              <a:t>R</a:t>
            </a:r>
            <a:r>
              <a:rPr lang="pt-BR" sz="2800" spc="-5" dirty="0" smtClean="0">
                <a:latin typeface="Times New Roman" panose="02020603050405020304" pitchFamily="18" charset="0"/>
                <a:cs typeface="Times New Roman" panose="02020603050405020304" pitchFamily="18" charset="0"/>
                <a:sym typeface="+mn-ea"/>
              </a:rPr>
              <a:t>)</a:t>
            </a:r>
            <a:endParaRPr lang="pt-BR" sz="2800" spc="-5"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pt-BR" sz="2800" spc="-5" dirty="0" smtClean="0">
                <a:latin typeface="Times New Roman" panose="02020603050405020304" pitchFamily="18" charset="0"/>
                <a:cs typeface="Times New Roman" panose="02020603050405020304" pitchFamily="18" charset="0"/>
                <a:sym typeface="+mn-ea"/>
              </a:rPr>
              <a:t>		c.  ρ (b  ,b  ,...b  ) (</a:t>
            </a:r>
            <a:r>
              <a:rPr lang="pt-BR" sz="2800" b="1" spc="-5" dirty="0" smtClean="0">
                <a:latin typeface="Times New Roman" panose="02020603050405020304" pitchFamily="18" charset="0"/>
                <a:cs typeface="Times New Roman" panose="02020603050405020304" pitchFamily="18" charset="0"/>
                <a:sym typeface="+mn-ea"/>
              </a:rPr>
              <a:t>R</a:t>
            </a:r>
            <a:r>
              <a:rPr lang="pt-BR" sz="2800" spc="-5" dirty="0" smtClean="0">
                <a:latin typeface="Times New Roman" panose="02020603050405020304" pitchFamily="18" charset="0"/>
                <a:cs typeface="Times New Roman" panose="02020603050405020304" pitchFamily="18" charset="0"/>
                <a:sym typeface="+mn-ea"/>
              </a:rPr>
              <a:t>)</a:t>
            </a:r>
            <a:endParaRPr lang="pt-BR" sz="2800"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For example, the attributes of Customer (</a:t>
            </a:r>
            <a:r>
              <a:rPr lang="en-US" sz="2800" kern="0" dirty="0" err="1" smtClean="0">
                <a:latin typeface="Times New Roman" panose="02020603050405020304" pitchFamily="18" charset="0"/>
                <a:cs typeface="Times New Roman" panose="02020603050405020304" pitchFamily="18" charset="0"/>
                <a:sym typeface="+mn-ea"/>
              </a:rPr>
              <a:t>cust_name</a:t>
            </a:r>
            <a:r>
              <a:rPr lang="en-US" sz="2800" kern="0" dirty="0" smtClean="0">
                <a:latin typeface="Times New Roman" panose="02020603050405020304" pitchFamily="18" charset="0"/>
                <a:cs typeface="Times New Roman" panose="02020603050405020304" pitchFamily="18" charset="0"/>
                <a:sym typeface="+mn-ea"/>
              </a:rPr>
              <a:t>, </a:t>
            </a:r>
            <a:r>
              <a:rPr lang="en-US" sz="2800" kern="0" dirty="0" err="1" smtClean="0">
                <a:latin typeface="Times New Roman" panose="02020603050405020304" pitchFamily="18" charset="0"/>
                <a:cs typeface="Times New Roman" panose="02020603050405020304" pitchFamily="18" charset="0"/>
                <a:sym typeface="+mn-ea"/>
              </a:rPr>
              <a:t>cust_street</a:t>
            </a:r>
            <a:r>
              <a:rPr lang="en-US" sz="2800" kern="0" dirty="0" smtClean="0">
                <a:latin typeface="Times New Roman" panose="02020603050405020304" pitchFamily="18" charset="0"/>
                <a:cs typeface="Times New Roman" panose="02020603050405020304" pitchFamily="18" charset="0"/>
                <a:sym typeface="+mn-ea"/>
              </a:rPr>
              <a:t>, </a:t>
            </a:r>
            <a:r>
              <a:rPr lang="en-US" sz="2800" kern="0" dirty="0" err="1" smtClean="0">
                <a:latin typeface="Times New Roman" panose="02020603050405020304" pitchFamily="18" charset="0"/>
                <a:cs typeface="Times New Roman" panose="02020603050405020304" pitchFamily="18" charset="0"/>
                <a:sym typeface="+mn-ea"/>
              </a:rPr>
              <a:t>cust_city</a:t>
            </a:r>
            <a:r>
              <a:rPr lang="en-US" sz="2800" kern="0" dirty="0" smtClean="0">
                <a:latin typeface="Times New Roman" panose="02020603050405020304" pitchFamily="18" charset="0"/>
                <a:cs typeface="Times New Roman" panose="02020603050405020304" pitchFamily="18" charset="0"/>
                <a:sym typeface="+mn-ea"/>
              </a:rPr>
              <a:t>) can be renamed as:</a:t>
            </a:r>
            <a:endParaRPr lang="en-US" sz="2800" kern="0" dirty="0" smtClean="0">
              <a:latin typeface="Times New Roman" panose="02020603050405020304" pitchFamily="18" charset="0"/>
              <a:cs typeface="Times New Roman" panose="02020603050405020304" pitchFamily="18" charset="0"/>
            </a:endParaRPr>
          </a:p>
          <a:p>
            <a:pPr marL="1714500" lvl="3" indent="-342900" algn="just">
              <a:spcBef>
                <a:spcPct val="20000"/>
              </a:spcBef>
              <a:defRPr/>
            </a:pPr>
            <a:r>
              <a:rPr lang="el-GR" sz="2800" spc="-89" baseline="11000" dirty="0" smtClean="0">
                <a:latin typeface="Arial" panose="020B0604020202020204"/>
                <a:cs typeface="Arial" panose="020B0604020202020204"/>
                <a:sym typeface="+mn-ea"/>
              </a:rPr>
              <a:t>ρ</a:t>
            </a:r>
            <a:r>
              <a:rPr lang="el-GR" sz="2800" spc="-7" baseline="11000" dirty="0" smtClean="0">
                <a:latin typeface="Arial" panose="020B0604020202020204"/>
                <a:cs typeface="Arial" panose="020B0604020202020204"/>
                <a:sym typeface="+mn-ea"/>
              </a:rPr>
              <a:t> </a:t>
            </a:r>
            <a:r>
              <a:rPr lang="el-GR" sz="2800" spc="-35" dirty="0" smtClean="0">
                <a:latin typeface="Verdana" panose="020B0604030504040204"/>
                <a:cs typeface="Verdana" panose="020B0604030504040204"/>
                <a:sym typeface="+mn-ea"/>
              </a:rPr>
              <a:t>(</a:t>
            </a:r>
            <a:r>
              <a:rPr lang="en-US" sz="2800" i="1" spc="-5" dirty="0" err="1" smtClean="0">
                <a:latin typeface="Arial" panose="020B0604020202020204"/>
                <a:cs typeface="Arial" panose="020B0604020202020204"/>
                <a:sym typeface="+mn-ea"/>
              </a:rPr>
              <a:t>nam</a:t>
            </a:r>
            <a:r>
              <a:rPr lang="en-US" sz="2800" i="1" spc="5" dirty="0" err="1" smtClean="0">
                <a:latin typeface="Arial" panose="020B0604020202020204"/>
                <a:cs typeface="Arial" panose="020B0604020202020204"/>
                <a:sym typeface="+mn-ea"/>
              </a:rPr>
              <a:t>e</a:t>
            </a:r>
            <a:r>
              <a:rPr lang="en-US" sz="2800" spc="-25" dirty="0" err="1" smtClean="0">
                <a:latin typeface="Verdana" panose="020B0604030504040204"/>
                <a:cs typeface="Verdana" panose="020B0604030504040204"/>
                <a:sym typeface="+mn-ea"/>
              </a:rPr>
              <a:t>,</a:t>
            </a:r>
            <a:r>
              <a:rPr lang="en-US" sz="2800" i="1" spc="-5" dirty="0" err="1" smtClean="0">
                <a:latin typeface="Arial" panose="020B0604020202020204"/>
                <a:cs typeface="Arial" panose="020B0604020202020204"/>
                <a:sym typeface="+mn-ea"/>
              </a:rPr>
              <a:t>street</a:t>
            </a:r>
            <a:r>
              <a:rPr lang="en-US" sz="2800" i="1" spc="-135" dirty="0" smtClean="0">
                <a:latin typeface="Arial" panose="020B0604020202020204"/>
                <a:cs typeface="Arial" panose="020B0604020202020204"/>
                <a:sym typeface="+mn-ea"/>
              </a:rPr>
              <a:t> </a:t>
            </a:r>
            <a:r>
              <a:rPr lang="en-US" sz="2800" spc="-25" dirty="0" smtClean="0">
                <a:latin typeface="Verdana" panose="020B0604030504040204"/>
                <a:cs typeface="Verdana" panose="020B0604030504040204"/>
                <a:sym typeface="+mn-ea"/>
              </a:rPr>
              <a:t>,</a:t>
            </a:r>
            <a:r>
              <a:rPr lang="en-US" sz="2800" i="1" spc="-5" dirty="0" smtClean="0">
                <a:latin typeface="Arial" panose="020B0604020202020204"/>
                <a:cs typeface="Arial" panose="020B0604020202020204"/>
                <a:sym typeface="+mn-ea"/>
              </a:rPr>
              <a:t>city</a:t>
            </a:r>
            <a:r>
              <a:rPr lang="en-US" sz="2800" i="1" spc="-125" dirty="0" smtClean="0">
                <a:latin typeface="Arial" panose="020B0604020202020204"/>
                <a:cs typeface="Arial" panose="020B0604020202020204"/>
                <a:sym typeface="+mn-ea"/>
              </a:rPr>
              <a:t> </a:t>
            </a:r>
            <a:r>
              <a:rPr lang="en-US" sz="2800" spc="-35" dirty="0" smtClean="0">
                <a:latin typeface="Verdana" panose="020B0604030504040204"/>
                <a:cs typeface="Verdana" panose="020B0604030504040204"/>
                <a:sym typeface="+mn-ea"/>
              </a:rPr>
              <a:t>)</a:t>
            </a:r>
            <a:r>
              <a:rPr lang="en-US" sz="2800" spc="80" dirty="0" smtClean="0">
                <a:latin typeface="Verdana" panose="020B0604030504040204"/>
                <a:cs typeface="Verdana" panose="020B0604030504040204"/>
                <a:sym typeface="+mn-ea"/>
              </a:rPr>
              <a:t> </a:t>
            </a:r>
            <a:r>
              <a:rPr lang="en-US" sz="2800" b="1" spc="-15" baseline="11000" dirty="0" smtClean="0">
                <a:latin typeface="Arial" panose="020B0604020202020204"/>
                <a:cs typeface="Arial" panose="020B0604020202020204"/>
                <a:sym typeface="+mn-ea"/>
              </a:rPr>
              <a:t>(Customer)</a:t>
            </a:r>
            <a:endParaRPr lang="en-US" sz="2800" baseline="11000" dirty="0" smtClean="0">
              <a:latin typeface="Arial" panose="020B0604020202020204"/>
              <a:cs typeface="Arial" panose="020B0604020202020204"/>
            </a:endParaRPr>
          </a:p>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Basic Set Operation</a:t>
            </a:r>
            <a:endParaRPr lang="en-US"/>
          </a:p>
        </p:txBody>
      </p:sp>
      <p:sp>
        <p:nvSpPr>
          <p:cNvPr id="3" name="Content Placeholder 2"/>
          <p:cNvSpPr>
            <a:spLocks noGrp="1"/>
          </p:cNvSpPr>
          <p:nvPr>
            <p:ph idx="1"/>
          </p:nvPr>
        </p:nvSpPr>
        <p:spPr/>
        <p:txBody>
          <a:bodyPr>
            <a:normAutofit lnSpcReduction="20000"/>
          </a:bodyPr>
          <a:p>
            <a:pPr marL="342900" indent="-342900" algn="just">
              <a:lnSpc>
                <a:spcPct val="150000"/>
              </a:lnSpc>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These are the binary operations; i.e., each is applied to two sets or relations. These two relations should be union compatible except in case of </a:t>
            </a:r>
            <a:r>
              <a:rPr lang="en-US" b="1" kern="0" dirty="0" smtClean="0">
                <a:latin typeface="Times New Roman" panose="02020603050405020304" pitchFamily="18" charset="0"/>
                <a:cs typeface="Times New Roman" panose="02020603050405020304" pitchFamily="18" charset="0"/>
                <a:sym typeface="+mn-ea"/>
              </a:rPr>
              <a:t>Cartesian Product</a:t>
            </a:r>
            <a:r>
              <a:rPr lang="en-US" kern="0" dirty="0" smtClean="0">
                <a:latin typeface="Times New Roman" panose="02020603050405020304" pitchFamily="18" charset="0"/>
                <a:cs typeface="Times New Roman" panose="02020603050405020304" pitchFamily="18" charset="0"/>
                <a:sym typeface="+mn-ea"/>
              </a:rPr>
              <a:t>. </a:t>
            </a:r>
            <a:endParaRPr lang="en-US" kern="0" dirty="0" smtClean="0">
              <a:latin typeface="Times New Roman" panose="02020603050405020304" pitchFamily="18" charset="0"/>
              <a:cs typeface="Times New Roman" panose="02020603050405020304" pitchFamily="18" charset="0"/>
            </a:endParaRPr>
          </a:p>
          <a:p>
            <a:pPr marL="342900" indent="-342900" algn="just">
              <a:lnSpc>
                <a:spcPct val="150000"/>
              </a:lnSpc>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Two relations R (A1, A2,….., An) and S (B1, B2,……,Bn) are said to be union compatible if </a:t>
            </a:r>
            <a:r>
              <a:rPr lang="en-US" b="1" kern="0" dirty="0" smtClean="0">
                <a:latin typeface="Times New Roman" panose="02020603050405020304" pitchFamily="18" charset="0"/>
                <a:cs typeface="Times New Roman" panose="02020603050405020304" pitchFamily="18" charset="0"/>
                <a:sym typeface="+mn-ea"/>
              </a:rPr>
              <a:t>they have the same degree n and domains of the corresponding attributes are also the same i.e.Domain (Ai) = Domain (Bi) for 1&lt;=i&lt;=n.</a:t>
            </a:r>
            <a:endParaRPr lang="en-US" b="1"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Union Compatibility</a:t>
            </a:r>
            <a:endParaRPr lang="en-US"/>
          </a:p>
        </p:txBody>
      </p:sp>
      <p:sp>
        <p:nvSpPr>
          <p:cNvPr id="3" name="Content Placeholder 2"/>
          <p:cNvSpPr>
            <a:spLocks noGrp="1"/>
          </p:cNvSpPr>
          <p:nvPr>
            <p:ph idx="1"/>
          </p:nvPr>
        </p:nvSpPr>
        <p:spPr/>
        <p:txBody>
          <a:bodyPr>
            <a:normAutofit lnSpcReduction="20000"/>
          </a:bodyPr>
          <a:p>
            <a:pPr marL="342900" indent="-342900" algn="just">
              <a:lnSpc>
                <a:spcPct val="150000"/>
              </a:lnSpc>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To perform the set operations such as UNION, DIFFERENCE and INTERSECTION, the relations need to be union compatible for the result to be a valid relation.</a:t>
            </a:r>
            <a:r>
              <a:rPr lang="en-US" sz="2800" spc="-130" dirty="0" smtClean="0">
                <a:latin typeface="Arial" panose="020B0604020202020204"/>
                <a:cs typeface="Arial" panose="020B0604020202020204"/>
                <a:sym typeface="+mn-ea"/>
              </a:rPr>
              <a:t> </a:t>
            </a:r>
            <a:endParaRPr lang="en-US" sz="2800" spc="-130" dirty="0" smtClean="0">
              <a:latin typeface="Arial" panose="020B0604020202020204"/>
              <a:cs typeface="Arial" panose="020B0604020202020204"/>
            </a:endParaRPr>
          </a:p>
          <a:p>
            <a:pPr marL="342900" indent="-342900" algn="just">
              <a:lnSpc>
                <a:spcPct val="150000"/>
              </a:lnSpc>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Two relations R1(a1,a2,... an ) and R2(b1,b2,... </a:t>
            </a:r>
            <a:r>
              <a:rPr lang="en-US" sz="2800" kern="0" dirty="0" err="1" smtClean="0">
                <a:latin typeface="Times New Roman" panose="02020603050405020304" pitchFamily="18" charset="0"/>
                <a:cs typeface="Times New Roman" panose="02020603050405020304" pitchFamily="18" charset="0"/>
                <a:sym typeface="+mn-ea"/>
              </a:rPr>
              <a:t>bm</a:t>
            </a:r>
            <a:r>
              <a:rPr lang="en-US" sz="2800" kern="0" dirty="0" smtClean="0">
                <a:latin typeface="Times New Roman" panose="02020603050405020304" pitchFamily="18" charset="0"/>
                <a:cs typeface="Times New Roman" panose="02020603050405020304" pitchFamily="18" charset="0"/>
                <a:sym typeface="+mn-ea"/>
              </a:rPr>
              <a:t> ) are union compatible </a:t>
            </a:r>
            <a:r>
              <a:rPr lang="en-US" sz="2800" kern="0" dirty="0" err="1" smtClean="0">
                <a:latin typeface="Times New Roman" panose="02020603050405020304" pitchFamily="18" charset="0"/>
                <a:cs typeface="Times New Roman" panose="02020603050405020304" pitchFamily="18" charset="0"/>
                <a:sym typeface="+mn-ea"/>
              </a:rPr>
              <a:t>iff</a:t>
            </a:r>
            <a:r>
              <a:rPr lang="en-US" sz="2800" kern="0" dirty="0" smtClean="0">
                <a:latin typeface="Times New Roman" panose="02020603050405020304" pitchFamily="18" charset="0"/>
                <a:cs typeface="Times New Roman" panose="02020603050405020304" pitchFamily="18" charset="0"/>
                <a:sym typeface="+mn-ea"/>
              </a:rPr>
              <a:t>:</a:t>
            </a:r>
            <a:endParaRPr lang="en-US" sz="2800" kern="0" dirty="0" smtClean="0">
              <a:latin typeface="Times New Roman" panose="02020603050405020304" pitchFamily="18" charset="0"/>
              <a:cs typeface="Times New Roman" panose="02020603050405020304" pitchFamily="18" charset="0"/>
            </a:endParaRPr>
          </a:p>
          <a:p>
            <a:pPr marL="1505585" lvl="3" indent="-121285">
              <a:lnSpc>
                <a:spcPct val="150000"/>
              </a:lnSpc>
              <a:buSzPct val="90000"/>
              <a:buFont typeface="Wingdings" panose="05000000000000000000" pitchFamily="2" charset="2"/>
              <a:buChar char="ü"/>
              <a:tabLst>
                <a:tab pos="134620" algn="l"/>
              </a:tabLst>
            </a:pPr>
            <a:r>
              <a:rPr lang="en-US" sz="2800" kern="0" dirty="0" smtClean="0">
                <a:latin typeface="Times New Roman" panose="02020603050405020304" pitchFamily="18" charset="0"/>
                <a:cs typeface="Times New Roman" panose="02020603050405020304" pitchFamily="18" charset="0"/>
                <a:sym typeface="+mn-ea"/>
              </a:rPr>
              <a:t> n = m, i.e. both relations have same </a:t>
            </a:r>
            <a:r>
              <a:rPr lang="en-US" sz="2800" kern="0" dirty="0" err="1" smtClean="0">
                <a:latin typeface="Times New Roman" panose="02020603050405020304" pitchFamily="18" charset="0"/>
                <a:cs typeface="Times New Roman" panose="02020603050405020304" pitchFamily="18" charset="0"/>
                <a:sym typeface="+mn-ea"/>
              </a:rPr>
              <a:t>arity(degree)</a:t>
            </a:r>
            <a:endParaRPr lang="en-US" sz="2800" kern="0" dirty="0" smtClean="0">
              <a:latin typeface="Times New Roman" panose="02020603050405020304" pitchFamily="18" charset="0"/>
              <a:cs typeface="Times New Roman" panose="02020603050405020304" pitchFamily="18" charset="0"/>
            </a:endParaRPr>
          </a:p>
          <a:p>
            <a:pPr marL="1505585" lvl="3" indent="-121285">
              <a:lnSpc>
                <a:spcPct val="150000"/>
              </a:lnSpc>
              <a:spcBef>
                <a:spcPts val="295"/>
              </a:spcBef>
              <a:buSzPct val="90000"/>
              <a:buFont typeface="Wingdings" panose="05000000000000000000" pitchFamily="2" charset="2"/>
              <a:buChar char="ü"/>
              <a:tabLst>
                <a:tab pos="134620" algn="l"/>
              </a:tabLst>
            </a:pPr>
            <a:r>
              <a:rPr lang="en-US" sz="2800" kern="0" dirty="0" smtClean="0">
                <a:latin typeface="Times New Roman" panose="02020603050405020304" pitchFamily="18" charset="0"/>
                <a:cs typeface="Times New Roman" panose="02020603050405020304" pitchFamily="18" charset="0"/>
                <a:sym typeface="+mn-ea"/>
              </a:rPr>
              <a:t> </a:t>
            </a:r>
            <a:r>
              <a:rPr lang="en-US" sz="2800" kern="0" dirty="0" err="1" smtClean="0">
                <a:latin typeface="Times New Roman" panose="02020603050405020304" pitchFamily="18" charset="0"/>
                <a:cs typeface="Times New Roman" panose="02020603050405020304" pitchFamily="18" charset="0"/>
                <a:sym typeface="+mn-ea"/>
              </a:rPr>
              <a:t>dom</a:t>
            </a:r>
            <a:r>
              <a:rPr lang="en-US" sz="2800" kern="0" dirty="0" smtClean="0">
                <a:latin typeface="Times New Roman" panose="02020603050405020304" pitchFamily="18" charset="0"/>
                <a:cs typeface="Times New Roman" panose="02020603050405020304" pitchFamily="18" charset="0"/>
                <a:sym typeface="+mn-ea"/>
              </a:rPr>
              <a:t>(</a:t>
            </a:r>
            <a:r>
              <a:rPr lang="en-US" sz="2800" kern="0" dirty="0" err="1" smtClean="0">
                <a:latin typeface="Times New Roman" panose="02020603050405020304" pitchFamily="18" charset="0"/>
                <a:cs typeface="Times New Roman" panose="02020603050405020304" pitchFamily="18" charset="0"/>
                <a:sym typeface="+mn-ea"/>
              </a:rPr>
              <a:t>ai</a:t>
            </a:r>
            <a:r>
              <a:rPr lang="en-US" sz="2800" kern="0" dirty="0" smtClean="0">
                <a:latin typeface="Times New Roman" panose="02020603050405020304" pitchFamily="18" charset="0"/>
                <a:cs typeface="Times New Roman" panose="02020603050405020304" pitchFamily="18" charset="0"/>
                <a:sym typeface="+mn-ea"/>
              </a:rPr>
              <a:t> ) = </a:t>
            </a:r>
            <a:r>
              <a:rPr lang="en-US" sz="2800" kern="0" dirty="0" err="1" smtClean="0">
                <a:latin typeface="Times New Roman" panose="02020603050405020304" pitchFamily="18" charset="0"/>
                <a:cs typeface="Times New Roman" panose="02020603050405020304" pitchFamily="18" charset="0"/>
                <a:sym typeface="+mn-ea"/>
              </a:rPr>
              <a:t>dom</a:t>
            </a:r>
            <a:r>
              <a:rPr lang="en-US" sz="2800" kern="0" dirty="0" smtClean="0">
                <a:latin typeface="Times New Roman" panose="02020603050405020304" pitchFamily="18" charset="0"/>
                <a:cs typeface="Times New Roman" panose="02020603050405020304" pitchFamily="18" charset="0"/>
                <a:sym typeface="+mn-ea"/>
              </a:rPr>
              <a:t>(bi ) for 1 ≤ </a:t>
            </a:r>
            <a:r>
              <a:rPr lang="en-US" sz="2800" kern="0" dirty="0" err="1" smtClean="0">
                <a:latin typeface="Times New Roman" panose="02020603050405020304" pitchFamily="18" charset="0"/>
                <a:cs typeface="Times New Roman" panose="02020603050405020304" pitchFamily="18" charset="0"/>
                <a:sym typeface="+mn-ea"/>
              </a:rPr>
              <a:t>i</a:t>
            </a:r>
            <a:r>
              <a:rPr lang="en-US" sz="2800" kern="0" dirty="0" smtClean="0">
                <a:latin typeface="Times New Roman" panose="02020603050405020304" pitchFamily="18" charset="0"/>
                <a:cs typeface="Times New Roman" panose="02020603050405020304" pitchFamily="18" charset="0"/>
                <a:sym typeface="+mn-ea"/>
              </a:rPr>
              <a:t> ≤ n</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UNION Operator (∪)</a:t>
            </a:r>
            <a:endParaRPr lang="en-US"/>
          </a:p>
        </p:txBody>
      </p:sp>
      <p:sp>
        <p:nvSpPr>
          <p:cNvPr id="3" name="Content Placeholder 2"/>
          <p:cNvSpPr>
            <a:spLocks noGrp="1"/>
          </p:cNvSpPr>
          <p:nvPr>
            <p:ph idx="1"/>
          </p:nvPr>
        </p:nvSpPr>
        <p:spPr/>
        <p:txBody>
          <a:bodyPr>
            <a:normAutofit fontScale="60000"/>
          </a:bodyPr>
          <a:p>
            <a:pPr marL="342900" indent="-342900" algn="just">
              <a:spcBef>
                <a:spcPct val="20000"/>
              </a:spcBef>
              <a:buFont typeface="Wingdings" panose="05000000000000000000" pitchFamily="2" charset="2"/>
              <a:buChar char="Ø"/>
              <a:defRPr/>
            </a:pPr>
            <a:r>
              <a:rPr lang="en-US" sz="2800" spc="-10" dirty="0" smtClean="0">
                <a:latin typeface="Times New Roman" panose="02020603050405020304" pitchFamily="18" charset="0"/>
                <a:cs typeface="Times New Roman" panose="02020603050405020304" pitchFamily="18" charset="0"/>
                <a:sym typeface="+mn-ea"/>
              </a:rPr>
              <a:t>The</a:t>
            </a:r>
            <a:r>
              <a:rPr lang="en-US" sz="2800" spc="-5" dirty="0" smtClean="0">
                <a:latin typeface="Times New Roman" panose="02020603050405020304" pitchFamily="18" charset="0"/>
                <a:cs typeface="Times New Roman" panose="02020603050405020304" pitchFamily="18" charset="0"/>
                <a:sym typeface="+mn-ea"/>
              </a:rPr>
              <a:t> union </a:t>
            </a:r>
            <a:r>
              <a:rPr lang="en-US" sz="2800" spc="-10" dirty="0" smtClean="0">
                <a:latin typeface="Times New Roman" panose="02020603050405020304" pitchFamily="18" charset="0"/>
                <a:cs typeface="Times New Roman" panose="02020603050405020304" pitchFamily="18" charset="0"/>
                <a:sym typeface="+mn-ea"/>
              </a:rPr>
              <a:t>ope</a:t>
            </a:r>
            <a:r>
              <a:rPr lang="en-US" sz="2800" spc="-15" dirty="0" smtClean="0">
                <a:latin typeface="Times New Roman" panose="02020603050405020304" pitchFamily="18" charset="0"/>
                <a:cs typeface="Times New Roman" panose="02020603050405020304" pitchFamily="18" charset="0"/>
                <a:sym typeface="+mn-ea"/>
              </a:rPr>
              <a:t>r</a:t>
            </a:r>
            <a:r>
              <a:rPr lang="en-US" sz="2800" spc="-5" dirty="0" smtClean="0">
                <a:latin typeface="Times New Roman" panose="02020603050405020304" pitchFamily="18" charset="0"/>
                <a:cs typeface="Times New Roman" panose="02020603050405020304" pitchFamily="18" charset="0"/>
                <a:sym typeface="+mn-ea"/>
              </a:rPr>
              <a:t>ation is </a:t>
            </a:r>
            <a:r>
              <a:rPr lang="en-US" sz="2800" spc="-10" dirty="0" smtClean="0">
                <a:latin typeface="Times New Roman" panose="02020603050405020304" pitchFamily="18" charset="0"/>
                <a:cs typeface="Times New Roman" panose="02020603050405020304" pitchFamily="18" charset="0"/>
                <a:sym typeface="+mn-ea"/>
              </a:rPr>
              <a:t>used</a:t>
            </a:r>
            <a:r>
              <a:rPr lang="en-US" sz="2800" spc="-5" dirty="0" smtClean="0">
                <a:latin typeface="Times New Roman" panose="02020603050405020304" pitchFamily="18" charset="0"/>
                <a:cs typeface="Times New Roman" panose="02020603050405020304" pitchFamily="18" charset="0"/>
                <a:sym typeface="+mn-ea"/>
              </a:rPr>
              <a:t> to </a:t>
            </a:r>
            <a:r>
              <a:rPr lang="en-US" sz="2800" spc="-10" dirty="0" smtClean="0">
                <a:latin typeface="Times New Roman" panose="02020603050405020304" pitchFamily="18" charset="0"/>
                <a:cs typeface="Times New Roman" panose="02020603050405020304" pitchFamily="18" charset="0"/>
                <a:sym typeface="+mn-ea"/>
              </a:rPr>
              <a:t>combine</a:t>
            </a:r>
            <a:r>
              <a:rPr lang="en-US" sz="2800" spc="-5" dirty="0" smtClean="0">
                <a:latin typeface="Times New Roman" panose="02020603050405020304" pitchFamily="18" charset="0"/>
                <a:cs typeface="Times New Roman" panose="02020603050405020304" pitchFamily="18" charset="0"/>
                <a:sym typeface="+mn-ea"/>
              </a:rPr>
              <a:t> data from t</a:t>
            </a:r>
            <a:r>
              <a:rPr lang="en-US" sz="2800" spc="-20" dirty="0" smtClean="0">
                <a:latin typeface="Times New Roman" panose="02020603050405020304" pitchFamily="18" charset="0"/>
                <a:cs typeface="Times New Roman" panose="02020603050405020304" pitchFamily="18" charset="0"/>
                <a:sym typeface="+mn-ea"/>
              </a:rPr>
              <a:t>w</a:t>
            </a:r>
            <a:r>
              <a:rPr lang="en-US" sz="2800" spc="-10" dirty="0" smtClean="0">
                <a:latin typeface="Times New Roman" panose="02020603050405020304" pitchFamily="18" charset="0"/>
                <a:cs typeface="Times New Roman" panose="02020603050405020304" pitchFamily="18" charset="0"/>
                <a:sym typeface="+mn-ea"/>
              </a:rPr>
              <a:t>o</a:t>
            </a:r>
            <a:r>
              <a:rPr lang="en-US" sz="2800" spc="-5" dirty="0" smtClean="0">
                <a:latin typeface="Times New Roman" panose="02020603050405020304" pitchFamily="18" charset="0"/>
                <a:cs typeface="Times New Roman" panose="02020603050405020304" pitchFamily="18" charset="0"/>
                <a:sym typeface="+mn-ea"/>
              </a:rPr>
              <a:t> relation</a:t>
            </a:r>
            <a:r>
              <a:rPr lang="en-US" sz="2800" spc="-20" dirty="0" smtClean="0">
                <a:latin typeface="Times New Roman" panose="02020603050405020304" pitchFamily="18" charset="0"/>
                <a:cs typeface="Times New Roman" panose="02020603050405020304" pitchFamily="18" charset="0"/>
                <a:sym typeface="+mn-ea"/>
              </a:rPr>
              <a:t>s</a:t>
            </a:r>
            <a:r>
              <a:rPr lang="en-US" sz="2800" spc="-5" dirty="0" smtClean="0">
                <a:latin typeface="Times New Roman" panose="02020603050405020304" pitchFamily="18" charset="0"/>
                <a:cs typeface="Times New Roman" panose="02020603050405020304" pitchFamily="18" charset="0"/>
                <a:sym typeface="+mn-ea"/>
              </a:rPr>
              <a:t>. It is </a:t>
            </a:r>
            <a:r>
              <a:rPr lang="en-US" sz="2800" spc="-10" dirty="0" smtClean="0">
                <a:latin typeface="Times New Roman" panose="02020603050405020304" pitchFamily="18" charset="0"/>
                <a:cs typeface="Times New Roman" panose="02020603050405020304" pitchFamily="18" charset="0"/>
                <a:sym typeface="+mn-ea"/>
              </a:rPr>
              <a:t>denoted</a:t>
            </a:r>
            <a:r>
              <a:rPr lang="en-US" sz="2800" spc="-5" dirty="0" smtClean="0">
                <a:latin typeface="Times New Roman" panose="02020603050405020304" pitchFamily="18" charset="0"/>
                <a:cs typeface="Times New Roman" panose="02020603050405020304" pitchFamily="18" charset="0"/>
                <a:sym typeface="+mn-ea"/>
              </a:rPr>
              <a:t> </a:t>
            </a:r>
            <a:r>
              <a:rPr lang="en-US" sz="2800" spc="-30" dirty="0" smtClean="0">
                <a:latin typeface="Times New Roman" panose="02020603050405020304" pitchFamily="18" charset="0"/>
                <a:cs typeface="Times New Roman" panose="02020603050405020304" pitchFamily="18" charset="0"/>
                <a:sym typeface="+mn-ea"/>
              </a:rPr>
              <a:t>b</a:t>
            </a:r>
            <a:r>
              <a:rPr lang="en-US" sz="2800" spc="-5" dirty="0" smtClean="0">
                <a:latin typeface="Times New Roman" panose="02020603050405020304" pitchFamily="18" charset="0"/>
                <a:cs typeface="Times New Roman" panose="02020603050405020304" pitchFamily="18" charset="0"/>
                <a:sym typeface="+mn-ea"/>
              </a:rPr>
              <a:t>y union</a:t>
            </a:r>
            <a:r>
              <a:rPr lang="en-US" sz="2800" spc="-10" dirty="0" smtClean="0">
                <a:latin typeface="Times New Roman" panose="02020603050405020304" pitchFamily="18" charset="0"/>
                <a:cs typeface="Times New Roman" panose="02020603050405020304" pitchFamily="18" charset="0"/>
                <a:sym typeface="+mn-ea"/>
              </a:rPr>
              <a:t>(</a:t>
            </a:r>
            <a:r>
              <a:rPr lang="en-US" sz="2800" spc="-140" dirty="0" smtClean="0">
                <a:latin typeface="Times New Roman" panose="02020603050405020304" pitchFamily="18" charset="0"/>
                <a:cs typeface="Times New Roman" panose="02020603050405020304" pitchFamily="18" charset="0"/>
                <a:sym typeface="+mn-ea"/>
              </a:rPr>
              <a:t>∪</a:t>
            </a:r>
            <a:r>
              <a:rPr lang="en-US" sz="2800" spc="-5" dirty="0" smtClean="0">
                <a:latin typeface="Times New Roman" panose="02020603050405020304" pitchFamily="18" charset="0"/>
                <a:cs typeface="Times New Roman" panose="02020603050405020304" pitchFamily="18" charset="0"/>
                <a:sym typeface="+mn-ea"/>
              </a:rPr>
              <a:t>) symbol. </a:t>
            </a:r>
            <a:r>
              <a:rPr lang="en-US" sz="2800" spc="-10" dirty="0" smtClean="0">
                <a:latin typeface="Times New Roman" panose="02020603050405020304" pitchFamily="18" charset="0"/>
                <a:cs typeface="Times New Roman" panose="02020603050405020304" pitchFamily="18" charset="0"/>
                <a:sym typeface="+mn-ea"/>
              </a:rPr>
              <a:t>The</a:t>
            </a:r>
            <a:r>
              <a:rPr lang="en-US" sz="2800" spc="-5" dirty="0" smtClean="0">
                <a:latin typeface="Times New Roman" panose="02020603050405020304" pitchFamily="18" charset="0"/>
                <a:cs typeface="Times New Roman" panose="02020603050405020304" pitchFamily="18" charset="0"/>
                <a:sym typeface="+mn-ea"/>
              </a:rPr>
              <a:t> union of t</a:t>
            </a:r>
            <a:r>
              <a:rPr lang="en-US" sz="2800" spc="-20" dirty="0" smtClean="0">
                <a:latin typeface="Times New Roman" panose="02020603050405020304" pitchFamily="18" charset="0"/>
                <a:cs typeface="Times New Roman" panose="02020603050405020304" pitchFamily="18" charset="0"/>
                <a:sym typeface="+mn-ea"/>
              </a:rPr>
              <a:t>w</a:t>
            </a:r>
            <a:r>
              <a:rPr lang="en-US" sz="2800" spc="-10" dirty="0" smtClean="0">
                <a:latin typeface="Times New Roman" panose="02020603050405020304" pitchFamily="18" charset="0"/>
                <a:cs typeface="Times New Roman" panose="02020603050405020304" pitchFamily="18" charset="0"/>
                <a:sym typeface="+mn-ea"/>
              </a:rPr>
              <a:t>o</a:t>
            </a:r>
            <a:r>
              <a:rPr lang="en-US" sz="2800" spc="-5" dirty="0" smtClean="0">
                <a:latin typeface="Times New Roman" panose="02020603050405020304" pitchFamily="18" charset="0"/>
                <a:cs typeface="Times New Roman" panose="02020603050405020304" pitchFamily="18" charset="0"/>
                <a:sym typeface="+mn-ea"/>
              </a:rPr>
              <a:t> relations </a:t>
            </a:r>
            <a:r>
              <a:rPr lang="en-US" sz="2800" i="1" spc="-10" dirty="0" smtClean="0">
                <a:latin typeface="Times New Roman" panose="02020603050405020304" pitchFamily="18" charset="0"/>
                <a:cs typeface="Times New Roman" panose="02020603050405020304" pitchFamily="18" charset="0"/>
                <a:sym typeface="+mn-ea"/>
              </a:rPr>
              <a:t>R</a:t>
            </a:r>
            <a:r>
              <a:rPr lang="en-US" sz="2800" spc="52" baseline="-12000" dirty="0" smtClean="0">
                <a:latin typeface="Times New Roman" panose="02020603050405020304" pitchFamily="18" charset="0"/>
                <a:cs typeface="Times New Roman" panose="02020603050405020304" pitchFamily="18" charset="0"/>
                <a:sym typeface="+mn-ea"/>
              </a:rPr>
              <a:t>1</a:t>
            </a:r>
            <a:r>
              <a:rPr lang="en-US" sz="2800" spc="-5" dirty="0" smtClean="0">
                <a:latin typeface="Times New Roman" panose="02020603050405020304" pitchFamily="18" charset="0"/>
                <a:cs typeface="Times New Roman" panose="02020603050405020304" pitchFamily="18" charset="0"/>
                <a:sym typeface="+mn-ea"/>
              </a:rPr>
              <a:t>(</a:t>
            </a:r>
            <a:r>
              <a:rPr lang="en-US" sz="2800" i="1" spc="-10" dirty="0" smtClean="0">
                <a:latin typeface="Times New Roman" panose="02020603050405020304" pitchFamily="18" charset="0"/>
                <a:cs typeface="Times New Roman" panose="02020603050405020304" pitchFamily="18" charset="0"/>
                <a:sym typeface="+mn-ea"/>
              </a:rPr>
              <a:t>a</a:t>
            </a:r>
            <a:r>
              <a:rPr lang="en-US" sz="2800" spc="52" baseline="-12000" dirty="0" smtClean="0">
                <a:latin typeface="Times New Roman" panose="02020603050405020304" pitchFamily="18" charset="0"/>
                <a:cs typeface="Times New Roman" panose="02020603050405020304" pitchFamily="18" charset="0"/>
                <a:sym typeface="+mn-ea"/>
              </a:rPr>
              <a:t>1</a:t>
            </a:r>
            <a:r>
              <a:rPr lang="en-US" sz="2800" spc="-10" dirty="0" smtClean="0">
                <a:latin typeface="Times New Roman" panose="02020603050405020304" pitchFamily="18" charset="0"/>
                <a:cs typeface="Times New Roman" panose="02020603050405020304" pitchFamily="18" charset="0"/>
                <a:sym typeface="+mn-ea"/>
              </a:rPr>
              <a:t>,</a:t>
            </a:r>
            <a:r>
              <a:rPr lang="en-US" sz="2800" i="1" spc="-10" dirty="0" smtClean="0">
                <a:latin typeface="Times New Roman" panose="02020603050405020304" pitchFamily="18" charset="0"/>
                <a:cs typeface="Times New Roman" panose="02020603050405020304" pitchFamily="18" charset="0"/>
                <a:sym typeface="+mn-ea"/>
              </a:rPr>
              <a:t>a</a:t>
            </a:r>
            <a:r>
              <a:rPr lang="en-US" sz="2800" spc="52" baseline="-12000" dirty="0" smtClean="0">
                <a:latin typeface="Times New Roman" panose="02020603050405020304" pitchFamily="18" charset="0"/>
                <a:cs typeface="Times New Roman" panose="02020603050405020304" pitchFamily="18" charset="0"/>
                <a:sym typeface="+mn-ea"/>
              </a:rPr>
              <a:t>2</a:t>
            </a:r>
            <a:r>
              <a:rPr lang="en-US" sz="2800" spc="-5" dirty="0" smtClean="0">
                <a:latin typeface="Times New Roman" panose="02020603050405020304" pitchFamily="18" charset="0"/>
                <a:cs typeface="Times New Roman" panose="02020603050405020304" pitchFamily="18" charset="0"/>
                <a:sym typeface="+mn-ea"/>
              </a:rPr>
              <a:t>,... </a:t>
            </a:r>
            <a:r>
              <a:rPr lang="en-US" sz="2800" i="1" spc="-10" dirty="0" smtClean="0">
                <a:latin typeface="Times New Roman" panose="02020603050405020304" pitchFamily="18" charset="0"/>
                <a:cs typeface="Times New Roman" panose="02020603050405020304" pitchFamily="18" charset="0"/>
                <a:sym typeface="+mn-ea"/>
              </a:rPr>
              <a:t>a</a:t>
            </a:r>
            <a:r>
              <a:rPr lang="en-US" sz="2800" i="1" spc="-7" baseline="-12000" dirty="0" smtClean="0">
                <a:latin typeface="Times New Roman" panose="02020603050405020304" pitchFamily="18" charset="0"/>
                <a:cs typeface="Times New Roman" panose="02020603050405020304" pitchFamily="18" charset="0"/>
                <a:sym typeface="+mn-ea"/>
              </a:rPr>
              <a:t>n</a:t>
            </a:r>
            <a:r>
              <a:rPr lang="en-US" sz="2800" i="1" spc="-202" baseline="-1200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 </a:t>
            </a:r>
            <a:r>
              <a:rPr lang="en-US" sz="2800" spc="-10" dirty="0" smtClean="0">
                <a:latin typeface="Times New Roman" panose="02020603050405020304" pitchFamily="18" charset="0"/>
                <a:cs typeface="Times New Roman" panose="02020603050405020304" pitchFamily="18" charset="0"/>
                <a:sym typeface="+mn-ea"/>
              </a:rPr>
              <a:t>and</a:t>
            </a:r>
            <a:r>
              <a:rPr lang="en-US" sz="2800" spc="-5" dirty="0" smtClean="0">
                <a:latin typeface="Times New Roman" panose="02020603050405020304" pitchFamily="18" charset="0"/>
                <a:cs typeface="Times New Roman" panose="02020603050405020304" pitchFamily="18" charset="0"/>
                <a:sym typeface="+mn-ea"/>
              </a:rPr>
              <a:t> </a:t>
            </a:r>
            <a:r>
              <a:rPr lang="en-US" sz="2800" i="1" spc="-10" dirty="0" smtClean="0">
                <a:latin typeface="Times New Roman" panose="02020603050405020304" pitchFamily="18" charset="0"/>
                <a:cs typeface="Times New Roman" panose="02020603050405020304" pitchFamily="18" charset="0"/>
                <a:sym typeface="+mn-ea"/>
              </a:rPr>
              <a:t>R</a:t>
            </a:r>
            <a:r>
              <a:rPr lang="en-US" sz="2800" spc="52" baseline="-12000" dirty="0" smtClean="0">
                <a:latin typeface="Times New Roman" panose="02020603050405020304" pitchFamily="18" charset="0"/>
                <a:cs typeface="Times New Roman" panose="02020603050405020304" pitchFamily="18" charset="0"/>
                <a:sym typeface="+mn-ea"/>
              </a:rPr>
              <a:t>2</a:t>
            </a:r>
            <a:r>
              <a:rPr lang="en-US" sz="2800" spc="-5" dirty="0" smtClean="0">
                <a:latin typeface="Times New Roman" panose="02020603050405020304" pitchFamily="18" charset="0"/>
                <a:cs typeface="Times New Roman" panose="02020603050405020304" pitchFamily="18" charset="0"/>
                <a:sym typeface="+mn-ea"/>
              </a:rPr>
              <a:t>(</a:t>
            </a:r>
            <a:r>
              <a:rPr lang="en-US" sz="2800" i="1" spc="-10" dirty="0" smtClean="0">
                <a:latin typeface="Times New Roman" panose="02020603050405020304" pitchFamily="18" charset="0"/>
                <a:cs typeface="Times New Roman" panose="02020603050405020304" pitchFamily="18" charset="0"/>
                <a:sym typeface="+mn-ea"/>
              </a:rPr>
              <a:t>b</a:t>
            </a:r>
            <a:r>
              <a:rPr lang="en-US" sz="2800" spc="52" baseline="-12000" dirty="0" smtClean="0">
                <a:latin typeface="Times New Roman" panose="02020603050405020304" pitchFamily="18" charset="0"/>
                <a:cs typeface="Times New Roman" panose="02020603050405020304" pitchFamily="18" charset="0"/>
                <a:sym typeface="+mn-ea"/>
              </a:rPr>
              <a:t>1</a:t>
            </a:r>
            <a:r>
              <a:rPr lang="en-US" sz="2800" spc="-5" dirty="0" smtClean="0">
                <a:latin typeface="Times New Roman" panose="02020603050405020304" pitchFamily="18" charset="0"/>
                <a:cs typeface="Times New Roman" panose="02020603050405020304" pitchFamily="18" charset="0"/>
                <a:sym typeface="+mn-ea"/>
              </a:rPr>
              <a:t>,</a:t>
            </a:r>
            <a:r>
              <a:rPr lang="en-US" sz="2800" i="1" spc="-10" dirty="0" smtClean="0">
                <a:latin typeface="Times New Roman" panose="02020603050405020304" pitchFamily="18" charset="0"/>
                <a:cs typeface="Times New Roman" panose="02020603050405020304" pitchFamily="18" charset="0"/>
                <a:sym typeface="+mn-ea"/>
              </a:rPr>
              <a:t>b</a:t>
            </a:r>
            <a:r>
              <a:rPr lang="en-US" sz="2800" spc="52" baseline="-12000" dirty="0" smtClean="0">
                <a:latin typeface="Times New Roman" panose="02020603050405020304" pitchFamily="18" charset="0"/>
                <a:cs typeface="Times New Roman" panose="02020603050405020304" pitchFamily="18" charset="0"/>
                <a:sym typeface="+mn-ea"/>
              </a:rPr>
              <a:t>2</a:t>
            </a:r>
            <a:r>
              <a:rPr lang="en-US" sz="2800" spc="-5" dirty="0" smtClean="0">
                <a:latin typeface="Times New Roman" panose="02020603050405020304" pitchFamily="18" charset="0"/>
                <a:cs typeface="Times New Roman" panose="02020603050405020304" pitchFamily="18" charset="0"/>
                <a:sym typeface="+mn-ea"/>
              </a:rPr>
              <a:t>,... </a:t>
            </a:r>
            <a:r>
              <a:rPr lang="en-US" sz="2800" i="1" spc="-10" dirty="0" err="1" smtClean="0">
                <a:latin typeface="Times New Roman" panose="02020603050405020304" pitchFamily="18" charset="0"/>
                <a:cs typeface="Times New Roman" panose="02020603050405020304" pitchFamily="18" charset="0"/>
                <a:sym typeface="+mn-ea"/>
              </a:rPr>
              <a:t>b</a:t>
            </a:r>
            <a:r>
              <a:rPr lang="en-US" sz="2800" i="1" spc="-7" baseline="-12000" dirty="0" err="1" smtClean="0">
                <a:latin typeface="Times New Roman" panose="02020603050405020304" pitchFamily="18" charset="0"/>
                <a:cs typeface="Times New Roman" panose="02020603050405020304" pitchFamily="18" charset="0"/>
                <a:sym typeface="+mn-ea"/>
              </a:rPr>
              <a:t>n</a:t>
            </a:r>
            <a:r>
              <a:rPr lang="en-US" sz="2800" i="1" spc="-202" baseline="-1200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 is </a:t>
            </a:r>
            <a:r>
              <a:rPr lang="en-US" sz="2800" spc="-10" dirty="0" smtClean="0">
                <a:latin typeface="Times New Roman" panose="02020603050405020304" pitchFamily="18" charset="0"/>
                <a:cs typeface="Times New Roman" panose="02020603050405020304" pitchFamily="18" charset="0"/>
                <a:sym typeface="+mn-ea"/>
              </a:rPr>
              <a:t>a</a:t>
            </a:r>
            <a:r>
              <a:rPr lang="en-US" sz="2800" spc="-5" dirty="0" smtClean="0">
                <a:latin typeface="Times New Roman" panose="02020603050405020304" pitchFamily="18" charset="0"/>
                <a:cs typeface="Times New Roman" panose="02020603050405020304" pitchFamily="18" charset="0"/>
                <a:sym typeface="+mn-ea"/>
              </a:rPr>
              <a:t> relation </a:t>
            </a:r>
            <a:r>
              <a:rPr lang="en-US" sz="2800" i="1" spc="-10" dirty="0" smtClean="0">
                <a:latin typeface="Times New Roman" panose="02020603050405020304" pitchFamily="18" charset="0"/>
                <a:cs typeface="Times New Roman" panose="02020603050405020304" pitchFamily="18" charset="0"/>
                <a:sym typeface="+mn-ea"/>
              </a:rPr>
              <a:t>R</a:t>
            </a:r>
            <a:r>
              <a:rPr lang="en-US" sz="2800" spc="-7" baseline="-12000" dirty="0" smtClean="0">
                <a:latin typeface="Times New Roman" panose="02020603050405020304" pitchFamily="18" charset="0"/>
                <a:cs typeface="Times New Roman" panose="02020603050405020304" pitchFamily="18" charset="0"/>
                <a:sym typeface="+mn-ea"/>
              </a:rPr>
              <a:t>3 </a:t>
            </a:r>
            <a:r>
              <a:rPr lang="en-US" sz="2800" spc="-5" dirty="0" smtClean="0">
                <a:latin typeface="Times New Roman" panose="02020603050405020304" pitchFamily="18" charset="0"/>
                <a:cs typeface="Times New Roman" panose="02020603050405020304" pitchFamily="18" charset="0"/>
                <a:sym typeface="+mn-ea"/>
              </a:rPr>
              <a:t>(</a:t>
            </a:r>
            <a:r>
              <a:rPr lang="en-US" sz="2800" i="1" spc="-5" dirty="0" smtClean="0">
                <a:latin typeface="Times New Roman" panose="02020603050405020304" pitchFamily="18" charset="0"/>
                <a:cs typeface="Times New Roman" panose="02020603050405020304" pitchFamily="18" charset="0"/>
                <a:sym typeface="+mn-ea"/>
              </a:rPr>
              <a:t>c</a:t>
            </a:r>
            <a:r>
              <a:rPr lang="en-US" sz="2800" spc="52" baseline="-12000" dirty="0" smtClean="0">
                <a:latin typeface="Times New Roman" panose="02020603050405020304" pitchFamily="18" charset="0"/>
                <a:cs typeface="Times New Roman" panose="02020603050405020304" pitchFamily="18" charset="0"/>
                <a:sym typeface="+mn-ea"/>
              </a:rPr>
              <a:t>1</a:t>
            </a:r>
            <a:r>
              <a:rPr lang="en-US" sz="2800" spc="-10" dirty="0" smtClean="0">
                <a:latin typeface="Times New Roman" panose="02020603050405020304" pitchFamily="18" charset="0"/>
                <a:cs typeface="Times New Roman" panose="02020603050405020304" pitchFamily="18" charset="0"/>
                <a:sym typeface="+mn-ea"/>
              </a:rPr>
              <a:t>,</a:t>
            </a:r>
            <a:r>
              <a:rPr lang="en-US" sz="2800" i="1" spc="-5" dirty="0" smtClean="0">
                <a:latin typeface="Times New Roman" panose="02020603050405020304" pitchFamily="18" charset="0"/>
                <a:cs typeface="Times New Roman" panose="02020603050405020304" pitchFamily="18" charset="0"/>
                <a:sym typeface="+mn-ea"/>
              </a:rPr>
              <a:t>c</a:t>
            </a:r>
            <a:r>
              <a:rPr lang="en-US" sz="2800" spc="52" baseline="-12000" dirty="0" smtClean="0">
                <a:latin typeface="Times New Roman" panose="02020603050405020304" pitchFamily="18" charset="0"/>
                <a:cs typeface="Times New Roman" panose="02020603050405020304" pitchFamily="18" charset="0"/>
                <a:sym typeface="+mn-ea"/>
              </a:rPr>
              <a:t>2</a:t>
            </a:r>
            <a:r>
              <a:rPr lang="en-US" sz="2800" spc="-5" dirty="0" smtClean="0">
                <a:latin typeface="Times New Roman" panose="02020603050405020304" pitchFamily="18" charset="0"/>
                <a:cs typeface="Times New Roman" panose="02020603050405020304" pitchFamily="18" charset="0"/>
                <a:sym typeface="+mn-ea"/>
              </a:rPr>
              <a:t>,... </a:t>
            </a:r>
            <a:r>
              <a:rPr lang="en-US" sz="2800" i="1" spc="-5" dirty="0" err="1" smtClean="0">
                <a:latin typeface="Times New Roman" panose="02020603050405020304" pitchFamily="18" charset="0"/>
                <a:cs typeface="Times New Roman" panose="02020603050405020304" pitchFamily="18" charset="0"/>
                <a:sym typeface="+mn-ea"/>
              </a:rPr>
              <a:t>c</a:t>
            </a:r>
            <a:r>
              <a:rPr lang="en-US" sz="2800" i="1" spc="-7" baseline="-12000" dirty="0" err="1" smtClean="0">
                <a:latin typeface="Times New Roman" panose="02020603050405020304" pitchFamily="18" charset="0"/>
                <a:cs typeface="Times New Roman" panose="02020603050405020304" pitchFamily="18" charset="0"/>
                <a:sym typeface="+mn-ea"/>
              </a:rPr>
              <a:t>n</a:t>
            </a:r>
            <a:r>
              <a:rPr lang="en-US" sz="2800" i="1" spc="-202" baseline="-1200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 </a:t>
            </a:r>
            <a:r>
              <a:rPr lang="en-US" sz="2800" spc="-10" dirty="0" smtClean="0">
                <a:latin typeface="Times New Roman" panose="02020603050405020304" pitchFamily="18" charset="0"/>
                <a:cs typeface="Times New Roman" panose="02020603050405020304" pitchFamily="18" charset="0"/>
                <a:sym typeface="+mn-ea"/>
              </a:rPr>
              <a:t>such</a:t>
            </a:r>
            <a:r>
              <a:rPr lang="en-US" sz="2800" spc="-5" dirty="0" smtClean="0">
                <a:latin typeface="Times New Roman" panose="02020603050405020304" pitchFamily="18" charset="0"/>
                <a:cs typeface="Times New Roman" panose="02020603050405020304" pitchFamily="18" charset="0"/>
                <a:sym typeface="+mn-ea"/>
              </a:rPr>
              <a:t> that:</a:t>
            </a:r>
            <a:endParaRPr lang="en-US" sz="2800" spc="-5" dirty="0" smtClean="0">
              <a:latin typeface="Times New Roman" panose="02020603050405020304" pitchFamily="18" charset="0"/>
              <a:cs typeface="Times New Roman" panose="02020603050405020304" pitchFamily="18" charset="0"/>
            </a:endParaRPr>
          </a:p>
          <a:p>
            <a:pPr marL="1714500" lvl="3" indent="-342900" algn="just">
              <a:spcBef>
                <a:spcPct val="20000"/>
              </a:spcBef>
              <a:defRPr/>
            </a:pPr>
            <a:r>
              <a:rPr lang="en-US" sz="2800" b="1" spc="-5" dirty="0" smtClean="0">
                <a:latin typeface="Times New Roman" panose="02020603050405020304" pitchFamily="18" charset="0"/>
                <a:cs typeface="Times New Roman" panose="02020603050405020304" pitchFamily="18" charset="0"/>
                <a:sym typeface="+mn-ea"/>
              </a:rPr>
              <a:t>     </a:t>
            </a:r>
            <a:r>
              <a:rPr lang="en-US" sz="2800" b="1" spc="-10" dirty="0" err="1" smtClean="0">
                <a:latin typeface="Times New Roman" panose="02020603050405020304" pitchFamily="18" charset="0"/>
                <a:cs typeface="Times New Roman" panose="02020603050405020304" pitchFamily="18" charset="0"/>
                <a:sym typeface="+mn-ea"/>
              </a:rPr>
              <a:t>dom</a:t>
            </a:r>
            <a:r>
              <a:rPr lang="en-US" sz="2800" b="1" spc="-10" dirty="0" smtClean="0">
                <a:latin typeface="Times New Roman" panose="02020603050405020304" pitchFamily="18" charset="0"/>
                <a:cs typeface="Times New Roman" panose="02020603050405020304" pitchFamily="18" charset="0"/>
                <a:sym typeface="+mn-ea"/>
              </a:rPr>
              <a:t>(</a:t>
            </a:r>
            <a:r>
              <a:rPr lang="en-US" sz="2800" i="1" spc="-5" dirty="0" err="1" smtClean="0">
                <a:latin typeface="Times New Roman" panose="02020603050405020304" pitchFamily="18" charset="0"/>
                <a:cs typeface="Times New Roman" panose="02020603050405020304" pitchFamily="18" charset="0"/>
                <a:sym typeface="+mn-ea"/>
              </a:rPr>
              <a:t>c</a:t>
            </a:r>
            <a:r>
              <a:rPr lang="en-US" sz="2800" i="1" spc="-7" baseline="-12000" dirty="0" err="1" smtClean="0">
                <a:latin typeface="Times New Roman" panose="02020603050405020304" pitchFamily="18" charset="0"/>
                <a:cs typeface="Times New Roman" panose="02020603050405020304" pitchFamily="18" charset="0"/>
                <a:sym typeface="+mn-ea"/>
              </a:rPr>
              <a:t>i</a:t>
            </a:r>
            <a:r>
              <a:rPr lang="en-US" sz="2800" i="1" spc="-135" baseline="-12000" dirty="0" smtClean="0">
                <a:latin typeface="Times New Roman" panose="02020603050405020304" pitchFamily="18" charset="0"/>
                <a:cs typeface="Times New Roman" panose="02020603050405020304" pitchFamily="18" charset="0"/>
                <a:sym typeface="+mn-ea"/>
              </a:rPr>
              <a:t> </a:t>
            </a:r>
            <a:r>
              <a:rPr lang="en-US" sz="2800" b="1" spc="-5" dirty="0" smtClean="0">
                <a:latin typeface="Times New Roman" panose="02020603050405020304" pitchFamily="18" charset="0"/>
                <a:cs typeface="Times New Roman" panose="02020603050405020304" pitchFamily="18" charset="0"/>
                <a:sym typeface="+mn-ea"/>
              </a:rPr>
              <a:t>) </a:t>
            </a:r>
            <a:r>
              <a:rPr lang="en-US" sz="2800" b="1" spc="-10" dirty="0" smtClean="0">
                <a:latin typeface="Times New Roman" panose="02020603050405020304" pitchFamily="18" charset="0"/>
                <a:cs typeface="Times New Roman" panose="02020603050405020304" pitchFamily="18" charset="0"/>
                <a:sym typeface="+mn-ea"/>
              </a:rPr>
              <a:t>=</a:t>
            </a:r>
            <a:r>
              <a:rPr lang="en-US" sz="2800" b="1" spc="-5" dirty="0" smtClean="0">
                <a:latin typeface="Times New Roman" panose="02020603050405020304" pitchFamily="18" charset="0"/>
                <a:cs typeface="Times New Roman" panose="02020603050405020304" pitchFamily="18" charset="0"/>
                <a:sym typeface="+mn-ea"/>
              </a:rPr>
              <a:t> </a:t>
            </a:r>
            <a:r>
              <a:rPr lang="en-US" sz="2800" b="1" spc="-10" dirty="0" err="1" smtClean="0">
                <a:latin typeface="Times New Roman" panose="02020603050405020304" pitchFamily="18" charset="0"/>
                <a:cs typeface="Times New Roman" panose="02020603050405020304" pitchFamily="18" charset="0"/>
                <a:sym typeface="+mn-ea"/>
              </a:rPr>
              <a:t>dom</a:t>
            </a:r>
            <a:r>
              <a:rPr lang="en-US" sz="2800" b="1" spc="-10" dirty="0" smtClean="0">
                <a:latin typeface="Times New Roman" panose="02020603050405020304" pitchFamily="18" charset="0"/>
                <a:cs typeface="Times New Roman" panose="02020603050405020304" pitchFamily="18" charset="0"/>
                <a:sym typeface="+mn-ea"/>
              </a:rPr>
              <a:t>(</a:t>
            </a:r>
            <a:r>
              <a:rPr lang="en-US" sz="2800" i="1" spc="-10" dirty="0" err="1" smtClean="0">
                <a:latin typeface="Times New Roman" panose="02020603050405020304" pitchFamily="18" charset="0"/>
                <a:cs typeface="Times New Roman" panose="02020603050405020304" pitchFamily="18" charset="0"/>
                <a:sym typeface="+mn-ea"/>
              </a:rPr>
              <a:t>a</a:t>
            </a:r>
            <a:r>
              <a:rPr lang="en-US" sz="2800" i="1" spc="-7" baseline="-12000" dirty="0" err="1" smtClean="0">
                <a:latin typeface="Times New Roman" panose="02020603050405020304" pitchFamily="18" charset="0"/>
                <a:cs typeface="Times New Roman" panose="02020603050405020304" pitchFamily="18" charset="0"/>
                <a:sym typeface="+mn-ea"/>
              </a:rPr>
              <a:t>i</a:t>
            </a:r>
            <a:r>
              <a:rPr lang="en-US" sz="2800" i="1" spc="-135" baseline="-12000" dirty="0" smtClean="0">
                <a:latin typeface="Times New Roman" panose="02020603050405020304" pitchFamily="18" charset="0"/>
                <a:cs typeface="Times New Roman" panose="02020603050405020304" pitchFamily="18" charset="0"/>
                <a:sym typeface="+mn-ea"/>
              </a:rPr>
              <a:t> </a:t>
            </a:r>
            <a:r>
              <a:rPr lang="en-US" sz="2800" b="1" spc="-5" dirty="0" smtClean="0">
                <a:latin typeface="Times New Roman" panose="02020603050405020304" pitchFamily="18" charset="0"/>
                <a:cs typeface="Times New Roman" panose="02020603050405020304" pitchFamily="18" charset="0"/>
                <a:sym typeface="+mn-ea"/>
              </a:rPr>
              <a:t>) </a:t>
            </a:r>
            <a:r>
              <a:rPr lang="en-US" sz="2800" spc="-140"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n-US" sz="2800" b="1" spc="-10" dirty="0" err="1" smtClean="0">
                <a:latin typeface="Times New Roman" panose="02020603050405020304" pitchFamily="18" charset="0"/>
                <a:cs typeface="Times New Roman" panose="02020603050405020304" pitchFamily="18" charset="0"/>
                <a:sym typeface="+mn-ea"/>
              </a:rPr>
              <a:t>dom</a:t>
            </a:r>
            <a:r>
              <a:rPr lang="en-US" sz="2800" b="1" spc="-10" dirty="0" smtClean="0">
                <a:latin typeface="Times New Roman" panose="02020603050405020304" pitchFamily="18" charset="0"/>
                <a:cs typeface="Times New Roman" panose="02020603050405020304" pitchFamily="18" charset="0"/>
                <a:sym typeface="+mn-ea"/>
              </a:rPr>
              <a:t>(</a:t>
            </a:r>
            <a:r>
              <a:rPr lang="en-US" sz="2800" i="1" spc="-10" dirty="0" smtClean="0">
                <a:latin typeface="Times New Roman" panose="02020603050405020304" pitchFamily="18" charset="0"/>
                <a:cs typeface="Times New Roman" panose="02020603050405020304" pitchFamily="18" charset="0"/>
                <a:sym typeface="+mn-ea"/>
              </a:rPr>
              <a:t>b</a:t>
            </a:r>
            <a:r>
              <a:rPr lang="en-US" sz="2800" i="1" spc="-7" baseline="-12000" dirty="0" smtClean="0">
                <a:latin typeface="Times New Roman" panose="02020603050405020304" pitchFamily="18" charset="0"/>
                <a:cs typeface="Times New Roman" panose="02020603050405020304" pitchFamily="18" charset="0"/>
                <a:sym typeface="+mn-ea"/>
              </a:rPr>
              <a:t>i</a:t>
            </a:r>
            <a:r>
              <a:rPr lang="en-US" sz="2800" i="1" spc="-135" baseline="-12000" dirty="0" smtClean="0">
                <a:latin typeface="Times New Roman" panose="02020603050405020304" pitchFamily="18" charset="0"/>
                <a:cs typeface="Times New Roman" panose="02020603050405020304" pitchFamily="18" charset="0"/>
                <a:sym typeface="+mn-ea"/>
              </a:rPr>
              <a:t> </a:t>
            </a:r>
            <a:r>
              <a:rPr lang="en-US" sz="2800" b="1" spc="-5" dirty="0" smtClean="0">
                <a:latin typeface="Times New Roman" panose="02020603050405020304" pitchFamily="18" charset="0"/>
                <a:cs typeface="Times New Roman" panose="02020603050405020304" pitchFamily="18" charset="0"/>
                <a:sym typeface="+mn-ea"/>
              </a:rPr>
              <a:t>), </a:t>
            </a:r>
            <a:r>
              <a:rPr lang="en-US" sz="2800" b="1" spc="-10" dirty="0" smtClean="0">
                <a:latin typeface="Times New Roman" panose="02020603050405020304" pitchFamily="18" charset="0"/>
                <a:cs typeface="Times New Roman" panose="02020603050405020304" pitchFamily="18" charset="0"/>
                <a:sym typeface="+mn-ea"/>
              </a:rPr>
              <a:t>1</a:t>
            </a:r>
            <a:r>
              <a:rPr lang="en-US" sz="2800" b="1" spc="-5" dirty="0" smtClean="0">
                <a:latin typeface="Times New Roman" panose="02020603050405020304" pitchFamily="18" charset="0"/>
                <a:cs typeface="Times New Roman" panose="02020603050405020304" pitchFamily="18" charset="0"/>
                <a:sym typeface="+mn-ea"/>
              </a:rPr>
              <a:t> </a:t>
            </a:r>
            <a:r>
              <a:rPr lang="en-US" sz="2800" spc="-25"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n-US" sz="2800" b="1" spc="-5" dirty="0" err="1" smtClean="0">
                <a:latin typeface="Times New Roman" panose="02020603050405020304" pitchFamily="18" charset="0"/>
                <a:cs typeface="Times New Roman" panose="02020603050405020304" pitchFamily="18" charset="0"/>
                <a:sym typeface="+mn-ea"/>
              </a:rPr>
              <a:t>i</a:t>
            </a:r>
            <a:r>
              <a:rPr lang="en-US" sz="2800" b="1" spc="-5" dirty="0" smtClean="0">
                <a:latin typeface="Times New Roman" panose="02020603050405020304" pitchFamily="18" charset="0"/>
                <a:cs typeface="Times New Roman" panose="02020603050405020304" pitchFamily="18" charset="0"/>
                <a:sym typeface="+mn-ea"/>
              </a:rPr>
              <a:t> </a:t>
            </a:r>
            <a:r>
              <a:rPr lang="en-US" sz="2800" spc="-25"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n-US" sz="2800" b="1" spc="-10" dirty="0" smtClean="0">
                <a:latin typeface="Times New Roman" panose="02020603050405020304" pitchFamily="18" charset="0"/>
                <a:cs typeface="Times New Roman" panose="02020603050405020304" pitchFamily="18" charset="0"/>
                <a:sym typeface="+mn-ea"/>
              </a:rPr>
              <a:t>n</a:t>
            </a:r>
            <a:endParaRPr lang="en-US" sz="2800" b="1" spc="-1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i="1" spc="-10" dirty="0" smtClean="0">
                <a:latin typeface="Times New Roman" panose="02020603050405020304" pitchFamily="18" charset="0"/>
                <a:cs typeface="Times New Roman" panose="02020603050405020304" pitchFamily="18" charset="0"/>
                <a:sym typeface="+mn-ea"/>
              </a:rPr>
              <a:t>R</a:t>
            </a:r>
            <a:r>
              <a:rPr lang="en-US" sz="2800" spc="-7" baseline="-12000" dirty="0" smtClean="0">
                <a:latin typeface="Times New Roman" panose="02020603050405020304" pitchFamily="18" charset="0"/>
                <a:cs typeface="Times New Roman" panose="02020603050405020304" pitchFamily="18" charset="0"/>
                <a:sym typeface="+mn-ea"/>
              </a:rPr>
              <a:t>1 </a:t>
            </a:r>
            <a:r>
              <a:rPr lang="en-US" sz="2800" spc="-97" baseline="-12000" dirty="0" smtClean="0">
                <a:latin typeface="Times New Roman" panose="02020603050405020304" pitchFamily="18" charset="0"/>
                <a:cs typeface="Times New Roman" panose="02020603050405020304" pitchFamily="18" charset="0"/>
                <a:sym typeface="+mn-ea"/>
              </a:rPr>
              <a:t> </a:t>
            </a:r>
            <a:r>
              <a:rPr lang="en-US" sz="2800" spc="-140"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n-US" sz="2800" i="1" spc="-10" dirty="0" smtClean="0">
                <a:latin typeface="Times New Roman" panose="02020603050405020304" pitchFamily="18" charset="0"/>
                <a:cs typeface="Times New Roman" panose="02020603050405020304" pitchFamily="18" charset="0"/>
                <a:sym typeface="+mn-ea"/>
              </a:rPr>
              <a:t>R</a:t>
            </a:r>
            <a:r>
              <a:rPr lang="en-US" sz="2800" spc="-7" baseline="-12000" dirty="0" smtClean="0">
                <a:latin typeface="Times New Roman" panose="02020603050405020304" pitchFamily="18" charset="0"/>
                <a:cs typeface="Times New Roman" panose="02020603050405020304" pitchFamily="18" charset="0"/>
                <a:sym typeface="+mn-ea"/>
              </a:rPr>
              <a:t>2</a:t>
            </a:r>
            <a:r>
              <a:rPr lang="en-US" sz="2800" baseline="-12000" dirty="0" smtClean="0">
                <a:latin typeface="Times New Roman" panose="02020603050405020304" pitchFamily="18" charset="0"/>
                <a:cs typeface="Times New Roman" panose="02020603050405020304" pitchFamily="18" charset="0"/>
                <a:sym typeface="+mn-ea"/>
              </a:rPr>
              <a:t> </a:t>
            </a:r>
            <a:r>
              <a:rPr lang="en-US" sz="2800" spc="-97" baseline="-1200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is </a:t>
            </a:r>
            <a:r>
              <a:rPr lang="en-US" sz="2800" spc="-10" dirty="0" smtClean="0">
                <a:latin typeface="Times New Roman" panose="02020603050405020304" pitchFamily="18" charset="0"/>
                <a:cs typeface="Times New Roman" panose="02020603050405020304" pitchFamily="18" charset="0"/>
                <a:sym typeface="+mn-ea"/>
              </a:rPr>
              <a:t>a</a:t>
            </a:r>
            <a:r>
              <a:rPr lang="en-US" sz="2800" spc="-5" dirty="0" smtClean="0">
                <a:latin typeface="Times New Roman" panose="02020603050405020304" pitchFamily="18" charset="0"/>
                <a:cs typeface="Times New Roman" panose="02020603050405020304" pitchFamily="18" charset="0"/>
                <a:sym typeface="+mn-ea"/>
              </a:rPr>
              <a:t> relation that includes all tuples that are either present in </a:t>
            </a:r>
            <a:r>
              <a:rPr lang="en-US" sz="2800" i="1" spc="-10" dirty="0" smtClean="0">
                <a:latin typeface="Times New Roman" panose="02020603050405020304" pitchFamily="18" charset="0"/>
                <a:cs typeface="Times New Roman" panose="02020603050405020304" pitchFamily="18" charset="0"/>
                <a:sym typeface="+mn-ea"/>
              </a:rPr>
              <a:t>R</a:t>
            </a:r>
            <a:r>
              <a:rPr lang="en-US" sz="2800" spc="-7" baseline="-12000" dirty="0" smtClean="0">
                <a:latin typeface="Times New Roman" panose="02020603050405020304" pitchFamily="18" charset="0"/>
                <a:cs typeface="Times New Roman" panose="02020603050405020304" pitchFamily="18" charset="0"/>
                <a:sym typeface="+mn-ea"/>
              </a:rPr>
              <a:t>1</a:t>
            </a:r>
            <a:r>
              <a:rPr lang="en-US" sz="2800" baseline="-12000" dirty="0" smtClean="0">
                <a:latin typeface="Times New Roman" panose="02020603050405020304" pitchFamily="18" charset="0"/>
                <a:cs typeface="Times New Roman" panose="02020603050405020304" pitchFamily="18" charset="0"/>
                <a:sym typeface="+mn-ea"/>
              </a:rPr>
              <a:t> </a:t>
            </a:r>
            <a:r>
              <a:rPr lang="en-US" sz="2800" spc="-97" baseline="-1200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or </a:t>
            </a:r>
            <a:r>
              <a:rPr lang="en-US" sz="2800" i="1" spc="-10" dirty="0" smtClean="0">
                <a:latin typeface="Times New Roman" panose="02020603050405020304" pitchFamily="18" charset="0"/>
                <a:cs typeface="Times New Roman" panose="02020603050405020304" pitchFamily="18" charset="0"/>
                <a:sym typeface="+mn-ea"/>
              </a:rPr>
              <a:t>R</a:t>
            </a:r>
            <a:r>
              <a:rPr lang="en-US" sz="2800" spc="-7" baseline="-12000" dirty="0" smtClean="0">
                <a:latin typeface="Times New Roman" panose="02020603050405020304" pitchFamily="18" charset="0"/>
                <a:cs typeface="Times New Roman" panose="02020603050405020304" pitchFamily="18" charset="0"/>
                <a:sym typeface="+mn-ea"/>
              </a:rPr>
              <a:t>2</a:t>
            </a:r>
            <a:r>
              <a:rPr lang="en-US" sz="2800" baseline="-12000" dirty="0" smtClean="0">
                <a:latin typeface="Times New Roman" panose="02020603050405020304" pitchFamily="18" charset="0"/>
                <a:cs typeface="Times New Roman" panose="02020603050405020304" pitchFamily="18" charset="0"/>
                <a:sym typeface="+mn-ea"/>
              </a:rPr>
              <a:t> </a:t>
            </a:r>
            <a:r>
              <a:rPr lang="en-US" sz="2800" spc="-97" baseline="-1200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or in both without duplicate tuples.</a:t>
            </a:r>
            <a:endParaRPr lang="en-US" sz="2800"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In other words, R3 will have tuples such that R3 = {t | R1     t v R2     t}</a:t>
            </a:r>
            <a:endParaRPr lang="en-US" sz="2800" spc="-5"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z="2800" spc="-5" dirty="0" smtClean="0">
                <a:latin typeface="Arial" panose="020B0604020202020204"/>
                <a:cs typeface="Arial" panose="020B0604020202020204"/>
                <a:sym typeface="+mn-ea"/>
              </a:rPr>
              <a:t>			</a:t>
            </a:r>
            <a:endParaRPr lang="en-US" sz="280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sz="2800" dirty="0" smtClean="0">
              <a:latin typeface="Times New Roman" panose="02020603050405020304" pitchFamily="18" charset="0"/>
              <a:cs typeface="Times New Roman" panose="02020603050405020304" pitchFamily="18" charset="0"/>
            </a:endParaRPr>
          </a:p>
          <a:p>
            <a:pPr marL="342900" indent="-342900" algn="just">
              <a:lnSpc>
                <a:spcPct val="150000"/>
              </a:lnSpc>
              <a:spcBef>
                <a:spcPct val="20000"/>
              </a:spcBef>
              <a:buFont typeface="Wingdings" panose="05000000000000000000" pitchFamily="2" charset="2"/>
              <a:buChar char="Ø"/>
              <a:defRPr/>
            </a:pPr>
            <a:endParaRPr lang="en-US" sz="2800" spc="-130" dirty="0" smtClean="0">
              <a:latin typeface="Arial" panose="020B0604020202020204"/>
              <a:cs typeface="Arial" panose="020B0604020202020204"/>
            </a:endParaRPr>
          </a:p>
          <a:p>
            <a:pPr marL="342900" indent="-342900" algn="just">
              <a:lnSpc>
                <a:spcPct val="150000"/>
              </a:lnSpc>
              <a:spcBef>
                <a:spcPct val="20000"/>
              </a:spcBef>
              <a:buFont typeface="Wingdings" panose="05000000000000000000" pitchFamily="2" charset="2"/>
              <a:buChar char="Ø"/>
              <a:defRPr/>
            </a:pPr>
            <a:endParaRPr lang="en-US" sz="2800" spc="-130" dirty="0" smtClean="0">
              <a:latin typeface="Arial" panose="020B0604020202020204"/>
              <a:cs typeface="Arial" panose="020B0604020202020204"/>
            </a:endParaRPr>
          </a:p>
          <a:p>
            <a:pPr marL="342900" indent="-342900" algn="just">
              <a:lnSpc>
                <a:spcPct val="150000"/>
              </a:lnSpc>
              <a:spcBef>
                <a:spcPct val="20000"/>
              </a:spcBef>
              <a:buFont typeface="Wingdings" panose="05000000000000000000" pitchFamily="2" charset="2"/>
              <a:buChar char="Ø"/>
              <a:defRPr/>
            </a:pPr>
            <a:endParaRPr lang="en-US" sz="2800" spc="-125" dirty="0" smtClean="0">
              <a:latin typeface="Arial" panose="020B0604020202020204"/>
              <a:cs typeface="Arial" panose="020B0604020202020204"/>
            </a:endParaRPr>
          </a:p>
          <a:p>
            <a:pPr marL="0" indent="0" algn="just">
              <a:lnSpc>
                <a:spcPct val="150000"/>
              </a:lnSpc>
              <a:spcBef>
                <a:spcPct val="20000"/>
              </a:spcBef>
              <a:buFont typeface="Wingdings" panose="05000000000000000000" pitchFamily="2" charset="2"/>
              <a:buNone/>
              <a:defRPr/>
            </a:pPr>
            <a:r>
              <a:rPr lang="en-US" sz="2800" spc="-125" dirty="0" smtClean="0">
                <a:latin typeface="Arial" panose="020B0604020202020204"/>
                <a:cs typeface="Arial" panose="020B0604020202020204"/>
                <a:sym typeface="+mn-ea"/>
              </a:rPr>
              <a:t>Q.Find the name of the customer who have loan or an account or both</a:t>
            </a:r>
            <a:endParaRPr lang="en-US" sz="2800" spc="-125" dirty="0" smtClean="0">
              <a:latin typeface="Arial" panose="020B0604020202020204"/>
              <a:cs typeface="Arial" panose="020B0604020202020204"/>
            </a:endParaRPr>
          </a:p>
          <a:p>
            <a:pPr marL="342900" indent="-342900" algn="just">
              <a:lnSpc>
                <a:spcPct val="150000"/>
              </a:lnSpc>
              <a:spcBef>
                <a:spcPct val="20000"/>
              </a:spcBef>
              <a:buFont typeface="Wingdings" panose="05000000000000000000" pitchFamily="2" charset="2"/>
              <a:buChar char="Ø"/>
              <a:defRPr/>
            </a:pPr>
            <a:r>
              <a:rPr lang="en-US" sz="2800" spc="-125" dirty="0" smtClean="0">
                <a:latin typeface="Arial" panose="020B0604020202020204"/>
                <a:cs typeface="Arial" panose="020B0604020202020204"/>
                <a:sym typeface="+mn-ea"/>
              </a:rPr>
              <a:t>π</a:t>
            </a:r>
            <a:r>
              <a:rPr lang="en-US" sz="2800" spc="30" dirty="0" smtClean="0">
                <a:latin typeface="Arial" panose="020B0604020202020204"/>
                <a:cs typeface="Arial" panose="020B0604020202020204"/>
                <a:sym typeface="+mn-ea"/>
              </a:rPr>
              <a:t> </a:t>
            </a:r>
            <a:r>
              <a:rPr lang="en-US" sz="2800" i="1" spc="-7" baseline="-12000" dirty="0" err="1" smtClean="0">
                <a:latin typeface="Arial" panose="020B0604020202020204"/>
                <a:cs typeface="Arial" panose="020B0604020202020204"/>
                <a:sym typeface="+mn-ea"/>
              </a:rPr>
              <a:t>cust</a:t>
            </a:r>
            <a:r>
              <a:rPr lang="en-US" sz="2800" i="1" spc="-202" baseline="-12000" dirty="0" smtClean="0">
                <a:latin typeface="Arial" panose="020B0604020202020204"/>
                <a:cs typeface="Arial" panose="020B0604020202020204"/>
                <a:sym typeface="+mn-ea"/>
              </a:rPr>
              <a:t> </a:t>
            </a:r>
            <a:r>
              <a:rPr lang="en-US" sz="2800" spc="-7" baseline="-12000" dirty="0" smtClean="0">
                <a:latin typeface="Arial" panose="020B0604020202020204"/>
                <a:cs typeface="Arial" panose="020B0604020202020204"/>
                <a:sym typeface="+mn-ea"/>
              </a:rPr>
              <a:t>_</a:t>
            </a:r>
            <a:r>
              <a:rPr lang="en-US" sz="2800" i="1" spc="-7" baseline="-12000" dirty="0" smtClean="0">
                <a:latin typeface="Arial" panose="020B0604020202020204"/>
                <a:cs typeface="Arial" panose="020B0604020202020204"/>
                <a:sym typeface="+mn-ea"/>
              </a:rPr>
              <a:t>name</a:t>
            </a:r>
            <a:r>
              <a:rPr lang="en-US" sz="2800" i="1" baseline="-12000" dirty="0" smtClean="0">
                <a:latin typeface="Arial" panose="020B0604020202020204"/>
                <a:cs typeface="Arial" panose="020B0604020202020204"/>
                <a:sym typeface="+mn-ea"/>
              </a:rPr>
              <a:t> </a:t>
            </a:r>
            <a:r>
              <a:rPr lang="en-US" sz="2800" i="1" spc="-75" baseline="-12000" dirty="0" smtClean="0">
                <a:latin typeface="Arial" panose="020B0604020202020204"/>
                <a:cs typeface="Arial" panose="020B0604020202020204"/>
                <a:sym typeface="+mn-ea"/>
              </a:rPr>
              <a:t> </a:t>
            </a:r>
            <a:r>
              <a:rPr lang="en-US" sz="2800" spc="-5" dirty="0" smtClean="0">
                <a:latin typeface="Arial" panose="020B0604020202020204"/>
                <a:cs typeface="Arial" panose="020B0604020202020204"/>
                <a:sym typeface="+mn-ea"/>
              </a:rPr>
              <a:t>(Depositor) </a:t>
            </a:r>
            <a:r>
              <a:rPr lang="en-US" sz="2800" spc="-140" dirty="0" smtClean="0">
                <a:latin typeface="Lucida Sans Unicode" panose="020B0602030504020204"/>
                <a:cs typeface="Lucida Sans Unicode" panose="020B0602030504020204"/>
                <a:sym typeface="+mn-ea"/>
              </a:rPr>
              <a:t>∪</a:t>
            </a:r>
            <a:r>
              <a:rPr lang="en-US" sz="2800" spc="-40" dirty="0" smtClean="0">
                <a:latin typeface="Lucida Sans Unicode" panose="020B0602030504020204"/>
                <a:cs typeface="Lucida Sans Unicode" panose="020B0602030504020204"/>
                <a:sym typeface="+mn-ea"/>
              </a:rPr>
              <a:t> </a:t>
            </a:r>
            <a:r>
              <a:rPr lang="en-US" sz="2800" spc="-125" dirty="0" smtClean="0">
                <a:latin typeface="Arial" panose="020B0604020202020204"/>
                <a:cs typeface="Arial" panose="020B0604020202020204"/>
                <a:sym typeface="+mn-ea"/>
              </a:rPr>
              <a:t>π</a:t>
            </a:r>
            <a:r>
              <a:rPr lang="en-US" sz="2800" spc="30" dirty="0" smtClean="0">
                <a:latin typeface="Arial" panose="020B0604020202020204"/>
                <a:cs typeface="Arial" panose="020B0604020202020204"/>
                <a:sym typeface="+mn-ea"/>
              </a:rPr>
              <a:t> </a:t>
            </a:r>
            <a:r>
              <a:rPr lang="en-US" sz="2800" i="1" spc="-7" baseline="-12000" dirty="0" err="1" smtClean="0">
                <a:latin typeface="Arial" panose="020B0604020202020204"/>
                <a:cs typeface="Arial" panose="020B0604020202020204"/>
                <a:sym typeface="+mn-ea"/>
              </a:rPr>
              <a:t>cust</a:t>
            </a:r>
            <a:r>
              <a:rPr lang="en-US" sz="2800" i="1" spc="-202" baseline="-12000" dirty="0" smtClean="0">
                <a:latin typeface="Arial" panose="020B0604020202020204"/>
                <a:cs typeface="Arial" panose="020B0604020202020204"/>
                <a:sym typeface="+mn-ea"/>
              </a:rPr>
              <a:t> </a:t>
            </a:r>
            <a:r>
              <a:rPr lang="en-US" sz="2800" spc="-7" baseline="-12000" dirty="0" smtClean="0">
                <a:latin typeface="Arial" panose="020B0604020202020204"/>
                <a:cs typeface="Arial" panose="020B0604020202020204"/>
                <a:sym typeface="+mn-ea"/>
              </a:rPr>
              <a:t>_</a:t>
            </a:r>
            <a:r>
              <a:rPr lang="en-US" sz="2800" i="1" spc="-7" baseline="-12000" dirty="0" smtClean="0">
                <a:latin typeface="Arial" panose="020B0604020202020204"/>
                <a:cs typeface="Arial" panose="020B0604020202020204"/>
                <a:sym typeface="+mn-ea"/>
              </a:rPr>
              <a:t>name</a:t>
            </a:r>
            <a:r>
              <a:rPr lang="en-US" sz="2800" i="1" baseline="-12000" dirty="0" smtClean="0">
                <a:latin typeface="Arial" panose="020B0604020202020204"/>
                <a:cs typeface="Arial" panose="020B0604020202020204"/>
                <a:sym typeface="+mn-ea"/>
              </a:rPr>
              <a:t> </a:t>
            </a:r>
            <a:r>
              <a:rPr lang="en-US" sz="2800" i="1" spc="-75" baseline="-12000" dirty="0" smtClean="0">
                <a:latin typeface="Arial" panose="020B0604020202020204"/>
                <a:cs typeface="Arial" panose="020B0604020202020204"/>
                <a:sym typeface="+mn-ea"/>
              </a:rPr>
              <a:t> </a:t>
            </a:r>
            <a:r>
              <a:rPr lang="en-US" sz="2800" spc="-5" dirty="0" smtClean="0">
                <a:latin typeface="Arial" panose="020B0604020202020204"/>
                <a:cs typeface="Arial" panose="020B0604020202020204"/>
                <a:sym typeface="+mn-ea"/>
              </a:rPr>
              <a:t>(Borr</a:t>
            </a:r>
            <a:r>
              <a:rPr lang="en-US" sz="2800" spc="-25" dirty="0" smtClean="0">
                <a:latin typeface="Arial" panose="020B0604020202020204"/>
                <a:cs typeface="Arial" panose="020B0604020202020204"/>
                <a:sym typeface="+mn-ea"/>
              </a:rPr>
              <a:t>o</a:t>
            </a:r>
            <a:r>
              <a:rPr lang="en-US" sz="2800" spc="-20" dirty="0" smtClean="0">
                <a:latin typeface="Arial" panose="020B0604020202020204"/>
                <a:cs typeface="Arial" panose="020B0604020202020204"/>
                <a:sym typeface="+mn-ea"/>
              </a:rPr>
              <a:t>w</a:t>
            </a:r>
            <a:r>
              <a:rPr lang="en-US" sz="2800" spc="-5" dirty="0" smtClean="0">
                <a:latin typeface="Arial" panose="020B0604020202020204"/>
                <a:cs typeface="Arial" panose="020B0604020202020204"/>
                <a:sym typeface="+mn-ea"/>
              </a:rPr>
              <a:t>er)</a:t>
            </a:r>
            <a:endParaRPr lang="en-US" sz="2800" dirty="0" smtClean="0">
              <a:latin typeface="Arial" panose="020B0604020202020204"/>
              <a:cs typeface="Arial" panose="020B0604020202020204"/>
            </a:endParaRPr>
          </a:p>
          <a:p>
            <a:pPr marL="342900" indent="-342900" algn="just">
              <a:lnSpc>
                <a:spcPct val="150000"/>
              </a:lnSpc>
              <a:spcBef>
                <a:spcPct val="20000"/>
              </a:spcBef>
              <a:buFont typeface="Wingdings" panose="05000000000000000000" pitchFamily="2" charset="2"/>
              <a:buChar char="Ø"/>
              <a:defRPr/>
            </a:pPr>
            <a:endParaRPr lang="en-US" sz="2800" spc="-130" dirty="0" smtClean="0">
              <a:latin typeface="Arial" panose="020B0604020202020204"/>
              <a:cs typeface="Arial" panose="020B0604020202020204"/>
            </a:endParaRPr>
          </a:p>
          <a:p>
            <a:endParaRPr lang="en-US"/>
          </a:p>
        </p:txBody>
      </p:sp>
      <p:pic>
        <p:nvPicPr>
          <p:cNvPr id="1026" name="Picture 2" descr="C:\Users\nEW u\Desktop\111.png"/>
          <p:cNvPicPr>
            <a:picLocks noChangeAspect="1" noChangeArrowheads="1"/>
          </p:cNvPicPr>
          <p:nvPr/>
        </p:nvPicPr>
        <p:blipFill>
          <a:blip r:embed="rId1"/>
          <a:srcRect/>
          <a:stretch>
            <a:fillRect/>
          </a:stretch>
        </p:blipFill>
        <p:spPr bwMode="auto">
          <a:xfrm>
            <a:off x="2938406" y="3296291"/>
            <a:ext cx="3864066" cy="1635128"/>
          </a:xfrm>
          <a:prstGeom prst="rect">
            <a:avLst/>
          </a:prstGeom>
          <a:noFill/>
        </p:spPr>
      </p:pic>
      <p:pic>
        <p:nvPicPr>
          <p:cNvPr id="1027" name="Picture 3" descr="C:\Users\nEW u\Desktop\222.png"/>
          <p:cNvPicPr>
            <a:picLocks noChangeAspect="1" noChangeArrowheads="1"/>
          </p:cNvPicPr>
          <p:nvPr/>
        </p:nvPicPr>
        <p:blipFill>
          <a:blip r:embed="rId2"/>
          <a:srcRect/>
          <a:stretch>
            <a:fillRect/>
          </a:stretch>
        </p:blipFill>
        <p:spPr bwMode="auto">
          <a:xfrm>
            <a:off x="7218045" y="4998720"/>
            <a:ext cx="1100455" cy="117856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UNION Operator (∪): Rules</a:t>
            </a:r>
            <a:endParaRPr lang="en-US"/>
          </a:p>
        </p:txBody>
      </p:sp>
      <p:sp>
        <p:nvSpPr>
          <p:cNvPr id="3" name="Content Placeholder 2"/>
          <p:cNvSpPr>
            <a:spLocks noGrp="1"/>
          </p:cNvSpPr>
          <p:nvPr>
            <p:ph idx="1"/>
          </p:nvPr>
        </p:nvSpPr>
        <p:spPr/>
        <p:txBody>
          <a:bodyPr>
            <a:normAutofit fontScale="90000" lnSpcReduction="10000"/>
          </a:bodyPr>
          <a:p>
            <a:pPr marL="0" indent="0" algn="just">
              <a:lnSpc>
                <a:spcPct val="150000"/>
              </a:lnSpc>
              <a:spcBef>
                <a:spcPct val="20000"/>
              </a:spcBef>
              <a:buNone/>
              <a:defRPr/>
            </a:pPr>
            <a:r>
              <a:rPr lang="en-US" b="1" dirty="0" smtClean="0">
                <a:sym typeface="+mn-ea"/>
              </a:rPr>
              <a:t>Conditions;</a:t>
            </a:r>
            <a:endParaRPr lang="en-US" b="1" dirty="0" smtClean="0"/>
          </a:p>
          <a:p>
            <a:pPr marL="342900" indent="-342900" algn="just">
              <a:lnSpc>
                <a:spcPct val="150000"/>
              </a:lnSpc>
              <a:spcBef>
                <a:spcPct val="20000"/>
              </a:spcBef>
              <a:buFont typeface="Wingdings" panose="05000000000000000000" pitchFamily="2" charset="2"/>
              <a:buChar char="Ø"/>
              <a:defRPr/>
            </a:pPr>
            <a:r>
              <a:rPr lang="en-US" dirty="0" smtClean="0">
                <a:sym typeface="+mn-ea"/>
              </a:rPr>
              <a:t>Duplicate </a:t>
            </a:r>
            <a:r>
              <a:rPr lang="en-US" dirty="0" err="1" smtClean="0">
                <a:sym typeface="+mn-ea"/>
              </a:rPr>
              <a:t>tuples</a:t>
            </a:r>
            <a:r>
              <a:rPr lang="en-US" dirty="0" smtClean="0">
                <a:sym typeface="+mn-ea"/>
              </a:rPr>
              <a:t> are eliminated automatically.</a:t>
            </a:r>
            <a:endParaRPr lang="en-US" dirty="0" smtClean="0"/>
          </a:p>
          <a:p>
            <a:pPr marL="342900" indent="-342900" algn="just">
              <a:lnSpc>
                <a:spcPct val="150000"/>
              </a:lnSpc>
              <a:spcBef>
                <a:spcPct val="20000"/>
              </a:spcBef>
              <a:buFont typeface="Wingdings" panose="05000000000000000000" pitchFamily="2" charset="2"/>
              <a:buChar char="Ø"/>
              <a:defRPr/>
            </a:pPr>
            <a:r>
              <a:rPr lang="en-US" dirty="0" smtClean="0">
                <a:sym typeface="+mn-ea"/>
              </a:rPr>
              <a:t>R and S must have the attribute of the same number.</a:t>
            </a:r>
            <a:endParaRPr lang="en-US" dirty="0" smtClean="0"/>
          </a:p>
          <a:p>
            <a:pPr marL="342900" indent="-342900" algn="just">
              <a:lnSpc>
                <a:spcPct val="150000"/>
              </a:lnSpc>
              <a:spcBef>
                <a:spcPct val="20000"/>
              </a:spcBef>
              <a:defRPr/>
            </a:pPr>
            <a:endParaRPr lang="en-US" spc="-130" dirty="0" smtClean="0">
              <a:latin typeface="Times New Roman" panose="02020603050405020304" pitchFamily="18" charset="0"/>
              <a:cs typeface="Times New Roman" panose="02020603050405020304" pitchFamily="18" charset="0"/>
            </a:endParaRPr>
          </a:p>
          <a:p>
            <a:pPr marL="342900" indent="-342900" algn="just">
              <a:lnSpc>
                <a:spcPct val="150000"/>
              </a:lnSpc>
              <a:spcBef>
                <a:spcPct val="20000"/>
              </a:spcBef>
              <a:buFont typeface="Wingdings" panose="05000000000000000000" pitchFamily="2" charset="2"/>
              <a:buChar char="Ø"/>
              <a:defRPr/>
            </a:pPr>
            <a:r>
              <a:rPr lang="en-US" spc="-130" dirty="0" smtClean="0">
                <a:latin typeface="Times New Roman" panose="02020603050405020304" pitchFamily="18" charset="0"/>
                <a:cs typeface="Times New Roman" panose="02020603050405020304" pitchFamily="18" charset="0"/>
                <a:sym typeface="+mn-ea"/>
              </a:rPr>
              <a:t>Note: 1) Union is a commutative operation, i.e, R U S = S U R.</a:t>
            </a:r>
            <a:endParaRPr lang="en-US" spc="-130" dirty="0" smtClean="0">
              <a:latin typeface="Times New Roman" panose="02020603050405020304" pitchFamily="18" charset="0"/>
              <a:cs typeface="Times New Roman" panose="02020603050405020304" pitchFamily="18" charset="0"/>
            </a:endParaRPr>
          </a:p>
          <a:p>
            <a:pPr marL="342900" indent="-342900" algn="just">
              <a:lnSpc>
                <a:spcPct val="150000"/>
              </a:lnSpc>
              <a:spcBef>
                <a:spcPct val="20000"/>
              </a:spcBef>
              <a:buFont typeface="Wingdings" panose="05000000000000000000" pitchFamily="2" charset="2"/>
              <a:buChar char="Ø"/>
              <a:defRPr/>
            </a:pPr>
            <a:endParaRPr lang="en-US" spc="-130" dirty="0" smtClean="0">
              <a:latin typeface="Times New Roman" panose="02020603050405020304" pitchFamily="18" charset="0"/>
              <a:cs typeface="Times New Roman" panose="02020603050405020304" pitchFamily="18" charset="0"/>
            </a:endParaRPr>
          </a:p>
          <a:p>
            <a:pPr marL="342900" indent="-342900" algn="just">
              <a:lnSpc>
                <a:spcPct val="150000"/>
              </a:lnSpc>
              <a:spcBef>
                <a:spcPct val="20000"/>
              </a:spcBef>
              <a:buFont typeface="Wingdings" panose="05000000000000000000" pitchFamily="2" charset="2"/>
              <a:buChar char="Ø"/>
              <a:defRPr/>
            </a:pPr>
            <a:r>
              <a:rPr lang="en-US" spc="-130" dirty="0" smtClean="0">
                <a:latin typeface="Times New Roman" panose="02020603050405020304" pitchFamily="18" charset="0"/>
                <a:cs typeface="Times New Roman" panose="02020603050405020304" pitchFamily="18" charset="0"/>
                <a:sym typeface="+mn-ea"/>
              </a:rPr>
              <a:t>2) Union is an associative operation, i.e. R U (S U T) = (R U S) U T.</a:t>
            </a:r>
            <a:endParaRPr lang="en-US" spc="-13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DIFFERENCE Operator(-)</a:t>
            </a:r>
            <a:endParaRPr lang="en-US"/>
          </a:p>
        </p:txBody>
      </p:sp>
      <p:sp>
        <p:nvSpPr>
          <p:cNvPr id="3" name="Content Placeholder 2"/>
          <p:cNvSpPr>
            <a:spLocks noGrp="1"/>
          </p:cNvSpPr>
          <p:nvPr>
            <p:ph idx="1"/>
          </p:nvPr>
        </p:nvSpPr>
        <p:spPr/>
        <p:txBody>
          <a:bodyPr>
            <a:normAutofit fontScale="70000"/>
          </a:bodyPr>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sym typeface="+mn-ea"/>
              </a:rPr>
              <a:t>The difference operation is used to identify the rows that are in one relation and not in another. It is denoted as (-) symbol. The difference of two relations R1(a1,a2,... an ) and R2(b1,b2,... </a:t>
            </a:r>
            <a:r>
              <a:rPr lang="en-US" spc="-5" dirty="0" err="1" smtClean="0">
                <a:latin typeface="Times New Roman" panose="02020603050405020304" pitchFamily="18" charset="0"/>
                <a:cs typeface="Times New Roman" panose="02020603050405020304" pitchFamily="18" charset="0"/>
                <a:sym typeface="+mn-ea"/>
              </a:rPr>
              <a:t>bn</a:t>
            </a:r>
            <a:r>
              <a:rPr lang="en-US" spc="-5" dirty="0" smtClean="0">
                <a:latin typeface="Times New Roman" panose="02020603050405020304" pitchFamily="18" charset="0"/>
                <a:cs typeface="Times New Roman" panose="02020603050405020304" pitchFamily="18" charset="0"/>
                <a:sym typeface="+mn-ea"/>
              </a:rPr>
              <a:t> ) is a relation R3  (c1,c2,... </a:t>
            </a:r>
            <a:r>
              <a:rPr lang="en-US" spc="-5" dirty="0" err="1" smtClean="0">
                <a:latin typeface="Times New Roman" panose="02020603050405020304" pitchFamily="18" charset="0"/>
                <a:cs typeface="Times New Roman" panose="02020603050405020304" pitchFamily="18" charset="0"/>
                <a:sym typeface="+mn-ea"/>
              </a:rPr>
              <a:t>cn</a:t>
            </a:r>
            <a:r>
              <a:rPr lang="en-US" spc="-5" dirty="0" smtClean="0">
                <a:latin typeface="Times New Roman" panose="02020603050405020304" pitchFamily="18" charset="0"/>
                <a:cs typeface="Times New Roman" panose="02020603050405020304" pitchFamily="18" charset="0"/>
                <a:sym typeface="+mn-ea"/>
              </a:rPr>
              <a:t> ) such that:</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pc="-5" dirty="0" smtClean="0">
                <a:latin typeface="Times New Roman" panose="02020603050405020304" pitchFamily="18" charset="0"/>
                <a:cs typeface="Times New Roman" panose="02020603050405020304" pitchFamily="18" charset="0"/>
                <a:sym typeface="+mn-ea"/>
              </a:rPr>
              <a:t>			</a:t>
            </a:r>
            <a:r>
              <a:rPr lang="en-US" b="1" spc="-5" dirty="0" err="1" smtClean="0">
                <a:latin typeface="Times New Roman" panose="02020603050405020304" pitchFamily="18" charset="0"/>
                <a:cs typeface="Times New Roman" panose="02020603050405020304" pitchFamily="18" charset="0"/>
                <a:sym typeface="+mn-ea"/>
              </a:rPr>
              <a:t>dom</a:t>
            </a:r>
            <a:r>
              <a:rPr lang="en-US" b="1" spc="-5" dirty="0" smtClean="0">
                <a:latin typeface="Times New Roman" panose="02020603050405020304" pitchFamily="18" charset="0"/>
                <a:cs typeface="Times New Roman" panose="02020603050405020304" pitchFamily="18" charset="0"/>
                <a:sym typeface="+mn-ea"/>
              </a:rPr>
              <a:t>(</a:t>
            </a:r>
            <a:r>
              <a:rPr lang="en-US" b="1" spc="-5" dirty="0" err="1" smtClean="0">
                <a:latin typeface="Times New Roman" panose="02020603050405020304" pitchFamily="18" charset="0"/>
                <a:cs typeface="Times New Roman" panose="02020603050405020304" pitchFamily="18" charset="0"/>
                <a:sym typeface="+mn-ea"/>
              </a:rPr>
              <a:t>ci</a:t>
            </a:r>
            <a:r>
              <a:rPr lang="en-US" b="1" spc="-5" dirty="0" smtClean="0">
                <a:latin typeface="Times New Roman" panose="02020603050405020304" pitchFamily="18" charset="0"/>
                <a:cs typeface="Times New Roman" panose="02020603050405020304" pitchFamily="18" charset="0"/>
                <a:sym typeface="+mn-ea"/>
              </a:rPr>
              <a:t> ) = </a:t>
            </a:r>
            <a:r>
              <a:rPr lang="en-US" b="1" spc="-5" dirty="0" err="1" smtClean="0">
                <a:latin typeface="Times New Roman" panose="02020603050405020304" pitchFamily="18" charset="0"/>
                <a:cs typeface="Times New Roman" panose="02020603050405020304" pitchFamily="18" charset="0"/>
                <a:sym typeface="+mn-ea"/>
              </a:rPr>
              <a:t>dom</a:t>
            </a:r>
            <a:r>
              <a:rPr lang="en-US" b="1" spc="-5" dirty="0" smtClean="0">
                <a:latin typeface="Times New Roman" panose="02020603050405020304" pitchFamily="18" charset="0"/>
                <a:cs typeface="Times New Roman" panose="02020603050405020304" pitchFamily="18" charset="0"/>
                <a:sym typeface="+mn-ea"/>
              </a:rPr>
              <a:t>(</a:t>
            </a:r>
            <a:r>
              <a:rPr lang="en-US" b="1" spc="-5" dirty="0" err="1" smtClean="0">
                <a:latin typeface="Times New Roman" panose="02020603050405020304" pitchFamily="18" charset="0"/>
                <a:cs typeface="Times New Roman" panose="02020603050405020304" pitchFamily="18" charset="0"/>
                <a:sym typeface="+mn-ea"/>
              </a:rPr>
              <a:t>ai</a:t>
            </a:r>
            <a:r>
              <a:rPr lang="en-US" b="1" spc="-5" dirty="0" smtClean="0">
                <a:latin typeface="Times New Roman" panose="02020603050405020304" pitchFamily="18" charset="0"/>
                <a:cs typeface="Times New Roman" panose="02020603050405020304" pitchFamily="18" charset="0"/>
                <a:sym typeface="+mn-ea"/>
              </a:rPr>
              <a:t> ) - </a:t>
            </a:r>
            <a:r>
              <a:rPr lang="en-US" b="1" spc="-5" dirty="0" err="1" smtClean="0">
                <a:latin typeface="Times New Roman" panose="02020603050405020304" pitchFamily="18" charset="0"/>
                <a:cs typeface="Times New Roman" panose="02020603050405020304" pitchFamily="18" charset="0"/>
                <a:sym typeface="+mn-ea"/>
              </a:rPr>
              <a:t>dom</a:t>
            </a:r>
            <a:r>
              <a:rPr lang="en-US" b="1" spc="-5" dirty="0" smtClean="0">
                <a:latin typeface="Times New Roman" panose="02020603050405020304" pitchFamily="18" charset="0"/>
                <a:cs typeface="Times New Roman" panose="02020603050405020304" pitchFamily="18" charset="0"/>
                <a:sym typeface="+mn-ea"/>
              </a:rPr>
              <a:t>(bi ), 1 ≤ </a:t>
            </a:r>
            <a:r>
              <a:rPr lang="en-US" b="1" spc="-5" dirty="0" err="1" smtClean="0">
                <a:latin typeface="Times New Roman" panose="02020603050405020304" pitchFamily="18" charset="0"/>
                <a:cs typeface="Times New Roman" panose="02020603050405020304" pitchFamily="18" charset="0"/>
                <a:sym typeface="+mn-ea"/>
              </a:rPr>
              <a:t>i</a:t>
            </a:r>
            <a:r>
              <a:rPr lang="en-US" b="1" spc="-5" dirty="0" smtClean="0">
                <a:latin typeface="Times New Roman" panose="02020603050405020304" pitchFamily="18" charset="0"/>
                <a:cs typeface="Times New Roman" panose="02020603050405020304" pitchFamily="18" charset="0"/>
                <a:sym typeface="+mn-ea"/>
              </a:rPr>
              <a:t> ≤ n</a:t>
            </a: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sym typeface="+mn-ea"/>
              </a:rPr>
              <a:t>R1  - R2  is a relation that includes all tuples that are in R1, but not in R2.</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pc="-5" dirty="0" smtClean="0">
                <a:latin typeface="Arial" panose="020B0604020202020204"/>
                <a:cs typeface="Arial" panose="020B0604020202020204"/>
                <a:sym typeface="+mn-ea"/>
              </a:rPr>
              <a:t>			</a:t>
            </a:r>
            <a:endParaRPr lang="en-US"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dirty="0" smtClean="0">
              <a:latin typeface="Times New Roman" panose="02020603050405020304" pitchFamily="18" charset="0"/>
              <a:cs typeface="Times New Roman" panose="02020603050405020304" pitchFamily="18" charset="0"/>
            </a:endParaRPr>
          </a:p>
          <a:p>
            <a:pPr marL="342900" indent="-342900" algn="just">
              <a:lnSpc>
                <a:spcPct val="150000"/>
              </a:lnSpc>
              <a:spcBef>
                <a:spcPct val="20000"/>
              </a:spcBef>
              <a:buFont typeface="Wingdings" panose="05000000000000000000" pitchFamily="2" charset="2"/>
              <a:buChar char="Ø"/>
              <a:defRPr/>
            </a:pPr>
            <a:endParaRPr lang="en-US" spc="-130" dirty="0" smtClean="0">
              <a:latin typeface="Arial" panose="020B0604020202020204"/>
              <a:cs typeface="Arial" panose="020B0604020202020204"/>
            </a:endParaRPr>
          </a:p>
          <a:p>
            <a:pPr marL="342900" indent="-342900" algn="just">
              <a:lnSpc>
                <a:spcPct val="150000"/>
              </a:lnSpc>
              <a:spcBef>
                <a:spcPct val="20000"/>
              </a:spcBef>
              <a:buFont typeface="Wingdings" panose="05000000000000000000" pitchFamily="2" charset="2"/>
              <a:buChar char="Ø"/>
              <a:defRPr/>
            </a:pPr>
            <a:endParaRPr lang="en-US" spc="-130" dirty="0" smtClean="0">
              <a:latin typeface="Arial" panose="020B0604020202020204"/>
              <a:cs typeface="Arial" panose="020B0604020202020204"/>
            </a:endParaRPr>
          </a:p>
          <a:p>
            <a:pPr marL="342900" indent="-342900" algn="just">
              <a:lnSpc>
                <a:spcPct val="150000"/>
              </a:lnSpc>
              <a:spcBef>
                <a:spcPct val="20000"/>
              </a:spcBef>
              <a:buFont typeface="Wingdings" panose="05000000000000000000" pitchFamily="2" charset="2"/>
              <a:buChar char="Ø"/>
              <a:defRPr/>
            </a:pPr>
            <a:r>
              <a:rPr lang="en-US" spc="-125" dirty="0" smtClean="0">
                <a:latin typeface="Arial" panose="020B0604020202020204"/>
                <a:cs typeface="Arial" panose="020B0604020202020204"/>
                <a:sym typeface="+mn-ea"/>
              </a:rPr>
              <a:t> π</a:t>
            </a:r>
            <a:r>
              <a:rPr lang="en-US" spc="30" dirty="0" smtClean="0">
                <a:latin typeface="Arial" panose="020B0604020202020204"/>
                <a:cs typeface="Arial" panose="020B0604020202020204"/>
                <a:sym typeface="+mn-ea"/>
              </a:rPr>
              <a:t> </a:t>
            </a:r>
            <a:r>
              <a:rPr lang="en-US" i="1" spc="-7" baseline="-12000" dirty="0" err="1" smtClean="0">
                <a:latin typeface="Arial" panose="020B0604020202020204"/>
                <a:cs typeface="Arial" panose="020B0604020202020204"/>
                <a:sym typeface="+mn-ea"/>
              </a:rPr>
              <a:t>cust</a:t>
            </a:r>
            <a:r>
              <a:rPr lang="en-US" i="1" spc="-202" baseline="-12000" dirty="0" smtClean="0">
                <a:latin typeface="Arial" panose="020B0604020202020204"/>
                <a:cs typeface="Arial" panose="020B0604020202020204"/>
                <a:sym typeface="+mn-ea"/>
              </a:rPr>
              <a:t> </a:t>
            </a:r>
            <a:r>
              <a:rPr lang="en-US" spc="-7" baseline="-12000" dirty="0" smtClean="0">
                <a:latin typeface="Arial" panose="020B0604020202020204"/>
                <a:cs typeface="Arial" panose="020B0604020202020204"/>
                <a:sym typeface="+mn-ea"/>
              </a:rPr>
              <a:t>_</a:t>
            </a:r>
            <a:r>
              <a:rPr lang="en-US" i="1" spc="-7" baseline="-12000" dirty="0" smtClean="0">
                <a:latin typeface="Arial" panose="020B0604020202020204"/>
                <a:cs typeface="Arial" panose="020B0604020202020204"/>
                <a:sym typeface="+mn-ea"/>
              </a:rPr>
              <a:t>name</a:t>
            </a:r>
            <a:r>
              <a:rPr lang="en-US" i="1" baseline="-12000" dirty="0" smtClean="0">
                <a:latin typeface="Arial" panose="020B0604020202020204"/>
                <a:cs typeface="Arial" panose="020B0604020202020204"/>
                <a:sym typeface="+mn-ea"/>
              </a:rPr>
              <a:t> </a:t>
            </a:r>
            <a:r>
              <a:rPr lang="en-US" i="1" spc="-75" baseline="-12000"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(Depositor) - </a:t>
            </a:r>
            <a:r>
              <a:rPr lang="en-US" spc="-125" dirty="0" smtClean="0">
                <a:latin typeface="Arial" panose="020B0604020202020204"/>
                <a:cs typeface="Arial" panose="020B0604020202020204"/>
                <a:sym typeface="+mn-ea"/>
              </a:rPr>
              <a:t>π</a:t>
            </a:r>
            <a:r>
              <a:rPr lang="en-US" spc="30" dirty="0" smtClean="0">
                <a:latin typeface="Arial" panose="020B0604020202020204"/>
                <a:cs typeface="Arial" panose="020B0604020202020204"/>
                <a:sym typeface="+mn-ea"/>
              </a:rPr>
              <a:t> </a:t>
            </a:r>
            <a:r>
              <a:rPr lang="en-US" i="1" spc="-7" baseline="-12000" dirty="0" err="1" smtClean="0">
                <a:latin typeface="Arial" panose="020B0604020202020204"/>
                <a:cs typeface="Arial" panose="020B0604020202020204"/>
                <a:sym typeface="+mn-ea"/>
              </a:rPr>
              <a:t>cust</a:t>
            </a:r>
            <a:r>
              <a:rPr lang="en-US" i="1" spc="-202" baseline="-12000" dirty="0" smtClean="0">
                <a:latin typeface="Arial" panose="020B0604020202020204"/>
                <a:cs typeface="Arial" panose="020B0604020202020204"/>
                <a:sym typeface="+mn-ea"/>
              </a:rPr>
              <a:t> </a:t>
            </a:r>
            <a:r>
              <a:rPr lang="en-US" spc="-7" baseline="-12000" dirty="0" smtClean="0">
                <a:latin typeface="Arial" panose="020B0604020202020204"/>
                <a:cs typeface="Arial" panose="020B0604020202020204"/>
                <a:sym typeface="+mn-ea"/>
              </a:rPr>
              <a:t>_</a:t>
            </a:r>
            <a:r>
              <a:rPr lang="en-US" i="1" spc="-7" baseline="-12000" dirty="0" smtClean="0">
                <a:latin typeface="Arial" panose="020B0604020202020204"/>
                <a:cs typeface="Arial" panose="020B0604020202020204"/>
                <a:sym typeface="+mn-ea"/>
              </a:rPr>
              <a:t>name</a:t>
            </a:r>
            <a:r>
              <a:rPr lang="en-US" i="1" baseline="-12000" dirty="0" smtClean="0">
                <a:latin typeface="Arial" panose="020B0604020202020204"/>
                <a:cs typeface="Arial" panose="020B0604020202020204"/>
                <a:sym typeface="+mn-ea"/>
              </a:rPr>
              <a:t> </a:t>
            </a:r>
            <a:r>
              <a:rPr lang="en-US" i="1" spc="-75" baseline="-12000" dirty="0" smtClean="0">
                <a:latin typeface="Arial" panose="020B0604020202020204"/>
                <a:cs typeface="Arial" panose="020B0604020202020204"/>
                <a:sym typeface="+mn-ea"/>
              </a:rPr>
              <a:t> </a:t>
            </a:r>
            <a:r>
              <a:rPr lang="en-US" spc="-5" dirty="0" smtClean="0">
                <a:latin typeface="Arial" panose="020B0604020202020204"/>
                <a:cs typeface="Arial" panose="020B0604020202020204"/>
                <a:sym typeface="+mn-ea"/>
              </a:rPr>
              <a:t>(Borr</a:t>
            </a:r>
            <a:r>
              <a:rPr lang="en-US" spc="-25" dirty="0" smtClean="0">
                <a:latin typeface="Arial" panose="020B0604020202020204"/>
                <a:cs typeface="Arial" panose="020B0604020202020204"/>
                <a:sym typeface="+mn-ea"/>
              </a:rPr>
              <a:t>o</a:t>
            </a:r>
            <a:r>
              <a:rPr lang="en-US" spc="-20" dirty="0" smtClean="0">
                <a:latin typeface="Arial" panose="020B0604020202020204"/>
                <a:cs typeface="Arial" panose="020B0604020202020204"/>
                <a:sym typeface="+mn-ea"/>
              </a:rPr>
              <a:t>w</a:t>
            </a:r>
            <a:r>
              <a:rPr lang="en-US" spc="-5" dirty="0" smtClean="0">
                <a:latin typeface="Arial" panose="020B0604020202020204"/>
                <a:cs typeface="Arial" panose="020B0604020202020204"/>
                <a:sym typeface="+mn-ea"/>
              </a:rPr>
              <a:t>er)</a:t>
            </a:r>
            <a:endParaRPr lang="en-US" dirty="0" smtClean="0">
              <a:latin typeface="Arial" panose="020B0604020202020204"/>
              <a:cs typeface="Arial" panose="020B0604020202020204"/>
            </a:endParaRPr>
          </a:p>
          <a:p>
            <a:pPr marL="342900" indent="-342900" algn="just">
              <a:lnSpc>
                <a:spcPct val="150000"/>
              </a:lnSpc>
              <a:spcBef>
                <a:spcPct val="20000"/>
              </a:spcBef>
              <a:buFont typeface="Wingdings" panose="05000000000000000000" pitchFamily="2" charset="2"/>
              <a:buChar char="Ø"/>
              <a:defRPr/>
            </a:pPr>
            <a:endParaRPr lang="en-US" dirty="0" smtClean="0">
              <a:latin typeface="Arial" panose="020B0604020202020204"/>
              <a:cs typeface="Arial" panose="020B0604020202020204"/>
            </a:endParaRPr>
          </a:p>
          <a:p>
            <a:endParaRPr lang="en-US"/>
          </a:p>
        </p:txBody>
      </p:sp>
      <p:pic>
        <p:nvPicPr>
          <p:cNvPr id="14" name="Picture 2" descr="C:\Users\nEW u\Desktop\111.png"/>
          <p:cNvPicPr>
            <a:picLocks noChangeAspect="1" noChangeArrowheads="1"/>
          </p:cNvPicPr>
          <p:nvPr/>
        </p:nvPicPr>
        <p:blipFill>
          <a:blip r:embed="rId1"/>
          <a:srcRect/>
          <a:stretch>
            <a:fillRect/>
          </a:stretch>
        </p:blipFill>
        <p:spPr bwMode="auto">
          <a:xfrm>
            <a:off x="3225426" y="3589978"/>
            <a:ext cx="3864066" cy="1635128"/>
          </a:xfrm>
          <a:prstGeom prst="rect">
            <a:avLst/>
          </a:prstGeom>
          <a:noFill/>
        </p:spPr>
      </p:pic>
      <p:pic>
        <p:nvPicPr>
          <p:cNvPr id="2050" name="Picture 2" descr="C:\Users\nEW u\Desktop\333.png"/>
          <p:cNvPicPr>
            <a:picLocks noChangeAspect="1" noChangeArrowheads="1"/>
          </p:cNvPicPr>
          <p:nvPr/>
        </p:nvPicPr>
        <p:blipFill>
          <a:blip r:embed="rId2"/>
          <a:srcRect/>
          <a:stretch>
            <a:fillRect/>
          </a:stretch>
        </p:blipFill>
        <p:spPr bwMode="auto">
          <a:xfrm>
            <a:off x="5239682" y="6177529"/>
            <a:ext cx="1085864" cy="467524"/>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798830" y="995045"/>
            <a:ext cx="10593705" cy="486791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Cartesian Product Operator(×)</a:t>
            </a:r>
            <a:endParaRPr lang="en-US"/>
          </a:p>
        </p:txBody>
      </p:sp>
      <p:sp>
        <p:nvSpPr>
          <p:cNvPr id="3" name="Content Placeholder 2"/>
          <p:cNvSpPr>
            <a:spLocks noGrp="1"/>
          </p:cNvSpPr>
          <p:nvPr>
            <p:ph idx="1"/>
          </p:nvPr>
        </p:nvSpPr>
        <p:spPr/>
        <p:txBody>
          <a:bodyPr>
            <a:normAutofit lnSpcReduction="10000"/>
          </a:bodyPr>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The Cartesian product of two relations R1(a1,a2,... an ) with cardinality </a:t>
            </a:r>
            <a:r>
              <a:rPr lang="en-US" sz="2800" spc="-5" dirty="0" err="1" smtClean="0">
                <a:latin typeface="Times New Roman" panose="02020603050405020304" pitchFamily="18" charset="0"/>
                <a:cs typeface="Times New Roman" panose="02020603050405020304" pitchFamily="18" charset="0"/>
                <a:sym typeface="+mn-ea"/>
              </a:rPr>
              <a:t>i</a:t>
            </a:r>
            <a:r>
              <a:rPr lang="en-US" sz="2800" spc="-5" dirty="0" smtClean="0">
                <a:latin typeface="Times New Roman" panose="02020603050405020304" pitchFamily="18" charset="0"/>
                <a:cs typeface="Times New Roman" panose="02020603050405020304" pitchFamily="18" charset="0"/>
                <a:sym typeface="+mn-ea"/>
              </a:rPr>
              <a:t> and R2(b1,b2,... </a:t>
            </a:r>
            <a:r>
              <a:rPr lang="en-US" sz="2800" spc="-5" dirty="0" err="1" smtClean="0">
                <a:latin typeface="Times New Roman" panose="02020603050405020304" pitchFamily="18" charset="0"/>
                <a:cs typeface="Times New Roman" panose="02020603050405020304" pitchFamily="18" charset="0"/>
                <a:sym typeface="+mn-ea"/>
              </a:rPr>
              <a:t>bm</a:t>
            </a:r>
            <a:r>
              <a:rPr lang="en-US" sz="2800" spc="-5" dirty="0" smtClean="0">
                <a:latin typeface="Times New Roman" panose="02020603050405020304" pitchFamily="18" charset="0"/>
                <a:cs typeface="Times New Roman" panose="02020603050405020304" pitchFamily="18" charset="0"/>
                <a:sym typeface="+mn-ea"/>
              </a:rPr>
              <a:t> ) with cardinality  j  is a relation R3  with</a:t>
            </a:r>
            <a:endParaRPr lang="en-US" sz="2800" spc="-5" dirty="0" smtClean="0">
              <a:latin typeface="Times New Roman" panose="02020603050405020304" pitchFamily="18" charset="0"/>
              <a:cs typeface="Times New Roman" panose="02020603050405020304" pitchFamily="18" charset="0"/>
            </a:endParaRPr>
          </a:p>
          <a:p>
            <a:pPr marL="1179830" lvl="2" indent="-121920">
              <a:spcBef>
                <a:spcPts val="295"/>
              </a:spcBef>
              <a:buSzPct val="90000"/>
              <a:buFont typeface="Wingdings" panose="05000000000000000000" pitchFamily="2" charset="2"/>
              <a:buChar char="ü"/>
              <a:tabLst>
                <a:tab pos="266065" algn="l"/>
              </a:tabLst>
            </a:pPr>
            <a:r>
              <a:rPr lang="en-US" sz="2800" spc="-5" dirty="0" smtClean="0">
                <a:latin typeface="Times New Roman" panose="02020603050405020304" pitchFamily="18" charset="0"/>
                <a:cs typeface="Times New Roman" panose="02020603050405020304" pitchFamily="18" charset="0"/>
                <a:sym typeface="+mn-ea"/>
              </a:rPr>
              <a:t> degree k = n + m,</a:t>
            </a:r>
            <a:endParaRPr lang="en-US" sz="2800" spc="-5" dirty="0" smtClean="0">
              <a:latin typeface="Times New Roman" panose="02020603050405020304" pitchFamily="18" charset="0"/>
              <a:cs typeface="Times New Roman" panose="02020603050405020304" pitchFamily="18" charset="0"/>
            </a:endParaRPr>
          </a:p>
          <a:p>
            <a:pPr marL="1179830" lvl="2" indent="-121920">
              <a:spcBef>
                <a:spcPts val="295"/>
              </a:spcBef>
              <a:buSzPct val="90000"/>
              <a:buFont typeface="Wingdings" panose="05000000000000000000" pitchFamily="2" charset="2"/>
              <a:buChar char="ü"/>
              <a:tabLst>
                <a:tab pos="266065" algn="l"/>
              </a:tabLst>
            </a:pPr>
            <a:r>
              <a:rPr lang="en-US" sz="2800" spc="-5" dirty="0" smtClean="0">
                <a:latin typeface="Times New Roman" panose="02020603050405020304" pitchFamily="18" charset="0"/>
                <a:cs typeface="Times New Roman" panose="02020603050405020304" pitchFamily="18" charset="0"/>
                <a:sym typeface="+mn-ea"/>
              </a:rPr>
              <a:t> cardinality </a:t>
            </a:r>
            <a:r>
              <a:rPr lang="en-US" sz="2800" spc="-5" dirty="0" err="1" smtClean="0">
                <a:latin typeface="Times New Roman" panose="02020603050405020304" pitchFamily="18" charset="0"/>
                <a:cs typeface="Times New Roman" panose="02020603050405020304" pitchFamily="18" charset="0"/>
                <a:sym typeface="+mn-ea"/>
              </a:rPr>
              <a:t>i</a:t>
            </a:r>
            <a:r>
              <a:rPr lang="en-US" sz="2800" spc="-5" dirty="0" smtClean="0">
                <a:latin typeface="Times New Roman" panose="02020603050405020304" pitchFamily="18" charset="0"/>
                <a:cs typeface="Times New Roman" panose="02020603050405020304" pitchFamily="18" charset="0"/>
                <a:sym typeface="+mn-ea"/>
              </a:rPr>
              <a:t>*j and</a:t>
            </a:r>
            <a:endParaRPr lang="en-US" sz="2800" spc="-5" dirty="0" smtClean="0">
              <a:latin typeface="Times New Roman" panose="02020603050405020304" pitchFamily="18" charset="0"/>
              <a:cs typeface="Times New Roman" panose="02020603050405020304" pitchFamily="18" charset="0"/>
            </a:endParaRPr>
          </a:p>
          <a:p>
            <a:pPr marL="1179830" lvl="2" indent="-121920">
              <a:spcBef>
                <a:spcPts val="295"/>
              </a:spcBef>
              <a:buSzPct val="90000"/>
              <a:buFont typeface="Wingdings" panose="05000000000000000000" pitchFamily="2" charset="2"/>
              <a:buChar char="ü"/>
              <a:tabLst>
                <a:tab pos="266065" algn="l"/>
              </a:tabLst>
            </a:pPr>
            <a:r>
              <a:rPr lang="en-US" sz="2800" spc="-5" dirty="0" smtClean="0">
                <a:latin typeface="Times New Roman" panose="02020603050405020304" pitchFamily="18" charset="0"/>
                <a:cs typeface="Times New Roman" panose="02020603050405020304" pitchFamily="18" charset="0"/>
                <a:sym typeface="+mn-ea"/>
              </a:rPr>
              <a:t> attributes (a1,a2,... an , b1,b2,... </a:t>
            </a:r>
            <a:r>
              <a:rPr lang="en-US" sz="2800" spc="-5" dirty="0" err="1" smtClean="0">
                <a:latin typeface="Times New Roman" panose="02020603050405020304" pitchFamily="18" charset="0"/>
                <a:cs typeface="Times New Roman" panose="02020603050405020304" pitchFamily="18" charset="0"/>
                <a:sym typeface="+mn-ea"/>
              </a:rPr>
              <a:t>bm</a:t>
            </a:r>
            <a:r>
              <a:rPr lang="en-US" sz="2800" spc="-5" dirty="0" smtClean="0">
                <a:latin typeface="Times New Roman" panose="02020603050405020304" pitchFamily="18" charset="0"/>
                <a:cs typeface="Times New Roman" panose="02020603050405020304" pitchFamily="18" charset="0"/>
                <a:sym typeface="+mn-ea"/>
              </a:rPr>
              <a:t> ))</a:t>
            </a:r>
            <a:endParaRPr lang="en-US" sz="2800"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R1 × R2  is a relation that includes all the possible combinations of tuples from R1  and R2. The Cartesian product is used to combine information from any two relations.</a:t>
            </a:r>
            <a:endParaRPr lang="en-US" sz="2800"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It is not a useful operation by itself; but is used in </a:t>
            </a:r>
            <a:r>
              <a:rPr lang="en-US" sz="2800" spc="-5" dirty="0" err="1" smtClean="0">
                <a:latin typeface="Times New Roman" panose="02020603050405020304" pitchFamily="18" charset="0"/>
                <a:cs typeface="Times New Roman" panose="02020603050405020304" pitchFamily="18" charset="0"/>
                <a:sym typeface="+mn-ea"/>
              </a:rPr>
              <a:t>conjuction</a:t>
            </a:r>
            <a:r>
              <a:rPr lang="en-US" sz="2800" spc="-5" dirty="0" smtClean="0">
                <a:latin typeface="Times New Roman" panose="02020603050405020304" pitchFamily="18" charset="0"/>
                <a:cs typeface="Times New Roman" panose="02020603050405020304" pitchFamily="18" charset="0"/>
                <a:sym typeface="+mn-ea"/>
              </a:rPr>
              <a:t> with other operations.</a:t>
            </a:r>
            <a:endParaRPr lang="en-US" sz="2800" spc="-5"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Cartesian Product Operator(×)…</a:t>
            </a:r>
            <a:endParaRPr lang="en-US"/>
          </a:p>
        </p:txBody>
      </p:sp>
      <p:pic>
        <p:nvPicPr>
          <p:cNvPr id="3074" name="Picture 2" descr="C:\Users\nEW u\Desktop\444.png"/>
          <p:cNvPicPr>
            <a:picLocks noChangeAspect="1" noChangeArrowheads="1"/>
          </p:cNvPicPr>
          <p:nvPr>
            <p:ph idx="1"/>
          </p:nvPr>
        </p:nvPicPr>
        <p:blipFill>
          <a:blip r:embed="rId1"/>
          <a:srcRect/>
          <a:stretch>
            <a:fillRect/>
          </a:stretch>
        </p:blipFill>
        <p:spPr bwMode="auto">
          <a:xfrm>
            <a:off x="2489200" y="1364615"/>
            <a:ext cx="6612255" cy="5370195"/>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Cartesian Product Operator(×)…</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b="1" spc="-5" dirty="0" smtClean="0">
                <a:latin typeface="Times New Roman" panose="02020603050405020304" pitchFamily="18" charset="0"/>
                <a:cs typeface="Times New Roman" panose="02020603050405020304" pitchFamily="18" charset="0"/>
                <a:sym typeface="+mn-ea"/>
              </a:rPr>
              <a:t>Query: </a:t>
            </a:r>
            <a:r>
              <a:rPr lang="en-US" spc="-5" dirty="0" smtClean="0">
                <a:latin typeface="Times New Roman" panose="02020603050405020304" pitchFamily="18" charset="0"/>
                <a:cs typeface="Times New Roman" panose="02020603050405020304" pitchFamily="18" charset="0"/>
                <a:sym typeface="+mn-ea"/>
              </a:rPr>
              <a:t>Find out the customer and their loan details taken from Bhubaneswar Main branch.</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pc="-5" dirty="0" smtClean="0">
                <a:latin typeface="Times New Roman" panose="02020603050405020304" pitchFamily="18" charset="0"/>
                <a:cs typeface="Times New Roman" panose="02020603050405020304" pitchFamily="18" charset="0"/>
                <a:sym typeface="+mn-ea"/>
              </a:rPr>
              <a:t>	Ans: σ </a:t>
            </a:r>
            <a:r>
              <a:rPr lang="en-US" spc="-5" dirty="0" err="1" smtClean="0">
                <a:latin typeface="Times New Roman" panose="02020603050405020304" pitchFamily="18" charset="0"/>
                <a:cs typeface="Times New Roman" panose="02020603050405020304" pitchFamily="18" charset="0"/>
                <a:sym typeface="+mn-ea"/>
              </a:rPr>
              <a:t>branch_name</a:t>
            </a:r>
            <a:r>
              <a:rPr lang="en-US" spc="-5" dirty="0" smtClean="0">
                <a:latin typeface="Times New Roman" panose="02020603050405020304" pitchFamily="18" charset="0"/>
                <a:cs typeface="Times New Roman" panose="02020603050405020304" pitchFamily="18" charset="0"/>
                <a:sym typeface="+mn-ea"/>
              </a:rPr>
              <a:t> = ′</a:t>
            </a:r>
            <a:r>
              <a:rPr lang="en-US" spc="-5" dirty="0" err="1" smtClean="0">
                <a:latin typeface="Times New Roman" panose="02020603050405020304" pitchFamily="18" charset="0"/>
                <a:cs typeface="Times New Roman" panose="02020603050405020304" pitchFamily="18" charset="0"/>
                <a:sym typeface="+mn-ea"/>
              </a:rPr>
              <a:t>BhubaneswarMain</a:t>
            </a:r>
            <a:r>
              <a:rPr lang="en-US" spc="-5" dirty="0" smtClean="0">
                <a:latin typeface="Times New Roman" panose="02020603050405020304" pitchFamily="18" charset="0"/>
                <a:cs typeface="Times New Roman" panose="02020603050405020304" pitchFamily="18" charset="0"/>
                <a:sym typeface="+mn-ea"/>
              </a:rPr>
              <a:t>′ AND </a:t>
            </a:r>
            <a:r>
              <a:rPr lang="en-US" spc="-5" dirty="0" err="1" smtClean="0">
                <a:latin typeface="Times New Roman" panose="02020603050405020304" pitchFamily="18" charset="0"/>
                <a:cs typeface="Times New Roman" panose="02020603050405020304" pitchFamily="18" charset="0"/>
                <a:sym typeface="+mn-ea"/>
              </a:rPr>
              <a:t>Borrower.loan_no</a:t>
            </a:r>
            <a:r>
              <a:rPr lang="en-US" spc="-5" dirty="0" smtClean="0">
                <a:latin typeface="Times New Roman" panose="02020603050405020304" pitchFamily="18" charset="0"/>
                <a:cs typeface="Times New Roman" panose="02020603050405020304" pitchFamily="18" charset="0"/>
                <a:sym typeface="+mn-ea"/>
              </a:rPr>
              <a:t>=</a:t>
            </a:r>
            <a:r>
              <a:rPr lang="en-US" spc="-5" dirty="0" err="1" smtClean="0">
                <a:latin typeface="Times New Roman" panose="02020603050405020304" pitchFamily="18" charset="0"/>
                <a:cs typeface="Times New Roman" panose="02020603050405020304" pitchFamily="18" charset="0"/>
                <a:sym typeface="+mn-ea"/>
              </a:rPr>
              <a:t>Loan.loan_no</a:t>
            </a:r>
            <a:r>
              <a:rPr lang="en-US" spc="-5" dirty="0" smtClean="0">
                <a:latin typeface="Times New Roman" panose="02020603050405020304" pitchFamily="18" charset="0"/>
                <a:cs typeface="Times New Roman" panose="02020603050405020304" pitchFamily="18" charset="0"/>
                <a:sym typeface="+mn-ea"/>
              </a:rPr>
              <a:t> (Borrower ×Loan)</a:t>
            </a:r>
            <a:endParaRPr lang="en-US" spc="-5" dirty="0" smtClean="0">
              <a:latin typeface="Times New Roman" panose="02020603050405020304" pitchFamily="18" charset="0"/>
              <a:cs typeface="Times New Roman" panose="02020603050405020304" pitchFamily="18" charset="0"/>
            </a:endParaRPr>
          </a:p>
          <a:p>
            <a:endParaRPr lang="en-US"/>
          </a:p>
        </p:txBody>
      </p:sp>
      <p:pic>
        <p:nvPicPr>
          <p:cNvPr id="4098" name="Picture 2" descr="C:\Users\nEW u\Desktop\555.png"/>
          <p:cNvPicPr>
            <a:picLocks noChangeAspect="1" noChangeArrowheads="1"/>
          </p:cNvPicPr>
          <p:nvPr/>
        </p:nvPicPr>
        <p:blipFill>
          <a:blip r:embed="rId1"/>
          <a:srcRect/>
          <a:stretch>
            <a:fillRect/>
          </a:stretch>
        </p:blipFill>
        <p:spPr bwMode="auto">
          <a:xfrm>
            <a:off x="1415415" y="3729355"/>
            <a:ext cx="9360535" cy="114300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Intersection Operator(∩)</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sym typeface="+mn-ea"/>
              </a:rPr>
              <a:t>The intersection operation is used to identify the rows that are common to two relations. It is denoted by (∩) symbol. The intersection of two relations R1 (a1,a2,... an ) and R2 (b1,b2,... </a:t>
            </a:r>
            <a:r>
              <a:rPr lang="en-US" spc="-5" dirty="0" err="1" smtClean="0">
                <a:latin typeface="Times New Roman" panose="02020603050405020304" pitchFamily="18" charset="0"/>
                <a:cs typeface="Times New Roman" panose="02020603050405020304" pitchFamily="18" charset="0"/>
                <a:sym typeface="+mn-ea"/>
              </a:rPr>
              <a:t>bn</a:t>
            </a:r>
            <a:r>
              <a:rPr lang="en-US" spc="-5" dirty="0" smtClean="0">
                <a:latin typeface="Times New Roman" panose="02020603050405020304" pitchFamily="18" charset="0"/>
                <a:cs typeface="Times New Roman" panose="02020603050405020304" pitchFamily="18" charset="0"/>
                <a:sym typeface="+mn-ea"/>
              </a:rPr>
              <a:t> ) is a relation R3  (c1,c2,... </a:t>
            </a:r>
            <a:r>
              <a:rPr lang="en-US" spc="-5" dirty="0" err="1" smtClean="0">
                <a:latin typeface="Times New Roman" panose="02020603050405020304" pitchFamily="18" charset="0"/>
                <a:cs typeface="Times New Roman" panose="02020603050405020304" pitchFamily="18" charset="0"/>
                <a:sym typeface="+mn-ea"/>
              </a:rPr>
              <a:t>cn</a:t>
            </a:r>
            <a:r>
              <a:rPr lang="en-US" spc="-5" dirty="0" smtClean="0">
                <a:latin typeface="Times New Roman" panose="02020603050405020304" pitchFamily="18" charset="0"/>
                <a:cs typeface="Times New Roman" panose="02020603050405020304" pitchFamily="18" charset="0"/>
                <a:sym typeface="+mn-ea"/>
              </a:rPr>
              <a:t> ) such that…</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pc="-5" dirty="0" smtClean="0">
                <a:latin typeface="Times New Roman" panose="02020603050405020304" pitchFamily="18" charset="0"/>
                <a:cs typeface="Times New Roman" panose="02020603050405020304" pitchFamily="18" charset="0"/>
                <a:sym typeface="+mn-ea"/>
              </a:rPr>
              <a:t>			</a:t>
            </a:r>
            <a:r>
              <a:rPr lang="en-US" b="1" spc="-5" dirty="0" err="1" smtClean="0">
                <a:latin typeface="Times New Roman" panose="02020603050405020304" pitchFamily="18" charset="0"/>
                <a:cs typeface="Times New Roman" panose="02020603050405020304" pitchFamily="18" charset="0"/>
                <a:sym typeface="+mn-ea"/>
              </a:rPr>
              <a:t>dom</a:t>
            </a:r>
            <a:r>
              <a:rPr lang="en-US" b="1" spc="-5" dirty="0" smtClean="0">
                <a:latin typeface="Times New Roman" panose="02020603050405020304" pitchFamily="18" charset="0"/>
                <a:cs typeface="Times New Roman" panose="02020603050405020304" pitchFamily="18" charset="0"/>
                <a:sym typeface="+mn-ea"/>
              </a:rPr>
              <a:t> (</a:t>
            </a:r>
            <a:r>
              <a:rPr lang="en-US" b="1" spc="-5" dirty="0" err="1" smtClean="0">
                <a:latin typeface="Times New Roman" panose="02020603050405020304" pitchFamily="18" charset="0"/>
                <a:cs typeface="Times New Roman" panose="02020603050405020304" pitchFamily="18" charset="0"/>
                <a:sym typeface="+mn-ea"/>
              </a:rPr>
              <a:t>ci</a:t>
            </a:r>
            <a:r>
              <a:rPr lang="en-US" b="1" spc="-5" dirty="0" smtClean="0">
                <a:latin typeface="Times New Roman" panose="02020603050405020304" pitchFamily="18" charset="0"/>
                <a:cs typeface="Times New Roman" panose="02020603050405020304" pitchFamily="18" charset="0"/>
                <a:sym typeface="+mn-ea"/>
              </a:rPr>
              <a:t> ) = </a:t>
            </a:r>
            <a:r>
              <a:rPr lang="en-US" b="1" spc="-5" dirty="0" err="1" smtClean="0">
                <a:latin typeface="Times New Roman" panose="02020603050405020304" pitchFamily="18" charset="0"/>
                <a:cs typeface="Times New Roman" panose="02020603050405020304" pitchFamily="18" charset="0"/>
                <a:sym typeface="+mn-ea"/>
              </a:rPr>
              <a:t>dom</a:t>
            </a:r>
            <a:r>
              <a:rPr lang="en-US" b="1" spc="-5" dirty="0" smtClean="0">
                <a:latin typeface="Times New Roman" panose="02020603050405020304" pitchFamily="18" charset="0"/>
                <a:cs typeface="Times New Roman" panose="02020603050405020304" pitchFamily="18" charset="0"/>
                <a:sym typeface="+mn-ea"/>
              </a:rPr>
              <a:t> (</a:t>
            </a:r>
            <a:r>
              <a:rPr lang="en-US" b="1" spc="-5" dirty="0" err="1" smtClean="0">
                <a:latin typeface="Times New Roman" panose="02020603050405020304" pitchFamily="18" charset="0"/>
                <a:cs typeface="Times New Roman" panose="02020603050405020304" pitchFamily="18" charset="0"/>
                <a:sym typeface="+mn-ea"/>
              </a:rPr>
              <a:t>ai</a:t>
            </a:r>
            <a:r>
              <a:rPr lang="en-US" b="1" spc="-5" dirty="0" smtClean="0">
                <a:latin typeface="Times New Roman" panose="02020603050405020304" pitchFamily="18" charset="0"/>
                <a:cs typeface="Times New Roman" panose="02020603050405020304" pitchFamily="18" charset="0"/>
                <a:sym typeface="+mn-ea"/>
              </a:rPr>
              <a:t> ) ∩ </a:t>
            </a:r>
            <a:r>
              <a:rPr lang="en-US" b="1" spc="-5" dirty="0" err="1" smtClean="0">
                <a:latin typeface="Times New Roman" panose="02020603050405020304" pitchFamily="18" charset="0"/>
                <a:cs typeface="Times New Roman" panose="02020603050405020304" pitchFamily="18" charset="0"/>
                <a:sym typeface="+mn-ea"/>
              </a:rPr>
              <a:t>dom</a:t>
            </a:r>
            <a:r>
              <a:rPr lang="en-US" b="1" spc="-5" dirty="0" smtClean="0">
                <a:latin typeface="Times New Roman" panose="02020603050405020304" pitchFamily="18" charset="0"/>
                <a:cs typeface="Times New Roman" panose="02020603050405020304" pitchFamily="18" charset="0"/>
                <a:sym typeface="+mn-ea"/>
              </a:rPr>
              <a:t> (bi ), 1 ≤ </a:t>
            </a:r>
            <a:r>
              <a:rPr lang="en-US" b="1" spc="-5" dirty="0" err="1" smtClean="0">
                <a:latin typeface="Times New Roman" panose="02020603050405020304" pitchFamily="18" charset="0"/>
                <a:cs typeface="Times New Roman" panose="02020603050405020304" pitchFamily="18" charset="0"/>
                <a:sym typeface="+mn-ea"/>
              </a:rPr>
              <a:t>i</a:t>
            </a:r>
            <a:r>
              <a:rPr lang="en-US" b="1" spc="-5" dirty="0" smtClean="0">
                <a:latin typeface="Times New Roman" panose="02020603050405020304" pitchFamily="18" charset="0"/>
                <a:cs typeface="Times New Roman" panose="02020603050405020304" pitchFamily="18" charset="0"/>
                <a:sym typeface="+mn-ea"/>
              </a:rPr>
              <a:t> ≤ n</a:t>
            </a: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sym typeface="+mn-ea"/>
              </a:rPr>
              <a:t>R1  ∩ R2  is a relation that includes all tuples that are present in both R1  and R2.</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sym typeface="+mn-ea"/>
              </a:rPr>
              <a:t>The intersection operation can be rewritten by a pair of set difference operations as R ∩ S = R - (R - S).</a:t>
            </a:r>
            <a:endParaRPr lang="en-US" spc="-5"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985645" y="939165"/>
            <a:ext cx="8220075" cy="522478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Division Operator (÷)</a:t>
            </a:r>
            <a:endParaRPr lang="en-US"/>
          </a:p>
        </p:txBody>
      </p:sp>
      <p:sp>
        <p:nvSpPr>
          <p:cNvPr id="3" name="Content Placeholder 2"/>
          <p:cNvSpPr>
            <a:spLocks noGrp="1"/>
          </p:cNvSpPr>
          <p:nvPr>
            <p:ph idx="1"/>
          </p:nvPr>
        </p:nvSpPr>
        <p:spPr/>
        <p:txBody>
          <a:bodyPr>
            <a:normAutofit fontScale="90000" lnSpcReduction="20000"/>
          </a:bodyPr>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The </a:t>
            </a:r>
            <a:r>
              <a:rPr lang="en-US" sz="2800" b="1" spc="-5" dirty="0" smtClean="0">
                <a:latin typeface="Times New Roman" panose="02020603050405020304" pitchFamily="18" charset="0"/>
                <a:cs typeface="Times New Roman" panose="02020603050405020304" pitchFamily="18" charset="0"/>
                <a:sym typeface="+mn-ea"/>
              </a:rPr>
              <a:t>division operation </a:t>
            </a:r>
            <a:r>
              <a:rPr lang="en-US" sz="2800" spc="-5" dirty="0" smtClean="0">
                <a:latin typeface="Times New Roman" panose="02020603050405020304" pitchFamily="18" charset="0"/>
                <a:cs typeface="Times New Roman" panose="02020603050405020304" pitchFamily="18" charset="0"/>
                <a:sym typeface="+mn-ea"/>
              </a:rPr>
              <a:t>creates a new relation by selecting the rows in one relation that match every row in another relation. The division operation requires that we look at an entire relation at once. It is denoted by division (÷) symbol.</a:t>
            </a:r>
            <a:endParaRPr lang="en-US" sz="2800"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Let A, B, C are three relations and we desire B ÷ C to give A as the result. This operation is possible </a:t>
            </a:r>
            <a:r>
              <a:rPr lang="en-US" sz="2800" spc="-5" dirty="0" err="1" smtClean="0">
                <a:latin typeface="Times New Roman" panose="02020603050405020304" pitchFamily="18" charset="0"/>
                <a:cs typeface="Times New Roman" panose="02020603050405020304" pitchFamily="18" charset="0"/>
                <a:sym typeface="+mn-ea"/>
              </a:rPr>
              <a:t>iff</a:t>
            </a:r>
            <a:r>
              <a:rPr lang="en-US" sz="2800" spc="-5" dirty="0" smtClean="0">
                <a:latin typeface="Times New Roman" panose="02020603050405020304" pitchFamily="18" charset="0"/>
                <a:cs typeface="Times New Roman" panose="02020603050405020304" pitchFamily="18" charset="0"/>
                <a:sym typeface="+mn-ea"/>
              </a:rPr>
              <a:t>:</a:t>
            </a:r>
            <a:endParaRPr lang="en-US" sz="2800" spc="-5" dirty="0" smtClean="0">
              <a:latin typeface="Times New Roman" panose="02020603050405020304" pitchFamily="18" charset="0"/>
              <a:cs typeface="Times New Roman" panose="02020603050405020304" pitchFamily="18" charset="0"/>
            </a:endParaRPr>
          </a:p>
          <a:p>
            <a:pPr marL="722630" marR="5080" lvl="1" indent="-121920" algn="just">
              <a:spcBef>
                <a:spcPts val="295"/>
              </a:spcBef>
              <a:buSzPct val="90000"/>
              <a:buFont typeface="Wingdings" panose="05000000000000000000" pitchFamily="2" charset="2"/>
              <a:buChar char="ü"/>
              <a:tabLst>
                <a:tab pos="266065" algn="l"/>
              </a:tabLst>
            </a:pPr>
            <a:r>
              <a:rPr lang="en-US" sz="2800" spc="-5" dirty="0" smtClean="0">
                <a:latin typeface="Times New Roman" panose="02020603050405020304" pitchFamily="18" charset="0"/>
                <a:cs typeface="Times New Roman" panose="02020603050405020304" pitchFamily="18" charset="0"/>
                <a:sym typeface="+mn-ea"/>
              </a:rPr>
              <a:t> The columns of C must be a subset of the columns of B. The columns of A are all and only those columns of B that are not columns of C</a:t>
            </a:r>
            <a:endParaRPr lang="en-US" sz="2800" spc="-5" dirty="0" smtClean="0">
              <a:latin typeface="Times New Roman" panose="02020603050405020304" pitchFamily="18" charset="0"/>
              <a:cs typeface="Times New Roman" panose="02020603050405020304" pitchFamily="18" charset="0"/>
            </a:endParaRPr>
          </a:p>
          <a:p>
            <a:pPr marL="722630" marR="175895" lvl="1" indent="-121920" algn="just">
              <a:spcBef>
                <a:spcPts val="295"/>
              </a:spcBef>
              <a:buSzPct val="90000"/>
              <a:buFont typeface="Wingdings" panose="05000000000000000000" pitchFamily="2" charset="2"/>
              <a:buChar char="ü"/>
              <a:tabLst>
                <a:tab pos="266065" algn="l"/>
              </a:tabLst>
            </a:pPr>
            <a:r>
              <a:rPr lang="en-US" sz="2800" spc="-5" dirty="0" smtClean="0">
                <a:latin typeface="Times New Roman" panose="02020603050405020304" pitchFamily="18" charset="0"/>
                <a:cs typeface="Times New Roman" panose="02020603050405020304" pitchFamily="18" charset="0"/>
                <a:sym typeface="+mn-ea"/>
              </a:rPr>
              <a:t> A row is placed in A if and only if it is associated with B and with every row of C</a:t>
            </a:r>
            <a:endParaRPr lang="en-US" sz="2800"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The division operation is the reverse of the Cartesian product operation as: B = (B × C) ÷ C.</a:t>
            </a:r>
            <a:endParaRPr lang="en-US" sz="2800"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Division operator is suited to queries that include the phrase every or all as part of the condition.</a:t>
            </a:r>
            <a:endParaRPr lang="en-US" sz="2800" spc="-5"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Division Operator (÷)…</a:t>
            </a:r>
            <a:endParaRPr lang="en-US"/>
          </a:p>
        </p:txBody>
      </p:sp>
      <p:pic>
        <p:nvPicPr>
          <p:cNvPr id="7170" name="Picture 2" descr="C:\Users\nEW u\Desktop\888.png"/>
          <p:cNvPicPr>
            <a:picLocks noChangeAspect="1" noChangeArrowheads="1"/>
          </p:cNvPicPr>
          <p:nvPr>
            <p:ph idx="1"/>
          </p:nvPr>
        </p:nvPicPr>
        <p:blipFill>
          <a:blip r:embed="rId1"/>
          <a:srcRect/>
          <a:stretch>
            <a:fillRect/>
          </a:stretch>
        </p:blipFill>
        <p:spPr bwMode="auto">
          <a:xfrm>
            <a:off x="2796540" y="1321435"/>
            <a:ext cx="6842760" cy="5536565"/>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Assignment Operator(←)</a:t>
            </a:r>
            <a:endParaRPr lang="en-US"/>
          </a:p>
        </p:txBody>
      </p:sp>
      <p:sp>
        <p:nvSpPr>
          <p:cNvPr id="3" name="Content Placeholder 2"/>
          <p:cNvSpPr>
            <a:spLocks noGrp="1"/>
          </p:cNvSpPr>
          <p:nvPr>
            <p:ph idx="1"/>
          </p:nvPr>
        </p:nvSpPr>
        <p:spPr/>
        <p:txBody>
          <a:bodyPr>
            <a:normAutofit fontScale="70000"/>
          </a:bodyPr>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It works like assignment in a programming language. In relational algebra, the assignment operator gives a name to a relation. It is denoted by (←) symbol.</a:t>
            </a:r>
            <a:endParaRPr lang="en-US" sz="2800"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Assignment must always be made to a temporary relation variable. The result of the right of the ← symbol is assigned to the relation variable on the left of the ← symbol.</a:t>
            </a:r>
            <a:endParaRPr lang="en-US" sz="2800"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With the assignment operator, a query can be written as a sequential program consisting of:</a:t>
            </a:r>
            <a:endParaRPr lang="en-US" sz="2800" spc="-5" dirty="0" smtClean="0">
              <a:latin typeface="Times New Roman" panose="02020603050405020304" pitchFamily="18" charset="0"/>
              <a:cs typeface="Times New Roman" panose="02020603050405020304" pitchFamily="18" charset="0"/>
            </a:endParaRPr>
          </a:p>
          <a:p>
            <a:pPr marL="722630" lvl="1" indent="-121920">
              <a:spcBef>
                <a:spcPts val="255"/>
              </a:spcBef>
              <a:buSzPct val="90000"/>
              <a:buFont typeface="Wingdings" panose="05000000000000000000" pitchFamily="2" charset="2"/>
              <a:buChar char="ü"/>
              <a:tabLst>
                <a:tab pos="266065" algn="l"/>
              </a:tabLst>
            </a:pPr>
            <a:r>
              <a:rPr lang="en-US" sz="2800" spc="-5" dirty="0" smtClean="0">
                <a:latin typeface="Times New Roman" panose="02020603050405020304" pitchFamily="18" charset="0"/>
                <a:cs typeface="Times New Roman" panose="02020603050405020304" pitchFamily="18" charset="0"/>
                <a:sym typeface="+mn-ea"/>
              </a:rPr>
              <a:t>a series of assignment,</a:t>
            </a:r>
            <a:endParaRPr lang="en-US" sz="2800" spc="-5" dirty="0" smtClean="0">
              <a:latin typeface="Times New Roman" panose="02020603050405020304" pitchFamily="18" charset="0"/>
              <a:cs typeface="Times New Roman" panose="02020603050405020304" pitchFamily="18" charset="0"/>
            </a:endParaRPr>
          </a:p>
          <a:p>
            <a:pPr marL="722630" marR="73025" lvl="1" indent="-121920">
              <a:spcBef>
                <a:spcPts val="295"/>
              </a:spcBef>
              <a:buSzPct val="90000"/>
              <a:buFont typeface="Wingdings" panose="05000000000000000000" pitchFamily="2" charset="2"/>
              <a:buChar char="ü"/>
              <a:tabLst>
                <a:tab pos="266065" algn="l"/>
              </a:tabLst>
            </a:pPr>
            <a:r>
              <a:rPr lang="en-US" sz="2800" spc="-5" dirty="0" smtClean="0">
                <a:latin typeface="Times New Roman" panose="02020603050405020304" pitchFamily="18" charset="0"/>
                <a:cs typeface="Times New Roman" panose="02020603050405020304" pitchFamily="18" charset="0"/>
                <a:sym typeface="+mn-ea"/>
              </a:rPr>
              <a:t>followed by an expression whose value is displayed as a result of the query</a:t>
            </a:r>
            <a:endParaRPr lang="en-US" sz="2800" spc="-5" dirty="0" smtClean="0">
              <a:latin typeface="Times New Roman" panose="02020603050405020304" pitchFamily="18" charset="0"/>
              <a:cs typeface="Times New Roman" panose="02020603050405020304" pitchFamily="18" charset="0"/>
            </a:endParaRPr>
          </a:p>
          <a:p>
            <a:pPr marL="469900" lvl="1">
              <a:spcBef>
                <a:spcPts val="150"/>
              </a:spcBef>
            </a:pPr>
            <a:endParaRPr lang="en-US" sz="2800" baseline="8000" dirty="0" smtClean="0">
              <a:latin typeface="Times New Roman" panose="02020603050405020304" pitchFamily="18" charset="0"/>
              <a:cs typeface="Times New Roman" panose="02020603050405020304" pitchFamily="18" charset="0"/>
            </a:endParaRPr>
          </a:p>
          <a:p>
            <a:pPr marL="469900" lvl="1">
              <a:spcBef>
                <a:spcPts val="150"/>
              </a:spcBef>
            </a:pPr>
            <a:endParaRPr lang="en-US" sz="2800" baseline="8000" dirty="0" smtClean="0">
              <a:latin typeface="Times New Roman" panose="02020603050405020304" pitchFamily="18" charset="0"/>
              <a:cs typeface="Times New Roman" panose="02020603050405020304" pitchFamily="18" charset="0"/>
            </a:endParaRPr>
          </a:p>
          <a:p>
            <a:pPr marL="469900" lvl="1"/>
            <a:r>
              <a:rPr lang="el-GR" sz="2800" spc="-187" baseline="8000" dirty="0" smtClean="0">
                <a:latin typeface="Times New Roman" panose="02020603050405020304" pitchFamily="18" charset="0"/>
                <a:cs typeface="Times New Roman" panose="02020603050405020304" pitchFamily="18" charset="0"/>
                <a:sym typeface="+mn-ea"/>
              </a:rPr>
              <a:t>π</a:t>
            </a:r>
            <a:r>
              <a:rPr lang="el-GR" sz="2800" spc="44" baseline="8000" dirty="0" smtClean="0">
                <a:latin typeface="Times New Roman" panose="02020603050405020304" pitchFamily="18" charset="0"/>
                <a:cs typeface="Times New Roman" panose="02020603050405020304" pitchFamily="18" charset="0"/>
                <a:sym typeface="+mn-ea"/>
              </a:rPr>
              <a:t> </a:t>
            </a:r>
            <a:r>
              <a:rPr lang="en-US" sz="2800" i="1" spc="-5" dirty="0" err="1" smtClean="0">
                <a:latin typeface="Times New Roman" panose="02020603050405020304" pitchFamily="18" charset="0"/>
                <a:cs typeface="Times New Roman" panose="02020603050405020304" pitchFamily="18" charset="0"/>
                <a:sym typeface="+mn-ea"/>
              </a:rPr>
              <a:t>cust</a:t>
            </a:r>
            <a:r>
              <a:rPr lang="en-US" sz="2800" i="1" spc="-135"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_</a:t>
            </a:r>
            <a:r>
              <a:rPr lang="en-US" sz="2800" i="1" spc="-5" dirty="0" err="1" smtClean="0">
                <a:latin typeface="Times New Roman" panose="02020603050405020304" pitchFamily="18" charset="0"/>
                <a:cs typeface="Times New Roman" panose="02020603050405020304" pitchFamily="18" charset="0"/>
                <a:sym typeface="+mn-ea"/>
              </a:rPr>
              <a:t>nam</a:t>
            </a:r>
            <a:r>
              <a:rPr lang="en-US" sz="2800" i="1" spc="5" dirty="0" err="1" smtClean="0">
                <a:latin typeface="Times New Roman" panose="02020603050405020304" pitchFamily="18" charset="0"/>
                <a:cs typeface="Times New Roman" panose="02020603050405020304" pitchFamily="18" charset="0"/>
                <a:sym typeface="+mn-ea"/>
              </a:rPr>
              <a:t>e</a:t>
            </a:r>
            <a:r>
              <a:rPr lang="en-US" sz="2800" spc="-25" dirty="0" err="1" smtClean="0">
                <a:latin typeface="Times New Roman" panose="02020603050405020304" pitchFamily="18" charset="0"/>
                <a:cs typeface="Times New Roman" panose="02020603050405020304" pitchFamily="18" charset="0"/>
                <a:sym typeface="+mn-ea"/>
              </a:rPr>
              <a:t>,</a:t>
            </a:r>
            <a:r>
              <a:rPr lang="en-US" sz="2800" i="1" spc="-5" dirty="0" err="1" smtClean="0">
                <a:latin typeface="Times New Roman" panose="02020603050405020304" pitchFamily="18" charset="0"/>
                <a:cs typeface="Times New Roman" panose="02020603050405020304" pitchFamily="18" charset="0"/>
                <a:sym typeface="+mn-ea"/>
              </a:rPr>
              <a:t>b</a:t>
            </a:r>
            <a:r>
              <a:rPr lang="en-US" sz="2800" i="1" spc="-15" dirty="0" err="1" smtClean="0">
                <a:latin typeface="Times New Roman" panose="02020603050405020304" pitchFamily="18" charset="0"/>
                <a:cs typeface="Times New Roman" panose="02020603050405020304" pitchFamily="18" charset="0"/>
                <a:sym typeface="+mn-ea"/>
              </a:rPr>
              <a:t>r</a:t>
            </a:r>
            <a:r>
              <a:rPr lang="en-US" sz="2800" i="1" spc="-5" dirty="0" err="1" smtClean="0">
                <a:latin typeface="Times New Roman" panose="02020603050405020304" pitchFamily="18" charset="0"/>
                <a:cs typeface="Times New Roman" panose="02020603050405020304" pitchFamily="18" charset="0"/>
                <a:sym typeface="+mn-ea"/>
              </a:rPr>
              <a:t>anc</a:t>
            </a:r>
            <a:r>
              <a:rPr lang="en-US" sz="2800" i="1" dirty="0" err="1" smtClean="0">
                <a:latin typeface="Times New Roman" panose="02020603050405020304" pitchFamily="18" charset="0"/>
                <a:cs typeface="Times New Roman" panose="02020603050405020304" pitchFamily="18" charset="0"/>
                <a:sym typeface="+mn-ea"/>
              </a:rPr>
              <a:t>h</a:t>
            </a:r>
            <a:r>
              <a:rPr lang="en-US" sz="2800" spc="-5" dirty="0" err="1" smtClean="0">
                <a:latin typeface="Times New Roman" panose="02020603050405020304" pitchFamily="18" charset="0"/>
                <a:cs typeface="Times New Roman" panose="02020603050405020304" pitchFamily="18" charset="0"/>
                <a:sym typeface="+mn-ea"/>
              </a:rPr>
              <a:t>_</a:t>
            </a:r>
            <a:r>
              <a:rPr lang="en-US" sz="2800" i="1" spc="-5" dirty="0" err="1" smtClean="0">
                <a:latin typeface="Times New Roman" panose="02020603050405020304" pitchFamily="18" charset="0"/>
                <a:cs typeface="Times New Roman" panose="02020603050405020304" pitchFamily="18" charset="0"/>
                <a:sym typeface="+mn-ea"/>
              </a:rPr>
              <a:t>name</a:t>
            </a:r>
            <a:r>
              <a:rPr lang="en-US" sz="2800" i="1" dirty="0" smtClean="0">
                <a:latin typeface="Times New Roman" panose="02020603050405020304" pitchFamily="18" charset="0"/>
                <a:cs typeface="Times New Roman" panose="02020603050405020304" pitchFamily="18" charset="0"/>
                <a:sym typeface="+mn-ea"/>
              </a:rPr>
              <a:t> </a:t>
            </a:r>
            <a:r>
              <a:rPr lang="en-US" sz="2800" i="1" spc="-50" dirty="0" smtClean="0">
                <a:latin typeface="Times New Roman" panose="02020603050405020304" pitchFamily="18" charset="0"/>
                <a:cs typeface="Times New Roman" panose="02020603050405020304" pitchFamily="18" charset="0"/>
                <a:sym typeface="+mn-ea"/>
              </a:rPr>
              <a:t> </a:t>
            </a:r>
            <a:r>
              <a:rPr lang="en-US" sz="2800" spc="-7" baseline="8000" dirty="0" smtClean="0">
                <a:latin typeface="Times New Roman" panose="02020603050405020304" pitchFamily="18" charset="0"/>
                <a:cs typeface="Times New Roman" panose="02020603050405020304" pitchFamily="18" charset="0"/>
                <a:sym typeface="+mn-ea"/>
              </a:rPr>
              <a:t>(Depositor </a:t>
            </a:r>
            <a:r>
              <a:rPr lang="en-US" sz="2800" spc="-1185" baseline="8000" dirty="0" smtClean="0">
                <a:latin typeface="Times New Roman" panose="02020603050405020304" pitchFamily="18" charset="0"/>
                <a:cs typeface="Times New Roman" panose="02020603050405020304" pitchFamily="18" charset="0"/>
                <a:sym typeface="+mn-ea"/>
              </a:rPr>
              <a:t>⋊</a:t>
            </a:r>
            <a:r>
              <a:rPr lang="en-US" sz="2800" spc="-37" baseline="8000" dirty="0" smtClean="0">
                <a:latin typeface="Times New Roman" panose="02020603050405020304" pitchFamily="18" charset="0"/>
                <a:cs typeface="Times New Roman" panose="02020603050405020304" pitchFamily="18" charset="0"/>
                <a:sym typeface="+mn-ea"/>
              </a:rPr>
              <a:t>⋉</a:t>
            </a:r>
            <a:r>
              <a:rPr lang="en-US" sz="2800" spc="-60" baseline="8000" dirty="0" smtClean="0">
                <a:latin typeface="Times New Roman" panose="02020603050405020304" pitchFamily="18" charset="0"/>
                <a:cs typeface="Times New Roman" panose="02020603050405020304" pitchFamily="18" charset="0"/>
                <a:sym typeface="+mn-ea"/>
              </a:rPr>
              <a:t> </a:t>
            </a:r>
            <a:r>
              <a:rPr lang="en-US" sz="2800" spc="-7" baseline="8000" dirty="0" smtClean="0">
                <a:latin typeface="Times New Roman" panose="02020603050405020304" pitchFamily="18" charset="0"/>
                <a:cs typeface="Times New Roman" panose="02020603050405020304" pitchFamily="18" charset="0"/>
                <a:sym typeface="+mn-ea"/>
              </a:rPr>
              <a:t>Account) </a:t>
            </a:r>
            <a:r>
              <a:rPr lang="en-US" sz="2800" spc="-37" baseline="8000" dirty="0" smtClean="0">
                <a:latin typeface="Times New Roman" panose="02020603050405020304" pitchFamily="18" charset="0"/>
                <a:cs typeface="Times New Roman" panose="02020603050405020304" pitchFamily="18" charset="0"/>
                <a:sym typeface="+mn-ea"/>
              </a:rPr>
              <a:t>÷</a:t>
            </a:r>
            <a:r>
              <a:rPr lang="en-US" sz="2800" spc="-60" baseline="8000" dirty="0" smtClean="0">
                <a:latin typeface="Times New Roman" panose="02020603050405020304" pitchFamily="18" charset="0"/>
                <a:cs typeface="Times New Roman" panose="02020603050405020304" pitchFamily="18" charset="0"/>
                <a:sym typeface="+mn-ea"/>
              </a:rPr>
              <a:t> </a:t>
            </a:r>
            <a:r>
              <a:rPr lang="el-GR" sz="2800" spc="-187" baseline="8000" dirty="0" smtClean="0">
                <a:latin typeface="Times New Roman" panose="02020603050405020304" pitchFamily="18" charset="0"/>
                <a:cs typeface="Times New Roman" panose="02020603050405020304" pitchFamily="18" charset="0"/>
                <a:sym typeface="+mn-ea"/>
              </a:rPr>
              <a:t>π</a:t>
            </a:r>
            <a:r>
              <a:rPr lang="el-GR" sz="2800" spc="44" baseline="8000" dirty="0" smtClean="0">
                <a:latin typeface="Times New Roman" panose="02020603050405020304" pitchFamily="18" charset="0"/>
                <a:cs typeface="Times New Roman" panose="02020603050405020304" pitchFamily="18" charset="0"/>
                <a:sym typeface="+mn-ea"/>
              </a:rPr>
              <a:t> </a:t>
            </a:r>
            <a:r>
              <a:rPr lang="en-US" sz="2800" i="1" spc="-5" dirty="0" err="1" smtClean="0">
                <a:latin typeface="Times New Roman" panose="02020603050405020304" pitchFamily="18" charset="0"/>
                <a:cs typeface="Times New Roman" panose="02020603050405020304" pitchFamily="18" charset="0"/>
                <a:sym typeface="+mn-ea"/>
              </a:rPr>
              <a:t>b</a:t>
            </a:r>
            <a:r>
              <a:rPr lang="en-US" sz="2800" i="1" spc="-15" dirty="0" err="1" smtClean="0">
                <a:latin typeface="Times New Roman" panose="02020603050405020304" pitchFamily="18" charset="0"/>
                <a:cs typeface="Times New Roman" panose="02020603050405020304" pitchFamily="18" charset="0"/>
                <a:sym typeface="+mn-ea"/>
              </a:rPr>
              <a:t>r</a:t>
            </a:r>
            <a:r>
              <a:rPr lang="en-US" sz="2800" i="1" spc="-5" dirty="0" err="1" smtClean="0">
                <a:latin typeface="Times New Roman" panose="02020603050405020304" pitchFamily="18" charset="0"/>
                <a:cs typeface="Times New Roman" panose="02020603050405020304" pitchFamily="18" charset="0"/>
                <a:sym typeface="+mn-ea"/>
              </a:rPr>
              <a:t>anc</a:t>
            </a:r>
            <a:r>
              <a:rPr lang="en-US" sz="2800" i="1" dirty="0" err="1" smtClean="0">
                <a:latin typeface="Times New Roman" panose="02020603050405020304" pitchFamily="18" charset="0"/>
                <a:cs typeface="Times New Roman" panose="02020603050405020304" pitchFamily="18" charset="0"/>
                <a:sym typeface="+mn-ea"/>
              </a:rPr>
              <a:t>h</a:t>
            </a:r>
            <a:r>
              <a:rPr lang="en-US" sz="2800" spc="-5" dirty="0" err="1" smtClean="0">
                <a:latin typeface="Times New Roman" panose="02020603050405020304" pitchFamily="18" charset="0"/>
                <a:cs typeface="Times New Roman" panose="02020603050405020304" pitchFamily="18" charset="0"/>
                <a:sym typeface="+mn-ea"/>
              </a:rPr>
              <a:t>_</a:t>
            </a:r>
            <a:r>
              <a:rPr lang="en-US" sz="2800" i="1" spc="-5" dirty="0" err="1" smtClean="0">
                <a:latin typeface="Times New Roman" panose="02020603050405020304" pitchFamily="18" charset="0"/>
                <a:cs typeface="Times New Roman" panose="02020603050405020304" pitchFamily="18" charset="0"/>
                <a:sym typeface="+mn-ea"/>
              </a:rPr>
              <a:t>name</a:t>
            </a:r>
            <a:r>
              <a:rPr lang="en-US" sz="2800" i="1" dirty="0" smtClean="0">
                <a:latin typeface="Times New Roman" panose="02020603050405020304" pitchFamily="18" charset="0"/>
                <a:cs typeface="Times New Roman" panose="02020603050405020304" pitchFamily="18" charset="0"/>
                <a:sym typeface="+mn-ea"/>
              </a:rPr>
              <a:t> </a:t>
            </a:r>
            <a:r>
              <a:rPr lang="en-US" sz="2800" i="1" spc="-50" dirty="0" smtClean="0">
                <a:latin typeface="Times New Roman" panose="02020603050405020304" pitchFamily="18" charset="0"/>
                <a:cs typeface="Times New Roman" panose="02020603050405020304" pitchFamily="18" charset="0"/>
                <a:sym typeface="+mn-ea"/>
              </a:rPr>
              <a:t> </a:t>
            </a:r>
            <a:r>
              <a:rPr lang="en-US" sz="2800" spc="-7" baseline="8000" dirty="0" smtClean="0">
                <a:latin typeface="Times New Roman" panose="02020603050405020304" pitchFamily="18" charset="0"/>
                <a:cs typeface="Times New Roman" panose="02020603050405020304" pitchFamily="18" charset="0"/>
                <a:sym typeface="+mn-ea"/>
              </a:rPr>
              <a:t>(</a:t>
            </a:r>
            <a:r>
              <a:rPr lang="el-GR" sz="2800" spc="15" baseline="8000" dirty="0" smtClean="0">
                <a:latin typeface="Times New Roman" panose="02020603050405020304" pitchFamily="18" charset="0"/>
                <a:cs typeface="Times New Roman" panose="02020603050405020304" pitchFamily="18" charset="0"/>
                <a:sym typeface="+mn-ea"/>
              </a:rPr>
              <a:t>σ</a:t>
            </a:r>
            <a:endParaRPr lang="el-GR" sz="2800" baseline="8000" dirty="0" smtClean="0">
              <a:latin typeface="Times New Roman" panose="02020603050405020304" pitchFamily="18" charset="0"/>
              <a:cs typeface="Times New Roman" panose="02020603050405020304" pitchFamily="18" charset="0"/>
            </a:endParaRPr>
          </a:p>
          <a:p>
            <a:pPr marL="469900" marR="1914525" lvl="1">
              <a:spcBef>
                <a:spcPts val="165"/>
              </a:spcBef>
            </a:pPr>
            <a:r>
              <a:rPr lang="en-US" sz="2800" i="1" spc="-5" dirty="0" err="1" smtClean="0">
                <a:latin typeface="Times New Roman" panose="02020603050405020304" pitchFamily="18" charset="0"/>
                <a:cs typeface="Times New Roman" panose="02020603050405020304" pitchFamily="18" charset="0"/>
                <a:sym typeface="+mn-ea"/>
              </a:rPr>
              <a:t>b</a:t>
            </a:r>
            <a:r>
              <a:rPr lang="en-US" sz="2800" i="1" spc="-15" dirty="0" err="1" smtClean="0">
                <a:latin typeface="Times New Roman" panose="02020603050405020304" pitchFamily="18" charset="0"/>
                <a:cs typeface="Times New Roman" panose="02020603050405020304" pitchFamily="18" charset="0"/>
                <a:sym typeface="+mn-ea"/>
              </a:rPr>
              <a:t>r</a:t>
            </a:r>
            <a:r>
              <a:rPr lang="en-US" sz="2800" i="1" spc="-5" dirty="0" err="1" smtClean="0">
                <a:latin typeface="Times New Roman" panose="02020603050405020304" pitchFamily="18" charset="0"/>
                <a:cs typeface="Times New Roman" panose="02020603050405020304" pitchFamily="18" charset="0"/>
                <a:sym typeface="+mn-ea"/>
              </a:rPr>
              <a:t>anc</a:t>
            </a:r>
            <a:r>
              <a:rPr lang="en-US" sz="2800" i="1" dirty="0" err="1" smtClean="0">
                <a:latin typeface="Times New Roman" panose="02020603050405020304" pitchFamily="18" charset="0"/>
                <a:cs typeface="Times New Roman" panose="02020603050405020304" pitchFamily="18" charset="0"/>
                <a:sym typeface="+mn-ea"/>
              </a:rPr>
              <a:t>h</a:t>
            </a:r>
            <a:r>
              <a:rPr lang="en-US" sz="2800" spc="-5" dirty="0" err="1" smtClean="0">
                <a:latin typeface="Times New Roman" panose="02020603050405020304" pitchFamily="18" charset="0"/>
                <a:cs typeface="Times New Roman" panose="02020603050405020304" pitchFamily="18" charset="0"/>
                <a:sym typeface="+mn-ea"/>
              </a:rPr>
              <a:t>_</a:t>
            </a:r>
            <a:r>
              <a:rPr lang="en-US" sz="2800" i="1" spc="-5" dirty="0" err="1" smtClean="0">
                <a:latin typeface="Times New Roman" panose="02020603050405020304" pitchFamily="18" charset="0"/>
                <a:cs typeface="Times New Roman" panose="02020603050405020304" pitchFamily="18" charset="0"/>
                <a:sym typeface="+mn-ea"/>
              </a:rPr>
              <a:t>city</a:t>
            </a:r>
            <a:r>
              <a:rPr lang="en-US" sz="2800" i="1" spc="-125" dirty="0" smtClean="0">
                <a:latin typeface="Times New Roman" panose="02020603050405020304" pitchFamily="18" charset="0"/>
                <a:cs typeface="Times New Roman" panose="02020603050405020304" pitchFamily="18" charset="0"/>
                <a:sym typeface="+mn-ea"/>
              </a:rPr>
              <a:t> </a:t>
            </a:r>
            <a:r>
              <a:rPr lang="en-US" sz="2800" dirty="0" smtClean="0">
                <a:latin typeface="Times New Roman" panose="02020603050405020304" pitchFamily="18" charset="0"/>
                <a:cs typeface="Times New Roman" panose="02020603050405020304" pitchFamily="18" charset="0"/>
                <a:sym typeface="+mn-ea"/>
              </a:rPr>
              <a:t>=</a:t>
            </a:r>
            <a:r>
              <a:rPr lang="en-US" sz="2800" spc="82" baseline="22000" dirty="0" smtClean="0">
                <a:latin typeface="Times New Roman" panose="02020603050405020304" pitchFamily="18" charset="0"/>
                <a:cs typeface="Times New Roman" panose="02020603050405020304" pitchFamily="18" charset="0"/>
                <a:sym typeface="+mn-ea"/>
              </a:rPr>
              <a:t>′</a:t>
            </a:r>
            <a:r>
              <a:rPr lang="en-US" sz="2800" spc="-165" baseline="22000" dirty="0" smtClean="0">
                <a:latin typeface="Times New Roman" panose="02020603050405020304" pitchFamily="18" charset="0"/>
                <a:cs typeface="Times New Roman" panose="02020603050405020304" pitchFamily="18" charset="0"/>
                <a:sym typeface="+mn-ea"/>
              </a:rPr>
              <a:t> </a:t>
            </a:r>
            <a:r>
              <a:rPr lang="en-US" sz="2800" i="1" spc="-5" dirty="0" smtClean="0">
                <a:latin typeface="Times New Roman" panose="02020603050405020304" pitchFamily="18" charset="0"/>
                <a:cs typeface="Times New Roman" panose="02020603050405020304" pitchFamily="18" charset="0"/>
                <a:sym typeface="+mn-ea"/>
              </a:rPr>
              <a:t>Mumba</a:t>
            </a:r>
            <a:r>
              <a:rPr lang="en-US" sz="2800" i="1" spc="50" dirty="0" smtClean="0">
                <a:latin typeface="Times New Roman" panose="02020603050405020304" pitchFamily="18" charset="0"/>
                <a:cs typeface="Times New Roman" panose="02020603050405020304" pitchFamily="18" charset="0"/>
                <a:sym typeface="+mn-ea"/>
              </a:rPr>
              <a:t>i</a:t>
            </a:r>
            <a:r>
              <a:rPr lang="en-US" sz="2800" spc="82" baseline="22000" dirty="0" smtClean="0">
                <a:latin typeface="Times New Roman" panose="02020603050405020304" pitchFamily="18" charset="0"/>
                <a:cs typeface="Times New Roman" panose="02020603050405020304" pitchFamily="18" charset="0"/>
                <a:sym typeface="+mn-ea"/>
              </a:rPr>
              <a:t>′</a:t>
            </a:r>
            <a:r>
              <a:rPr lang="en-US" sz="2800" baseline="22000" dirty="0" smtClean="0">
                <a:latin typeface="Times New Roman" panose="02020603050405020304" pitchFamily="18" charset="0"/>
                <a:cs typeface="Times New Roman" panose="02020603050405020304" pitchFamily="18" charset="0"/>
                <a:sym typeface="+mn-ea"/>
              </a:rPr>
              <a:t> </a:t>
            </a:r>
            <a:r>
              <a:rPr lang="en-US" sz="2800" spc="89" baseline="22000" dirty="0" smtClean="0">
                <a:latin typeface="Times New Roman" panose="02020603050405020304" pitchFamily="18" charset="0"/>
                <a:cs typeface="Times New Roman" panose="02020603050405020304" pitchFamily="18" charset="0"/>
                <a:sym typeface="+mn-ea"/>
              </a:rPr>
              <a:t> </a:t>
            </a:r>
            <a:r>
              <a:rPr lang="en-US" sz="2800" spc="-7" baseline="8000" dirty="0" smtClean="0">
                <a:latin typeface="Times New Roman" panose="02020603050405020304" pitchFamily="18" charset="0"/>
                <a:cs typeface="Times New Roman" panose="02020603050405020304" pitchFamily="18" charset="0"/>
                <a:sym typeface="+mn-ea"/>
              </a:rPr>
              <a:t>(B</a:t>
            </a:r>
            <a:r>
              <a:rPr lang="en-US" sz="2800" spc="-22" baseline="8000" dirty="0" smtClean="0">
                <a:latin typeface="Times New Roman" panose="02020603050405020304" pitchFamily="18" charset="0"/>
                <a:cs typeface="Times New Roman" panose="02020603050405020304" pitchFamily="18" charset="0"/>
                <a:sym typeface="+mn-ea"/>
              </a:rPr>
              <a:t>r</a:t>
            </a:r>
            <a:r>
              <a:rPr lang="en-US" sz="2800" spc="-7" baseline="8000" dirty="0" smtClean="0">
                <a:latin typeface="Times New Roman" panose="02020603050405020304" pitchFamily="18" charset="0"/>
                <a:cs typeface="Times New Roman" panose="02020603050405020304" pitchFamily="18" charset="0"/>
                <a:sym typeface="+mn-ea"/>
              </a:rPr>
              <a:t>anch)) </a:t>
            </a:r>
            <a:r>
              <a:rPr lang="en-US" sz="2800" spc="-10" dirty="0" smtClean="0">
                <a:latin typeface="Times New Roman" panose="02020603050405020304" pitchFamily="18" charset="0"/>
                <a:cs typeface="Times New Roman" panose="02020603050405020304" pitchFamily="18" charset="0"/>
                <a:sym typeface="+mn-ea"/>
              </a:rPr>
              <a:t>can</a:t>
            </a:r>
            <a:r>
              <a:rPr lang="en-US" sz="2800" spc="-5" dirty="0" smtClean="0">
                <a:latin typeface="Times New Roman" panose="02020603050405020304" pitchFamily="18" charset="0"/>
                <a:cs typeface="Times New Roman" panose="02020603050405020304" pitchFamily="18" charset="0"/>
                <a:sym typeface="+mn-ea"/>
              </a:rPr>
              <a:t> </a:t>
            </a:r>
            <a:r>
              <a:rPr lang="en-US" sz="2800" spc="-10" dirty="0" smtClean="0">
                <a:latin typeface="Times New Roman" panose="02020603050405020304" pitchFamily="18" charset="0"/>
                <a:cs typeface="Times New Roman" panose="02020603050405020304" pitchFamily="18" charset="0"/>
                <a:sym typeface="+mn-ea"/>
              </a:rPr>
              <a:t>be</a:t>
            </a:r>
            <a:r>
              <a:rPr lang="en-US" sz="2800" spc="-5" dirty="0" smtClean="0">
                <a:latin typeface="Times New Roman" panose="02020603050405020304" pitchFamily="18" charset="0"/>
                <a:cs typeface="Times New Roman" panose="02020603050405020304" pitchFamily="18" charset="0"/>
                <a:sym typeface="+mn-ea"/>
              </a:rPr>
              <a:t> simplified as:</a:t>
            </a:r>
            <a:endParaRPr lang="en-US" sz="2800" dirty="0" smtClean="0">
              <a:latin typeface="Times New Roman" panose="02020603050405020304" pitchFamily="18" charset="0"/>
              <a:cs typeface="Times New Roman" panose="02020603050405020304" pitchFamily="18" charset="0"/>
            </a:endParaRPr>
          </a:p>
          <a:p>
            <a:pPr marL="469900" lvl="1"/>
            <a:r>
              <a:rPr lang="en-US" sz="2800" spc="-130" dirty="0" smtClean="0">
                <a:latin typeface="Times New Roman" panose="02020603050405020304" pitchFamily="18" charset="0"/>
                <a:cs typeface="Times New Roman" panose="02020603050405020304" pitchFamily="18" charset="0"/>
                <a:sym typeface="+mn-ea"/>
              </a:rPr>
              <a:t>T</a:t>
            </a:r>
            <a:r>
              <a:rPr lang="en-US" sz="2800" spc="-10" dirty="0" smtClean="0">
                <a:latin typeface="Times New Roman" panose="02020603050405020304" pitchFamily="18" charset="0"/>
                <a:cs typeface="Times New Roman" panose="02020603050405020304" pitchFamily="18" charset="0"/>
                <a:sym typeface="+mn-ea"/>
              </a:rPr>
              <a:t>emp1</a:t>
            </a:r>
            <a:r>
              <a:rPr lang="en-US" sz="2800" spc="-5" dirty="0" smtClean="0">
                <a:latin typeface="Times New Roman" panose="02020603050405020304" pitchFamily="18" charset="0"/>
                <a:cs typeface="Times New Roman" panose="02020603050405020304" pitchFamily="18" charset="0"/>
                <a:sym typeface="+mn-ea"/>
              </a:rPr>
              <a:t> </a:t>
            </a:r>
            <a:r>
              <a:rPr lang="en-US" sz="2800" spc="55"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l-GR" sz="2800" spc="-125" dirty="0" smtClean="0">
                <a:latin typeface="Times New Roman" panose="02020603050405020304" pitchFamily="18" charset="0"/>
                <a:cs typeface="Times New Roman" panose="02020603050405020304" pitchFamily="18" charset="0"/>
                <a:sym typeface="+mn-ea"/>
              </a:rPr>
              <a:t>π</a:t>
            </a:r>
            <a:r>
              <a:rPr lang="el-GR" sz="2800" spc="30" dirty="0" smtClean="0">
                <a:latin typeface="Times New Roman" panose="02020603050405020304" pitchFamily="18" charset="0"/>
                <a:cs typeface="Times New Roman" panose="02020603050405020304" pitchFamily="18" charset="0"/>
                <a:sym typeface="+mn-ea"/>
              </a:rPr>
              <a:t> </a:t>
            </a:r>
            <a:r>
              <a:rPr lang="en-US" sz="2800" i="1" spc="-7" baseline="-12000" dirty="0" err="1" smtClean="0">
                <a:latin typeface="Times New Roman" panose="02020603050405020304" pitchFamily="18" charset="0"/>
                <a:cs typeface="Times New Roman" panose="02020603050405020304" pitchFamily="18" charset="0"/>
                <a:sym typeface="+mn-ea"/>
              </a:rPr>
              <a:t>cust</a:t>
            </a:r>
            <a:r>
              <a:rPr lang="en-US" sz="2800" i="1" spc="-202" baseline="-12000" dirty="0" smtClean="0">
                <a:latin typeface="Times New Roman" panose="02020603050405020304" pitchFamily="18" charset="0"/>
                <a:cs typeface="Times New Roman" panose="02020603050405020304" pitchFamily="18" charset="0"/>
                <a:sym typeface="+mn-ea"/>
              </a:rPr>
              <a:t> </a:t>
            </a:r>
            <a:r>
              <a:rPr lang="en-US" sz="2800" spc="-7" baseline="-12000" dirty="0" smtClean="0">
                <a:latin typeface="Times New Roman" panose="02020603050405020304" pitchFamily="18" charset="0"/>
                <a:cs typeface="Times New Roman" panose="02020603050405020304" pitchFamily="18" charset="0"/>
                <a:sym typeface="+mn-ea"/>
              </a:rPr>
              <a:t>_</a:t>
            </a:r>
            <a:r>
              <a:rPr lang="en-US" sz="2800" i="1" spc="-7" baseline="-12000" dirty="0" err="1" smtClean="0">
                <a:latin typeface="Times New Roman" panose="02020603050405020304" pitchFamily="18" charset="0"/>
                <a:cs typeface="Times New Roman" panose="02020603050405020304" pitchFamily="18" charset="0"/>
                <a:sym typeface="+mn-ea"/>
              </a:rPr>
              <a:t>nam</a:t>
            </a:r>
            <a:r>
              <a:rPr lang="en-US" sz="2800" i="1" spc="7" baseline="-12000" dirty="0" err="1" smtClean="0">
                <a:latin typeface="Times New Roman" panose="02020603050405020304" pitchFamily="18" charset="0"/>
                <a:cs typeface="Times New Roman" panose="02020603050405020304" pitchFamily="18" charset="0"/>
                <a:sym typeface="+mn-ea"/>
              </a:rPr>
              <a:t>e</a:t>
            </a:r>
            <a:r>
              <a:rPr lang="en-US" sz="2800" spc="-37" baseline="-12000" dirty="0" err="1" smtClean="0">
                <a:latin typeface="Times New Roman" panose="02020603050405020304" pitchFamily="18" charset="0"/>
                <a:cs typeface="Times New Roman" panose="02020603050405020304" pitchFamily="18" charset="0"/>
                <a:sym typeface="+mn-ea"/>
              </a:rPr>
              <a:t>,</a:t>
            </a:r>
            <a:r>
              <a:rPr lang="en-US" sz="2800" i="1" spc="-7" baseline="-12000" dirty="0" err="1" smtClean="0">
                <a:latin typeface="Times New Roman" panose="02020603050405020304" pitchFamily="18" charset="0"/>
                <a:cs typeface="Times New Roman" panose="02020603050405020304" pitchFamily="18" charset="0"/>
                <a:sym typeface="+mn-ea"/>
              </a:rPr>
              <a:t>b</a:t>
            </a:r>
            <a:r>
              <a:rPr lang="en-US" sz="2800" i="1" spc="-22" baseline="-12000" dirty="0" err="1" smtClean="0">
                <a:latin typeface="Times New Roman" panose="02020603050405020304" pitchFamily="18" charset="0"/>
                <a:cs typeface="Times New Roman" panose="02020603050405020304" pitchFamily="18" charset="0"/>
                <a:sym typeface="+mn-ea"/>
              </a:rPr>
              <a:t>r</a:t>
            </a:r>
            <a:r>
              <a:rPr lang="en-US" sz="2800" i="1" spc="-7" baseline="-12000" dirty="0" err="1" smtClean="0">
                <a:latin typeface="Times New Roman" panose="02020603050405020304" pitchFamily="18" charset="0"/>
                <a:cs typeface="Times New Roman" panose="02020603050405020304" pitchFamily="18" charset="0"/>
                <a:sym typeface="+mn-ea"/>
              </a:rPr>
              <a:t>anc</a:t>
            </a:r>
            <a:r>
              <a:rPr lang="en-US" sz="2800" i="1" baseline="-12000" dirty="0" err="1" smtClean="0">
                <a:latin typeface="Times New Roman" panose="02020603050405020304" pitchFamily="18" charset="0"/>
                <a:cs typeface="Times New Roman" panose="02020603050405020304" pitchFamily="18" charset="0"/>
                <a:sym typeface="+mn-ea"/>
              </a:rPr>
              <a:t>h</a:t>
            </a:r>
            <a:r>
              <a:rPr lang="en-US" sz="2800" spc="-7" baseline="-12000" dirty="0" err="1" smtClean="0">
                <a:latin typeface="Times New Roman" panose="02020603050405020304" pitchFamily="18" charset="0"/>
                <a:cs typeface="Times New Roman" panose="02020603050405020304" pitchFamily="18" charset="0"/>
                <a:sym typeface="+mn-ea"/>
              </a:rPr>
              <a:t>_</a:t>
            </a:r>
            <a:r>
              <a:rPr lang="en-US" sz="2800" i="1" spc="-7" baseline="-12000" dirty="0" err="1" smtClean="0">
                <a:latin typeface="Times New Roman" panose="02020603050405020304" pitchFamily="18" charset="0"/>
                <a:cs typeface="Times New Roman" panose="02020603050405020304" pitchFamily="18" charset="0"/>
                <a:sym typeface="+mn-ea"/>
              </a:rPr>
              <a:t>name</a:t>
            </a:r>
            <a:r>
              <a:rPr lang="en-US" sz="2800" i="1" baseline="-12000" dirty="0" smtClean="0">
                <a:latin typeface="Times New Roman" panose="02020603050405020304" pitchFamily="18" charset="0"/>
                <a:cs typeface="Times New Roman" panose="02020603050405020304" pitchFamily="18" charset="0"/>
                <a:sym typeface="+mn-ea"/>
              </a:rPr>
              <a:t> </a:t>
            </a:r>
            <a:r>
              <a:rPr lang="en-US" sz="2800" i="1" spc="-75" baseline="-1200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(Depositor </a:t>
            </a:r>
            <a:r>
              <a:rPr lang="en-US" sz="2800" spc="-790" dirty="0" smtClean="0">
                <a:latin typeface="Times New Roman" panose="02020603050405020304" pitchFamily="18" charset="0"/>
                <a:cs typeface="Times New Roman" panose="02020603050405020304" pitchFamily="18" charset="0"/>
                <a:sym typeface="+mn-ea"/>
              </a:rPr>
              <a:t>⋊</a:t>
            </a:r>
            <a:r>
              <a:rPr lang="en-US" sz="2800" spc="-25"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Account)</a:t>
            </a:r>
            <a:endParaRPr lang="en-US" sz="2800" dirty="0" smtClean="0">
              <a:latin typeface="Times New Roman" panose="02020603050405020304" pitchFamily="18" charset="0"/>
              <a:cs typeface="Times New Roman" panose="02020603050405020304" pitchFamily="18" charset="0"/>
            </a:endParaRPr>
          </a:p>
          <a:p>
            <a:pPr marL="469900" lvl="1">
              <a:spcBef>
                <a:spcPts val="150"/>
              </a:spcBef>
            </a:pPr>
            <a:r>
              <a:rPr lang="en-US" sz="2800" spc="-195" baseline="8000" dirty="0" smtClean="0">
                <a:latin typeface="Times New Roman" panose="02020603050405020304" pitchFamily="18" charset="0"/>
                <a:cs typeface="Times New Roman" panose="02020603050405020304" pitchFamily="18" charset="0"/>
                <a:sym typeface="+mn-ea"/>
              </a:rPr>
              <a:t>T</a:t>
            </a:r>
            <a:r>
              <a:rPr lang="en-US" sz="2800" spc="-15" baseline="8000" dirty="0" smtClean="0">
                <a:latin typeface="Times New Roman" panose="02020603050405020304" pitchFamily="18" charset="0"/>
                <a:cs typeface="Times New Roman" panose="02020603050405020304" pitchFamily="18" charset="0"/>
                <a:sym typeface="+mn-ea"/>
              </a:rPr>
              <a:t>emp2</a:t>
            </a:r>
            <a:r>
              <a:rPr lang="en-US" sz="2800" spc="-7" baseline="8000" dirty="0" smtClean="0">
                <a:latin typeface="Times New Roman" panose="02020603050405020304" pitchFamily="18" charset="0"/>
                <a:cs typeface="Times New Roman" panose="02020603050405020304" pitchFamily="18" charset="0"/>
                <a:sym typeface="+mn-ea"/>
              </a:rPr>
              <a:t> </a:t>
            </a:r>
            <a:r>
              <a:rPr lang="en-US" sz="2800" spc="82" baseline="8000" dirty="0" smtClean="0">
                <a:latin typeface="Times New Roman" panose="02020603050405020304" pitchFamily="18" charset="0"/>
                <a:cs typeface="Times New Roman" panose="02020603050405020304" pitchFamily="18" charset="0"/>
                <a:sym typeface="+mn-ea"/>
              </a:rPr>
              <a:t>←</a:t>
            </a:r>
            <a:r>
              <a:rPr lang="en-US" sz="2800" spc="-60" baseline="8000" dirty="0" smtClean="0">
                <a:latin typeface="Times New Roman" panose="02020603050405020304" pitchFamily="18" charset="0"/>
                <a:cs typeface="Times New Roman" panose="02020603050405020304" pitchFamily="18" charset="0"/>
                <a:sym typeface="+mn-ea"/>
              </a:rPr>
              <a:t> </a:t>
            </a:r>
            <a:r>
              <a:rPr lang="el-GR" sz="2800" spc="-187" baseline="8000" dirty="0" smtClean="0">
                <a:latin typeface="Times New Roman" panose="02020603050405020304" pitchFamily="18" charset="0"/>
                <a:cs typeface="Times New Roman" panose="02020603050405020304" pitchFamily="18" charset="0"/>
                <a:sym typeface="+mn-ea"/>
              </a:rPr>
              <a:t>π</a:t>
            </a:r>
            <a:r>
              <a:rPr lang="el-GR" sz="2800" spc="44" baseline="8000" dirty="0" smtClean="0">
                <a:latin typeface="Times New Roman" panose="02020603050405020304" pitchFamily="18" charset="0"/>
                <a:cs typeface="Times New Roman" panose="02020603050405020304" pitchFamily="18" charset="0"/>
                <a:sym typeface="+mn-ea"/>
              </a:rPr>
              <a:t> </a:t>
            </a:r>
            <a:r>
              <a:rPr lang="en-US" sz="2800" i="1" spc="-5" dirty="0" err="1" smtClean="0">
                <a:latin typeface="Times New Roman" panose="02020603050405020304" pitchFamily="18" charset="0"/>
                <a:cs typeface="Times New Roman" panose="02020603050405020304" pitchFamily="18" charset="0"/>
                <a:sym typeface="+mn-ea"/>
              </a:rPr>
              <a:t>b</a:t>
            </a:r>
            <a:r>
              <a:rPr lang="en-US" sz="2800" i="1" spc="-15" dirty="0" err="1" smtClean="0">
                <a:latin typeface="Times New Roman" panose="02020603050405020304" pitchFamily="18" charset="0"/>
                <a:cs typeface="Times New Roman" panose="02020603050405020304" pitchFamily="18" charset="0"/>
                <a:sym typeface="+mn-ea"/>
              </a:rPr>
              <a:t>r</a:t>
            </a:r>
            <a:r>
              <a:rPr lang="en-US" sz="2800" i="1" spc="-5" dirty="0" err="1" smtClean="0">
                <a:latin typeface="Times New Roman" panose="02020603050405020304" pitchFamily="18" charset="0"/>
                <a:cs typeface="Times New Roman" panose="02020603050405020304" pitchFamily="18" charset="0"/>
                <a:sym typeface="+mn-ea"/>
              </a:rPr>
              <a:t>anc</a:t>
            </a:r>
            <a:r>
              <a:rPr lang="en-US" sz="2800" i="1" dirty="0" err="1" smtClean="0">
                <a:latin typeface="Times New Roman" panose="02020603050405020304" pitchFamily="18" charset="0"/>
                <a:cs typeface="Times New Roman" panose="02020603050405020304" pitchFamily="18" charset="0"/>
                <a:sym typeface="+mn-ea"/>
              </a:rPr>
              <a:t>h</a:t>
            </a:r>
            <a:r>
              <a:rPr lang="en-US" sz="2800" spc="-5" dirty="0" err="1" smtClean="0">
                <a:latin typeface="Times New Roman" panose="02020603050405020304" pitchFamily="18" charset="0"/>
                <a:cs typeface="Times New Roman" panose="02020603050405020304" pitchFamily="18" charset="0"/>
                <a:sym typeface="+mn-ea"/>
              </a:rPr>
              <a:t>_</a:t>
            </a:r>
            <a:r>
              <a:rPr lang="en-US" sz="2800" i="1" spc="-5" dirty="0" err="1" smtClean="0">
                <a:latin typeface="Times New Roman" panose="02020603050405020304" pitchFamily="18" charset="0"/>
                <a:cs typeface="Times New Roman" panose="02020603050405020304" pitchFamily="18" charset="0"/>
                <a:sym typeface="+mn-ea"/>
              </a:rPr>
              <a:t>name</a:t>
            </a:r>
            <a:r>
              <a:rPr lang="en-US" sz="2800" i="1" dirty="0" smtClean="0">
                <a:latin typeface="Times New Roman" panose="02020603050405020304" pitchFamily="18" charset="0"/>
                <a:cs typeface="Times New Roman" panose="02020603050405020304" pitchFamily="18" charset="0"/>
                <a:sym typeface="+mn-ea"/>
              </a:rPr>
              <a:t> </a:t>
            </a:r>
            <a:r>
              <a:rPr lang="en-US" sz="2800" i="1" spc="-50" dirty="0" smtClean="0">
                <a:latin typeface="Times New Roman" panose="02020603050405020304" pitchFamily="18" charset="0"/>
                <a:cs typeface="Times New Roman" panose="02020603050405020304" pitchFamily="18" charset="0"/>
                <a:sym typeface="+mn-ea"/>
              </a:rPr>
              <a:t> </a:t>
            </a:r>
            <a:r>
              <a:rPr lang="en-US" sz="2800" spc="-7" baseline="8000" dirty="0" smtClean="0">
                <a:latin typeface="Times New Roman" panose="02020603050405020304" pitchFamily="18" charset="0"/>
                <a:cs typeface="Times New Roman" panose="02020603050405020304" pitchFamily="18" charset="0"/>
                <a:sym typeface="+mn-ea"/>
              </a:rPr>
              <a:t>(</a:t>
            </a:r>
            <a:r>
              <a:rPr lang="el-GR" sz="2800" spc="15" baseline="8000" dirty="0" smtClean="0">
                <a:latin typeface="Times New Roman" panose="02020603050405020304" pitchFamily="18" charset="0"/>
                <a:cs typeface="Times New Roman" panose="02020603050405020304" pitchFamily="18" charset="0"/>
                <a:sym typeface="+mn-ea"/>
              </a:rPr>
              <a:t>σ</a:t>
            </a:r>
            <a:r>
              <a:rPr lang="el-GR" sz="2800" spc="52" baseline="8000" dirty="0" smtClean="0">
                <a:latin typeface="Times New Roman" panose="02020603050405020304" pitchFamily="18" charset="0"/>
                <a:cs typeface="Times New Roman" panose="02020603050405020304" pitchFamily="18" charset="0"/>
                <a:sym typeface="+mn-ea"/>
              </a:rPr>
              <a:t> </a:t>
            </a:r>
            <a:r>
              <a:rPr lang="en-US" sz="2800" i="1" spc="-5" dirty="0" err="1" smtClean="0">
                <a:latin typeface="Times New Roman" panose="02020603050405020304" pitchFamily="18" charset="0"/>
                <a:cs typeface="Times New Roman" panose="02020603050405020304" pitchFamily="18" charset="0"/>
                <a:sym typeface="+mn-ea"/>
              </a:rPr>
              <a:t>b</a:t>
            </a:r>
            <a:r>
              <a:rPr lang="en-US" sz="2800" i="1" spc="-15" dirty="0" err="1" smtClean="0">
                <a:latin typeface="Times New Roman" panose="02020603050405020304" pitchFamily="18" charset="0"/>
                <a:cs typeface="Times New Roman" panose="02020603050405020304" pitchFamily="18" charset="0"/>
                <a:sym typeface="+mn-ea"/>
              </a:rPr>
              <a:t>r</a:t>
            </a:r>
            <a:r>
              <a:rPr lang="en-US" sz="2800" i="1" spc="-5" dirty="0" err="1" smtClean="0">
                <a:latin typeface="Times New Roman" panose="02020603050405020304" pitchFamily="18" charset="0"/>
                <a:cs typeface="Times New Roman" panose="02020603050405020304" pitchFamily="18" charset="0"/>
                <a:sym typeface="+mn-ea"/>
              </a:rPr>
              <a:t>anc</a:t>
            </a:r>
            <a:r>
              <a:rPr lang="en-US" sz="2800" i="1" dirty="0" err="1" smtClean="0">
                <a:latin typeface="Times New Roman" panose="02020603050405020304" pitchFamily="18" charset="0"/>
                <a:cs typeface="Times New Roman" panose="02020603050405020304" pitchFamily="18" charset="0"/>
                <a:sym typeface="+mn-ea"/>
              </a:rPr>
              <a:t>h</a:t>
            </a:r>
            <a:r>
              <a:rPr lang="en-US" sz="2800" spc="-5" dirty="0" err="1" smtClean="0">
                <a:latin typeface="Times New Roman" panose="02020603050405020304" pitchFamily="18" charset="0"/>
                <a:cs typeface="Times New Roman" panose="02020603050405020304" pitchFamily="18" charset="0"/>
                <a:sym typeface="+mn-ea"/>
              </a:rPr>
              <a:t>_</a:t>
            </a:r>
            <a:r>
              <a:rPr lang="en-US" sz="2800" i="1" spc="-5" dirty="0" err="1" smtClean="0">
                <a:latin typeface="Times New Roman" panose="02020603050405020304" pitchFamily="18" charset="0"/>
                <a:cs typeface="Times New Roman" panose="02020603050405020304" pitchFamily="18" charset="0"/>
                <a:sym typeface="+mn-ea"/>
              </a:rPr>
              <a:t>city</a:t>
            </a:r>
            <a:r>
              <a:rPr lang="en-US" sz="2800" i="1" spc="-125" dirty="0" smtClean="0">
                <a:latin typeface="Times New Roman" panose="02020603050405020304" pitchFamily="18" charset="0"/>
                <a:cs typeface="Times New Roman" panose="02020603050405020304" pitchFamily="18" charset="0"/>
                <a:sym typeface="+mn-ea"/>
              </a:rPr>
              <a:t> </a:t>
            </a:r>
            <a:r>
              <a:rPr lang="en-US" sz="2800" dirty="0" smtClean="0">
                <a:latin typeface="Times New Roman" panose="02020603050405020304" pitchFamily="18" charset="0"/>
                <a:cs typeface="Times New Roman" panose="02020603050405020304" pitchFamily="18" charset="0"/>
                <a:sym typeface="+mn-ea"/>
              </a:rPr>
              <a:t>=</a:t>
            </a:r>
            <a:r>
              <a:rPr lang="en-US" sz="2800" spc="82" baseline="22000" dirty="0" smtClean="0">
                <a:latin typeface="Times New Roman" panose="02020603050405020304" pitchFamily="18" charset="0"/>
                <a:cs typeface="Times New Roman" panose="02020603050405020304" pitchFamily="18" charset="0"/>
                <a:sym typeface="+mn-ea"/>
              </a:rPr>
              <a:t>′</a:t>
            </a:r>
            <a:r>
              <a:rPr lang="en-US" sz="2800" spc="-165" baseline="22000" dirty="0" smtClean="0">
                <a:latin typeface="Times New Roman" panose="02020603050405020304" pitchFamily="18" charset="0"/>
                <a:cs typeface="Times New Roman" panose="02020603050405020304" pitchFamily="18" charset="0"/>
                <a:sym typeface="+mn-ea"/>
              </a:rPr>
              <a:t> </a:t>
            </a:r>
            <a:r>
              <a:rPr lang="en-US" sz="2800" i="1" spc="-5" dirty="0" smtClean="0">
                <a:latin typeface="Times New Roman" panose="02020603050405020304" pitchFamily="18" charset="0"/>
                <a:cs typeface="Times New Roman" panose="02020603050405020304" pitchFamily="18" charset="0"/>
                <a:sym typeface="+mn-ea"/>
              </a:rPr>
              <a:t>Mumba</a:t>
            </a:r>
            <a:r>
              <a:rPr lang="en-US" sz="2800" i="1" spc="50" dirty="0" smtClean="0">
                <a:latin typeface="Times New Roman" panose="02020603050405020304" pitchFamily="18" charset="0"/>
                <a:cs typeface="Times New Roman" panose="02020603050405020304" pitchFamily="18" charset="0"/>
                <a:sym typeface="+mn-ea"/>
              </a:rPr>
              <a:t>i</a:t>
            </a:r>
            <a:r>
              <a:rPr lang="en-US" sz="2800" spc="82" baseline="22000" dirty="0" smtClean="0">
                <a:latin typeface="Times New Roman" panose="02020603050405020304" pitchFamily="18" charset="0"/>
                <a:cs typeface="Times New Roman" panose="02020603050405020304" pitchFamily="18" charset="0"/>
                <a:sym typeface="+mn-ea"/>
              </a:rPr>
              <a:t>′</a:t>
            </a:r>
            <a:r>
              <a:rPr lang="en-US" sz="2800" baseline="22000" dirty="0" smtClean="0">
                <a:latin typeface="Times New Roman" panose="02020603050405020304" pitchFamily="18" charset="0"/>
                <a:cs typeface="Times New Roman" panose="02020603050405020304" pitchFamily="18" charset="0"/>
                <a:sym typeface="+mn-ea"/>
              </a:rPr>
              <a:t> </a:t>
            </a:r>
            <a:r>
              <a:rPr lang="en-US" sz="2800" spc="89" baseline="22000" dirty="0" smtClean="0">
                <a:latin typeface="Times New Roman" panose="02020603050405020304" pitchFamily="18" charset="0"/>
                <a:cs typeface="Times New Roman" panose="02020603050405020304" pitchFamily="18" charset="0"/>
                <a:sym typeface="+mn-ea"/>
              </a:rPr>
              <a:t> </a:t>
            </a:r>
            <a:r>
              <a:rPr lang="en-US" sz="2800" spc="-7" baseline="8000" dirty="0" smtClean="0">
                <a:latin typeface="Times New Roman" panose="02020603050405020304" pitchFamily="18" charset="0"/>
                <a:cs typeface="Times New Roman" panose="02020603050405020304" pitchFamily="18" charset="0"/>
                <a:sym typeface="+mn-ea"/>
              </a:rPr>
              <a:t>(B</a:t>
            </a:r>
            <a:r>
              <a:rPr lang="en-US" sz="2800" spc="-22" baseline="8000" dirty="0" smtClean="0">
                <a:latin typeface="Times New Roman" panose="02020603050405020304" pitchFamily="18" charset="0"/>
                <a:cs typeface="Times New Roman" panose="02020603050405020304" pitchFamily="18" charset="0"/>
                <a:sym typeface="+mn-ea"/>
              </a:rPr>
              <a:t>r</a:t>
            </a:r>
            <a:r>
              <a:rPr lang="en-US" sz="2800" spc="-7" baseline="8000" dirty="0" smtClean="0">
                <a:latin typeface="Times New Roman" panose="02020603050405020304" pitchFamily="18" charset="0"/>
                <a:cs typeface="Times New Roman" panose="02020603050405020304" pitchFamily="18" charset="0"/>
                <a:sym typeface="+mn-ea"/>
              </a:rPr>
              <a:t>anch))</a:t>
            </a:r>
            <a:endParaRPr lang="en-US" sz="2800" baseline="8000" dirty="0" smtClean="0">
              <a:latin typeface="Times New Roman" panose="02020603050405020304" pitchFamily="18" charset="0"/>
              <a:cs typeface="Times New Roman" panose="02020603050405020304" pitchFamily="18" charset="0"/>
            </a:endParaRPr>
          </a:p>
          <a:p>
            <a:pPr marL="469900" lvl="1">
              <a:spcBef>
                <a:spcPts val="150"/>
              </a:spcBef>
            </a:pPr>
            <a:r>
              <a:rPr lang="en-US" sz="2800" spc="-5" dirty="0" smtClean="0">
                <a:latin typeface="Arial" panose="020B0604020202020204"/>
                <a:cs typeface="Arial" panose="020B0604020202020204"/>
                <a:sym typeface="+mn-ea"/>
              </a:rPr>
              <a:t>Result </a:t>
            </a:r>
            <a:r>
              <a:rPr lang="en-US" sz="2800" spc="-10" dirty="0" smtClean="0">
                <a:latin typeface="Arial" panose="020B0604020202020204"/>
                <a:cs typeface="Arial" panose="020B0604020202020204"/>
                <a:sym typeface="+mn-ea"/>
              </a:rPr>
              <a:t>=</a:t>
            </a:r>
            <a:r>
              <a:rPr lang="en-US" sz="2800" spc="-5" dirty="0" smtClean="0">
                <a:latin typeface="Arial" panose="020B0604020202020204"/>
                <a:cs typeface="Arial" panose="020B0604020202020204"/>
                <a:sym typeface="+mn-ea"/>
              </a:rPr>
              <a:t> </a:t>
            </a:r>
            <a:r>
              <a:rPr lang="en-US" sz="2800" spc="-130" dirty="0" smtClean="0">
                <a:latin typeface="Arial" panose="020B0604020202020204"/>
                <a:cs typeface="Arial" panose="020B0604020202020204"/>
                <a:sym typeface="+mn-ea"/>
              </a:rPr>
              <a:t>T</a:t>
            </a:r>
            <a:r>
              <a:rPr lang="en-US" sz="2800" spc="-10" dirty="0" smtClean="0">
                <a:latin typeface="Arial" panose="020B0604020202020204"/>
                <a:cs typeface="Arial" panose="020B0604020202020204"/>
                <a:sym typeface="+mn-ea"/>
              </a:rPr>
              <a:t>emp1</a:t>
            </a:r>
            <a:r>
              <a:rPr lang="en-US" sz="2800" spc="-5" dirty="0" smtClean="0">
                <a:latin typeface="Arial" panose="020B0604020202020204"/>
                <a:cs typeface="Arial" panose="020B0604020202020204"/>
                <a:sym typeface="+mn-ea"/>
              </a:rPr>
              <a:t> </a:t>
            </a:r>
            <a:r>
              <a:rPr lang="en-US" sz="2800" spc="-25" dirty="0" smtClean="0">
                <a:latin typeface="Lucida Sans Unicode" panose="020B0602030504020204"/>
                <a:cs typeface="Lucida Sans Unicode" panose="020B0602030504020204"/>
                <a:sym typeface="+mn-ea"/>
              </a:rPr>
              <a:t>÷</a:t>
            </a:r>
            <a:r>
              <a:rPr lang="en-US" sz="2800" spc="-40" dirty="0" smtClean="0">
                <a:latin typeface="Lucida Sans Unicode" panose="020B0602030504020204"/>
                <a:cs typeface="Lucida Sans Unicode" panose="020B0602030504020204"/>
                <a:sym typeface="+mn-ea"/>
              </a:rPr>
              <a:t> </a:t>
            </a:r>
            <a:r>
              <a:rPr lang="en-US" sz="2800" spc="-130" dirty="0" smtClean="0">
                <a:latin typeface="Arial" panose="020B0604020202020204"/>
                <a:cs typeface="Arial" panose="020B0604020202020204"/>
                <a:sym typeface="+mn-ea"/>
              </a:rPr>
              <a:t>T</a:t>
            </a:r>
            <a:r>
              <a:rPr lang="en-US" sz="2800" spc="-10" dirty="0" smtClean="0">
                <a:latin typeface="Arial" panose="020B0604020202020204"/>
                <a:cs typeface="Arial" panose="020B0604020202020204"/>
                <a:sym typeface="+mn-ea"/>
              </a:rPr>
              <a:t>emp2</a:t>
            </a:r>
            <a:endParaRPr lang="en-US" sz="2800" dirty="0" smtClean="0">
              <a:latin typeface="Arial" panose="020B0604020202020204"/>
              <a:cs typeface="Arial" panose="020B0604020202020204"/>
            </a:endParaRPr>
          </a:p>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0" y="0"/>
            <a:ext cx="12192635" cy="685863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Join</a:t>
            </a:r>
            <a:endParaRPr lang="en-US"/>
          </a:p>
        </p:txBody>
      </p:sp>
      <p:sp>
        <p:nvSpPr>
          <p:cNvPr id="3" name="Content Placeholder 2"/>
          <p:cNvSpPr>
            <a:spLocks noGrp="1"/>
          </p:cNvSpPr>
          <p:nvPr>
            <p:ph idx="1"/>
          </p:nvPr>
        </p:nvSpPr>
        <p:spPr/>
        <p:txBody>
          <a:bodyPr>
            <a:normAutofit fontScale="6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join operation is used to connect data across relations. Tables are joined on columns that have the same data type and data width in the tables.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Join operation joins two relations by merging those tuples from two relations that satisfy a given condition. The condition is defined on attributes belonging to relations to be joined.</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Different categories of join are:</a:t>
            </a:r>
            <a:endParaRPr lang="en-US" sz="2800" kern="0" dirty="0" smtClean="0">
              <a:latin typeface="Times New Roman" panose="02020603050405020304" pitchFamily="18" charset="0"/>
              <a:cs typeface="Times New Roman" panose="02020603050405020304" pitchFamily="18" charset="0"/>
            </a:endParaRPr>
          </a:p>
          <a:p>
            <a:pPr marL="1400810" lvl="2" indent="-34290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Inner Join</a:t>
            </a:r>
            <a:endParaRPr lang="en-US" sz="2800" kern="0" dirty="0" smtClean="0">
              <a:latin typeface="Times New Roman" panose="02020603050405020304" pitchFamily="18" charset="0"/>
              <a:cs typeface="Times New Roman" panose="02020603050405020304" pitchFamily="18" charset="0"/>
            </a:endParaRPr>
          </a:p>
          <a:p>
            <a:pPr marL="1400810" lvl="2" indent="-34290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Outer Join</a:t>
            </a:r>
            <a:endParaRPr lang="en-US" sz="2800" kern="0" dirty="0" smtClean="0">
              <a:latin typeface="Times New Roman" panose="02020603050405020304" pitchFamily="18" charset="0"/>
              <a:cs typeface="Times New Roman" panose="02020603050405020304" pitchFamily="18" charset="0"/>
            </a:endParaRPr>
          </a:p>
          <a:p>
            <a:pPr marL="1400810" lvl="2" indent="-34290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Self Join</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b="1" kern="0" dirty="0" smtClean="0">
                <a:latin typeface="Times New Roman" panose="02020603050405020304" pitchFamily="18" charset="0"/>
                <a:cs typeface="Times New Roman" panose="02020603050405020304" pitchFamily="18" charset="0"/>
                <a:sym typeface="+mn-ea"/>
              </a:rPr>
              <a:t>Inner Join: </a:t>
            </a:r>
            <a:r>
              <a:rPr lang="en-US" sz="2800" kern="0" dirty="0" smtClean="0">
                <a:latin typeface="Times New Roman" panose="02020603050405020304" pitchFamily="18" charset="0"/>
                <a:cs typeface="Times New Roman" panose="02020603050405020304" pitchFamily="18" charset="0"/>
                <a:sym typeface="+mn-ea"/>
              </a:rPr>
              <a:t>In the inner join, tuples with NULL valued join attributes do not appear in the result. Tuples with NULL values in the join attributes are also eliminated. The different types of inner join are:</a:t>
            </a:r>
            <a:endParaRPr lang="en-US" sz="2800" kern="0" dirty="0" smtClean="0">
              <a:latin typeface="Times New Roman" panose="02020603050405020304" pitchFamily="18" charset="0"/>
              <a:cs typeface="Times New Roman" panose="02020603050405020304" pitchFamily="18" charset="0"/>
            </a:endParaRPr>
          </a:p>
          <a:p>
            <a:pPr marL="1179830" lvl="2"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Theta Join</a:t>
            </a:r>
            <a:endParaRPr lang="en-US" sz="2800" kern="0" dirty="0" smtClean="0">
              <a:latin typeface="Times New Roman" panose="02020603050405020304" pitchFamily="18" charset="0"/>
              <a:cs typeface="Times New Roman" panose="02020603050405020304" pitchFamily="18" charset="0"/>
            </a:endParaRPr>
          </a:p>
          <a:p>
            <a:pPr marL="1179830" lvl="2"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Equi Join</a:t>
            </a:r>
            <a:endParaRPr lang="en-US" sz="2800" kern="0" dirty="0" smtClean="0">
              <a:latin typeface="Times New Roman" panose="02020603050405020304" pitchFamily="18" charset="0"/>
              <a:cs typeface="Times New Roman" panose="02020603050405020304" pitchFamily="18" charset="0"/>
            </a:endParaRPr>
          </a:p>
          <a:p>
            <a:pPr marL="1179830" lvl="2"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Natural Join</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JOIN (⋈)</a:t>
            </a:r>
            <a:endParaRPr lang="en-US"/>
          </a:p>
        </p:txBody>
      </p:sp>
      <p:sp>
        <p:nvSpPr>
          <p:cNvPr id="5" name="Content Placeholder 2"/>
          <p:cNvSpPr txBox="1"/>
          <p:nvPr/>
        </p:nvSpPr>
        <p:spPr bwMode="auto">
          <a:xfrm>
            <a:off x="1147445" y="1443355"/>
            <a:ext cx="8393430" cy="5215255"/>
          </a:xfrm>
          <a:prstGeom prst="rect">
            <a:avLst/>
          </a:prstGeom>
          <a:noFill/>
          <a:ln w="9525">
            <a:noFill/>
            <a:miter lim="800000"/>
          </a:ln>
        </p:spPr>
        <p:txBody>
          <a:bodyPr/>
          <a:p>
            <a:pPr marL="469900" indent="-457200" algn="just">
              <a:spcBef>
                <a:spcPts val="150"/>
              </a:spcBef>
              <a:buFont typeface="Wingdings" panose="05000000000000000000" charset="0"/>
              <a:buChar char="Ø"/>
            </a:pPr>
            <a:r>
              <a:rPr lang="en-US" sz="3200" baseline="8000" dirty="0" smtClean="0">
                <a:latin typeface="Times New Roman" panose="02020603050405020304" pitchFamily="18" charset="0"/>
                <a:cs typeface="Times New Roman" panose="02020603050405020304" pitchFamily="18" charset="0"/>
              </a:rPr>
              <a:t>A Join operation combines related tuples from different relations, if and only if a given join condition is satisfied. It is denoted by ⋈.</a:t>
            </a:r>
            <a:endParaRPr lang="en-US" sz="3200" baseline="8000" dirty="0" smtClean="0">
              <a:latin typeface="Times New Roman" panose="02020603050405020304" pitchFamily="18" charset="0"/>
              <a:cs typeface="Times New Roman" panose="02020603050405020304" pitchFamily="18" charset="0"/>
            </a:endParaRPr>
          </a:p>
          <a:p>
            <a:pPr marL="469900" indent="-457200" algn="just">
              <a:spcBef>
                <a:spcPts val="150"/>
              </a:spcBef>
              <a:buFont typeface="Wingdings" panose="05000000000000000000" charset="0"/>
              <a:buChar char="Ø"/>
            </a:pPr>
            <a:r>
              <a:rPr lang="en-US" sz="3200" baseline="8000" dirty="0" smtClean="0">
                <a:latin typeface="Times New Roman" panose="02020603050405020304" pitchFamily="18" charset="0"/>
                <a:cs typeface="Times New Roman" panose="02020603050405020304" pitchFamily="18" charset="0"/>
              </a:rPr>
              <a:t>Join is a combination of a Cartesian product followed by a selection process. A Join operation pairs two tuples from different relations, if and only if a given join condition is satisfied.</a:t>
            </a:r>
            <a:endParaRPr lang="en-US" sz="3200" baseline="8000" dirty="0" smtClean="0">
              <a:latin typeface="Times New Roman" panose="02020603050405020304" pitchFamily="18" charset="0"/>
              <a:cs typeface="Times New Roman" panose="02020603050405020304" pitchFamily="18" charset="0"/>
            </a:endParaRPr>
          </a:p>
          <a:p>
            <a:pPr marL="12700" indent="0" algn="just">
              <a:spcBef>
                <a:spcPts val="150"/>
              </a:spcBef>
              <a:buFont typeface="Wingdings" panose="05000000000000000000" charset="0"/>
              <a:buNone/>
            </a:pPr>
            <a:r>
              <a:rPr lang="en-US" sz="3200" b="1" baseline="8000" dirty="0" smtClean="0">
                <a:latin typeface="Times New Roman" panose="02020603050405020304" pitchFamily="18" charset="0"/>
                <a:cs typeface="Times New Roman" panose="02020603050405020304" pitchFamily="18" charset="0"/>
              </a:rPr>
              <a:t>Operation: </a:t>
            </a:r>
            <a:r>
              <a:rPr lang="en-US" sz="3200" baseline="8000" dirty="0" smtClean="0">
                <a:latin typeface="Times New Roman" panose="02020603050405020304" pitchFamily="18" charset="0"/>
                <a:cs typeface="Times New Roman" panose="02020603050405020304" pitchFamily="18" charset="0"/>
              </a:rPr>
              <a:t>(EMPLOYEE ⋈ SALARY)   </a:t>
            </a:r>
            <a:endParaRPr lang="en-US" sz="3200" baseline="8000" dirty="0" smtClean="0">
              <a:latin typeface="Times New Roman" panose="02020603050405020304" pitchFamily="18" charset="0"/>
              <a:cs typeface="Times New Roman" panose="02020603050405020304" pitchFamily="18" charset="0"/>
            </a:endParaRPr>
          </a:p>
          <a:p>
            <a:pPr marL="469900" indent="-457200" algn="just">
              <a:spcBef>
                <a:spcPts val="150"/>
              </a:spcBef>
              <a:buFont typeface="Wingdings" panose="05000000000000000000" charset="0"/>
              <a:buChar char="Ø"/>
            </a:pPr>
            <a:endParaRPr lang="en-US" sz="3200" baseline="8000" dirty="0" smtClean="0">
              <a:latin typeface="Times New Roman" panose="02020603050405020304" pitchFamily="18" charset="0"/>
              <a:cs typeface="Times New Roman" panose="02020603050405020304" pitchFamily="18" charset="0"/>
            </a:endParaRPr>
          </a:p>
          <a:p>
            <a:pPr marL="469900" indent="-457200" algn="just">
              <a:spcBef>
                <a:spcPts val="150"/>
              </a:spcBef>
              <a:buFont typeface="Wingdings" panose="05000000000000000000" charset="0"/>
              <a:buChar char="Ø"/>
            </a:pPr>
            <a:r>
              <a:rPr lang="en-US" sz="3200" baseline="8000" dirty="0" smtClean="0">
                <a:latin typeface="Times New Roman" panose="02020603050405020304" pitchFamily="18" charset="0"/>
                <a:cs typeface="Times New Roman" panose="02020603050405020304" pitchFamily="18" charset="0"/>
              </a:rPr>
              <a:t>EXAMPLE:Employee                                  Salary </a:t>
            </a:r>
            <a:endParaRPr lang="en-US" sz="3200" baseline="8000" dirty="0" smtClean="0">
              <a:latin typeface="Times New Roman" panose="02020603050405020304" pitchFamily="18" charset="0"/>
              <a:cs typeface="Times New Roman" panose="02020603050405020304" pitchFamily="18" charset="0"/>
            </a:endParaRPr>
          </a:p>
          <a:p>
            <a:pPr marL="469900" indent="-457200" algn="just">
              <a:spcBef>
                <a:spcPts val="150"/>
              </a:spcBef>
              <a:buFont typeface="Wingdings" panose="05000000000000000000" charset="0"/>
              <a:buChar char="Ø"/>
            </a:pPr>
            <a:endParaRPr lang="en-US" sz="3200" baseline="8000" dirty="0" smtClean="0">
              <a:latin typeface="Times New Roman" panose="02020603050405020304" pitchFamily="18" charset="0"/>
              <a:cs typeface="Times New Roman" panose="02020603050405020304" pitchFamily="18" charset="0"/>
            </a:endParaRPr>
          </a:p>
          <a:p>
            <a:pPr marL="12700" indent="0" algn="just">
              <a:spcBef>
                <a:spcPts val="150"/>
              </a:spcBef>
              <a:buFont typeface="Wingdings" panose="05000000000000000000" charset="0"/>
              <a:buNone/>
            </a:pPr>
            <a:r>
              <a:rPr lang="en-US" sz="3200" baseline="8000" dirty="0" smtClean="0">
                <a:latin typeface="Times New Roman" panose="02020603050405020304" pitchFamily="18" charset="0"/>
                <a:cs typeface="Times New Roman" panose="02020603050405020304" pitchFamily="18" charset="0"/>
              </a:rPr>
              <a:t>  </a:t>
            </a:r>
            <a:endParaRPr lang="en-US" sz="3200" baseline="8000" dirty="0" smtClean="0">
              <a:latin typeface="Times New Roman" panose="02020603050405020304" pitchFamily="18" charset="0"/>
              <a:cs typeface="Times New Roman" panose="02020603050405020304" pitchFamily="18" charset="0"/>
            </a:endParaRPr>
          </a:p>
          <a:p>
            <a:pPr marL="12700" indent="0" algn="just">
              <a:spcBef>
                <a:spcPts val="150"/>
              </a:spcBef>
              <a:buFont typeface="Wingdings" panose="05000000000000000000" charset="0"/>
              <a:buNone/>
            </a:pPr>
            <a:endParaRPr lang="en-US" sz="3200" baseline="8000" dirty="0" smtClean="0">
              <a:latin typeface="Times New Roman" panose="02020603050405020304" pitchFamily="18" charset="0"/>
              <a:cs typeface="Times New Roman" panose="02020603050405020304" pitchFamily="18" charset="0"/>
            </a:endParaRPr>
          </a:p>
          <a:p>
            <a:pPr marL="469900" indent="-457200">
              <a:spcBef>
                <a:spcPts val="150"/>
              </a:spcBef>
              <a:buFont typeface="Wingdings" panose="05000000000000000000" charset="0"/>
              <a:buChar char="Ø"/>
            </a:pPr>
            <a:endParaRPr lang="en-US" sz="3200" baseline="8000" dirty="0" smtClean="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sz="half" idx="1"/>
          </p:nvPr>
        </p:nvGraphicFramePr>
        <p:xfrm>
          <a:off x="1413510" y="4352290"/>
          <a:ext cx="3701415" cy="1970405"/>
        </p:xfrm>
        <a:graphic>
          <a:graphicData uri="http://schemas.openxmlformats.org/drawingml/2006/table">
            <a:tbl>
              <a:tblPr firstRow="1" bandRow="1">
                <a:tableStyleId>{5940675A-B579-460E-94D1-54222C63F5DA}</a:tableStyleId>
              </a:tblPr>
              <a:tblGrid>
                <a:gridCol w="1690370"/>
                <a:gridCol w="2011045"/>
              </a:tblGrid>
              <a:tr h="541020">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EMP_CODE</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EMP_NAME</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47688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101</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Stephan</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47561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102</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Jack</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47688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103</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Harry</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graphicFrame>
        <p:nvGraphicFramePr>
          <p:cNvPr id="7" name="Content Placeholder 6"/>
          <p:cNvGraphicFramePr>
            <a:graphicFrameLocks noGrp="1"/>
          </p:cNvGraphicFramePr>
          <p:nvPr>
            <p:ph sz="half" idx="2"/>
          </p:nvPr>
        </p:nvGraphicFramePr>
        <p:xfrm>
          <a:off x="5892165" y="4352925"/>
          <a:ext cx="3413760" cy="1969770"/>
        </p:xfrm>
        <a:graphic>
          <a:graphicData uri="http://schemas.openxmlformats.org/drawingml/2006/table">
            <a:tbl>
              <a:tblPr firstRow="1" bandRow="1">
                <a:tableStyleId>{5940675A-B579-460E-94D1-54222C63F5DA}</a:tableStyleId>
              </a:tblPr>
              <a:tblGrid>
                <a:gridCol w="2203450"/>
                <a:gridCol w="1210310"/>
              </a:tblGrid>
              <a:tr h="633095">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EMP_CODE</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SALARY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44577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101</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50000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44577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102</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30000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44513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103</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25000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JOIN Operator(</a:t>
            </a:r>
            <a:r>
              <a:rPr lang="en-US" b="1" dirty="0" smtClean="0">
                <a:latin typeface="Times New Roman" panose="02020603050405020304" pitchFamily="18" charset="0"/>
                <a:cs typeface="Times New Roman" panose="02020603050405020304" pitchFamily="18" charset="0"/>
                <a:sym typeface="+mn-ea"/>
              </a:rPr>
              <a:t>⋈</a:t>
            </a:r>
            <a:r>
              <a:rPr lang="en-US" b="1" dirty="0" smtClean="0">
                <a:latin typeface="Times New Roman" panose="02020603050405020304" pitchFamily="18" charset="0"/>
                <a:cs typeface="Times New Roman" panose="02020603050405020304" pitchFamily="18" charset="0"/>
                <a:sym typeface="+mn-ea"/>
              </a:rPr>
              <a:t>)</a:t>
            </a:r>
            <a:endParaRPr lang="en-US"/>
          </a:p>
        </p:txBody>
      </p:sp>
      <p:graphicFrame>
        <p:nvGraphicFramePr>
          <p:cNvPr id="4" name="Content Placeholder 3"/>
          <p:cNvGraphicFramePr>
            <a:graphicFrameLocks noGrp="1"/>
          </p:cNvGraphicFramePr>
          <p:nvPr>
            <p:ph idx="1"/>
          </p:nvPr>
        </p:nvGraphicFramePr>
        <p:xfrm>
          <a:off x="1983105" y="2359025"/>
          <a:ext cx="7472680" cy="3155315"/>
        </p:xfrm>
        <a:graphic>
          <a:graphicData uri="http://schemas.openxmlformats.org/drawingml/2006/table">
            <a:tbl>
              <a:tblPr firstRow="1" bandRow="1">
                <a:tableStyleId>{5940675A-B579-460E-94D1-54222C63F5DA}</a:tableStyleId>
              </a:tblPr>
              <a:tblGrid>
                <a:gridCol w="2657475"/>
                <a:gridCol w="2722245"/>
                <a:gridCol w="2092960"/>
              </a:tblGrid>
              <a:tr h="1014095">
                <a:tc>
                  <a:txBody>
                    <a:bodyPr/>
                    <a:p>
                      <a:pPr indent="0">
                        <a:buNone/>
                      </a:pPr>
                      <a:r>
                        <a:rPr lang="en-US" sz="2000" b="1">
                          <a:solidFill>
                            <a:srgbClr val="000000"/>
                          </a:solidFill>
                          <a:latin typeface="Times New Roman" panose="02020603050405020304" pitchFamily="18" charset="0"/>
                          <a:cs typeface="Times New Roman" panose="02020603050405020304" pitchFamily="18" charset="0"/>
                        </a:rPr>
                        <a:t>EMP_CODE</a:t>
                      </a:r>
                      <a:endParaRPr lang="en-US" sz="20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2000" b="1">
                          <a:solidFill>
                            <a:srgbClr val="000000"/>
                          </a:solidFill>
                          <a:latin typeface="Times New Roman" panose="02020603050405020304" pitchFamily="18" charset="0"/>
                          <a:cs typeface="Times New Roman" panose="02020603050405020304" pitchFamily="18" charset="0"/>
                        </a:rPr>
                        <a:t>EMP_NAME</a:t>
                      </a:r>
                      <a:endParaRPr lang="en-US" sz="20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2000" b="1">
                          <a:solidFill>
                            <a:srgbClr val="000000"/>
                          </a:solidFill>
                          <a:latin typeface="Times New Roman" panose="02020603050405020304" pitchFamily="18" charset="0"/>
                          <a:cs typeface="Times New Roman" panose="02020603050405020304" pitchFamily="18" charset="0"/>
                        </a:rPr>
                        <a:t>SALARY</a:t>
                      </a:r>
                      <a:endParaRPr lang="en-US" sz="20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713740">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101</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Stephan</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50000</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713740">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102</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Jack</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30000</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713740">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103</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Harry</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25000</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sp>
        <p:nvSpPr>
          <p:cNvPr id="6" name="Text Box 5"/>
          <p:cNvSpPr txBox="1"/>
          <p:nvPr/>
        </p:nvSpPr>
        <p:spPr>
          <a:xfrm>
            <a:off x="2070100" y="1691005"/>
            <a:ext cx="7231380" cy="368300"/>
          </a:xfrm>
          <a:prstGeom prst="rect">
            <a:avLst/>
          </a:prstGeom>
          <a:noFill/>
        </p:spPr>
        <p:txBody>
          <a:bodyPr wrap="square" rtlCol="0">
            <a:spAutoFit/>
          </a:bodyPr>
          <a:p>
            <a:r>
              <a:rPr lang="en-US"/>
              <a:t>Result Table: </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JOIN Operator(</a:t>
            </a:r>
            <a:r>
              <a:rPr lang="en-US" b="1" dirty="0" smtClean="0">
                <a:latin typeface="Times New Roman" panose="02020603050405020304" pitchFamily="18" charset="0"/>
                <a:cs typeface="Times New Roman" panose="02020603050405020304" pitchFamily="18" charset="0"/>
                <a:sym typeface="+mn-ea"/>
              </a:rPr>
              <a:t>⋈</a:t>
            </a:r>
            <a:r>
              <a:rPr lang="en-US" b="1" dirty="0" smtClean="0">
                <a:latin typeface="Times New Roman" panose="02020603050405020304" pitchFamily="18" charset="0"/>
                <a:cs typeface="Times New Roman" panose="02020603050405020304" pitchFamily="18" charset="0"/>
                <a:sym typeface="+mn-ea"/>
              </a:rPr>
              <a:t>)…</a:t>
            </a:r>
            <a:endParaRPr lang="en-US"/>
          </a:p>
        </p:txBody>
      </p:sp>
      <p:pic>
        <p:nvPicPr>
          <p:cNvPr id="6146" name="Picture 2" descr="C:\Users\nEW u\Desktop\7777.png"/>
          <p:cNvPicPr>
            <a:picLocks noChangeAspect="1" noChangeArrowheads="1"/>
          </p:cNvPicPr>
          <p:nvPr/>
        </p:nvPicPr>
        <p:blipFill>
          <a:blip r:embed="rId1"/>
          <a:srcRect/>
          <a:stretch>
            <a:fillRect/>
          </a:stretch>
        </p:blipFill>
        <p:spPr bwMode="auto">
          <a:xfrm>
            <a:off x="1840865" y="1972945"/>
            <a:ext cx="8510270" cy="458470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Types of Join operations:</a:t>
            </a:r>
            <a:endParaRPr lang="en-US"/>
          </a:p>
        </p:txBody>
      </p:sp>
      <p:pic>
        <p:nvPicPr>
          <p:cNvPr id="4" name="Content Placeholder 1"/>
          <p:cNvPicPr>
            <a:picLocks noGrp="1" noChangeAspect="1"/>
          </p:cNvPicPr>
          <p:nvPr>
            <p:ph idx="1"/>
          </p:nvPr>
        </p:nvPicPr>
        <p:blipFill>
          <a:blip r:embed="rId1"/>
          <a:stretch>
            <a:fillRect/>
          </a:stretch>
        </p:blipFill>
        <p:spPr>
          <a:xfrm>
            <a:off x="3001010" y="1518920"/>
            <a:ext cx="6189345" cy="533908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Theta join</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sym typeface="+mn-ea"/>
              </a:rPr>
              <a:t>Theta join combines tuples from different relations provided they satisfy the theta condition. The join condition is denoted by the symbol </a:t>
            </a:r>
            <a:r>
              <a:rPr lang="en-US" b="1" spc="-5" dirty="0" smtClean="0">
                <a:latin typeface="Times New Roman" panose="02020603050405020304" pitchFamily="18" charset="0"/>
                <a:cs typeface="Times New Roman" panose="02020603050405020304" pitchFamily="18" charset="0"/>
                <a:sym typeface="+mn-ea"/>
              </a:rPr>
              <a:t>θ</a:t>
            </a:r>
            <a:r>
              <a:rPr lang="en-US" spc="-5" dirty="0" smtClean="0">
                <a:latin typeface="Times New Roman" panose="02020603050405020304" pitchFamily="18" charset="0"/>
                <a:cs typeface="Times New Roman" panose="02020603050405020304" pitchFamily="18" charset="0"/>
                <a:sym typeface="+mn-ea"/>
              </a:rPr>
              <a:t>.</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sym typeface="+mn-ea"/>
              </a:rPr>
              <a:t>When each condition is of the form A </a:t>
            </a:r>
            <a:r>
              <a:rPr lang="en-US" b="1" spc="-5" dirty="0" smtClean="0">
                <a:latin typeface="Times New Roman" panose="02020603050405020304" pitchFamily="18" charset="0"/>
                <a:cs typeface="Times New Roman" panose="02020603050405020304" pitchFamily="18" charset="0"/>
                <a:sym typeface="+mn-ea"/>
              </a:rPr>
              <a:t>θ</a:t>
            </a:r>
            <a:r>
              <a:rPr lang="en-US" spc="-5" dirty="0" smtClean="0">
                <a:latin typeface="Times New Roman" panose="02020603050405020304" pitchFamily="18" charset="0"/>
                <a:cs typeface="Times New Roman" panose="02020603050405020304" pitchFamily="18" charset="0"/>
                <a:sym typeface="+mn-ea"/>
              </a:rPr>
              <a:t>B, A is an attribute of R1 and B is an attribute of R2 and have the same domain, and  is one of the comparison operators { ==, =, &lt;=, &lt;,=&gt;,&gt;}.</a:t>
            </a:r>
            <a:endParaRPr lang="en-US" spc="-5"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Theta Join(   </a:t>
            </a:r>
            <a:r>
              <a:rPr lang="el-GR" b="1" dirty="0" smtClean="0">
                <a:latin typeface="Times New Roman" panose="02020603050405020304" pitchFamily="18" charset="0"/>
                <a:cs typeface="Times New Roman" panose="02020603050405020304" pitchFamily="18" charset="0"/>
                <a:sym typeface="+mn-ea"/>
              </a:rPr>
              <a:t>θ )</a:t>
            </a:r>
            <a:endParaRPr lang="en-US"/>
          </a:p>
        </p:txBody>
      </p:sp>
      <p:sp>
        <p:nvSpPr>
          <p:cNvPr id="3" name="Content Placeholder 2"/>
          <p:cNvSpPr>
            <a:spLocks noGrp="1"/>
          </p:cNvSpPr>
          <p:nvPr>
            <p:ph idx="1"/>
          </p:nvPr>
        </p:nvSpPr>
        <p:spPr/>
        <p:txBody>
          <a:bodyPr>
            <a:normAutofit lnSpcReduction="1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theta join is a join with a specified condition involving a column from each relation. This condition specifies that the two columns should be compared in some way.</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comparison operator can be any of the six: &lt;, ≤, &gt;, ≥, = and ^ =</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Theta join is denoted by (⋊⋉ θ) symbol. The general form of theta join is:</a:t>
            </a:r>
            <a:endParaRPr lang="en-US" sz="2800" kern="0" dirty="0" smtClean="0">
              <a:latin typeface="Times New Roman" panose="02020603050405020304" pitchFamily="18" charset="0"/>
              <a:cs typeface="Times New Roman" panose="02020603050405020304" pitchFamily="18" charset="0"/>
            </a:endParaRPr>
          </a:p>
          <a:p>
            <a:pPr marL="12700" marR="121920">
              <a:lnSpc>
                <a:spcPct val="100000"/>
              </a:lnSpc>
            </a:pPr>
            <a:endParaRPr lang="en-US" sz="2800" kern="0" dirty="0" smtClean="0">
              <a:latin typeface="Times New Roman" panose="02020603050405020304" pitchFamily="18" charset="0"/>
              <a:cs typeface="Times New Roman" panose="02020603050405020304" pitchFamily="18" charset="0"/>
            </a:endParaRPr>
          </a:p>
          <a:p>
            <a:pPr marL="12700">
              <a:lnSpc>
                <a:spcPts val="1195"/>
              </a:lnSpc>
            </a:pPr>
            <a:r>
              <a:rPr lang="en-US" sz="2800" kern="0" dirty="0" smtClean="0">
                <a:latin typeface="Times New Roman" panose="02020603050405020304" pitchFamily="18" charset="0"/>
                <a:cs typeface="Times New Roman" panose="02020603050405020304" pitchFamily="18" charset="0"/>
                <a:sym typeface="+mn-ea"/>
              </a:rPr>
              <a:t>		R ⋊⋉ θ  S = π all  (σ θ  (R × S))</a:t>
            </a:r>
            <a:endParaRPr lang="en-US" sz="2800" kern="0" dirty="0" smtClean="0">
              <a:latin typeface="Times New Roman" panose="02020603050405020304" pitchFamily="18" charset="0"/>
              <a:cs typeface="Times New Roman" panose="02020603050405020304" pitchFamily="18" charset="0"/>
            </a:endParaRPr>
          </a:p>
          <a:p>
            <a:pPr marL="12700">
              <a:lnSpc>
                <a:spcPts val="1195"/>
              </a:lnSpc>
            </a:pP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Degree (Result) = Degree (R) + Degree (S)</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Cardinality (Result) ≤ Cardinality(R) × Cardinality(S)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sz="2800" kern="0" dirty="0" smtClean="0">
              <a:latin typeface="Times New Roman" panose="02020603050405020304" pitchFamily="18" charset="0"/>
              <a:cs typeface="Times New Roman" panose="02020603050405020304" pitchFamily="18" charset="0"/>
            </a:endParaRPr>
          </a:p>
          <a:p>
            <a:endParaRPr lang="en-US"/>
          </a:p>
        </p:txBody>
      </p:sp>
      <p:sp>
        <p:nvSpPr>
          <p:cNvPr id="8" name="Flowchart: Collate 7"/>
          <p:cNvSpPr/>
          <p:nvPr/>
        </p:nvSpPr>
        <p:spPr>
          <a:xfrm rot="16200000">
            <a:off x="3777759" y="920885"/>
            <a:ext cx="285753" cy="214316"/>
          </a:xfrm>
          <a:prstGeom prst="flowChartCol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Theta Join(   </a:t>
            </a:r>
            <a:r>
              <a:rPr lang="el-GR" b="1" dirty="0" smtClean="0">
                <a:latin typeface="Times New Roman" panose="02020603050405020304" pitchFamily="18" charset="0"/>
                <a:cs typeface="Times New Roman" panose="02020603050405020304" pitchFamily="18" charset="0"/>
                <a:sym typeface="+mn-ea"/>
              </a:rPr>
              <a:t>θ )</a:t>
            </a:r>
            <a:r>
              <a:rPr lang="en-US" b="1" dirty="0" smtClean="0">
                <a:latin typeface="Times New Roman" panose="02020603050405020304" pitchFamily="18" charset="0"/>
                <a:cs typeface="Times New Roman" panose="02020603050405020304" pitchFamily="18" charset="0"/>
                <a:sym typeface="+mn-ea"/>
              </a:rPr>
              <a:t>…</a:t>
            </a:r>
            <a:endParaRPr lang="en-US"/>
          </a:p>
        </p:txBody>
      </p:sp>
      <p:sp>
        <p:nvSpPr>
          <p:cNvPr id="8" name="Flowchart: Collate 7"/>
          <p:cNvSpPr/>
          <p:nvPr/>
        </p:nvSpPr>
        <p:spPr>
          <a:xfrm rot="16200000">
            <a:off x="3777759" y="920885"/>
            <a:ext cx="285753" cy="214316"/>
          </a:xfrm>
          <a:prstGeom prst="flowChartCol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pic>
        <p:nvPicPr>
          <p:cNvPr id="3074" name="Picture 2" descr="C:\Users\nEW u\Desktop\22.png"/>
          <p:cNvPicPr>
            <a:picLocks noChangeAspect="1" noChangeArrowheads="1"/>
          </p:cNvPicPr>
          <p:nvPr>
            <p:ph idx="1"/>
          </p:nvPr>
        </p:nvPicPr>
        <p:blipFill>
          <a:blip r:embed="rId1"/>
          <a:srcRect/>
          <a:stretch>
            <a:fillRect/>
          </a:stretch>
        </p:blipFill>
        <p:spPr bwMode="auto">
          <a:xfrm>
            <a:off x="2187575" y="1691005"/>
            <a:ext cx="7309485" cy="4380230"/>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1. Natural Join(</a:t>
            </a:r>
            <a:r>
              <a:rPr lang="en-US" b="1" spc="-5" dirty="0" smtClean="0">
                <a:latin typeface="Times New Roman" panose="02020603050405020304" pitchFamily="18" charset="0"/>
                <a:cs typeface="Times New Roman" panose="02020603050405020304" pitchFamily="18" charset="0"/>
                <a:sym typeface="+mn-ea"/>
              </a:rPr>
              <a:t>⋈,*</a:t>
            </a:r>
            <a:r>
              <a:rPr lang="en-US" b="1" dirty="0" smtClean="0">
                <a:latin typeface="Times New Roman" panose="02020603050405020304" pitchFamily="18" charset="0"/>
                <a:cs typeface="Times New Roman" panose="02020603050405020304" pitchFamily="18" charset="0"/>
                <a:sym typeface="+mn-ea"/>
              </a:rPr>
              <a:t>):</a:t>
            </a:r>
            <a:endParaRPr lang="en-US"/>
          </a:p>
        </p:txBody>
      </p:sp>
      <p:sp>
        <p:nvSpPr>
          <p:cNvPr id="4" name="Content Placeholder 2"/>
          <p:cNvSpPr txBox="1"/>
          <p:nvPr/>
        </p:nvSpPr>
        <p:spPr bwMode="auto">
          <a:xfrm>
            <a:off x="1761146" y="1336024"/>
            <a:ext cx="7858180" cy="5214974"/>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A natural join is the set of tuples of all combinations in R and S that are equal on their common attribute names.</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It is denoted by</a:t>
            </a:r>
            <a:r>
              <a:rPr lang="en-US" sz="2800" b="1" spc="-5"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Example: Let's use the above EMPLOYEE table and SALARY table:</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Example: </a:t>
            </a:r>
            <a:endParaRPr lang="en-US"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spc="-5" dirty="0" smtClean="0">
                <a:latin typeface="Times New Roman" panose="02020603050405020304" pitchFamily="18" charset="0"/>
                <a:cs typeface="Times New Roman" panose="02020603050405020304" pitchFamily="18" charset="0"/>
              </a:rPr>
              <a:t>           </a:t>
            </a:r>
            <a:r>
              <a:rPr lang="en-US" b="1" spc="-5" dirty="0" smtClean="0">
                <a:latin typeface="Times New Roman" panose="02020603050405020304" pitchFamily="18" charset="0"/>
                <a:cs typeface="Times New Roman" panose="02020603050405020304" pitchFamily="18" charset="0"/>
              </a:rPr>
              <a:t> ∏EMP_NAME, SALARY (EMPLOYEE ⋈ SALARY) </a:t>
            </a:r>
            <a:r>
              <a:rPr lang="en-US" spc="-5" dirty="0" smtClean="0">
                <a:latin typeface="Times New Roman" panose="02020603050405020304" pitchFamily="18" charset="0"/>
                <a:cs typeface="Times New Roman" panose="02020603050405020304" pitchFamily="18" charset="0"/>
              </a:rPr>
              <a:t> </a:t>
            </a:r>
            <a:endParaRPr lang="en-US"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spc="-5" dirty="0" smtClean="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sz="half" idx="1"/>
          </p:nvPr>
        </p:nvGraphicFramePr>
        <p:xfrm>
          <a:off x="2376170" y="4918075"/>
          <a:ext cx="6995160" cy="1554480"/>
        </p:xfrm>
        <a:graphic>
          <a:graphicData uri="http://schemas.openxmlformats.org/drawingml/2006/table">
            <a:tbl>
              <a:tblPr firstRow="1" bandRow="1">
                <a:tableStyleId>{5940675A-B579-460E-94D1-54222C63F5DA}</a:tableStyleId>
              </a:tblPr>
              <a:tblGrid>
                <a:gridCol w="3453130"/>
                <a:gridCol w="3542030"/>
              </a:tblGrid>
              <a:tr h="426720">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EMP_NAME</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SALARY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Stephan</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50000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Jack</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30000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Harry</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25000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graphicFrame>
        <p:nvGraphicFramePr>
          <p:cNvPr id="6" name="Content Placeholder 5"/>
          <p:cNvGraphicFramePr>
            <a:graphicFrameLocks noGrp="1"/>
          </p:cNvGraphicFramePr>
          <p:nvPr>
            <p:ph sz="half" idx="2"/>
          </p:nvPr>
        </p:nvGraphicFramePr>
        <p:xfrm>
          <a:off x="6745605" y="3481070"/>
          <a:ext cx="2916555" cy="1310640"/>
        </p:xfrm>
        <a:graphic>
          <a:graphicData uri="http://schemas.openxmlformats.org/drawingml/2006/table">
            <a:tbl>
              <a:tblPr firstRow="1" bandRow="1">
                <a:tableStyleId>{5940675A-B579-460E-94D1-54222C63F5DA}</a:tableStyleId>
              </a:tblPr>
              <a:tblGrid>
                <a:gridCol w="1631950"/>
                <a:gridCol w="1284605"/>
              </a:tblGrid>
              <a:tr h="365760">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EMP_CODE</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SALARY</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314960">
                <a:tc>
                  <a:txBody>
                    <a:bodyPr/>
                    <a:p>
                      <a:pPr indent="0">
                        <a:buNone/>
                      </a:pPr>
                      <a:r>
                        <a:rPr lang="en-US" sz="1400" b="0">
                          <a:solidFill>
                            <a:srgbClr val="000000"/>
                          </a:solidFill>
                          <a:latin typeface="Times New Roman" panose="02020603050405020304" pitchFamily="18" charset="0"/>
                          <a:cs typeface="Times New Roman" panose="02020603050405020304" pitchFamily="18" charset="0"/>
                        </a:rPr>
                        <a:t>101</a:t>
                      </a:r>
                      <a:endParaRPr lang="en-US" sz="14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400" b="0">
                          <a:solidFill>
                            <a:srgbClr val="000000"/>
                          </a:solidFill>
                          <a:latin typeface="Times New Roman" panose="02020603050405020304" pitchFamily="18" charset="0"/>
                          <a:cs typeface="Times New Roman" panose="02020603050405020304" pitchFamily="18" charset="0"/>
                        </a:rPr>
                        <a:t>50000</a:t>
                      </a:r>
                      <a:endParaRPr lang="en-US" sz="14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314960">
                <a:tc>
                  <a:txBody>
                    <a:bodyPr/>
                    <a:p>
                      <a:pPr indent="0">
                        <a:buNone/>
                      </a:pPr>
                      <a:r>
                        <a:rPr lang="en-US" sz="1400" b="0">
                          <a:solidFill>
                            <a:srgbClr val="000000"/>
                          </a:solidFill>
                          <a:latin typeface="Times New Roman" panose="02020603050405020304" pitchFamily="18" charset="0"/>
                          <a:cs typeface="Times New Roman" panose="02020603050405020304" pitchFamily="18" charset="0"/>
                        </a:rPr>
                        <a:t>102</a:t>
                      </a:r>
                      <a:endParaRPr lang="en-US" sz="14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400" b="0">
                          <a:solidFill>
                            <a:srgbClr val="000000"/>
                          </a:solidFill>
                          <a:latin typeface="Times New Roman" panose="02020603050405020304" pitchFamily="18" charset="0"/>
                          <a:cs typeface="Times New Roman" panose="02020603050405020304" pitchFamily="18" charset="0"/>
                        </a:rPr>
                        <a:t>30000</a:t>
                      </a:r>
                      <a:endParaRPr lang="en-US" sz="14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314960">
                <a:tc>
                  <a:txBody>
                    <a:bodyPr/>
                    <a:p>
                      <a:pPr indent="0">
                        <a:buNone/>
                      </a:pPr>
                      <a:r>
                        <a:rPr lang="en-US" sz="1400" b="0">
                          <a:solidFill>
                            <a:srgbClr val="000000"/>
                          </a:solidFill>
                          <a:latin typeface="Times New Roman" panose="02020603050405020304" pitchFamily="18" charset="0"/>
                          <a:cs typeface="Times New Roman" panose="02020603050405020304" pitchFamily="18" charset="0"/>
                        </a:rPr>
                        <a:t>103</a:t>
                      </a:r>
                      <a:endParaRPr lang="en-US" sz="14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400" b="0">
                          <a:solidFill>
                            <a:srgbClr val="000000"/>
                          </a:solidFill>
                          <a:latin typeface="Times New Roman" panose="02020603050405020304" pitchFamily="18" charset="0"/>
                          <a:cs typeface="Times New Roman" panose="02020603050405020304" pitchFamily="18" charset="0"/>
                        </a:rPr>
                        <a:t>25000</a:t>
                      </a:r>
                      <a:endParaRPr lang="en-US" sz="14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graphicFrame>
        <p:nvGraphicFramePr>
          <p:cNvPr id="7" name="Table 6"/>
          <p:cNvGraphicFramePr/>
          <p:nvPr/>
        </p:nvGraphicFramePr>
        <p:xfrm>
          <a:off x="2150110" y="3481705"/>
          <a:ext cx="4264660" cy="1188720"/>
        </p:xfrm>
        <a:graphic>
          <a:graphicData uri="http://schemas.openxmlformats.org/drawingml/2006/table">
            <a:tbl>
              <a:tblPr firstRow="1" bandRow="1">
                <a:tableStyleId>{5940675A-B579-460E-94D1-54222C63F5DA}</a:tableStyleId>
              </a:tblPr>
              <a:tblGrid>
                <a:gridCol w="2127885"/>
                <a:gridCol w="2136775"/>
              </a:tblGrid>
              <a:tr h="335280">
                <a:tc>
                  <a:txBody>
                    <a:bodyPr/>
                    <a:p>
                      <a:pPr indent="0">
                        <a:buNone/>
                      </a:pPr>
                      <a:r>
                        <a:rPr lang="en-US" sz="1200" b="1">
                          <a:solidFill>
                            <a:srgbClr val="000000"/>
                          </a:solidFill>
                          <a:latin typeface="Times New Roman" panose="02020603050405020304" pitchFamily="18" charset="0"/>
                          <a:cs typeface="Times New Roman" panose="02020603050405020304" pitchFamily="18" charset="0"/>
                        </a:rPr>
                        <a:t>EMP_CODE</a:t>
                      </a:r>
                      <a:endParaRPr lang="en-US" sz="12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200" b="1">
                          <a:solidFill>
                            <a:srgbClr val="000000"/>
                          </a:solidFill>
                          <a:latin typeface="Times New Roman" panose="02020603050405020304" pitchFamily="18" charset="0"/>
                          <a:cs typeface="Times New Roman" panose="02020603050405020304" pitchFamily="18" charset="0"/>
                        </a:rPr>
                        <a:t>EMP_NAME</a:t>
                      </a:r>
                      <a:endParaRPr lang="en-US" sz="12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284480">
                <a:tc>
                  <a:txBody>
                    <a:bodyPr/>
                    <a:p>
                      <a:pPr indent="0">
                        <a:buNone/>
                      </a:pPr>
                      <a:r>
                        <a:rPr lang="en-US" sz="1200" b="0">
                          <a:solidFill>
                            <a:srgbClr val="000000"/>
                          </a:solidFill>
                          <a:latin typeface="Times New Roman" panose="02020603050405020304" pitchFamily="18" charset="0"/>
                          <a:cs typeface="Times New Roman" panose="02020603050405020304" pitchFamily="18" charset="0"/>
                        </a:rPr>
                        <a:t>101</a:t>
                      </a:r>
                      <a:endParaRPr lang="en-US" sz="12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200" b="0">
                          <a:solidFill>
                            <a:srgbClr val="000000"/>
                          </a:solidFill>
                          <a:latin typeface="Times New Roman" panose="02020603050405020304" pitchFamily="18" charset="0"/>
                          <a:cs typeface="Times New Roman" panose="02020603050405020304" pitchFamily="18" charset="0"/>
                        </a:rPr>
                        <a:t>Stephan</a:t>
                      </a:r>
                      <a:endParaRPr lang="en-US" sz="12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284480">
                <a:tc>
                  <a:txBody>
                    <a:bodyPr/>
                    <a:p>
                      <a:pPr indent="0">
                        <a:buNone/>
                      </a:pPr>
                      <a:r>
                        <a:rPr lang="en-US" sz="1200" b="0">
                          <a:solidFill>
                            <a:srgbClr val="000000"/>
                          </a:solidFill>
                          <a:latin typeface="Times New Roman" panose="02020603050405020304" pitchFamily="18" charset="0"/>
                          <a:cs typeface="Times New Roman" panose="02020603050405020304" pitchFamily="18" charset="0"/>
                        </a:rPr>
                        <a:t>102</a:t>
                      </a:r>
                      <a:endParaRPr lang="en-US" sz="12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200" b="0">
                          <a:solidFill>
                            <a:srgbClr val="000000"/>
                          </a:solidFill>
                          <a:latin typeface="Times New Roman" panose="02020603050405020304" pitchFamily="18" charset="0"/>
                          <a:cs typeface="Times New Roman" panose="02020603050405020304" pitchFamily="18" charset="0"/>
                        </a:rPr>
                        <a:t>Jack</a:t>
                      </a:r>
                      <a:endParaRPr lang="en-US" sz="12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284480">
                <a:tc>
                  <a:txBody>
                    <a:bodyPr/>
                    <a:p>
                      <a:pPr indent="0">
                        <a:buNone/>
                      </a:pPr>
                      <a:r>
                        <a:rPr lang="en-US" sz="1200" b="0">
                          <a:solidFill>
                            <a:srgbClr val="000000"/>
                          </a:solidFill>
                          <a:latin typeface="Times New Roman" panose="02020603050405020304" pitchFamily="18" charset="0"/>
                          <a:cs typeface="Times New Roman" panose="02020603050405020304" pitchFamily="18" charset="0"/>
                        </a:rPr>
                        <a:t>103</a:t>
                      </a:r>
                      <a:endParaRPr lang="en-US" sz="12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200" b="0">
                          <a:solidFill>
                            <a:srgbClr val="000000"/>
                          </a:solidFill>
                          <a:latin typeface="Times New Roman" panose="02020603050405020304" pitchFamily="18" charset="0"/>
                          <a:cs typeface="Times New Roman" panose="02020603050405020304" pitchFamily="18" charset="0"/>
                        </a:rPr>
                        <a:t>Harry</a:t>
                      </a:r>
                      <a:endParaRPr lang="en-US" sz="12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Natural Join (   ,* </a:t>
            </a:r>
            <a:r>
              <a:rPr lang="el-GR" b="1" dirty="0" smtClean="0">
                <a:latin typeface="Times New Roman" panose="02020603050405020304" pitchFamily="18" charset="0"/>
                <a:cs typeface="Times New Roman" panose="02020603050405020304" pitchFamily="18" charset="0"/>
                <a:sym typeface="+mn-ea"/>
              </a:rPr>
              <a:t>)</a:t>
            </a:r>
            <a:endParaRPr lang="en-US"/>
          </a:p>
        </p:txBody>
      </p:sp>
      <p:sp>
        <p:nvSpPr>
          <p:cNvPr id="3" name="Content Placeholder 2"/>
          <p:cNvSpPr>
            <a:spLocks noGrp="1"/>
          </p:cNvSpPr>
          <p:nvPr>
            <p:ph idx="1"/>
          </p:nvPr>
        </p:nvSpPr>
        <p:spPr/>
        <p:txBody>
          <a:bodyPr>
            <a:normAutofit lnSpcReduction="2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To perform natural join on two relations, they should contain at least one common attributes. It is just like the </a:t>
            </a:r>
            <a:r>
              <a:rPr lang="en-US" sz="2800" kern="0" dirty="0" err="1" smtClean="0">
                <a:latin typeface="Times New Roman" panose="02020603050405020304" pitchFamily="18" charset="0"/>
                <a:cs typeface="Times New Roman" panose="02020603050405020304" pitchFamily="18" charset="0"/>
                <a:sym typeface="+mn-ea"/>
              </a:rPr>
              <a:t>equi</a:t>
            </a:r>
            <a:r>
              <a:rPr lang="en-US" sz="2800" kern="0" dirty="0" smtClean="0">
                <a:latin typeface="Times New Roman" panose="02020603050405020304" pitchFamily="18" charset="0"/>
                <a:cs typeface="Times New Roman" panose="02020603050405020304" pitchFamily="18" charset="0"/>
                <a:sym typeface="+mn-ea"/>
              </a:rPr>
              <a:t> join with the elimination of the common attributes. The natural join is denoted by (⋊⋉) symbol.</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general form of theta join is:</a:t>
            </a:r>
            <a:endParaRPr lang="en-US" sz="2800" kern="0" dirty="0" smtClean="0">
              <a:latin typeface="Times New Roman" panose="02020603050405020304" pitchFamily="18" charset="0"/>
              <a:cs typeface="Times New Roman" panose="02020603050405020304" pitchFamily="18" charset="0"/>
            </a:endParaRPr>
          </a:p>
          <a:p>
            <a:pPr marL="12700">
              <a:lnSpc>
                <a:spcPct val="100000"/>
              </a:lnSpc>
              <a:spcBef>
                <a:spcPts val="150"/>
              </a:spcBef>
            </a:pPr>
            <a:r>
              <a:rPr lang="en-US" sz="2800" kern="0" dirty="0" smtClean="0">
                <a:latin typeface="Times New Roman" panose="02020603050405020304" pitchFamily="18" charset="0"/>
                <a:cs typeface="Times New Roman" panose="02020603050405020304" pitchFamily="18" charset="0"/>
                <a:sym typeface="+mn-ea"/>
              </a:rPr>
              <a:t>	R ⋊⋉ S   =   </a:t>
            </a:r>
            <a:r>
              <a:rPr lang="en-US" sz="2800" kern="0" dirty="0" smtClean="0">
                <a:latin typeface="Times New Roman" panose="02020603050405020304" pitchFamily="18" charset="0"/>
                <a:cs typeface="Times New Roman" panose="02020603050405020304" pitchFamily="18" charset="0"/>
                <a:sym typeface="+mn-ea"/>
              </a:rPr>
              <a:t>Π all−common_</a:t>
            </a:r>
            <a:r>
              <a:rPr lang="en-US" sz="2800" kern="0" dirty="0" err="1" smtClean="0">
                <a:latin typeface="Times New Roman" panose="02020603050405020304" pitchFamily="18" charset="0"/>
                <a:cs typeface="Times New Roman" panose="02020603050405020304" pitchFamily="18" charset="0"/>
                <a:sym typeface="+mn-ea"/>
              </a:rPr>
              <a:t>attributes</a:t>
            </a:r>
            <a:r>
              <a:rPr lang="en-US" sz="2800" kern="0" dirty="0" smtClean="0">
                <a:latin typeface="Times New Roman" panose="02020603050405020304" pitchFamily="18" charset="0"/>
                <a:cs typeface="Times New Roman" panose="02020603050405020304" pitchFamily="18" charset="0"/>
                <a:sym typeface="+mn-ea"/>
              </a:rPr>
              <a:t>  (σ = (R × S))</a:t>
            </a:r>
            <a:endParaRPr lang="en-US" sz="2800" kern="0" dirty="0" smtClean="0">
              <a:latin typeface="Times New Roman" panose="02020603050405020304" pitchFamily="18" charset="0"/>
              <a:cs typeface="Times New Roman" panose="02020603050405020304" pitchFamily="18" charset="0"/>
            </a:endParaRPr>
          </a:p>
          <a:p>
            <a:pPr marL="469900" lvl="1">
              <a:spcBef>
                <a:spcPts val="150"/>
              </a:spcBef>
              <a:buFont typeface="Wingdings" panose="05000000000000000000" pitchFamily="2" charset="2"/>
              <a:buChar char="ü"/>
            </a:pPr>
            <a:endParaRPr lang="en-US" sz="2800" kern="0" dirty="0" smtClean="0">
              <a:latin typeface="Times New Roman" panose="02020603050405020304" pitchFamily="18" charset="0"/>
              <a:cs typeface="Times New Roman" panose="02020603050405020304" pitchFamily="18" charset="0"/>
            </a:endParaRPr>
          </a:p>
          <a:p>
            <a:pPr marL="722630" lvl="1" indent="-121920">
              <a:lnSpc>
                <a:spcPts val="1200"/>
              </a:lnSpc>
              <a:spcBef>
                <a:spcPts val="140"/>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Degree (Result) = Degree (R) + Degree (S) - Degree (R ∩S)</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Cardinality (Result) ≤ Cardinality(R) × Cardinality(S)</a:t>
            </a:r>
            <a:endParaRPr lang="en-US" sz="2800" kern="0" dirty="0" smtClean="0">
              <a:latin typeface="Times New Roman" panose="02020603050405020304" pitchFamily="18" charset="0"/>
              <a:cs typeface="Times New Roman" panose="02020603050405020304" pitchFamily="18" charset="0"/>
            </a:endParaRPr>
          </a:p>
          <a:p>
            <a:pPr marL="12700" marR="135255">
              <a:lnSpc>
                <a:spcPct val="100000"/>
              </a:lnSpc>
              <a:spcBef>
                <a:spcPts val="295"/>
              </a:spcBef>
              <a:buFont typeface="Wingdings" panose="05000000000000000000" pitchFamily="2" charset="2"/>
              <a:buChar char="Ø"/>
            </a:pPr>
            <a:r>
              <a:rPr lang="en-US" sz="2800" kern="0" dirty="0" smtClean="0">
                <a:latin typeface="Times New Roman" panose="02020603050405020304" pitchFamily="18" charset="0"/>
                <a:cs typeface="Times New Roman" panose="02020603050405020304" pitchFamily="18" charset="0"/>
                <a:sym typeface="+mn-ea"/>
              </a:rPr>
              <a:t>  The general form of the natural join can also be represented as:</a:t>
            </a:r>
            <a:endParaRPr lang="en-US" sz="2800" kern="0" dirty="0" smtClean="0">
              <a:latin typeface="Times New Roman" panose="02020603050405020304" pitchFamily="18" charset="0"/>
              <a:cs typeface="Times New Roman" panose="02020603050405020304" pitchFamily="18" charset="0"/>
            </a:endParaRPr>
          </a:p>
          <a:p>
            <a:pPr marL="12700" marR="135255">
              <a:lnSpc>
                <a:spcPct val="100000"/>
              </a:lnSpc>
              <a:spcBef>
                <a:spcPts val="295"/>
              </a:spcBef>
            </a:pPr>
            <a:endParaRPr lang="en-US" sz="2800" kern="0" dirty="0" smtClean="0">
              <a:latin typeface="Times New Roman" panose="02020603050405020304" pitchFamily="18" charset="0"/>
              <a:cs typeface="Times New Roman" panose="02020603050405020304" pitchFamily="18" charset="0"/>
            </a:endParaRPr>
          </a:p>
          <a:p>
            <a:pPr marL="12700">
              <a:lnSpc>
                <a:spcPts val="1195"/>
              </a:lnSpc>
            </a:pPr>
            <a:r>
              <a:rPr lang="en-US" sz="2800" kern="0" dirty="0" smtClean="0">
                <a:latin typeface="Times New Roman" panose="02020603050405020304" pitchFamily="18" charset="0"/>
                <a:cs typeface="Times New Roman" panose="02020603050405020304" pitchFamily="18" charset="0"/>
                <a:sym typeface="+mn-ea"/>
              </a:rPr>
              <a:t>		R ⋊⋉ S = </a:t>
            </a:r>
            <a:r>
              <a:rPr lang="en-US" sz="2800" b="1" kern="0" dirty="0" smtClean="0">
                <a:latin typeface="Times New Roman" panose="02020603050405020304" pitchFamily="18" charset="0"/>
                <a:cs typeface="Times New Roman" panose="02020603050405020304" pitchFamily="18" charset="0"/>
                <a:sym typeface="+mn-ea"/>
              </a:rPr>
              <a:t>Π</a:t>
            </a:r>
            <a:r>
              <a:rPr lang="en-US" sz="2800" kern="0" dirty="0" smtClean="0">
                <a:latin typeface="Times New Roman" panose="02020603050405020304" pitchFamily="18" charset="0"/>
                <a:cs typeface="Times New Roman" panose="02020603050405020304" pitchFamily="18" charset="0"/>
                <a:sym typeface="+mn-ea"/>
              </a:rPr>
              <a:t> all  (R ⋊⋉ 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sz="2800" kern="0" dirty="0" smtClean="0">
              <a:latin typeface="Times New Roman" panose="02020603050405020304" pitchFamily="18" charset="0"/>
              <a:cs typeface="Times New Roman" panose="02020603050405020304" pitchFamily="18" charset="0"/>
            </a:endParaRPr>
          </a:p>
          <a:p>
            <a:endParaRPr lang="en-US"/>
          </a:p>
        </p:txBody>
      </p:sp>
      <p:sp>
        <p:nvSpPr>
          <p:cNvPr id="8" name="Flowchart: Collate 7"/>
          <p:cNvSpPr/>
          <p:nvPr/>
        </p:nvSpPr>
        <p:spPr>
          <a:xfrm rot="16200000">
            <a:off x="4386729" y="920887"/>
            <a:ext cx="285753" cy="214316"/>
          </a:xfrm>
          <a:prstGeom prst="flowChartCol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Natural Join (    ,*</a:t>
            </a:r>
            <a:r>
              <a:rPr lang="el-GR" b="1" dirty="0" smtClean="0">
                <a:latin typeface="Times New Roman" panose="02020603050405020304" pitchFamily="18" charset="0"/>
                <a:cs typeface="Times New Roman" panose="02020603050405020304" pitchFamily="18" charset="0"/>
                <a:sym typeface="+mn-ea"/>
              </a:rPr>
              <a:t>)</a:t>
            </a:r>
            <a:endParaRPr lang="en-US"/>
          </a:p>
        </p:txBody>
      </p:sp>
      <p:sp>
        <p:nvSpPr>
          <p:cNvPr id="8" name="Flowchart: Collate 7"/>
          <p:cNvSpPr/>
          <p:nvPr/>
        </p:nvSpPr>
        <p:spPr>
          <a:xfrm rot="16200000">
            <a:off x="4405144" y="920887"/>
            <a:ext cx="285753" cy="214316"/>
          </a:xfrm>
          <a:prstGeom prst="flowChartCol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pic>
        <p:nvPicPr>
          <p:cNvPr id="4098" name="Picture 2" descr="C:\Users\nEW u\Desktop\1111111111111.png"/>
          <p:cNvPicPr>
            <a:picLocks noChangeAspect="1" noChangeArrowheads="1"/>
          </p:cNvPicPr>
          <p:nvPr>
            <p:ph idx="1"/>
          </p:nvPr>
        </p:nvPicPr>
        <p:blipFill>
          <a:blip r:embed="rId1"/>
          <a:srcRect/>
          <a:stretch>
            <a:fillRect/>
          </a:stretch>
        </p:blipFill>
        <p:spPr bwMode="auto">
          <a:xfrm>
            <a:off x="2040890" y="1691005"/>
            <a:ext cx="7339965" cy="4457700"/>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1325563"/>
          </a:xfrm>
        </p:spPr>
        <p:txBody>
          <a:bodyPr/>
          <a:p>
            <a:r>
              <a:rPr lang="en-US"/>
              <a:t>Example</a:t>
            </a:r>
            <a:endParaRPr lang="en-US"/>
          </a:p>
        </p:txBody>
      </p:sp>
      <p:pic>
        <p:nvPicPr>
          <p:cNvPr id="4" name="Content Placeholder 3"/>
          <p:cNvPicPr>
            <a:picLocks noChangeAspect="1"/>
          </p:cNvPicPr>
          <p:nvPr>
            <p:ph idx="1"/>
          </p:nvPr>
        </p:nvPicPr>
        <p:blipFill>
          <a:blip r:embed="rId1"/>
          <a:stretch>
            <a:fillRect/>
          </a:stretch>
        </p:blipFill>
        <p:spPr>
          <a:xfrm>
            <a:off x="695325" y="1544320"/>
            <a:ext cx="9124950" cy="2738755"/>
          </a:xfrm>
          <a:prstGeom prst="rect">
            <a:avLst/>
          </a:prstGeom>
        </p:spPr>
      </p:pic>
      <p:pic>
        <p:nvPicPr>
          <p:cNvPr id="5" name="Picture 4"/>
          <p:cNvPicPr>
            <a:picLocks noChangeAspect="1"/>
          </p:cNvPicPr>
          <p:nvPr/>
        </p:nvPicPr>
        <p:blipFill>
          <a:blip r:embed="rId2"/>
          <a:stretch>
            <a:fillRect/>
          </a:stretch>
        </p:blipFill>
        <p:spPr>
          <a:xfrm>
            <a:off x="2277745" y="4501515"/>
            <a:ext cx="6195060" cy="166116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2. Outer Join:</a:t>
            </a:r>
            <a:endParaRPr lang="en-US"/>
          </a:p>
        </p:txBody>
      </p:sp>
      <p:sp>
        <p:nvSpPr>
          <p:cNvPr id="4" name="Content Placeholder 2"/>
          <p:cNvSpPr txBox="1"/>
          <p:nvPr/>
        </p:nvSpPr>
        <p:spPr bwMode="auto">
          <a:xfrm>
            <a:off x="2166911" y="1495409"/>
            <a:ext cx="7858180" cy="5214974"/>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The outer join operation is an extension of the join operation. It is used to deal with missing information. </a:t>
            </a:r>
            <a:endParaRPr lang="en-US"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b="1" spc="-5" dirty="0" smtClean="0">
                <a:latin typeface="Times New Roman" panose="02020603050405020304" pitchFamily="18" charset="0"/>
                <a:cs typeface="Times New Roman" panose="02020603050405020304" pitchFamily="18" charset="0"/>
              </a:rPr>
              <a:t>EMPLOYEE ⋈ FACT_WORKERS</a:t>
            </a: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baseline="8000" dirty="0" smtClean="0">
                <a:latin typeface="Times New Roman" panose="02020603050405020304" pitchFamily="18" charset="0"/>
                <a:cs typeface="Times New Roman" panose="02020603050405020304" pitchFamily="18" charset="0"/>
              </a:rPr>
              <a:t>Example: EMPLOYEE                                                                          FACT_WORKERS</a:t>
            </a:r>
            <a:endParaRPr lang="en-US" b="1" baseline="800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baseline="8000" dirty="0" smtClean="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sz="half" idx="1"/>
          </p:nvPr>
        </p:nvGraphicFramePr>
        <p:xfrm>
          <a:off x="1838325" y="2694940"/>
          <a:ext cx="4038600" cy="1991360"/>
        </p:xfrm>
        <a:graphic>
          <a:graphicData uri="http://schemas.openxmlformats.org/drawingml/2006/table">
            <a:tbl>
              <a:tblPr firstRow="1" bandRow="1">
                <a:tableStyleId>{5940675A-B579-460E-94D1-54222C63F5DA}</a:tableStyleId>
              </a:tblPr>
              <a:tblGrid>
                <a:gridCol w="1275080"/>
                <a:gridCol w="1445895"/>
                <a:gridCol w="1317625"/>
              </a:tblGrid>
              <a:tr h="287655">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EMP_NAME</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STREET</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CITY</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202565">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Ram</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Civil line</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Mumbai</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202565">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Shyam</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Park street</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Kolkata</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201930">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Ravi</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M.G. Street</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Delhi</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r h="202565">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Hari</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Nehru nagar</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2000" b="0">
                          <a:solidFill>
                            <a:srgbClr val="000000"/>
                          </a:solidFill>
                          <a:latin typeface="Times New Roman" panose="02020603050405020304" pitchFamily="18" charset="0"/>
                          <a:cs typeface="Times New Roman" panose="02020603050405020304" pitchFamily="18" charset="0"/>
                        </a:rPr>
                        <a:t>Hyderabad</a:t>
                      </a:r>
                      <a:endParaRPr lang="en-US" sz="20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bl>
          </a:graphicData>
        </a:graphic>
      </p:graphicFrame>
      <p:graphicFrame>
        <p:nvGraphicFramePr>
          <p:cNvPr id="6" name="Content Placeholder 5"/>
          <p:cNvGraphicFramePr>
            <a:graphicFrameLocks noGrp="1"/>
          </p:cNvGraphicFramePr>
          <p:nvPr>
            <p:ph sz="half" idx="2"/>
          </p:nvPr>
        </p:nvGraphicFramePr>
        <p:xfrm>
          <a:off x="6029325" y="2694940"/>
          <a:ext cx="4038600" cy="2137410"/>
        </p:xfrm>
        <a:graphic>
          <a:graphicData uri="http://schemas.openxmlformats.org/drawingml/2006/table">
            <a:tbl>
              <a:tblPr firstRow="1" bandRow="1">
                <a:tableStyleId>{5940675A-B579-460E-94D1-54222C63F5DA}</a:tableStyleId>
              </a:tblPr>
              <a:tblGrid>
                <a:gridCol w="1572895"/>
                <a:gridCol w="1256030"/>
                <a:gridCol w="1209675"/>
              </a:tblGrid>
              <a:tr h="365760">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EMP_NAME</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BRANCH</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SALARY</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Ram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Infosys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Shyam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Wipro</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Kuber</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HCL</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30000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r h="64389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TCS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50000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bl>
          </a:graphicData>
        </a:graphic>
      </p:graphicFrame>
      <p:graphicFrame>
        <p:nvGraphicFramePr>
          <p:cNvPr id="7" name="Table 6"/>
          <p:cNvGraphicFramePr/>
          <p:nvPr/>
        </p:nvGraphicFramePr>
        <p:xfrm>
          <a:off x="3241040" y="4945380"/>
          <a:ext cx="6069330" cy="1659255"/>
        </p:xfrm>
        <a:graphic>
          <a:graphicData uri="http://schemas.openxmlformats.org/drawingml/2006/table">
            <a:tbl>
              <a:tblPr firstRow="1" bandRow="1">
                <a:tableStyleId>{5940675A-B579-460E-94D1-54222C63F5DA}</a:tableStyleId>
              </a:tblPr>
              <a:tblGrid>
                <a:gridCol w="1339215"/>
                <a:gridCol w="1374775"/>
                <a:gridCol w="1257300"/>
                <a:gridCol w="1069340"/>
                <a:gridCol w="1028700"/>
              </a:tblGrid>
              <a:tr h="531495">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EMP_NAME</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STREET</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CITY</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BRANCH</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400" b="1">
                          <a:solidFill>
                            <a:srgbClr val="000000"/>
                          </a:solidFill>
                          <a:latin typeface="Times New Roman" panose="02020603050405020304" pitchFamily="18" charset="0"/>
                          <a:cs typeface="Times New Roman" panose="02020603050405020304" pitchFamily="18" charset="0"/>
                        </a:rPr>
                        <a:t>SALARY</a:t>
                      </a:r>
                      <a:endParaRPr lang="en-US" sz="1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Ram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Civil line</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Mumbai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Infosys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37338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Shyam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Park street</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Kolkata</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Wipro</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37401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Nehru nagar</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Hyderabad</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TCS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50000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Outer Join</a:t>
            </a:r>
            <a:endParaRPr lang="en-US"/>
          </a:p>
        </p:txBody>
      </p:sp>
      <p:sp>
        <p:nvSpPr>
          <p:cNvPr id="3" name="Content Placeholder 2"/>
          <p:cNvSpPr>
            <a:spLocks noGrp="1"/>
          </p:cNvSpPr>
          <p:nvPr>
            <p:ph idx="1"/>
          </p:nvPr>
        </p:nvSpPr>
        <p:spPr/>
        <p:txBody>
          <a:bodyPr>
            <a:normAutofit lnSpcReduction="1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It is an extension of the natural join operation to deal with the missing information. The outer join consists of two steps:</a:t>
            </a:r>
            <a:endParaRPr lang="en-US" sz="2800" kern="0" dirty="0" smtClean="0">
              <a:latin typeface="Times New Roman" panose="02020603050405020304" pitchFamily="18" charset="0"/>
              <a:cs typeface="Times New Roman" panose="02020603050405020304" pitchFamily="18" charset="0"/>
            </a:endParaRPr>
          </a:p>
          <a:p>
            <a:pPr marL="722630" lvl="1" indent="-121920" algn="just">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First, a natural join is executed</a:t>
            </a:r>
            <a:endParaRPr lang="en-US" sz="2800" kern="0" dirty="0" smtClean="0">
              <a:latin typeface="Times New Roman" panose="02020603050405020304" pitchFamily="18" charset="0"/>
              <a:cs typeface="Times New Roman" panose="02020603050405020304" pitchFamily="18" charset="0"/>
            </a:endParaRPr>
          </a:p>
          <a:p>
            <a:pPr marL="722630" marR="5080" lvl="1" indent="-121920" algn="just">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Then if any record in one relation does not match a record from the other relation in the natural join, that unmatched record is added to the join relation, and the additional columns are filled with NULLs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different types of outer join are:</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Left Outer Join</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Right Outer Join</a:t>
            </a:r>
            <a:endParaRPr lang="en-US" sz="2800" kern="0" dirty="0" smtClean="0">
              <a:latin typeface="Times New Roman" panose="02020603050405020304" pitchFamily="18" charset="0"/>
              <a:cs typeface="Times New Roman" panose="02020603050405020304" pitchFamily="18" charset="0"/>
            </a:endParaRPr>
          </a:p>
          <a:p>
            <a:pPr marL="722630" lvl="1" indent="-121920">
              <a:spcBef>
                <a:spcPts val="295"/>
              </a:spcBef>
              <a:buSzPct val="90000"/>
              <a:buFont typeface="Wingdings" panose="05000000000000000000" pitchFamily="2" charset="2"/>
              <a:buChar char="ü"/>
              <a:tabLst>
                <a:tab pos="266065" algn="l"/>
              </a:tabLst>
            </a:pPr>
            <a:r>
              <a:rPr lang="en-US" sz="2800" kern="0" dirty="0" smtClean="0">
                <a:latin typeface="Times New Roman" panose="02020603050405020304" pitchFamily="18" charset="0"/>
                <a:cs typeface="Times New Roman" panose="02020603050405020304" pitchFamily="18" charset="0"/>
                <a:sym typeface="+mn-ea"/>
              </a:rPr>
              <a:t> Full Outer Join</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Left Outer Join(</a:t>
            </a:r>
            <a:r>
              <a:rPr lang="en-US" spc="-5" dirty="0" smtClean="0">
                <a:latin typeface="Times New Roman" panose="02020603050405020304" pitchFamily="18" charset="0"/>
                <a:cs typeface="Times New Roman" panose="02020603050405020304" pitchFamily="18" charset="0"/>
                <a:sym typeface="+mn-ea"/>
              </a:rPr>
              <a:t>⟕</a:t>
            </a:r>
            <a:r>
              <a:rPr lang="en-US" b="1" dirty="0" smtClean="0">
                <a:latin typeface="Times New Roman" panose="02020603050405020304" pitchFamily="18" charset="0"/>
                <a:cs typeface="Times New Roman" panose="02020603050405020304" pitchFamily="18" charset="0"/>
                <a:sym typeface="+mn-ea"/>
              </a:rPr>
              <a:t>)</a:t>
            </a:r>
            <a:endParaRPr lang="en-US"/>
          </a:p>
        </p:txBody>
      </p:sp>
      <p:sp>
        <p:nvSpPr>
          <p:cNvPr id="3" name="Content Placeholder 2"/>
          <p:cNvSpPr>
            <a:spLocks noGrp="1"/>
          </p:cNvSpPr>
          <p:nvPr>
            <p:ph idx="1"/>
          </p:nvPr>
        </p:nvSpPr>
        <p:spPr/>
        <p:txBody>
          <a:bodyPr>
            <a:normAutofit lnSpcReduction="20000"/>
          </a:bodyPr>
          <a:p>
            <a:pPr marL="342900" indent="-342900" algn="just">
              <a:spcBef>
                <a:spcPct val="20000"/>
              </a:spcBef>
              <a:buFont typeface="Wingdings" panose="05000000000000000000" pitchFamily="2" charset="2"/>
              <a:buChar char="Ø"/>
              <a:defRPr/>
            </a:pPr>
            <a:r>
              <a:rPr lang="en-US" sz="2800" spc="-5" dirty="0" smtClean="0">
                <a:latin typeface="Times New Roman" panose="02020603050405020304" pitchFamily="18" charset="0"/>
                <a:cs typeface="Times New Roman" panose="02020603050405020304" pitchFamily="18" charset="0"/>
                <a:sym typeface="+mn-ea"/>
              </a:rPr>
              <a:t>An outer join is basically of three types:</a:t>
            </a:r>
            <a:endParaRPr lang="en-US" sz="2800"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lphaLcPeriod"/>
              <a:defRPr/>
            </a:pPr>
            <a:r>
              <a:rPr lang="en-US" sz="2800" spc="-5" dirty="0" smtClean="0">
                <a:latin typeface="Times New Roman" panose="02020603050405020304" pitchFamily="18" charset="0"/>
                <a:cs typeface="Times New Roman" panose="02020603050405020304" pitchFamily="18" charset="0"/>
                <a:sym typeface="+mn-ea"/>
              </a:rPr>
              <a:t>Left outer join</a:t>
            </a:r>
            <a:endParaRPr lang="en-US" sz="2800"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lphaLcPeriod"/>
              <a:defRPr/>
            </a:pPr>
            <a:r>
              <a:rPr lang="en-US" sz="2800" spc="-5" dirty="0" smtClean="0">
                <a:latin typeface="Times New Roman" panose="02020603050405020304" pitchFamily="18" charset="0"/>
                <a:cs typeface="Times New Roman" panose="02020603050405020304" pitchFamily="18" charset="0"/>
                <a:sym typeface="+mn-ea"/>
              </a:rPr>
              <a:t>Right outer join</a:t>
            </a:r>
            <a:endParaRPr lang="en-US" sz="2800"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lphaLcPeriod"/>
              <a:defRPr/>
            </a:pPr>
            <a:r>
              <a:rPr lang="en-US" sz="2800" spc="-5" dirty="0" smtClean="0">
                <a:latin typeface="Times New Roman" panose="02020603050405020304" pitchFamily="18" charset="0"/>
                <a:cs typeface="Times New Roman" panose="02020603050405020304" pitchFamily="18" charset="0"/>
                <a:sym typeface="+mn-ea"/>
              </a:rPr>
              <a:t>Full outer join</a:t>
            </a:r>
            <a:endParaRPr lang="en-US" sz="2800" spc="-5" dirty="0" smtClean="0">
              <a:latin typeface="Times New Roman" panose="02020603050405020304" pitchFamily="18" charset="0"/>
              <a:cs typeface="Times New Roman" panose="02020603050405020304" pitchFamily="18" charset="0"/>
              <a:sym typeface="+mn-ea"/>
            </a:endParaRPr>
          </a:p>
          <a:p>
            <a:pPr marL="342900" lvl="0" indent="-342900" algn="just">
              <a:spcBef>
                <a:spcPct val="20000"/>
              </a:spcBef>
              <a:buFont typeface="+mj-lt"/>
              <a:buAutoNum type="alphaUcPeriod"/>
              <a:defRPr/>
            </a:pPr>
            <a:r>
              <a:rPr lang="en-US" sz="2400" b="1" spc="-5" dirty="0" smtClean="0">
                <a:latin typeface="Times New Roman" panose="02020603050405020304" pitchFamily="18" charset="0"/>
                <a:cs typeface="Times New Roman" panose="02020603050405020304" pitchFamily="18" charset="0"/>
                <a:sym typeface="+mn-ea"/>
              </a:rPr>
              <a:t>Left outer join</a:t>
            </a:r>
            <a:endParaRPr lang="en-US" sz="2400" b="1" spc="-5" dirty="0" smtClean="0">
              <a:latin typeface="Times New Roman" panose="02020603050405020304" pitchFamily="18" charset="0"/>
              <a:cs typeface="Times New Roman" panose="02020603050405020304" pitchFamily="18" charset="0"/>
              <a:sym typeface="+mn-ea"/>
            </a:endParaRPr>
          </a:p>
          <a:p>
            <a:pPr marL="285750" lvl="0" indent="-285750" algn="just">
              <a:spcBef>
                <a:spcPct val="20000"/>
              </a:spcBef>
              <a:buFont typeface="Wingdings" panose="05000000000000000000" charset="0"/>
              <a:buChar char="ü"/>
              <a:defRPr/>
            </a:pPr>
            <a:r>
              <a:rPr lang="en-US" sz="2400" spc="-5" dirty="0" smtClean="0">
                <a:latin typeface="Times New Roman" panose="02020603050405020304" pitchFamily="18" charset="0"/>
                <a:cs typeface="Times New Roman" panose="02020603050405020304" pitchFamily="18" charset="0"/>
                <a:sym typeface="+mn-ea"/>
              </a:rPr>
              <a:t>Left outer join contains the set of tuples of all combinations in R and S that are equal on their common attribute names.</a:t>
            </a:r>
            <a:endParaRPr lang="en-US" sz="2400" spc="-5" dirty="0" smtClean="0">
              <a:latin typeface="Times New Roman" panose="02020603050405020304" pitchFamily="18" charset="0"/>
              <a:cs typeface="Times New Roman" panose="02020603050405020304" pitchFamily="18" charset="0"/>
            </a:endParaRPr>
          </a:p>
          <a:p>
            <a:pPr marL="285750" lvl="0" indent="-285750" algn="just">
              <a:spcBef>
                <a:spcPct val="20000"/>
              </a:spcBef>
              <a:buFont typeface="Wingdings" panose="05000000000000000000" charset="0"/>
              <a:buChar char="ü"/>
              <a:defRPr/>
            </a:pPr>
            <a:r>
              <a:rPr lang="en-US" sz="2400" spc="-5" dirty="0" smtClean="0">
                <a:latin typeface="Times New Roman" panose="02020603050405020304" pitchFamily="18" charset="0"/>
                <a:cs typeface="Times New Roman" panose="02020603050405020304" pitchFamily="18" charset="0"/>
                <a:sym typeface="+mn-ea"/>
              </a:rPr>
              <a:t>In the left outer join, tuples in R have no matching tuples in S.</a:t>
            </a:r>
            <a:endParaRPr lang="en-US" sz="2400" spc="-5" dirty="0" smtClean="0">
              <a:latin typeface="Times New Roman" panose="02020603050405020304" pitchFamily="18" charset="0"/>
              <a:cs typeface="Times New Roman" panose="02020603050405020304" pitchFamily="18" charset="0"/>
            </a:endParaRPr>
          </a:p>
          <a:p>
            <a:pPr marL="285750" lvl="0" indent="-285750" algn="just">
              <a:spcBef>
                <a:spcPct val="20000"/>
              </a:spcBef>
              <a:buFont typeface="Wingdings" panose="05000000000000000000" charset="0"/>
              <a:buChar char="ü"/>
              <a:defRPr/>
            </a:pPr>
            <a:r>
              <a:rPr lang="en-US" sz="2400" spc="-5" dirty="0" smtClean="0">
                <a:latin typeface="Times New Roman" panose="02020603050405020304" pitchFamily="18" charset="0"/>
                <a:cs typeface="Times New Roman" panose="02020603050405020304" pitchFamily="18" charset="0"/>
                <a:sym typeface="+mn-ea"/>
              </a:rPr>
              <a:t>It is denoted by ⟕.</a:t>
            </a:r>
            <a:endParaRPr lang="en-US" sz="2400" spc="-5" dirty="0" smtClean="0">
              <a:latin typeface="Times New Roman" panose="02020603050405020304" pitchFamily="18" charset="0"/>
              <a:cs typeface="Times New Roman" panose="02020603050405020304" pitchFamily="18" charset="0"/>
            </a:endParaRPr>
          </a:p>
          <a:p>
            <a:pPr marL="285750" lvl="0" indent="-285750" algn="just">
              <a:spcBef>
                <a:spcPct val="20000"/>
              </a:spcBef>
              <a:buFont typeface="Wingdings" panose="05000000000000000000" charset="0"/>
              <a:buChar char="ü"/>
              <a:defRPr/>
            </a:pPr>
            <a:r>
              <a:rPr lang="en-US" sz="2400" spc="-5" dirty="0" smtClean="0">
                <a:latin typeface="Times New Roman" panose="02020603050405020304" pitchFamily="18" charset="0"/>
                <a:cs typeface="Times New Roman" panose="02020603050405020304" pitchFamily="18" charset="0"/>
                <a:sym typeface="+mn-ea"/>
              </a:rPr>
              <a:t>Example: Using the above EMPLOYEE table and FACT_WORKERS table</a:t>
            </a:r>
            <a:endParaRPr lang="en-US" sz="2400"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lphaLcPeriod"/>
              <a:defRPr/>
            </a:pP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Left Outer Join(</a:t>
            </a:r>
            <a:r>
              <a:rPr lang="en-US" spc="-5" dirty="0" smtClean="0">
                <a:latin typeface="Times New Roman" panose="02020603050405020304" pitchFamily="18" charset="0"/>
                <a:cs typeface="Times New Roman" panose="02020603050405020304" pitchFamily="18" charset="0"/>
                <a:sym typeface="+mn-ea"/>
              </a:rPr>
              <a:t>⟕</a:t>
            </a:r>
            <a:r>
              <a:rPr lang="en-US" b="1" dirty="0" smtClean="0">
                <a:latin typeface="Times New Roman" panose="02020603050405020304" pitchFamily="18" charset="0"/>
                <a:cs typeface="Times New Roman" panose="02020603050405020304" pitchFamily="18" charset="0"/>
                <a:sym typeface="+mn-ea"/>
              </a:rPr>
              <a:t>)</a:t>
            </a:r>
            <a:endParaRPr lang="en-US"/>
          </a:p>
        </p:txBody>
      </p:sp>
      <p:graphicFrame>
        <p:nvGraphicFramePr>
          <p:cNvPr id="4" name="Content Placeholder 3"/>
          <p:cNvGraphicFramePr>
            <a:graphicFrameLocks noGrp="1"/>
          </p:cNvGraphicFramePr>
          <p:nvPr>
            <p:ph idx="1"/>
          </p:nvPr>
        </p:nvGraphicFramePr>
        <p:xfrm>
          <a:off x="838200" y="1825625"/>
          <a:ext cx="10515600" cy="3585210"/>
        </p:xfrm>
        <a:graphic>
          <a:graphicData uri="http://schemas.openxmlformats.org/drawingml/2006/table">
            <a:tbl>
              <a:tblPr firstRow="1" bandRow="1">
                <a:tableStyleId>{5940675A-B579-460E-94D1-54222C63F5DA}</a:tableStyleId>
              </a:tblPr>
              <a:tblGrid>
                <a:gridCol w="2318385"/>
                <a:gridCol w="2390140"/>
                <a:gridCol w="2172335"/>
                <a:gridCol w="1852295"/>
                <a:gridCol w="1782445"/>
              </a:tblGrid>
              <a:tr h="939165">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EMP_NAME</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STREET</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CITY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BRANCH</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SALARY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66167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Ram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Civil line</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Mumbai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Infosys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66230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Shyam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Park street</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Kolkata</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Wipro</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66040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Nehru street</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Hyderabad</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TCS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50000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r h="66167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Ravi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M.G. Street</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Delhi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NULL</a:t>
                      </a:r>
                      <a:endParaRPr lang="en-US" sz="1800" b="1">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NULL</a:t>
                      </a:r>
                      <a:endParaRPr lang="en-US" sz="1800" b="1">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Left Outer Join</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left outer join preserves all tuples in left relation. The left outer join is denoted by symbol:</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All information from the left relation is present in the result of the left outer join.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Left Outer Join</a:t>
            </a:r>
            <a:endParaRPr lang="en-US"/>
          </a:p>
        </p:txBody>
      </p:sp>
      <p:pic>
        <p:nvPicPr>
          <p:cNvPr id="5122" name="Picture 2" descr="C:\Users\nEW u\Desktop\1111111111111.png"/>
          <p:cNvPicPr>
            <a:picLocks noChangeAspect="1" noChangeArrowheads="1"/>
          </p:cNvPicPr>
          <p:nvPr>
            <p:ph idx="1"/>
          </p:nvPr>
        </p:nvPicPr>
        <p:blipFill>
          <a:blip r:embed="rId1"/>
          <a:srcRect t="2899"/>
          <a:stretch>
            <a:fillRect/>
          </a:stretch>
        </p:blipFill>
        <p:spPr bwMode="auto">
          <a:xfrm>
            <a:off x="2844800" y="1541780"/>
            <a:ext cx="6502400" cy="4872355"/>
          </a:xfrm>
          <a:prstGeom prst="rect">
            <a:avLst/>
          </a:prstGeo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Right outer join:(</a:t>
            </a:r>
            <a:r>
              <a:rPr lang="en-US" spc="-5" dirty="0" smtClean="0">
                <a:latin typeface="Times New Roman" panose="02020603050405020304" pitchFamily="18" charset="0"/>
                <a:cs typeface="Times New Roman" panose="02020603050405020304" pitchFamily="18" charset="0"/>
                <a:sym typeface="+mn-ea"/>
              </a:rPr>
              <a:t> ⟖</a:t>
            </a:r>
            <a:r>
              <a:rPr lang="en-US" b="1" dirty="0" smtClean="0">
                <a:latin typeface="Times New Roman" panose="02020603050405020304" pitchFamily="18" charset="0"/>
                <a:cs typeface="Times New Roman" panose="02020603050405020304" pitchFamily="18" charset="0"/>
                <a:sym typeface="+mn-ea"/>
              </a:rPr>
              <a:t>)</a:t>
            </a:r>
            <a:endParaRPr lang="en-US"/>
          </a:p>
        </p:txBody>
      </p:sp>
      <p:sp>
        <p:nvSpPr>
          <p:cNvPr id="3" name="Content Placeholder 2"/>
          <p:cNvSpPr>
            <a:spLocks noGrp="1"/>
          </p:cNvSpPr>
          <p:nvPr>
            <p:ph idx="1"/>
          </p:nvPr>
        </p:nvSpPr>
        <p:spPr>
          <a:xfrm>
            <a:off x="838200" y="1825625"/>
            <a:ext cx="10515600" cy="2649220"/>
          </a:xfrm>
        </p:spPr>
        <p:txBody>
          <a:bodyPr>
            <a:normAutofit lnSpcReduction="20000"/>
          </a:bodyPr>
          <a:p>
            <a:pPr marL="285750" indent="-285750" algn="just">
              <a:spcBef>
                <a:spcPct val="20000"/>
              </a:spcBef>
              <a:buFont typeface="Wingdings" panose="05000000000000000000" charset="0"/>
              <a:buChar char="Ø"/>
              <a:defRPr/>
            </a:pPr>
            <a:r>
              <a:rPr lang="en-US" spc="-5" dirty="0" smtClean="0">
                <a:latin typeface="Times New Roman" panose="02020603050405020304" pitchFamily="18" charset="0"/>
                <a:cs typeface="Times New Roman" panose="02020603050405020304" pitchFamily="18" charset="0"/>
                <a:sym typeface="+mn-ea"/>
              </a:rPr>
              <a:t> Right outer join contains the set of tuples of all combinations in R and S that are equal on their common attribute names</a:t>
            </a:r>
            <a:endParaRPr lang="en-US" spc="-5" dirty="0" smtClean="0">
              <a:latin typeface="Times New Roman" panose="02020603050405020304" pitchFamily="18" charset="0"/>
              <a:cs typeface="Times New Roman" panose="02020603050405020304" pitchFamily="18" charset="0"/>
            </a:endParaRPr>
          </a:p>
          <a:p>
            <a:pPr marL="285750" indent="-285750" algn="just">
              <a:spcBef>
                <a:spcPct val="20000"/>
              </a:spcBef>
              <a:buFont typeface="Wingdings" panose="05000000000000000000" charset="0"/>
              <a:buChar char="Ø"/>
              <a:defRPr/>
            </a:pPr>
            <a:r>
              <a:rPr lang="en-US" spc="-5" dirty="0" smtClean="0">
                <a:latin typeface="Times New Roman" panose="02020603050405020304" pitchFamily="18" charset="0"/>
                <a:cs typeface="Times New Roman" panose="02020603050405020304" pitchFamily="18" charset="0"/>
                <a:sym typeface="+mn-ea"/>
              </a:rPr>
              <a:t>In right outer join, tuples in S have no matching tuples in R.</a:t>
            </a:r>
            <a:endParaRPr lang="en-US" spc="-5" dirty="0" smtClean="0">
              <a:latin typeface="Times New Roman" panose="02020603050405020304" pitchFamily="18" charset="0"/>
              <a:cs typeface="Times New Roman" panose="02020603050405020304" pitchFamily="18" charset="0"/>
            </a:endParaRPr>
          </a:p>
          <a:p>
            <a:pPr marL="285750" indent="-285750" algn="just">
              <a:spcBef>
                <a:spcPct val="20000"/>
              </a:spcBef>
              <a:buFont typeface="Wingdings" panose="05000000000000000000" charset="0"/>
              <a:buChar char="Ø"/>
              <a:defRPr/>
            </a:pPr>
            <a:r>
              <a:rPr lang="en-US" spc="-5" dirty="0" smtClean="0">
                <a:latin typeface="Times New Roman" panose="02020603050405020304" pitchFamily="18" charset="0"/>
                <a:cs typeface="Times New Roman" panose="02020603050405020304" pitchFamily="18" charset="0"/>
                <a:sym typeface="+mn-ea"/>
              </a:rPr>
              <a:t>It is denoted by ⟖.</a:t>
            </a:r>
            <a:endParaRPr lang="en-US"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charset="0"/>
              <a:buNone/>
              <a:defRPr/>
            </a:pPr>
            <a:r>
              <a:rPr lang="en-US" b="1" spc="-5" dirty="0" smtClean="0">
                <a:latin typeface="Times New Roman" panose="02020603050405020304" pitchFamily="18" charset="0"/>
                <a:cs typeface="Times New Roman" panose="02020603050405020304" pitchFamily="18" charset="0"/>
                <a:sym typeface="+mn-ea"/>
              </a:rPr>
              <a:t>Example:</a:t>
            </a:r>
            <a:r>
              <a:rPr lang="en-US" spc="-5" dirty="0" smtClean="0">
                <a:latin typeface="Times New Roman" panose="02020603050405020304" pitchFamily="18" charset="0"/>
                <a:cs typeface="Times New Roman" panose="02020603050405020304" pitchFamily="18" charset="0"/>
                <a:sym typeface="+mn-ea"/>
              </a:rPr>
              <a:t> Using the above EMPLOYEE table and FACT_WORKERS Relation</a:t>
            </a:r>
            <a:endParaRPr lang="en-US" spc="-5" dirty="0" smtClean="0">
              <a:latin typeface="Times New Roman" panose="02020603050405020304" pitchFamily="18" charset="0"/>
              <a:cs typeface="Times New Roman" panose="02020603050405020304" pitchFamily="18" charset="0"/>
            </a:endParaRPr>
          </a:p>
          <a:p>
            <a:pPr marL="0" indent="0" algn="ctr">
              <a:spcBef>
                <a:spcPct val="20000"/>
              </a:spcBef>
              <a:buFont typeface="Wingdings" panose="05000000000000000000" charset="0"/>
              <a:buNone/>
              <a:defRPr/>
            </a:pPr>
            <a:r>
              <a:rPr lang="en-US" b="1" spc="-5" dirty="0" smtClean="0">
                <a:latin typeface="Times New Roman" panose="02020603050405020304" pitchFamily="18" charset="0"/>
                <a:cs typeface="Times New Roman" panose="02020603050405020304" pitchFamily="18" charset="0"/>
                <a:sym typeface="+mn-ea"/>
              </a:rPr>
              <a:t>EMPLOYEE ⟖ FACT_WORKERS </a:t>
            </a:r>
            <a:endParaRPr lang="en-US"/>
          </a:p>
        </p:txBody>
      </p:sp>
      <p:graphicFrame>
        <p:nvGraphicFramePr>
          <p:cNvPr id="4" name="Table 3"/>
          <p:cNvGraphicFramePr>
            <a:graphicFrameLocks noGrp="1"/>
          </p:cNvGraphicFramePr>
          <p:nvPr/>
        </p:nvGraphicFramePr>
        <p:xfrm>
          <a:off x="2731135" y="4386580"/>
          <a:ext cx="6729095" cy="2471420"/>
        </p:xfrm>
        <a:graphic>
          <a:graphicData uri="http://schemas.openxmlformats.org/drawingml/2006/table">
            <a:tbl>
              <a:tblPr firstRow="1" bandRow="1">
                <a:tableStyleId>{5940675A-B579-460E-94D1-54222C63F5DA}</a:tableStyleId>
              </a:tblPr>
              <a:tblGrid>
                <a:gridCol w="1483360"/>
                <a:gridCol w="1529715"/>
                <a:gridCol w="1390015"/>
                <a:gridCol w="1185545"/>
                <a:gridCol w="1140460"/>
              </a:tblGrid>
              <a:tr h="560070">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EMP_NAME</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BRANCH</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SALARY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STREET</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CITY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41973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Ram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Infosys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Civil line</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Mumbai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42100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Shyam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Wipro</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Park street</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Kolkata</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65024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TCS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50000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Nehru street</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Hyderabad</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r h="42037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Kuber</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HCL</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30000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NULL</a:t>
                      </a:r>
                      <a:endParaRPr lang="en-US" sz="1800" b="1">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NULL</a:t>
                      </a:r>
                      <a:endParaRPr lang="en-US" sz="1800" b="1">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Right Outer Join</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right outer join preserves all tuples in right relation. The right outer join is denoted by symbol:</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All information from the right relation is present in the result of the right outer join.</a:t>
            </a:r>
            <a:endParaRPr lang="en-US" kern="0" dirty="0" smtClean="0">
              <a:latin typeface="Times New Roman" panose="02020603050405020304" pitchFamily="18" charset="0"/>
              <a:cs typeface="Times New Roman" panose="02020603050405020304" pitchFamily="18" charset="0"/>
            </a:endParaRPr>
          </a:p>
          <a:p>
            <a:endParaRPr lang="en-US"/>
          </a:p>
        </p:txBody>
      </p:sp>
      <p:pic>
        <p:nvPicPr>
          <p:cNvPr id="8" name="Picture 2" descr="C:\Users\nEW u\Desktop\1111111111111.png"/>
          <p:cNvPicPr>
            <a:picLocks noChangeAspect="1" noChangeArrowheads="1"/>
          </p:cNvPicPr>
          <p:nvPr/>
        </p:nvPicPr>
        <p:blipFill>
          <a:blip r:embed="rId1"/>
          <a:srcRect/>
          <a:stretch>
            <a:fillRect/>
          </a:stretch>
        </p:blipFill>
        <p:spPr bwMode="auto">
          <a:xfrm>
            <a:off x="3695700" y="3136900"/>
            <a:ext cx="5755005" cy="3721100"/>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Full outer join:(</a:t>
            </a:r>
            <a:r>
              <a:rPr lang="en-US" spc="-5" dirty="0" smtClean="0">
                <a:latin typeface="Times New Roman" panose="02020603050405020304" pitchFamily="18" charset="0"/>
                <a:cs typeface="Times New Roman" panose="02020603050405020304" pitchFamily="18" charset="0"/>
                <a:sym typeface="+mn-ea"/>
              </a:rPr>
              <a:t>⟗</a:t>
            </a:r>
            <a:r>
              <a:rPr lang="en-US" b="1" dirty="0" smtClean="0">
                <a:latin typeface="Times New Roman" panose="02020603050405020304" pitchFamily="18" charset="0"/>
                <a:cs typeface="Times New Roman" panose="02020603050405020304" pitchFamily="18" charset="0"/>
                <a:sym typeface="+mn-ea"/>
              </a:rPr>
              <a:t>)</a:t>
            </a:r>
            <a:endParaRPr lang="en-US"/>
          </a:p>
        </p:txBody>
      </p:sp>
      <p:sp>
        <p:nvSpPr>
          <p:cNvPr id="4" name="Content Placeholder 2"/>
          <p:cNvSpPr txBox="1"/>
          <p:nvPr/>
        </p:nvSpPr>
        <p:spPr bwMode="auto">
          <a:xfrm>
            <a:off x="2167546" y="1321419"/>
            <a:ext cx="7858180" cy="5214974"/>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Full outer join is like a left or right join except that it contains all rows from both tables.</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In full outer join, tuples in R that have no matching tuples in S and tuples in S that have no matching tuples in R in their common attribute name.</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It is denoted by ⟗.</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Example: Using the above EMPLOYEE table and FACT_WORKERS table</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Input:</a:t>
            </a:r>
            <a:endParaRPr lang="en-US"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b="1" spc="-5" dirty="0" smtClean="0">
                <a:latin typeface="Times New Roman" panose="02020603050405020304" pitchFamily="18" charset="0"/>
                <a:cs typeface="Times New Roman" panose="02020603050405020304" pitchFamily="18" charset="0"/>
              </a:rPr>
              <a:t>EMPLOYEE ⟗ FACT_WORKERS  </a:t>
            </a: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spc="-5" dirty="0" smtClean="0">
              <a:latin typeface="Times New Roman" panose="02020603050405020304" pitchFamily="18" charset="0"/>
              <a:cs typeface="Times New Roman" panose="02020603050405020304" pitchFamily="18" charset="0"/>
            </a:endParaRPr>
          </a:p>
          <a:p>
            <a:pPr marL="469900" lvl="1">
              <a:spcBef>
                <a:spcPts val="150"/>
              </a:spcBef>
            </a:pPr>
            <a:endParaRPr lang="en-US" baseline="8000" dirty="0" smtClean="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nvPr>
        </p:nvGraphicFramePr>
        <p:xfrm>
          <a:off x="1838960" y="4337685"/>
          <a:ext cx="8229600" cy="2306320"/>
        </p:xfrm>
        <a:graphic>
          <a:graphicData uri="http://schemas.openxmlformats.org/drawingml/2006/table">
            <a:tbl>
              <a:tblPr firstRow="1" bandRow="1">
                <a:tableStyleId>{5940675A-B579-460E-94D1-54222C63F5DA}</a:tableStyleId>
              </a:tblPr>
              <a:tblGrid>
                <a:gridCol w="1814195"/>
                <a:gridCol w="1870710"/>
                <a:gridCol w="1699895"/>
                <a:gridCol w="1449705"/>
                <a:gridCol w="1395095"/>
              </a:tblGrid>
              <a:tr h="426720">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EMP_NAME</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STREET</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CITY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BRANCH</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SALARY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Ram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Civil line</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Mumbai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Infosys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30670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Shyam</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Park street</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Kolkata</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Wipro</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Nehru street</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Hyderabad</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TCS</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50000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Ravi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M.G. Street</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Delhi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NULL</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NULL</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37592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Kuber</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NULL</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NULL</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HCL</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30000</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Full Outer Join</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full outer join preserves all tuples in both relations. The full outer join is denoted by symbol:</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All information from both the relations is present in the result of the full outer join.</a:t>
            </a:r>
            <a:endParaRPr lang="en-US" kern="0" dirty="0" smtClean="0">
              <a:latin typeface="Times New Roman" panose="02020603050405020304" pitchFamily="18" charset="0"/>
              <a:cs typeface="Times New Roman" panose="02020603050405020304" pitchFamily="18" charset="0"/>
            </a:endParaRPr>
          </a:p>
          <a:p>
            <a:endParaRPr lang="en-US"/>
          </a:p>
        </p:txBody>
      </p:sp>
      <p:pic>
        <p:nvPicPr>
          <p:cNvPr id="7170" name="Picture 2" descr="C:\Users\nEW u\Desktop\1111111111111.png"/>
          <p:cNvPicPr>
            <a:picLocks noChangeAspect="1" noChangeArrowheads="1"/>
          </p:cNvPicPr>
          <p:nvPr/>
        </p:nvPicPr>
        <p:blipFill>
          <a:blip r:embed="rId1"/>
          <a:srcRect/>
          <a:stretch>
            <a:fillRect/>
          </a:stretch>
        </p:blipFill>
        <p:spPr bwMode="auto">
          <a:xfrm>
            <a:off x="3641090" y="3247390"/>
            <a:ext cx="6657975" cy="3610610"/>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3. Equi join:</a:t>
            </a:r>
            <a:endParaRPr lang="en-US"/>
          </a:p>
        </p:txBody>
      </p:sp>
      <p:sp>
        <p:nvSpPr>
          <p:cNvPr id="4" name="Content Placeholder 2"/>
          <p:cNvSpPr txBox="1"/>
          <p:nvPr/>
        </p:nvSpPr>
        <p:spPr bwMode="auto">
          <a:xfrm>
            <a:off x="2167546" y="1349359"/>
            <a:ext cx="7858180" cy="5214974"/>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It is also known as an inner join. It is the most common join. It is based on matched data as per the equality condition. The equi join uses the comparison operator(=).</a:t>
            </a:r>
            <a:endParaRPr lang="en-US"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b="1" spc="-5" dirty="0" smtClean="0">
                <a:latin typeface="Times New Roman" panose="02020603050405020304" pitchFamily="18" charset="0"/>
                <a:cs typeface="Times New Roman" panose="02020603050405020304" pitchFamily="18" charset="0"/>
              </a:rPr>
              <a:t>CUSTOMER RELATION                                           PRODUCT</a:t>
            </a: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b="1" spc="-5" dirty="0" smtClean="0">
                <a:latin typeface="Times New Roman" panose="02020603050405020304" pitchFamily="18" charset="0"/>
                <a:cs typeface="Times New Roman" panose="02020603050405020304" pitchFamily="18" charset="0"/>
              </a:rPr>
              <a:t>CUSTOMER ⋈ PRODUCT   </a:t>
            </a: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b="1" spc="-5"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b="1" spc="-5" dirty="0" smtClean="0">
              <a:latin typeface="Times New Roman" panose="02020603050405020304" pitchFamily="18" charset="0"/>
              <a:cs typeface="Times New Roman" panose="02020603050405020304" pitchFamily="18" charset="0"/>
            </a:endParaRPr>
          </a:p>
          <a:p>
            <a:pPr marL="469900" lvl="1">
              <a:spcBef>
                <a:spcPts val="150"/>
              </a:spcBef>
            </a:pPr>
            <a:endParaRPr lang="en-US" b="1" spc="-5" baseline="8000" dirty="0" smtClean="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sz="half" idx="1"/>
          </p:nvPr>
        </p:nvGraphicFramePr>
        <p:xfrm>
          <a:off x="1838960" y="2808605"/>
          <a:ext cx="4038600" cy="1580515"/>
        </p:xfrm>
        <a:graphic>
          <a:graphicData uri="http://schemas.openxmlformats.org/drawingml/2006/table">
            <a:tbl>
              <a:tblPr firstRow="1" bandRow="1">
                <a:tableStyleId>{5940675A-B579-460E-94D1-54222C63F5DA}</a:tableStyleId>
              </a:tblPr>
              <a:tblGrid>
                <a:gridCol w="2130425"/>
                <a:gridCol w="1908175"/>
              </a:tblGrid>
              <a:tr h="452755">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CLASS_ID</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NAME</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31877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John</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31877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Harry</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31877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3</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Jackson</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graphicFrame>
        <p:nvGraphicFramePr>
          <p:cNvPr id="6" name="Content Placeholder 5"/>
          <p:cNvGraphicFramePr>
            <a:graphicFrameLocks noGrp="1"/>
          </p:cNvGraphicFramePr>
          <p:nvPr>
            <p:ph sz="half" idx="2"/>
          </p:nvPr>
        </p:nvGraphicFramePr>
        <p:xfrm>
          <a:off x="6029960" y="2807970"/>
          <a:ext cx="4038600" cy="1558290"/>
        </p:xfrm>
        <a:graphic>
          <a:graphicData uri="http://schemas.openxmlformats.org/drawingml/2006/table">
            <a:tbl>
              <a:tblPr firstRow="1" bandRow="1">
                <a:tableStyleId>{5940675A-B579-460E-94D1-54222C63F5DA}</a:tableStyleId>
              </a:tblPr>
              <a:tblGrid>
                <a:gridCol w="2370455"/>
                <a:gridCol w="1668145"/>
              </a:tblGrid>
              <a:tr h="430530">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PRODUCT_ID</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CITY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30353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Delhi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30289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Mumbai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303530">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3</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Noida</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graphicFrame>
        <p:nvGraphicFramePr>
          <p:cNvPr id="7" name="Table 6"/>
          <p:cNvGraphicFramePr/>
          <p:nvPr/>
        </p:nvGraphicFramePr>
        <p:xfrm>
          <a:off x="2167255" y="4944745"/>
          <a:ext cx="6837045" cy="1648460"/>
        </p:xfrm>
        <a:graphic>
          <a:graphicData uri="http://schemas.openxmlformats.org/drawingml/2006/table">
            <a:tbl>
              <a:tblPr firstRow="1" bandRow="1">
                <a:tableStyleId>{5940675A-B579-460E-94D1-54222C63F5DA}</a:tableStyleId>
              </a:tblPr>
              <a:tblGrid>
                <a:gridCol w="1584960"/>
                <a:gridCol w="1355725"/>
                <a:gridCol w="2287270"/>
                <a:gridCol w="1609090"/>
              </a:tblGrid>
              <a:tr h="520700">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CLASS_ID</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w="12700" cap="flat" cmpd="sng">
                      <a:solidFill>
                        <a:srgbClr val="C7CCBE"/>
                      </a:solidFill>
                      <a:prstDash val="solid"/>
                      <a:headEnd type="none" w="med" len="med"/>
                      <a:tailEnd type="none" w="med" len="med"/>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NAME</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PRODUCT_ID</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a:noFill/>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c>
                  <a:txBody>
                    <a:bodyPr/>
                    <a:p>
                      <a:pPr indent="0">
                        <a:buNone/>
                      </a:pPr>
                      <a:r>
                        <a:rPr lang="en-US" sz="1800" b="1">
                          <a:solidFill>
                            <a:srgbClr val="000000"/>
                          </a:solidFill>
                          <a:latin typeface="Times New Roman" panose="02020603050405020304" pitchFamily="18" charset="0"/>
                          <a:cs typeface="Times New Roman" panose="02020603050405020304" pitchFamily="18" charset="0"/>
                        </a:rPr>
                        <a:t>CITY</a:t>
                      </a:r>
                      <a:endParaRPr lang="en-US" sz="18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76200" marR="76200" marT="76200" marB="76200">
                    <a:lnL>
                      <a:noFill/>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cap="flat">
                      <a:noFill/>
                    </a:lnB>
                    <a:lnTlToBr>
                      <a:noFill/>
                    </a:lnTlToBr>
                    <a:lnBlToTr>
                      <a:noFill/>
                    </a:lnBlToTr>
                    <a:solidFill>
                      <a:srgbClr val="C7CCBE"/>
                    </a:solidFill>
                  </a:tcPr>
                </a:tc>
              </a:tr>
              <a:tr h="36639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John</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1</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Delhi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cap="flat">
                      <a:noFill/>
                    </a:lnT>
                    <a:lnB w="12700" cap="flat" cmpd="sng">
                      <a:solidFill>
                        <a:srgbClr val="C7CCBE"/>
                      </a:solidFill>
                      <a:prstDash val="solid"/>
                      <a:headEnd type="none" w="med" len="med"/>
                      <a:tailEnd type="none" w="med" len="med"/>
                    </a:lnB>
                    <a:lnTlToBr>
                      <a:noFill/>
                    </a:lnTlToBr>
                    <a:lnBlToTr>
                      <a:noFill/>
                    </a:lnBlToTr>
                    <a:solidFill>
                      <a:srgbClr val="FFFFFF"/>
                    </a:solidFill>
                  </a:tcPr>
                </a:tc>
              </a:tr>
              <a:tr h="36639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Harry</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2</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Mumbai</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EFF1EB"/>
                    </a:solidFill>
                  </a:tcPr>
                </a:tc>
              </a:tr>
              <a:tr h="366395">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3</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Harry</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3</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c>
                  <a:txBody>
                    <a:bodyPr/>
                    <a:p>
                      <a:pPr indent="0">
                        <a:buNone/>
                      </a:pPr>
                      <a:r>
                        <a:rPr lang="en-US" sz="1800" b="0">
                          <a:solidFill>
                            <a:srgbClr val="000000"/>
                          </a:solidFill>
                          <a:latin typeface="Times New Roman" panose="02020603050405020304" pitchFamily="18" charset="0"/>
                          <a:cs typeface="Times New Roman" panose="02020603050405020304" pitchFamily="18" charset="0"/>
                        </a:rPr>
                        <a:t>Noida</a:t>
                      </a:r>
                      <a:endParaRPr lang="en-US" sz="1800" b="0">
                        <a:solidFill>
                          <a:srgbClr val="000000"/>
                        </a:solidFill>
                        <a:latin typeface="Times New Roman" panose="02020603050405020304" pitchFamily="18" charset="0"/>
                        <a:ea typeface="Verdana" panose="020B0604030504040204" charset="0"/>
                        <a:cs typeface="Times New Roman" panose="02020603050405020304" pitchFamily="18" charset="0"/>
                      </a:endParaRPr>
                    </a:p>
                  </a:txBody>
                  <a:tcPr marL="50800" marR="50800" marT="50800" marB="50800">
                    <a:lnL w="12700" cap="flat" cmpd="sng">
                      <a:solidFill>
                        <a:srgbClr val="C7CCBE"/>
                      </a:solidFill>
                      <a:prstDash val="solid"/>
                      <a:headEnd type="none" w="med" len="med"/>
                      <a:tailEnd type="none" w="med" len="med"/>
                    </a:lnL>
                    <a:lnR w="12700" cap="flat" cmpd="sng">
                      <a:solidFill>
                        <a:srgbClr val="C7CCBE"/>
                      </a:solidFill>
                      <a:prstDash val="solid"/>
                      <a:headEnd type="none" w="med" len="med"/>
                      <a:tailEnd type="none" w="med" len="med"/>
                    </a:lnR>
                    <a:lnT w="12700" cap="flat" cmpd="sng">
                      <a:solidFill>
                        <a:srgbClr val="C7CCBE"/>
                      </a:solidFill>
                      <a:prstDash val="solid"/>
                      <a:headEnd type="none" w="med" len="med"/>
                      <a:tailEnd type="none" w="med" len="med"/>
                    </a:lnT>
                    <a:lnB w="12700" cap="flat" cmpd="sng">
                      <a:solidFill>
                        <a:srgbClr val="C7CCBE"/>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18465" y="67945"/>
            <a:ext cx="10515600" cy="1325563"/>
          </a:xfrm>
        </p:spPr>
        <p:txBody>
          <a:bodyPr/>
          <a:p>
            <a:r>
              <a:rPr lang="en-US" b="1" dirty="0" smtClean="0">
                <a:latin typeface="Times New Roman" panose="02020603050405020304" pitchFamily="18" charset="0"/>
                <a:cs typeface="Times New Roman" panose="02020603050405020304" pitchFamily="18" charset="0"/>
                <a:sym typeface="+mn-ea"/>
              </a:rPr>
              <a:t>Equi Join(     =</a:t>
            </a:r>
            <a:r>
              <a:rPr lang="el-GR" b="1" dirty="0" smtClean="0">
                <a:latin typeface="Times New Roman" panose="02020603050405020304" pitchFamily="18" charset="0"/>
                <a:cs typeface="Times New Roman" panose="02020603050405020304" pitchFamily="18" charset="0"/>
                <a:sym typeface="+mn-ea"/>
              </a:rPr>
              <a:t> )</a:t>
            </a:r>
            <a:endParaRPr lang="en-US"/>
          </a:p>
        </p:txBody>
      </p:sp>
      <p:sp>
        <p:nvSpPr>
          <p:cNvPr id="3" name="Content Placeholder 2"/>
          <p:cNvSpPr>
            <a:spLocks noGrp="1"/>
          </p:cNvSpPr>
          <p:nvPr>
            <p:ph idx="1"/>
          </p:nvPr>
        </p:nvSpPr>
        <p:spPr>
          <a:xfrm>
            <a:off x="669290" y="1093470"/>
            <a:ext cx="10515600" cy="4351338"/>
          </a:xfrm>
        </p:spPr>
        <p:txBody>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a:t>
            </a:r>
            <a:r>
              <a:rPr lang="en-US" sz="2800" kern="0" dirty="0" err="1" smtClean="0">
                <a:latin typeface="Times New Roman" panose="02020603050405020304" pitchFamily="18" charset="0"/>
                <a:cs typeface="Times New Roman" panose="02020603050405020304" pitchFamily="18" charset="0"/>
                <a:sym typeface="+mn-ea"/>
              </a:rPr>
              <a:t>equi</a:t>
            </a:r>
            <a:r>
              <a:rPr lang="en-US" sz="2800" kern="0" dirty="0" smtClean="0">
                <a:latin typeface="Times New Roman" panose="02020603050405020304" pitchFamily="18" charset="0"/>
                <a:cs typeface="Times New Roman" panose="02020603050405020304" pitchFamily="18" charset="0"/>
                <a:sym typeface="+mn-ea"/>
              </a:rPr>
              <a:t> join is the theta join based on equality of specified columns. That means the </a:t>
            </a:r>
            <a:r>
              <a:rPr lang="en-US" sz="2800" kern="0" dirty="0" err="1" smtClean="0">
                <a:latin typeface="Times New Roman" panose="02020603050405020304" pitchFamily="18" charset="0"/>
                <a:cs typeface="Times New Roman" panose="02020603050405020304" pitchFamily="18" charset="0"/>
                <a:sym typeface="+mn-ea"/>
              </a:rPr>
              <a:t>equi</a:t>
            </a:r>
            <a:r>
              <a:rPr lang="en-US" sz="2800" kern="0" dirty="0" smtClean="0">
                <a:latin typeface="Times New Roman" panose="02020603050405020304" pitchFamily="18" charset="0"/>
                <a:cs typeface="Times New Roman" panose="02020603050405020304" pitchFamily="18" charset="0"/>
                <a:sym typeface="+mn-ea"/>
              </a:rPr>
              <a:t> join is the special type of theta join where the comparison operator is =.</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spc="-10" dirty="0" smtClean="0">
                <a:latin typeface="Times New Roman" panose="02020603050405020304" pitchFamily="18" charset="0"/>
                <a:cs typeface="Times New Roman" panose="02020603050405020304" pitchFamily="18" charset="0"/>
                <a:sym typeface="+mn-ea"/>
              </a:rPr>
              <a:t>The</a:t>
            </a:r>
            <a:r>
              <a:rPr lang="en-US" sz="2800" spc="-5" dirty="0" smtClean="0">
                <a:latin typeface="Times New Roman" panose="02020603050405020304" pitchFamily="18" charset="0"/>
                <a:cs typeface="Times New Roman" panose="02020603050405020304" pitchFamily="18" charset="0"/>
                <a:sym typeface="+mn-ea"/>
              </a:rPr>
              <a:t> </a:t>
            </a:r>
            <a:r>
              <a:rPr lang="en-US" sz="2800" spc="-10" dirty="0" smtClean="0">
                <a:latin typeface="Times New Roman" panose="02020603050405020304" pitchFamily="18" charset="0"/>
                <a:cs typeface="Times New Roman" panose="02020603050405020304" pitchFamily="18" charset="0"/>
                <a:sym typeface="+mn-ea"/>
              </a:rPr>
              <a:t>gene</a:t>
            </a:r>
            <a:r>
              <a:rPr lang="en-US" sz="2800" spc="-15" dirty="0" smtClean="0">
                <a:latin typeface="Times New Roman" panose="02020603050405020304" pitchFamily="18" charset="0"/>
                <a:cs typeface="Times New Roman" panose="02020603050405020304" pitchFamily="18" charset="0"/>
                <a:sym typeface="+mn-ea"/>
              </a:rPr>
              <a:t>r</a:t>
            </a:r>
            <a:r>
              <a:rPr lang="en-US" sz="2800" spc="-5" dirty="0" smtClean="0">
                <a:latin typeface="Times New Roman" panose="02020603050405020304" pitchFamily="18" charset="0"/>
                <a:cs typeface="Times New Roman" panose="02020603050405020304" pitchFamily="18" charset="0"/>
                <a:sym typeface="+mn-ea"/>
              </a:rPr>
              <a:t>al </a:t>
            </a:r>
            <a:r>
              <a:rPr lang="en-US" sz="2800" spc="-35" dirty="0" smtClean="0">
                <a:latin typeface="Times New Roman" panose="02020603050405020304" pitchFamily="18" charset="0"/>
                <a:cs typeface="Times New Roman" panose="02020603050405020304" pitchFamily="18" charset="0"/>
                <a:sym typeface="+mn-ea"/>
              </a:rPr>
              <a:t>f</a:t>
            </a:r>
            <a:r>
              <a:rPr lang="en-US" sz="2800" spc="-10" dirty="0" smtClean="0">
                <a:latin typeface="Times New Roman" panose="02020603050405020304" pitchFamily="18" charset="0"/>
                <a:cs typeface="Times New Roman" panose="02020603050405020304" pitchFamily="18" charset="0"/>
                <a:sym typeface="+mn-ea"/>
              </a:rPr>
              <a:t>o</a:t>
            </a:r>
            <a:r>
              <a:rPr lang="en-US" sz="2800" spc="20" dirty="0" smtClean="0">
                <a:latin typeface="Times New Roman" panose="02020603050405020304" pitchFamily="18" charset="0"/>
                <a:cs typeface="Times New Roman" panose="02020603050405020304" pitchFamily="18" charset="0"/>
                <a:sym typeface="+mn-ea"/>
              </a:rPr>
              <a:t>r</a:t>
            </a:r>
            <a:r>
              <a:rPr lang="en-US" sz="2800" spc="-10" dirty="0" smtClean="0">
                <a:latin typeface="Times New Roman" panose="02020603050405020304" pitchFamily="18" charset="0"/>
                <a:cs typeface="Times New Roman" panose="02020603050405020304" pitchFamily="18" charset="0"/>
                <a:sym typeface="+mn-ea"/>
              </a:rPr>
              <a:t>m</a:t>
            </a:r>
            <a:r>
              <a:rPr lang="en-US" sz="2800" spc="-5" dirty="0" smtClean="0">
                <a:latin typeface="Times New Roman" panose="02020603050405020304" pitchFamily="18" charset="0"/>
                <a:cs typeface="Times New Roman" panose="02020603050405020304" pitchFamily="18" charset="0"/>
                <a:sym typeface="+mn-ea"/>
              </a:rPr>
              <a:t> of theta join is: R </a:t>
            </a:r>
            <a:r>
              <a:rPr lang="en-US" sz="2800" spc="-790" dirty="0" smtClean="0">
                <a:latin typeface="Times New Roman" panose="02020603050405020304" pitchFamily="18" charset="0"/>
                <a:cs typeface="Times New Roman" panose="02020603050405020304" pitchFamily="18" charset="0"/>
                <a:sym typeface="+mn-ea"/>
              </a:rPr>
              <a:t>⋊</a:t>
            </a:r>
            <a:r>
              <a:rPr lang="en-US" sz="2800" spc="-25"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n-US" sz="2800" baseline="-12000" dirty="0" smtClean="0">
                <a:latin typeface="Times New Roman" panose="02020603050405020304" pitchFamily="18" charset="0"/>
                <a:cs typeface="Times New Roman" panose="02020603050405020304" pitchFamily="18" charset="0"/>
                <a:sym typeface="+mn-ea"/>
              </a:rPr>
              <a:t>=</a:t>
            </a:r>
            <a:r>
              <a:rPr lang="en-US" sz="2800" spc="120" baseline="-12000" dirty="0" smtClean="0">
                <a:latin typeface="Times New Roman" panose="02020603050405020304" pitchFamily="18" charset="0"/>
                <a:cs typeface="Times New Roman" panose="02020603050405020304" pitchFamily="18" charset="0"/>
                <a:sym typeface="+mn-ea"/>
              </a:rPr>
              <a:t> </a:t>
            </a:r>
            <a:r>
              <a:rPr lang="en-US" sz="2800" spc="-10" dirty="0" smtClean="0">
                <a:latin typeface="Times New Roman" panose="02020603050405020304" pitchFamily="18" charset="0"/>
                <a:cs typeface="Times New Roman" panose="02020603050405020304" pitchFamily="18" charset="0"/>
                <a:sym typeface="+mn-ea"/>
              </a:rPr>
              <a:t>S</a:t>
            </a:r>
            <a:r>
              <a:rPr lang="en-US" sz="2800" spc="-5" dirty="0" smtClean="0">
                <a:latin typeface="Times New Roman" panose="02020603050405020304" pitchFamily="18" charset="0"/>
                <a:cs typeface="Times New Roman" panose="02020603050405020304" pitchFamily="18" charset="0"/>
                <a:sym typeface="+mn-ea"/>
              </a:rPr>
              <a:t> </a:t>
            </a:r>
            <a:r>
              <a:rPr lang="en-US" sz="2800" spc="-10" dirty="0" smtClean="0">
                <a:latin typeface="Times New Roman" panose="02020603050405020304" pitchFamily="18" charset="0"/>
                <a:cs typeface="Times New Roman" panose="02020603050405020304" pitchFamily="18" charset="0"/>
                <a:sym typeface="+mn-ea"/>
              </a:rPr>
              <a:t>=</a:t>
            </a:r>
            <a:r>
              <a:rPr lang="en-US" sz="2800" spc="-5" dirty="0" smtClean="0">
                <a:latin typeface="Times New Roman" panose="02020603050405020304" pitchFamily="18" charset="0"/>
                <a:cs typeface="Times New Roman" panose="02020603050405020304" pitchFamily="18" charset="0"/>
                <a:sym typeface="+mn-ea"/>
              </a:rPr>
              <a:t> </a:t>
            </a:r>
            <a:r>
              <a:rPr lang="en-US" sz="2800" spc="-220" dirty="0" smtClean="0">
                <a:latin typeface="Times New Roman" panose="02020603050405020304" pitchFamily="18" charset="0"/>
                <a:cs typeface="Times New Roman" panose="02020603050405020304" pitchFamily="18" charset="0"/>
                <a:sym typeface="+mn-ea"/>
              </a:rPr>
              <a:t>π</a:t>
            </a:r>
            <a:r>
              <a:rPr lang="en-US" sz="2800" spc="-5" dirty="0" smtClean="0">
                <a:latin typeface="Times New Roman" panose="02020603050405020304" pitchFamily="18" charset="0"/>
                <a:cs typeface="Times New Roman" panose="02020603050405020304" pitchFamily="18" charset="0"/>
                <a:sym typeface="+mn-ea"/>
              </a:rPr>
              <a:t> </a:t>
            </a:r>
            <a:r>
              <a:rPr lang="en-US" sz="2800" i="1" spc="-7" baseline="-12000" dirty="0" smtClean="0">
                <a:latin typeface="Times New Roman" panose="02020603050405020304" pitchFamily="18" charset="0"/>
                <a:cs typeface="Times New Roman" panose="02020603050405020304" pitchFamily="18" charset="0"/>
                <a:sym typeface="+mn-ea"/>
              </a:rPr>
              <a:t>all</a:t>
            </a:r>
            <a:r>
              <a:rPr lang="en-US" sz="2800" i="1" baseline="-12000" dirty="0" smtClean="0">
                <a:latin typeface="Times New Roman" panose="02020603050405020304" pitchFamily="18" charset="0"/>
                <a:cs typeface="Times New Roman" panose="02020603050405020304" pitchFamily="18" charset="0"/>
                <a:sym typeface="+mn-ea"/>
              </a:rPr>
              <a:t> </a:t>
            </a:r>
            <a:r>
              <a:rPr lang="en-US" sz="2800" i="1" spc="-7" baseline="-1200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a:t>
            </a:r>
            <a:r>
              <a:rPr lang="en-US" sz="2800" spc="-110" dirty="0" smtClean="0">
                <a:latin typeface="Times New Roman" panose="02020603050405020304" pitchFamily="18" charset="0"/>
                <a:cs typeface="Times New Roman" panose="02020603050405020304" pitchFamily="18" charset="0"/>
                <a:sym typeface="+mn-ea"/>
              </a:rPr>
              <a:t>σ</a:t>
            </a:r>
            <a:r>
              <a:rPr lang="en-US" sz="2800" spc="-5" dirty="0" smtClean="0">
                <a:latin typeface="Times New Roman" panose="02020603050405020304" pitchFamily="18" charset="0"/>
                <a:cs typeface="Times New Roman" panose="02020603050405020304" pitchFamily="18" charset="0"/>
                <a:sym typeface="+mn-ea"/>
              </a:rPr>
              <a:t> </a:t>
            </a:r>
            <a:r>
              <a:rPr lang="en-US" sz="2800" baseline="-12000" dirty="0" smtClean="0">
                <a:latin typeface="Times New Roman" panose="02020603050405020304" pitchFamily="18" charset="0"/>
                <a:cs typeface="Times New Roman" panose="02020603050405020304" pitchFamily="18" charset="0"/>
                <a:sym typeface="+mn-ea"/>
              </a:rPr>
              <a:t>=</a:t>
            </a:r>
            <a:r>
              <a:rPr lang="en-US" sz="2800" spc="120" baseline="-12000" dirty="0" smtClean="0">
                <a:latin typeface="Times New Roman" panose="02020603050405020304" pitchFamily="18" charset="0"/>
                <a:cs typeface="Times New Roman" panose="02020603050405020304" pitchFamily="18" charset="0"/>
                <a:sym typeface="+mn-ea"/>
              </a:rPr>
              <a:t> </a:t>
            </a:r>
            <a:r>
              <a:rPr lang="en-US" sz="2800" spc="-10" dirty="0" smtClean="0">
                <a:latin typeface="Times New Roman" panose="02020603050405020304" pitchFamily="18" charset="0"/>
                <a:cs typeface="Times New Roman" panose="02020603050405020304" pitchFamily="18" charset="0"/>
                <a:sym typeface="+mn-ea"/>
              </a:rPr>
              <a:t>(R</a:t>
            </a:r>
            <a:r>
              <a:rPr lang="en-US" sz="2800" spc="-5" dirty="0" smtClean="0">
                <a:latin typeface="Times New Roman" panose="02020603050405020304" pitchFamily="18" charset="0"/>
                <a:cs typeface="Times New Roman" panose="02020603050405020304" pitchFamily="18" charset="0"/>
                <a:sym typeface="+mn-ea"/>
              </a:rPr>
              <a:t> </a:t>
            </a:r>
            <a:r>
              <a:rPr lang="en-US" sz="2800" spc="-25"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S))</a:t>
            </a:r>
            <a:endParaRPr lang="en-US" sz="2800" dirty="0" smtClean="0">
              <a:latin typeface="Times New Roman" panose="02020603050405020304" pitchFamily="18" charset="0"/>
              <a:cs typeface="Times New Roman" panose="02020603050405020304" pitchFamily="18" charset="0"/>
            </a:endParaRPr>
          </a:p>
          <a:p>
            <a:pPr marL="722630" lvl="1" indent="-121920">
              <a:spcBef>
                <a:spcPts val="295"/>
              </a:spcBef>
              <a:buSzPct val="90000"/>
              <a:buFont typeface="Wingdings" panose="05000000000000000000" pitchFamily="2" charset="2"/>
              <a:buChar char="ü"/>
              <a:tabLst>
                <a:tab pos="266065" algn="l"/>
              </a:tabLst>
            </a:pPr>
            <a:r>
              <a:rPr lang="en-US" sz="2800" spc="-10" dirty="0" smtClean="0">
                <a:latin typeface="Times New Roman" panose="02020603050405020304" pitchFamily="18" charset="0"/>
                <a:cs typeface="Times New Roman" panose="02020603050405020304" pitchFamily="18" charset="0"/>
                <a:sym typeface="+mn-ea"/>
              </a:rPr>
              <a:t>De</a:t>
            </a:r>
            <a:r>
              <a:rPr lang="en-US" sz="2800" spc="-20" dirty="0" smtClean="0">
                <a:latin typeface="Times New Roman" panose="02020603050405020304" pitchFamily="18" charset="0"/>
                <a:cs typeface="Times New Roman" panose="02020603050405020304" pitchFamily="18" charset="0"/>
                <a:sym typeface="+mn-ea"/>
              </a:rPr>
              <a:t>g</a:t>
            </a:r>
            <a:r>
              <a:rPr lang="en-US" sz="2800" spc="-5" dirty="0" smtClean="0">
                <a:latin typeface="Times New Roman" panose="02020603050405020304" pitchFamily="18" charset="0"/>
                <a:cs typeface="Times New Roman" panose="02020603050405020304" pitchFamily="18" charset="0"/>
                <a:sym typeface="+mn-ea"/>
              </a:rPr>
              <a:t>ree (Result) </a:t>
            </a:r>
            <a:r>
              <a:rPr lang="en-US" sz="2800" spc="-10" dirty="0" smtClean="0">
                <a:latin typeface="Times New Roman" panose="02020603050405020304" pitchFamily="18" charset="0"/>
                <a:cs typeface="Times New Roman" panose="02020603050405020304" pitchFamily="18" charset="0"/>
                <a:sym typeface="+mn-ea"/>
              </a:rPr>
              <a:t>=</a:t>
            </a:r>
            <a:r>
              <a:rPr lang="en-US" sz="2800" spc="-5" dirty="0" smtClean="0">
                <a:latin typeface="Times New Roman" panose="02020603050405020304" pitchFamily="18" charset="0"/>
                <a:cs typeface="Times New Roman" panose="02020603050405020304" pitchFamily="18" charset="0"/>
                <a:sym typeface="+mn-ea"/>
              </a:rPr>
              <a:t> </a:t>
            </a:r>
            <a:r>
              <a:rPr lang="en-US" sz="2800" spc="-10" dirty="0" smtClean="0">
                <a:latin typeface="Times New Roman" panose="02020603050405020304" pitchFamily="18" charset="0"/>
                <a:cs typeface="Times New Roman" panose="02020603050405020304" pitchFamily="18" charset="0"/>
                <a:sym typeface="+mn-ea"/>
              </a:rPr>
              <a:t>De</a:t>
            </a:r>
            <a:r>
              <a:rPr lang="en-US" sz="2800" spc="-20" dirty="0" smtClean="0">
                <a:latin typeface="Times New Roman" panose="02020603050405020304" pitchFamily="18" charset="0"/>
                <a:cs typeface="Times New Roman" panose="02020603050405020304" pitchFamily="18" charset="0"/>
                <a:sym typeface="+mn-ea"/>
              </a:rPr>
              <a:t>g</a:t>
            </a:r>
            <a:r>
              <a:rPr lang="en-US" sz="2800" spc="-5" dirty="0" smtClean="0">
                <a:latin typeface="Times New Roman" panose="02020603050405020304" pitchFamily="18" charset="0"/>
                <a:cs typeface="Times New Roman" panose="02020603050405020304" pitchFamily="18" charset="0"/>
                <a:sym typeface="+mn-ea"/>
              </a:rPr>
              <a:t>ree (R) </a:t>
            </a:r>
            <a:r>
              <a:rPr lang="en-US" sz="2800" spc="-10" dirty="0" smtClean="0">
                <a:latin typeface="Times New Roman" panose="02020603050405020304" pitchFamily="18" charset="0"/>
                <a:cs typeface="Times New Roman" panose="02020603050405020304" pitchFamily="18" charset="0"/>
                <a:sym typeface="+mn-ea"/>
              </a:rPr>
              <a:t>+</a:t>
            </a:r>
            <a:r>
              <a:rPr lang="en-US" sz="2800" spc="-5" dirty="0" smtClean="0">
                <a:latin typeface="Times New Roman" panose="02020603050405020304" pitchFamily="18" charset="0"/>
                <a:cs typeface="Times New Roman" panose="02020603050405020304" pitchFamily="18" charset="0"/>
                <a:sym typeface="+mn-ea"/>
              </a:rPr>
              <a:t> </a:t>
            </a:r>
            <a:r>
              <a:rPr lang="en-US" sz="2800" spc="-10" dirty="0" smtClean="0">
                <a:latin typeface="Times New Roman" panose="02020603050405020304" pitchFamily="18" charset="0"/>
                <a:cs typeface="Times New Roman" panose="02020603050405020304" pitchFamily="18" charset="0"/>
                <a:sym typeface="+mn-ea"/>
              </a:rPr>
              <a:t>De</a:t>
            </a:r>
            <a:r>
              <a:rPr lang="en-US" sz="2800" spc="-20" dirty="0" smtClean="0">
                <a:latin typeface="Times New Roman" panose="02020603050405020304" pitchFamily="18" charset="0"/>
                <a:cs typeface="Times New Roman" panose="02020603050405020304" pitchFamily="18" charset="0"/>
                <a:sym typeface="+mn-ea"/>
              </a:rPr>
              <a:t>g</a:t>
            </a:r>
            <a:r>
              <a:rPr lang="en-US" sz="2800" spc="-5" dirty="0" smtClean="0">
                <a:latin typeface="Times New Roman" panose="02020603050405020304" pitchFamily="18" charset="0"/>
                <a:cs typeface="Times New Roman" panose="02020603050405020304" pitchFamily="18" charset="0"/>
                <a:sym typeface="+mn-ea"/>
              </a:rPr>
              <a:t>ree (S)</a:t>
            </a:r>
            <a:endParaRPr lang="en-US" sz="2800" dirty="0" smtClean="0">
              <a:latin typeface="Times New Roman" panose="02020603050405020304" pitchFamily="18" charset="0"/>
              <a:cs typeface="Times New Roman" panose="02020603050405020304" pitchFamily="18" charset="0"/>
            </a:endParaRPr>
          </a:p>
          <a:p>
            <a:pPr marL="722630" lvl="1" indent="-121920">
              <a:spcBef>
                <a:spcPts val="295"/>
              </a:spcBef>
              <a:buSzPct val="90000"/>
              <a:buFont typeface="Wingdings" panose="05000000000000000000" pitchFamily="2" charset="2"/>
              <a:buChar char="ü"/>
              <a:tabLst>
                <a:tab pos="266065" algn="l"/>
              </a:tabLst>
            </a:pPr>
            <a:r>
              <a:rPr lang="en-US" sz="2800" spc="-5" dirty="0" smtClean="0">
                <a:latin typeface="Times New Roman" panose="02020603050405020304" pitchFamily="18" charset="0"/>
                <a:cs typeface="Times New Roman" panose="02020603050405020304" pitchFamily="18" charset="0"/>
                <a:sym typeface="+mn-ea"/>
              </a:rPr>
              <a:t>Cardinality (Result) </a:t>
            </a:r>
            <a:r>
              <a:rPr lang="en-US" sz="2800" spc="-25"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Cardinality(R) </a:t>
            </a:r>
            <a:r>
              <a:rPr lang="en-US" sz="2800" spc="-25" dirty="0" smtClean="0">
                <a:latin typeface="Times New Roman" panose="02020603050405020304" pitchFamily="18" charset="0"/>
                <a:cs typeface="Times New Roman" panose="02020603050405020304" pitchFamily="18" charset="0"/>
                <a:sym typeface="+mn-ea"/>
              </a:rPr>
              <a:t>×</a:t>
            </a:r>
            <a:r>
              <a:rPr lang="en-US" sz="2800" spc="-40" dirty="0" smtClean="0">
                <a:latin typeface="Times New Roman" panose="02020603050405020304" pitchFamily="18" charset="0"/>
                <a:cs typeface="Times New Roman" panose="02020603050405020304" pitchFamily="18" charset="0"/>
                <a:sym typeface="+mn-ea"/>
              </a:rPr>
              <a:t> </a:t>
            </a:r>
            <a:r>
              <a:rPr lang="en-US" sz="2800" spc="-5" dirty="0" smtClean="0">
                <a:latin typeface="Times New Roman" panose="02020603050405020304" pitchFamily="18" charset="0"/>
                <a:cs typeface="Times New Roman" panose="02020603050405020304" pitchFamily="18" charset="0"/>
                <a:sym typeface="+mn-ea"/>
              </a:rPr>
              <a:t>Cardinality(S)</a:t>
            </a:r>
            <a:endParaRPr lang="en-US" sz="2800" dirty="0" smtClean="0">
              <a:latin typeface="Times New Roman" panose="02020603050405020304" pitchFamily="18" charset="0"/>
              <a:cs typeface="Times New Roman" panose="02020603050405020304" pitchFamily="18" charset="0"/>
            </a:endParaRPr>
          </a:p>
          <a:p>
            <a:endParaRPr lang="en-US"/>
          </a:p>
        </p:txBody>
      </p:sp>
      <p:sp>
        <p:nvSpPr>
          <p:cNvPr id="8" name="Flowchart: Collate 7"/>
          <p:cNvSpPr/>
          <p:nvPr/>
        </p:nvSpPr>
        <p:spPr>
          <a:xfrm rot="16200000">
            <a:off x="3196099" y="635135"/>
            <a:ext cx="285753" cy="214316"/>
          </a:xfrm>
          <a:prstGeom prst="flowChartCol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solidFill>
                <a:schemeClr val="tx1"/>
              </a:solidFill>
            </a:endParaRPr>
          </a:p>
        </p:txBody>
      </p:sp>
      <p:pic>
        <p:nvPicPr>
          <p:cNvPr id="2051" name="Picture 3" descr="C:\Users\nEW u\Desktop\1111111111111.png"/>
          <p:cNvPicPr>
            <a:picLocks noChangeAspect="1" noChangeArrowheads="1"/>
          </p:cNvPicPr>
          <p:nvPr/>
        </p:nvPicPr>
        <p:blipFill>
          <a:blip r:embed="rId1"/>
          <a:srcRect/>
          <a:stretch>
            <a:fillRect/>
          </a:stretch>
        </p:blipFill>
        <p:spPr bwMode="auto">
          <a:xfrm>
            <a:off x="2711450" y="3680460"/>
            <a:ext cx="5929630" cy="3177540"/>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Self Join</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self join is similar to the theta join. It joins a relation to itself by a condition. The self join can be viewed as a join of two copies of the same relation.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general form of self join is: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Thus, the self join creates two alias or copies of the same relation; then performs the theta join by a condition based on the attributes of these two copies.</a:t>
            </a:r>
            <a:endParaRPr lang="en-US" kern="0" dirty="0" smtClean="0">
              <a:latin typeface="Times New Roman" panose="02020603050405020304" pitchFamily="18" charset="0"/>
              <a:cs typeface="Times New Roman" panose="02020603050405020304" pitchFamily="18" charset="0"/>
            </a:endParaRPr>
          </a:p>
          <a:p>
            <a:endParaRPr lang="en-US"/>
          </a:p>
        </p:txBody>
      </p:sp>
      <p:pic>
        <p:nvPicPr>
          <p:cNvPr id="8194" name="Picture 2" descr="C:\Users\nEW u\Desktop\1111111111111.png"/>
          <p:cNvPicPr>
            <a:picLocks noChangeAspect="1" noChangeArrowheads="1"/>
          </p:cNvPicPr>
          <p:nvPr/>
        </p:nvPicPr>
        <p:blipFill>
          <a:blip r:embed="rId1"/>
          <a:srcRect/>
          <a:stretch>
            <a:fillRect/>
          </a:stretch>
        </p:blipFill>
        <p:spPr bwMode="auto">
          <a:xfrm>
            <a:off x="3785235" y="3580765"/>
            <a:ext cx="4620895" cy="728980"/>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Self Join</a:t>
            </a:r>
            <a:endParaRPr lang="en-US"/>
          </a:p>
        </p:txBody>
      </p:sp>
      <p:pic>
        <p:nvPicPr>
          <p:cNvPr id="9218" name="Picture 2" descr="C:\Users\nEW u\Desktop\1111111111111.png"/>
          <p:cNvPicPr>
            <a:picLocks noChangeAspect="1" noChangeArrowheads="1"/>
          </p:cNvPicPr>
          <p:nvPr>
            <p:ph idx="1"/>
          </p:nvPr>
        </p:nvPicPr>
        <p:blipFill>
          <a:blip r:embed="rId1"/>
          <a:srcRect/>
          <a:stretch>
            <a:fillRect/>
          </a:stretch>
        </p:blipFill>
        <p:spPr bwMode="auto">
          <a:xfrm>
            <a:off x="1960245" y="1540510"/>
            <a:ext cx="8439150" cy="4336415"/>
          </a:xfrm>
          <a:prstGeom prst="rect">
            <a:avLst/>
          </a:prstGeom>
          <a:noFill/>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Generalized Projection</a:t>
            </a:r>
            <a:endParaRPr lang="en-US"/>
          </a:p>
        </p:txBody>
      </p:sp>
      <p:sp>
        <p:nvSpPr>
          <p:cNvPr id="4" name="Content Placeholder 2"/>
          <p:cNvSpPr txBox="1"/>
          <p:nvPr/>
        </p:nvSpPr>
        <p:spPr bwMode="auto">
          <a:xfrm>
            <a:off x="838200" y="1457960"/>
            <a:ext cx="9845675" cy="4526280"/>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generalized-projection operation extends the projection operation by allowing arithmetic functions to be used in the projection list. The general form of generalized-projection is:</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defRPr/>
            </a:pPr>
            <a:r>
              <a:rPr lang="en-US" sz="4400" spc="-330" baseline="8000" dirty="0" smtClean="0">
                <a:latin typeface="Lucida Sans Unicode" panose="020B0602030504020204"/>
                <a:cs typeface="Lucida Sans Unicode" panose="020B0602030504020204"/>
              </a:rPr>
              <a:t>				</a:t>
            </a:r>
            <a:r>
              <a:rPr lang="el-GR" sz="4400" spc="-330" baseline="8000" dirty="0" smtClean="0">
                <a:latin typeface="Times New Roman" panose="02020603050405020304" pitchFamily="18" charset="0"/>
                <a:cs typeface="Times New Roman" panose="02020603050405020304" pitchFamily="18" charset="0"/>
              </a:rPr>
              <a:t>π</a:t>
            </a:r>
            <a:r>
              <a:rPr lang="el-GR" sz="4400" spc="-7" baseline="8000" dirty="0" smtClean="0">
                <a:latin typeface="Times New Roman" panose="02020603050405020304" pitchFamily="18" charset="0"/>
                <a:cs typeface="Times New Roman" panose="02020603050405020304" pitchFamily="18" charset="0"/>
              </a:rPr>
              <a:t> </a:t>
            </a:r>
            <a:r>
              <a:rPr lang="en-US" sz="800" i="1" spc="-5" dirty="0" smtClean="0">
                <a:latin typeface="Times New Roman" panose="02020603050405020304" pitchFamily="18" charset="0"/>
                <a:cs typeface="Times New Roman" panose="02020603050405020304" pitchFamily="18" charset="0"/>
              </a:rPr>
              <a:t>F</a:t>
            </a:r>
            <a:r>
              <a:rPr lang="en-US" sz="800" spc="-7" baseline="-11000" dirty="0" smtClean="0">
                <a:latin typeface="Times New Roman" panose="02020603050405020304" pitchFamily="18" charset="0"/>
                <a:cs typeface="Times New Roman" panose="02020603050405020304" pitchFamily="18" charset="0"/>
              </a:rPr>
              <a:t>1</a:t>
            </a:r>
            <a:r>
              <a:rPr lang="en-US" sz="800" spc="-135" baseline="-11000" dirty="0" smtClean="0">
                <a:latin typeface="Times New Roman" panose="02020603050405020304" pitchFamily="18" charset="0"/>
                <a:cs typeface="Times New Roman" panose="02020603050405020304" pitchFamily="18" charset="0"/>
              </a:rPr>
              <a:t> </a:t>
            </a:r>
            <a:r>
              <a:rPr lang="en-US" sz="800" spc="10" dirty="0" smtClean="0">
                <a:latin typeface="Times New Roman" panose="02020603050405020304" pitchFamily="18" charset="0"/>
                <a:cs typeface="Times New Roman" panose="02020603050405020304" pitchFamily="18" charset="0"/>
              </a:rPr>
              <a:t>,</a:t>
            </a:r>
            <a:r>
              <a:rPr lang="en-US" sz="800" i="1" spc="-5" dirty="0" smtClean="0">
                <a:latin typeface="Times New Roman" panose="02020603050405020304" pitchFamily="18" charset="0"/>
                <a:cs typeface="Times New Roman" panose="02020603050405020304" pitchFamily="18" charset="0"/>
              </a:rPr>
              <a:t>F</a:t>
            </a:r>
            <a:r>
              <a:rPr lang="en-US" sz="800" spc="-7" baseline="-11000" dirty="0" smtClean="0">
                <a:latin typeface="Times New Roman" panose="02020603050405020304" pitchFamily="18" charset="0"/>
                <a:cs typeface="Times New Roman" panose="02020603050405020304" pitchFamily="18" charset="0"/>
              </a:rPr>
              <a:t>2</a:t>
            </a:r>
            <a:r>
              <a:rPr lang="en-US" sz="800" spc="-135" baseline="-11000" dirty="0" smtClean="0">
                <a:latin typeface="Times New Roman" panose="02020603050405020304" pitchFamily="18" charset="0"/>
                <a:cs typeface="Times New Roman" panose="02020603050405020304" pitchFamily="18" charset="0"/>
              </a:rPr>
              <a:t> </a:t>
            </a:r>
            <a:r>
              <a:rPr lang="en-US" sz="800" spc="10" dirty="0" smtClean="0">
                <a:latin typeface="Times New Roman" panose="02020603050405020304" pitchFamily="18" charset="0"/>
                <a:cs typeface="Times New Roman" panose="02020603050405020304" pitchFamily="18" charset="0"/>
              </a:rPr>
              <a:t>...</a:t>
            </a:r>
            <a:r>
              <a:rPr lang="en-US" sz="800" i="1" spc="-5" dirty="0" smtClean="0">
                <a:latin typeface="Times New Roman" panose="02020603050405020304" pitchFamily="18" charset="0"/>
                <a:cs typeface="Times New Roman" panose="02020603050405020304" pitchFamily="18" charset="0"/>
              </a:rPr>
              <a:t>F</a:t>
            </a:r>
            <a:r>
              <a:rPr lang="en-US" sz="800" i="1" spc="-7" baseline="-11000" dirty="0" smtClean="0">
                <a:latin typeface="Times New Roman" panose="02020603050405020304" pitchFamily="18" charset="0"/>
                <a:cs typeface="Times New Roman" panose="02020603050405020304" pitchFamily="18" charset="0"/>
              </a:rPr>
              <a:t>n</a:t>
            </a:r>
            <a:r>
              <a:rPr lang="en-US" sz="800" i="1" spc="-52" baseline="-11000" dirty="0" smtClean="0">
                <a:latin typeface="Times New Roman" panose="02020603050405020304" pitchFamily="18" charset="0"/>
                <a:cs typeface="Times New Roman" panose="02020603050405020304" pitchFamily="18" charset="0"/>
              </a:rPr>
              <a:t> </a:t>
            </a:r>
            <a:r>
              <a:rPr lang="en-US" sz="4400" spc="-7" baseline="8000" dirty="0" smtClean="0">
                <a:latin typeface="Times New Roman" panose="02020603050405020304" pitchFamily="18" charset="0"/>
                <a:cs typeface="Times New Roman" panose="02020603050405020304" pitchFamily="18" charset="0"/>
              </a:rPr>
              <a:t>(E)</a:t>
            </a:r>
            <a:endParaRPr lang="en-US" sz="4400" baseline="800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u="sng" spc="-10" dirty="0" smtClean="0">
                <a:latin typeface="Times New Roman" panose="02020603050405020304" pitchFamily="18" charset="0"/>
                <a:cs typeface="Times New Roman" panose="02020603050405020304" pitchFamily="18" charset="0"/>
              </a:rPr>
              <a:t>E</a:t>
            </a:r>
            <a:r>
              <a:rPr lang="en-US" spc="-5" dirty="0" smtClean="0">
                <a:latin typeface="Times New Roman" panose="02020603050405020304" pitchFamily="18" charset="0"/>
                <a:cs typeface="Times New Roman" panose="02020603050405020304" pitchFamily="18" charset="0"/>
              </a:rPr>
              <a:t>x: </a:t>
            </a:r>
            <a:r>
              <a:rPr lang="en-US" spc="-5" dirty="0" err="1" smtClean="0">
                <a:latin typeface="Times New Roman" panose="02020603050405020304" pitchFamily="18" charset="0"/>
                <a:cs typeface="Times New Roman" panose="02020603050405020304" pitchFamily="18" charset="0"/>
              </a:rPr>
              <a:t>Emp</a:t>
            </a:r>
            <a:r>
              <a:rPr lang="en-US" spc="-5" dirty="0" smtClean="0">
                <a:latin typeface="Times New Roman" panose="02020603050405020304" pitchFamily="18" charset="0"/>
                <a:cs typeface="Times New Roman" panose="02020603050405020304" pitchFamily="18" charset="0"/>
              </a:rPr>
              <a:t>=(</a:t>
            </a:r>
            <a:r>
              <a:rPr lang="en-US" spc="-5" dirty="0" err="1" smtClean="0">
                <a:latin typeface="Times New Roman" panose="02020603050405020304" pitchFamily="18" charset="0"/>
                <a:cs typeface="Times New Roman" panose="02020603050405020304" pitchFamily="18" charset="0"/>
              </a:rPr>
              <a:t>ssn</a:t>
            </a:r>
            <a:r>
              <a:rPr lang="en-US" spc="-5" dirty="0" smtClean="0">
                <a:latin typeface="Times New Roman" panose="02020603050405020304" pitchFamily="18" charset="0"/>
                <a:cs typeface="Times New Roman" panose="02020603050405020304" pitchFamily="18" charset="0"/>
              </a:rPr>
              <a:t>, sala</a:t>
            </a:r>
            <a:r>
              <a:rPr lang="en-US" spc="20" dirty="0" smtClean="0">
                <a:latin typeface="Times New Roman" panose="02020603050405020304" pitchFamily="18" charset="0"/>
                <a:cs typeface="Times New Roman" panose="02020603050405020304" pitchFamily="18" charset="0"/>
              </a:rPr>
              <a:t>r</a:t>
            </a:r>
            <a:r>
              <a:rPr lang="en-US" spc="-105" dirty="0" smtClean="0">
                <a:latin typeface="Times New Roman" panose="02020603050405020304" pitchFamily="18" charset="0"/>
                <a:cs typeface="Times New Roman" panose="02020603050405020304" pitchFamily="18" charset="0"/>
              </a:rPr>
              <a:t>y</a:t>
            </a:r>
            <a:r>
              <a:rPr lang="en-US" spc="-5" dirty="0" smtClean="0">
                <a:latin typeface="Times New Roman" panose="02020603050405020304" pitchFamily="18" charset="0"/>
                <a:cs typeface="Times New Roman" panose="02020603050405020304" pitchFamily="18" charset="0"/>
              </a:rPr>
              <a:t>, deduction, </a:t>
            </a:r>
            <a:r>
              <a:rPr lang="en-US" spc="-25" dirty="0" err="1" smtClean="0">
                <a:latin typeface="Times New Roman" panose="02020603050405020304" pitchFamily="18" charset="0"/>
                <a:cs typeface="Times New Roman" panose="02020603050405020304" pitchFamily="18" charset="0"/>
              </a:rPr>
              <a:t>y</a:t>
            </a:r>
            <a:r>
              <a:rPr lang="en-US" spc="-5" dirty="0" err="1" smtClean="0">
                <a:latin typeface="Times New Roman" panose="02020603050405020304" pitchFamily="18" charset="0"/>
                <a:cs typeface="Times New Roman" panose="02020603050405020304" pitchFamily="18" charset="0"/>
              </a:rPr>
              <a:t>ears_se</a:t>
            </a:r>
            <a:r>
              <a:rPr lang="en-US" spc="20" dirty="0" err="1" smtClean="0">
                <a:latin typeface="Times New Roman" panose="02020603050405020304" pitchFamily="18" charset="0"/>
                <a:cs typeface="Times New Roman" panose="02020603050405020304" pitchFamily="18" charset="0"/>
              </a:rPr>
              <a:t>r</a:t>
            </a:r>
            <a:r>
              <a:rPr lang="en-US" spc="-5" dirty="0" err="1" smtClean="0">
                <a:latin typeface="Times New Roman" panose="02020603050405020304" pitchFamily="18" charset="0"/>
                <a:cs typeface="Times New Roman" panose="02020603050405020304" pitchFamily="18" charset="0"/>
              </a:rPr>
              <a:t>vice</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be</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a</a:t>
            </a:r>
            <a:r>
              <a:rPr lang="en-US" spc="-5" dirty="0" smtClean="0">
                <a:latin typeface="Times New Roman" panose="02020603050405020304" pitchFamily="18" charset="0"/>
                <a:cs typeface="Times New Roman" panose="02020603050405020304" pitchFamily="18" charset="0"/>
              </a:rPr>
              <a:t> relation. A</a:t>
            </a:r>
            <a:r>
              <a:rPr lang="en-US" spc="-10"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repo</a:t>
            </a:r>
            <a:r>
              <a:rPr lang="en-US" spc="25"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t</a:t>
            </a:r>
            <a:r>
              <a:rPr lang="en-US" spc="-10" dirty="0" smtClean="0">
                <a:latin typeface="Times New Roman" panose="02020603050405020304" pitchFamily="18" charset="0"/>
                <a:cs typeface="Times New Roman" panose="02020603050405020304" pitchFamily="18" charset="0"/>
              </a:rPr>
              <a:t> m</a:t>
            </a:r>
            <a:r>
              <a:rPr lang="en-US" spc="-40" dirty="0" smtClean="0">
                <a:latin typeface="Times New Roman" panose="02020603050405020304" pitchFamily="18" charset="0"/>
                <a:cs typeface="Times New Roman" panose="02020603050405020304" pitchFamily="18" charset="0"/>
              </a:rPr>
              <a:t>a</a:t>
            </a:r>
            <a:r>
              <a:rPr lang="en-US" spc="-5" dirty="0" smtClean="0">
                <a:latin typeface="Times New Roman" panose="02020603050405020304" pitchFamily="18" charset="0"/>
                <a:cs typeface="Times New Roman" panose="02020603050405020304" pitchFamily="18" charset="0"/>
              </a:rPr>
              <a:t>y</a:t>
            </a:r>
            <a:r>
              <a:rPr lang="en-US" spc="-10" dirty="0" smtClean="0">
                <a:latin typeface="Times New Roman" panose="02020603050405020304" pitchFamily="18" charset="0"/>
                <a:cs typeface="Times New Roman" panose="02020603050405020304" pitchFamily="18" charset="0"/>
              </a:rPr>
              <a:t> be </a:t>
            </a:r>
            <a:r>
              <a:rPr lang="en-US" spc="-5" dirty="0" smtClean="0">
                <a:latin typeface="Times New Roman" panose="02020603050405020304" pitchFamily="18" charset="0"/>
                <a:cs typeface="Times New Roman" panose="02020603050405020304" pitchFamily="18" charset="0"/>
              </a:rPr>
              <a:t>required</a:t>
            </a:r>
            <a:r>
              <a:rPr lang="en-US" spc="-10"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to</a:t>
            </a:r>
            <a:r>
              <a:rPr lang="en-US" spc="-10" dirty="0" smtClean="0">
                <a:latin typeface="Times New Roman" panose="02020603050405020304" pitchFamily="18" charset="0"/>
                <a:cs typeface="Times New Roman" panose="02020603050405020304" pitchFamily="18" charset="0"/>
              </a:rPr>
              <a:t> sh</a:t>
            </a:r>
            <a:r>
              <a:rPr lang="en-US" spc="-25" dirty="0" smtClean="0">
                <a:latin typeface="Times New Roman" panose="02020603050405020304" pitchFamily="18" charset="0"/>
                <a:cs typeface="Times New Roman" panose="02020603050405020304" pitchFamily="18" charset="0"/>
              </a:rPr>
              <a:t>o</a:t>
            </a:r>
            <a:r>
              <a:rPr lang="en-US" spc="-10" dirty="0" smtClean="0">
                <a:latin typeface="Times New Roman" panose="02020603050405020304" pitchFamily="18" charset="0"/>
                <a:cs typeface="Times New Roman" panose="02020603050405020304" pitchFamily="18" charset="0"/>
              </a:rPr>
              <a:t>w </a:t>
            </a:r>
            <a:r>
              <a:rPr lang="en-US" spc="-5" dirty="0" err="1" smtClean="0">
                <a:latin typeface="Times New Roman" panose="02020603050405020304" pitchFamily="18" charset="0"/>
                <a:cs typeface="Times New Roman" panose="02020603050405020304" pitchFamily="18" charset="0"/>
              </a:rPr>
              <a:t>net_sala</a:t>
            </a:r>
            <a:r>
              <a:rPr lang="en-US" spc="25" dirty="0" err="1" smtClean="0">
                <a:latin typeface="Times New Roman" panose="02020603050405020304" pitchFamily="18" charset="0"/>
                <a:cs typeface="Times New Roman" panose="02020603050405020304" pitchFamily="18" charset="0"/>
              </a:rPr>
              <a:t>r</a:t>
            </a:r>
            <a:r>
              <a:rPr lang="en-US" spc="-5" dirty="0" err="1" smtClean="0">
                <a:latin typeface="Times New Roman" panose="02020603050405020304" pitchFamily="18" charset="0"/>
                <a:cs typeface="Times New Roman" panose="02020603050405020304" pitchFamily="18" charset="0"/>
              </a:rPr>
              <a:t>y</a:t>
            </a:r>
            <a:r>
              <a:rPr lang="en-US" spc="-5" dirty="0" smtClean="0">
                <a:latin typeface="Times New Roman" panose="02020603050405020304" pitchFamily="18" charset="0"/>
                <a:cs typeface="Times New Roman" panose="02020603050405020304" pitchFamily="18" charset="0"/>
              </a:rPr>
              <a:t>=sala</a:t>
            </a:r>
            <a:r>
              <a:rPr lang="en-US" spc="20"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y-deduction, bo</a:t>
            </a:r>
            <a:r>
              <a:rPr lang="en-US" spc="-20" dirty="0" smtClean="0">
                <a:latin typeface="Times New Roman" panose="02020603050405020304" pitchFamily="18" charset="0"/>
                <a:cs typeface="Times New Roman" panose="02020603050405020304" pitchFamily="18" charset="0"/>
              </a:rPr>
              <a:t>n</a:t>
            </a:r>
            <a:r>
              <a:rPr lang="en-US" spc="-10" dirty="0" smtClean="0">
                <a:latin typeface="Times New Roman" panose="02020603050405020304" pitchFamily="18" charset="0"/>
                <a:cs typeface="Times New Roman" panose="02020603050405020304" pitchFamily="18" charset="0"/>
              </a:rPr>
              <a:t>us=2000*</a:t>
            </a:r>
            <a:r>
              <a:rPr lang="en-US" spc="-25" dirty="0" err="1" smtClean="0">
                <a:latin typeface="Times New Roman" panose="02020603050405020304" pitchFamily="18" charset="0"/>
                <a:cs typeface="Times New Roman" panose="02020603050405020304" pitchFamily="18" charset="0"/>
              </a:rPr>
              <a:t>y</a:t>
            </a:r>
            <a:r>
              <a:rPr lang="en-US" spc="-5" dirty="0" err="1" smtClean="0">
                <a:latin typeface="Times New Roman" panose="02020603050405020304" pitchFamily="18" charset="0"/>
                <a:cs typeface="Times New Roman" panose="02020603050405020304" pitchFamily="18" charset="0"/>
              </a:rPr>
              <a:t>ears_se</a:t>
            </a:r>
            <a:r>
              <a:rPr lang="en-US" spc="20" dirty="0" err="1" smtClean="0">
                <a:latin typeface="Times New Roman" panose="02020603050405020304" pitchFamily="18" charset="0"/>
                <a:cs typeface="Times New Roman" panose="02020603050405020304" pitchFamily="18" charset="0"/>
              </a:rPr>
              <a:t>r</a:t>
            </a:r>
            <a:r>
              <a:rPr lang="en-US" spc="-5" dirty="0" err="1" smtClean="0">
                <a:latin typeface="Times New Roman" panose="02020603050405020304" pitchFamily="18" charset="0"/>
                <a:cs typeface="Times New Roman" panose="02020603050405020304" pitchFamily="18" charset="0"/>
              </a:rPr>
              <a:t>vice</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and</a:t>
            </a:r>
            <a:r>
              <a:rPr lang="en-US" spc="-5" dirty="0" smtClean="0">
                <a:latin typeface="Times New Roman" panose="02020603050405020304" pitchFamily="18" charset="0"/>
                <a:cs typeface="Times New Roman" panose="02020603050405020304" pitchFamily="18" charset="0"/>
              </a:rPr>
              <a:t> tax=0.25*sala</a:t>
            </a:r>
            <a:r>
              <a:rPr lang="en-US" spc="25"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y</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sz="4000" spc="-15" baseline="11000" dirty="0" smtClean="0">
                <a:latin typeface="Times New Roman" panose="02020603050405020304" pitchFamily="18" charset="0"/>
                <a:cs typeface="Times New Roman" panose="02020603050405020304" pitchFamily="18" charset="0"/>
              </a:rPr>
              <a:t>		REPO</a:t>
            </a:r>
            <a:r>
              <a:rPr lang="en-US" sz="4000" spc="-60" baseline="11000" dirty="0" smtClean="0">
                <a:latin typeface="Times New Roman" panose="02020603050405020304" pitchFamily="18" charset="0"/>
                <a:cs typeface="Times New Roman" panose="02020603050405020304" pitchFamily="18" charset="0"/>
              </a:rPr>
              <a:t>R</a:t>
            </a:r>
            <a:r>
              <a:rPr lang="en-US" sz="4000" spc="-15" baseline="11000" dirty="0" smtClean="0">
                <a:latin typeface="Times New Roman" panose="02020603050405020304" pitchFamily="18" charset="0"/>
                <a:cs typeface="Times New Roman" panose="02020603050405020304" pitchFamily="18" charset="0"/>
              </a:rPr>
              <a:t>T</a:t>
            </a:r>
            <a:r>
              <a:rPr lang="en-US" sz="4000" spc="-7" baseline="11000" dirty="0" smtClean="0">
                <a:latin typeface="Times New Roman" panose="02020603050405020304" pitchFamily="18" charset="0"/>
                <a:cs typeface="Times New Roman" panose="02020603050405020304" pitchFamily="18" charset="0"/>
              </a:rPr>
              <a:t> </a:t>
            </a:r>
            <a:r>
              <a:rPr lang="en-US" sz="4000" spc="82" baseline="11000" dirty="0" smtClean="0">
                <a:latin typeface="Times New Roman" panose="02020603050405020304" pitchFamily="18" charset="0"/>
                <a:cs typeface="Times New Roman" panose="02020603050405020304" pitchFamily="18" charset="0"/>
              </a:rPr>
              <a:t>←</a:t>
            </a:r>
            <a:r>
              <a:rPr lang="en-US" sz="4000" spc="-60" baseline="11000" dirty="0" smtClean="0">
                <a:latin typeface="Times New Roman" panose="02020603050405020304" pitchFamily="18" charset="0"/>
                <a:cs typeface="Times New Roman" panose="02020603050405020304" pitchFamily="18" charset="0"/>
              </a:rPr>
              <a:t> </a:t>
            </a:r>
            <a:r>
              <a:rPr lang="el-GR" sz="4000" spc="-172" baseline="11000" dirty="0" smtClean="0">
                <a:latin typeface="Times New Roman" panose="02020603050405020304" pitchFamily="18" charset="0"/>
                <a:cs typeface="Times New Roman" panose="02020603050405020304" pitchFamily="18" charset="0"/>
              </a:rPr>
              <a:t>ρ</a:t>
            </a:r>
            <a:r>
              <a:rPr lang="el-GR" sz="4000" spc="-60" baseline="11000" dirty="0" smtClean="0">
                <a:latin typeface="Times New Roman" panose="02020603050405020304" pitchFamily="18" charset="0"/>
                <a:cs typeface="Times New Roman" panose="02020603050405020304" pitchFamily="18" charset="0"/>
              </a:rPr>
              <a:t> </a:t>
            </a:r>
            <a:r>
              <a:rPr lang="el-GR" sz="800" spc="-35" dirty="0" smtClean="0">
                <a:latin typeface="Times New Roman" panose="02020603050405020304" pitchFamily="18" charset="0"/>
                <a:cs typeface="Times New Roman" panose="02020603050405020304" pitchFamily="18" charset="0"/>
              </a:rPr>
              <a:t>(</a:t>
            </a:r>
            <a:r>
              <a:rPr lang="en-US" sz="800" i="1" spc="-5" dirty="0" err="1" smtClean="0">
                <a:latin typeface="Times New Roman" panose="02020603050405020304" pitchFamily="18" charset="0"/>
                <a:cs typeface="Times New Roman" panose="02020603050405020304" pitchFamily="18" charset="0"/>
              </a:rPr>
              <a:t>ss</a:t>
            </a:r>
            <a:r>
              <a:rPr lang="en-US" sz="800" i="1" dirty="0" err="1" smtClean="0">
                <a:latin typeface="Times New Roman" panose="02020603050405020304" pitchFamily="18" charset="0"/>
                <a:cs typeface="Times New Roman" panose="02020603050405020304" pitchFamily="18" charset="0"/>
              </a:rPr>
              <a:t>n</a:t>
            </a:r>
            <a:r>
              <a:rPr lang="en-US" sz="800" spc="10" dirty="0" err="1" smtClean="0">
                <a:latin typeface="Times New Roman" panose="02020603050405020304" pitchFamily="18" charset="0"/>
                <a:cs typeface="Times New Roman" panose="02020603050405020304" pitchFamily="18" charset="0"/>
              </a:rPr>
              <a:t>,</a:t>
            </a:r>
            <a:r>
              <a:rPr lang="en-US" sz="800" i="1" spc="-5" dirty="0" err="1" smtClean="0">
                <a:latin typeface="Times New Roman" panose="02020603050405020304" pitchFamily="18" charset="0"/>
                <a:cs typeface="Times New Roman" panose="02020603050405020304" pitchFamily="18" charset="0"/>
              </a:rPr>
              <a:t>net</a:t>
            </a:r>
            <a:r>
              <a:rPr lang="en-US" sz="800" i="1" spc="-135" dirty="0" smtClean="0">
                <a:latin typeface="Times New Roman" panose="02020603050405020304" pitchFamily="18" charset="0"/>
                <a:cs typeface="Times New Roman" panose="02020603050405020304" pitchFamily="18" charset="0"/>
              </a:rPr>
              <a:t> </a:t>
            </a:r>
            <a:r>
              <a:rPr lang="en-US" sz="800" spc="-5" dirty="0" smtClean="0">
                <a:latin typeface="Times New Roman" panose="02020603050405020304" pitchFamily="18" charset="0"/>
                <a:cs typeface="Times New Roman" panose="02020603050405020304" pitchFamily="18" charset="0"/>
              </a:rPr>
              <a:t>_</a:t>
            </a:r>
            <a:r>
              <a:rPr lang="en-US" sz="800" i="1" spc="-5" dirty="0" smtClean="0">
                <a:latin typeface="Times New Roman" panose="02020603050405020304" pitchFamily="18" charset="0"/>
                <a:cs typeface="Times New Roman" panose="02020603050405020304" pitchFamily="18" charset="0"/>
              </a:rPr>
              <a:t>sala</a:t>
            </a:r>
            <a:r>
              <a:rPr lang="en-US" sz="800" i="1" spc="10" dirty="0" smtClean="0">
                <a:latin typeface="Times New Roman" panose="02020603050405020304" pitchFamily="18" charset="0"/>
                <a:cs typeface="Times New Roman" panose="02020603050405020304" pitchFamily="18" charset="0"/>
              </a:rPr>
              <a:t>r</a:t>
            </a:r>
            <a:r>
              <a:rPr lang="en-US" sz="800" i="1" spc="-5" dirty="0" smtClean="0">
                <a:latin typeface="Times New Roman" panose="02020603050405020304" pitchFamily="18" charset="0"/>
                <a:cs typeface="Times New Roman" panose="02020603050405020304" pitchFamily="18" charset="0"/>
              </a:rPr>
              <a:t>y</a:t>
            </a:r>
            <a:r>
              <a:rPr lang="en-US" sz="800" i="1" spc="-125" dirty="0" smtClean="0">
                <a:latin typeface="Times New Roman" panose="02020603050405020304" pitchFamily="18" charset="0"/>
                <a:cs typeface="Times New Roman" panose="02020603050405020304" pitchFamily="18" charset="0"/>
              </a:rPr>
              <a:t> </a:t>
            </a:r>
            <a:r>
              <a:rPr lang="en-US" sz="800" spc="10" dirty="0" smtClean="0">
                <a:latin typeface="Times New Roman" panose="02020603050405020304" pitchFamily="18" charset="0"/>
                <a:cs typeface="Times New Roman" panose="02020603050405020304" pitchFamily="18" charset="0"/>
              </a:rPr>
              <a:t>,</a:t>
            </a:r>
            <a:r>
              <a:rPr lang="en-US" sz="800" i="1" spc="-5" dirty="0" err="1" smtClean="0">
                <a:latin typeface="Times New Roman" panose="02020603050405020304" pitchFamily="18" charset="0"/>
                <a:cs typeface="Times New Roman" panose="02020603050405020304" pitchFamily="18" charset="0"/>
              </a:rPr>
              <a:t>bo</a:t>
            </a:r>
            <a:r>
              <a:rPr lang="en-US" sz="800" i="1" spc="-15" dirty="0" err="1" smtClean="0">
                <a:latin typeface="Times New Roman" panose="02020603050405020304" pitchFamily="18" charset="0"/>
                <a:cs typeface="Times New Roman" panose="02020603050405020304" pitchFamily="18" charset="0"/>
              </a:rPr>
              <a:t>n</a:t>
            </a:r>
            <a:r>
              <a:rPr lang="en-US" sz="800" i="1" spc="-5" dirty="0" err="1" smtClean="0">
                <a:latin typeface="Times New Roman" panose="02020603050405020304" pitchFamily="18" charset="0"/>
                <a:cs typeface="Times New Roman" panose="02020603050405020304" pitchFamily="18" charset="0"/>
              </a:rPr>
              <a:t>u</a:t>
            </a:r>
            <a:r>
              <a:rPr lang="en-US" sz="800" i="1" spc="10" dirty="0" err="1" smtClean="0">
                <a:latin typeface="Times New Roman" panose="02020603050405020304" pitchFamily="18" charset="0"/>
                <a:cs typeface="Times New Roman" panose="02020603050405020304" pitchFamily="18" charset="0"/>
              </a:rPr>
              <a:t>s</a:t>
            </a:r>
            <a:r>
              <a:rPr lang="en-US" sz="800" spc="10" dirty="0" err="1" smtClean="0">
                <a:latin typeface="Times New Roman" panose="02020603050405020304" pitchFamily="18" charset="0"/>
                <a:cs typeface="Times New Roman" panose="02020603050405020304" pitchFamily="18" charset="0"/>
              </a:rPr>
              <a:t>,</a:t>
            </a:r>
            <a:r>
              <a:rPr lang="en-US" sz="800" i="1" spc="-5" dirty="0" err="1" smtClean="0">
                <a:latin typeface="Times New Roman" panose="02020603050405020304" pitchFamily="18" charset="0"/>
                <a:cs typeface="Times New Roman" panose="02020603050405020304" pitchFamily="18" charset="0"/>
              </a:rPr>
              <a:t>tax</a:t>
            </a:r>
            <a:r>
              <a:rPr lang="en-US" sz="800" i="1" spc="-130" dirty="0" smtClean="0">
                <a:latin typeface="Times New Roman" panose="02020603050405020304" pitchFamily="18" charset="0"/>
                <a:cs typeface="Times New Roman" panose="02020603050405020304" pitchFamily="18" charset="0"/>
              </a:rPr>
              <a:t> </a:t>
            </a:r>
            <a:r>
              <a:rPr lang="en-US" sz="800" spc="-35" dirty="0" smtClean="0">
                <a:latin typeface="Times New Roman" panose="02020603050405020304" pitchFamily="18" charset="0"/>
                <a:cs typeface="Times New Roman" panose="02020603050405020304" pitchFamily="18" charset="0"/>
              </a:rPr>
              <a:t>)</a:t>
            </a:r>
            <a:r>
              <a:rPr lang="en-US" sz="800" spc="80" dirty="0" smtClean="0">
                <a:latin typeface="Times New Roman" panose="02020603050405020304" pitchFamily="18" charset="0"/>
                <a:cs typeface="Times New Roman" panose="02020603050405020304" pitchFamily="18" charset="0"/>
              </a:rPr>
              <a:t> </a:t>
            </a:r>
            <a:r>
              <a:rPr lang="en-US" sz="4000" spc="-7" baseline="11000" dirty="0" smtClean="0">
                <a:latin typeface="Times New Roman" panose="02020603050405020304" pitchFamily="18" charset="0"/>
                <a:cs typeface="Times New Roman" panose="02020603050405020304" pitchFamily="18" charset="0"/>
              </a:rPr>
              <a:t>(</a:t>
            </a:r>
            <a:r>
              <a:rPr lang="el-GR" sz="4000" spc="-330" baseline="11000" dirty="0" smtClean="0">
                <a:latin typeface="Times New Roman" panose="02020603050405020304" pitchFamily="18" charset="0"/>
                <a:cs typeface="Times New Roman" panose="02020603050405020304" pitchFamily="18" charset="0"/>
              </a:rPr>
              <a:t>π</a:t>
            </a:r>
            <a:r>
              <a:rPr lang="en-US" sz="4000" spc="-330" baseline="11000" dirty="0" smtClean="0">
                <a:latin typeface="Times New Roman" panose="02020603050405020304" pitchFamily="18" charset="0"/>
                <a:cs typeface="Times New Roman" panose="02020603050405020304" pitchFamily="18" charset="0"/>
              </a:rPr>
              <a:t> </a:t>
            </a:r>
            <a:r>
              <a:rPr lang="en-US" sz="800" i="1" spc="-5" dirty="0" err="1" smtClean="0">
                <a:latin typeface="Times New Roman" panose="02020603050405020304" pitchFamily="18" charset="0"/>
                <a:cs typeface="Times New Roman" panose="02020603050405020304" pitchFamily="18" charset="0"/>
              </a:rPr>
              <a:t>ss</a:t>
            </a:r>
            <a:r>
              <a:rPr lang="en-US" sz="800" i="1" dirty="0" err="1" smtClean="0">
                <a:latin typeface="Times New Roman" panose="02020603050405020304" pitchFamily="18" charset="0"/>
                <a:cs typeface="Times New Roman" panose="02020603050405020304" pitchFamily="18" charset="0"/>
              </a:rPr>
              <a:t>n</a:t>
            </a:r>
            <a:r>
              <a:rPr lang="en-US" sz="800" spc="10" dirty="0" smtClean="0">
                <a:latin typeface="Times New Roman" panose="02020603050405020304" pitchFamily="18" charset="0"/>
                <a:cs typeface="Times New Roman" panose="02020603050405020304" pitchFamily="18" charset="0"/>
              </a:rPr>
              <a:t>,</a:t>
            </a:r>
            <a:r>
              <a:rPr lang="en-US" sz="800" i="1" spc="-5" dirty="0" smtClean="0">
                <a:latin typeface="Times New Roman" panose="02020603050405020304" pitchFamily="18" charset="0"/>
                <a:cs typeface="Times New Roman" panose="02020603050405020304" pitchFamily="18" charset="0"/>
              </a:rPr>
              <a:t>sala</a:t>
            </a:r>
            <a:r>
              <a:rPr lang="en-US" sz="800" i="1" spc="10" dirty="0" smtClean="0">
                <a:latin typeface="Times New Roman" panose="02020603050405020304" pitchFamily="18" charset="0"/>
                <a:cs typeface="Times New Roman" panose="02020603050405020304" pitchFamily="18" charset="0"/>
              </a:rPr>
              <a:t>r</a:t>
            </a:r>
            <a:r>
              <a:rPr lang="en-US" sz="800" i="1" spc="-5" dirty="0" smtClean="0">
                <a:latin typeface="Times New Roman" panose="02020603050405020304" pitchFamily="18" charset="0"/>
                <a:cs typeface="Times New Roman" panose="02020603050405020304" pitchFamily="18" charset="0"/>
              </a:rPr>
              <a:t>y</a:t>
            </a:r>
            <a:r>
              <a:rPr lang="en-US" sz="800" spc="60" dirty="0" smtClean="0">
                <a:latin typeface="Times New Roman" panose="02020603050405020304" pitchFamily="18" charset="0"/>
                <a:cs typeface="Times New Roman" panose="02020603050405020304" pitchFamily="18" charset="0"/>
              </a:rPr>
              <a:t>−</a:t>
            </a:r>
            <a:r>
              <a:rPr lang="en-US" sz="800" i="1" spc="-5" dirty="0" smtClean="0">
                <a:latin typeface="Times New Roman" panose="02020603050405020304" pitchFamily="18" charset="0"/>
                <a:cs typeface="Times New Roman" panose="02020603050405020304" pitchFamily="18" charset="0"/>
              </a:rPr>
              <a:t>deductio</a:t>
            </a:r>
            <a:r>
              <a:rPr lang="en-US" sz="800" i="1" dirty="0" smtClean="0">
                <a:latin typeface="Times New Roman" panose="02020603050405020304" pitchFamily="18" charset="0"/>
                <a:cs typeface="Times New Roman" panose="02020603050405020304" pitchFamily="18" charset="0"/>
              </a:rPr>
              <a:t>n</a:t>
            </a:r>
            <a:r>
              <a:rPr lang="en-US" sz="800" spc="10" dirty="0" smtClean="0">
                <a:latin typeface="Times New Roman" panose="02020603050405020304" pitchFamily="18" charset="0"/>
                <a:cs typeface="Times New Roman" panose="02020603050405020304" pitchFamily="18" charset="0"/>
              </a:rPr>
              <a:t>, </a:t>
            </a:r>
            <a:r>
              <a:rPr lang="en-US" sz="800" spc="-5" dirty="0" smtClean="0">
                <a:latin typeface="Times New Roman" panose="02020603050405020304" pitchFamily="18" charset="0"/>
                <a:cs typeface="Times New Roman" panose="02020603050405020304" pitchFamily="18" charset="0"/>
              </a:rPr>
              <a:t>2000</a:t>
            </a:r>
            <a:r>
              <a:rPr lang="en-US" sz="800" spc="-155" dirty="0" smtClean="0">
                <a:latin typeface="Times New Roman" panose="02020603050405020304" pitchFamily="18" charset="0"/>
                <a:cs typeface="Times New Roman" panose="02020603050405020304" pitchFamily="18" charset="0"/>
              </a:rPr>
              <a:t>∗</a:t>
            </a:r>
            <a:r>
              <a:rPr lang="en-US" sz="800" i="1" spc="-20" dirty="0" smtClean="0">
                <a:latin typeface="Times New Roman" panose="02020603050405020304" pitchFamily="18" charset="0"/>
                <a:cs typeface="Times New Roman" panose="02020603050405020304" pitchFamily="18" charset="0"/>
              </a:rPr>
              <a:t>y</a:t>
            </a:r>
            <a:r>
              <a:rPr lang="en-US" sz="800" i="1" spc="-5" dirty="0" smtClean="0">
                <a:latin typeface="Times New Roman" panose="02020603050405020304" pitchFamily="18" charset="0"/>
                <a:cs typeface="Times New Roman" panose="02020603050405020304" pitchFamily="18" charset="0"/>
              </a:rPr>
              <a:t>ear</a:t>
            </a:r>
            <a:r>
              <a:rPr lang="en-US" sz="800" i="1" spc="10" dirty="0" smtClean="0">
                <a:latin typeface="Times New Roman" panose="02020603050405020304" pitchFamily="18" charset="0"/>
                <a:cs typeface="Times New Roman" panose="02020603050405020304" pitchFamily="18" charset="0"/>
              </a:rPr>
              <a:t>s</a:t>
            </a:r>
            <a:r>
              <a:rPr lang="en-US" sz="800" spc="-5" dirty="0" smtClean="0">
                <a:latin typeface="Times New Roman" panose="02020603050405020304" pitchFamily="18" charset="0"/>
                <a:cs typeface="Times New Roman" panose="02020603050405020304" pitchFamily="18" charset="0"/>
              </a:rPr>
              <a:t>_</a:t>
            </a:r>
            <a:r>
              <a:rPr lang="en-US" sz="800" i="1" spc="-5" dirty="0" smtClean="0">
                <a:latin typeface="Times New Roman" panose="02020603050405020304" pitchFamily="18" charset="0"/>
                <a:cs typeface="Times New Roman" panose="02020603050405020304" pitchFamily="18" charset="0"/>
              </a:rPr>
              <a:t>se</a:t>
            </a:r>
            <a:r>
              <a:rPr lang="en-US" sz="800" i="1" spc="10" dirty="0" smtClean="0">
                <a:latin typeface="Times New Roman" panose="02020603050405020304" pitchFamily="18" charset="0"/>
                <a:cs typeface="Times New Roman" panose="02020603050405020304" pitchFamily="18" charset="0"/>
              </a:rPr>
              <a:t>r</a:t>
            </a:r>
            <a:r>
              <a:rPr lang="en-US" sz="800" i="1" spc="-5" dirty="0" smtClean="0">
                <a:latin typeface="Times New Roman" panose="02020603050405020304" pitchFamily="18" charset="0"/>
                <a:cs typeface="Times New Roman" panose="02020603050405020304" pitchFamily="18" charset="0"/>
              </a:rPr>
              <a:t>vic</a:t>
            </a:r>
            <a:r>
              <a:rPr lang="en-US" sz="800" i="1" spc="5" dirty="0" smtClean="0">
                <a:latin typeface="Times New Roman" panose="02020603050405020304" pitchFamily="18" charset="0"/>
                <a:cs typeface="Times New Roman" panose="02020603050405020304" pitchFamily="18" charset="0"/>
              </a:rPr>
              <a:t>e</a:t>
            </a:r>
            <a:r>
              <a:rPr lang="en-US" sz="800" spc="10" dirty="0" smtClean="0">
                <a:latin typeface="Times New Roman" panose="02020603050405020304" pitchFamily="18" charset="0"/>
                <a:cs typeface="Times New Roman" panose="02020603050405020304" pitchFamily="18" charset="0"/>
              </a:rPr>
              <a:t>, </a:t>
            </a:r>
            <a:r>
              <a:rPr lang="en-US" sz="800" spc="-5" dirty="0" smtClean="0">
                <a:latin typeface="Times New Roman" panose="02020603050405020304" pitchFamily="18" charset="0"/>
                <a:cs typeface="Times New Roman" panose="02020603050405020304" pitchFamily="18" charset="0"/>
              </a:rPr>
              <a:t>0</a:t>
            </a:r>
            <a:r>
              <a:rPr lang="en-US" sz="800" spc="10" dirty="0" smtClean="0">
                <a:latin typeface="Times New Roman" panose="02020603050405020304" pitchFamily="18" charset="0"/>
                <a:cs typeface="Times New Roman" panose="02020603050405020304" pitchFamily="18" charset="0"/>
              </a:rPr>
              <a:t>.</a:t>
            </a:r>
            <a:r>
              <a:rPr lang="en-US" sz="800" spc="-5" dirty="0" smtClean="0">
                <a:latin typeface="Times New Roman" panose="02020603050405020304" pitchFamily="18" charset="0"/>
                <a:cs typeface="Times New Roman" panose="02020603050405020304" pitchFamily="18" charset="0"/>
              </a:rPr>
              <a:t>25 </a:t>
            </a:r>
            <a:r>
              <a:rPr lang="en-US" sz="800" spc="-155" dirty="0" smtClean="0">
                <a:latin typeface="Times New Roman" panose="02020603050405020304" pitchFamily="18" charset="0"/>
                <a:cs typeface="Times New Roman" panose="02020603050405020304" pitchFamily="18" charset="0"/>
              </a:rPr>
              <a:t>∗</a:t>
            </a:r>
            <a:r>
              <a:rPr lang="en-US" sz="800" i="1" spc="-5" dirty="0" smtClean="0">
                <a:latin typeface="Times New Roman" panose="02020603050405020304" pitchFamily="18" charset="0"/>
                <a:cs typeface="Times New Roman" panose="02020603050405020304" pitchFamily="18" charset="0"/>
              </a:rPr>
              <a:t>sala</a:t>
            </a:r>
            <a:r>
              <a:rPr lang="en-US" sz="800" i="1" spc="10" dirty="0" smtClean="0">
                <a:latin typeface="Times New Roman" panose="02020603050405020304" pitchFamily="18" charset="0"/>
                <a:cs typeface="Times New Roman" panose="02020603050405020304" pitchFamily="18" charset="0"/>
              </a:rPr>
              <a:t>r</a:t>
            </a:r>
            <a:r>
              <a:rPr lang="en-US" sz="800" i="1" spc="-5" dirty="0" smtClean="0">
                <a:latin typeface="Times New Roman" panose="02020603050405020304" pitchFamily="18" charset="0"/>
                <a:cs typeface="Times New Roman" panose="02020603050405020304" pitchFamily="18" charset="0"/>
              </a:rPr>
              <a:t>y</a:t>
            </a:r>
            <a:r>
              <a:rPr lang="en-US" sz="800" i="1" dirty="0" smtClean="0">
                <a:latin typeface="Times New Roman" panose="02020603050405020304" pitchFamily="18" charset="0"/>
                <a:cs typeface="Times New Roman" panose="02020603050405020304" pitchFamily="18" charset="0"/>
              </a:rPr>
              <a:t> </a:t>
            </a:r>
            <a:r>
              <a:rPr lang="en-US" sz="800" i="1" spc="5" dirty="0" smtClean="0">
                <a:latin typeface="Times New Roman" panose="02020603050405020304" pitchFamily="18" charset="0"/>
                <a:cs typeface="Times New Roman" panose="02020603050405020304" pitchFamily="18" charset="0"/>
              </a:rPr>
              <a:t> </a:t>
            </a:r>
            <a:r>
              <a:rPr lang="en-US" sz="4000" spc="-7" baseline="8000" dirty="0" smtClean="0">
                <a:latin typeface="Times New Roman" panose="02020603050405020304" pitchFamily="18" charset="0"/>
                <a:cs typeface="Times New Roman" panose="02020603050405020304" pitchFamily="18" charset="0"/>
              </a:rPr>
              <a:t>(</a:t>
            </a:r>
            <a:r>
              <a:rPr lang="en-US" sz="4000" spc="-7" baseline="8000" dirty="0" err="1" smtClean="0">
                <a:latin typeface="Times New Roman" panose="02020603050405020304" pitchFamily="18" charset="0"/>
                <a:cs typeface="Times New Roman" panose="02020603050405020304" pitchFamily="18" charset="0"/>
              </a:rPr>
              <a:t>Emp</a:t>
            </a:r>
            <a:r>
              <a:rPr lang="en-US" sz="4000" spc="-7" baseline="8000" dirty="0" smtClean="0">
                <a:latin typeface="Times New Roman" panose="02020603050405020304" pitchFamily="18" charset="0"/>
                <a:cs typeface="Times New Roman" panose="02020603050405020304" pitchFamily="18" charset="0"/>
              </a:rPr>
              <a:t>))</a:t>
            </a:r>
            <a:endParaRPr lang="en-US" sz="4000" baseline="800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Aggregate Functions (g)</a:t>
            </a:r>
            <a:endParaRPr lang="en-US"/>
          </a:p>
        </p:txBody>
      </p:sp>
      <p:sp>
        <p:nvSpPr>
          <p:cNvPr id="4" name="Content Placeholder 2"/>
          <p:cNvSpPr txBox="1"/>
          <p:nvPr/>
        </p:nvSpPr>
        <p:spPr bwMode="auto">
          <a:xfrm>
            <a:off x="1535721" y="1429053"/>
            <a:ext cx="7858180" cy="2000264"/>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Aggregate functions take a collection of values and return a single value as a result. NULL value will not participate in the aggregate functions. The general form of aggregate function is:</a:t>
            </a:r>
            <a:endParaRPr lang="en-US" kern="0" dirty="0" smtClean="0">
              <a:latin typeface="Times New Roman" panose="02020603050405020304" pitchFamily="18" charset="0"/>
              <a:cs typeface="Times New Roman" panose="02020603050405020304" pitchFamily="18" charset="0"/>
            </a:endParaRPr>
          </a:p>
          <a:p>
            <a:pPr marL="342900" indent="-342900" algn="just">
              <a:spcBef>
                <a:spcPts val="0"/>
              </a:spcBef>
              <a:defRPr/>
            </a:pPr>
            <a:r>
              <a:rPr lang="en-US" kern="0" dirty="0" smtClean="0">
                <a:latin typeface="Times New Roman" panose="02020603050405020304" pitchFamily="18" charset="0"/>
                <a:cs typeface="Times New Roman" panose="02020603050405020304" pitchFamily="18" charset="0"/>
              </a:rPr>
              <a:t>			 </a:t>
            </a:r>
            <a:r>
              <a:rPr lang="en-US" i="1" spc="-15" dirty="0" smtClean="0">
                <a:latin typeface="Times New Roman" panose="02020603050405020304" pitchFamily="18" charset="0"/>
                <a:cs typeface="Times New Roman" panose="02020603050405020304" pitchFamily="18" charset="0"/>
              </a:rPr>
              <a:t>g</a:t>
            </a:r>
            <a:r>
              <a:rPr lang="en-US" i="1" spc="-5" dirty="0" smtClean="0">
                <a:latin typeface="Times New Roman" panose="02020603050405020304" pitchFamily="18" charset="0"/>
                <a:cs typeface="Times New Roman" panose="02020603050405020304" pitchFamily="18" charset="0"/>
              </a:rPr>
              <a:t>roupin</a:t>
            </a:r>
            <a:r>
              <a:rPr lang="en-US" i="1" spc="25" dirty="0" smtClean="0">
                <a:latin typeface="Times New Roman" panose="02020603050405020304" pitchFamily="18" charset="0"/>
                <a:cs typeface="Times New Roman" panose="02020603050405020304" pitchFamily="18" charset="0"/>
              </a:rPr>
              <a:t>g</a:t>
            </a:r>
            <a:r>
              <a:rPr lang="en-US" spc="-5" dirty="0" smtClean="0">
                <a:latin typeface="Times New Roman" panose="02020603050405020304" pitchFamily="18" charset="0"/>
                <a:cs typeface="Times New Roman" panose="02020603050405020304" pitchFamily="18" charset="0"/>
              </a:rPr>
              <a:t>_</a:t>
            </a:r>
            <a:r>
              <a:rPr lang="en-US" i="1" spc="-5" dirty="0" smtClean="0">
                <a:latin typeface="Times New Roman" panose="02020603050405020304" pitchFamily="18" charset="0"/>
                <a:cs typeface="Times New Roman" panose="02020603050405020304" pitchFamily="18" charset="0"/>
              </a:rPr>
              <a:t>att</a:t>
            </a:r>
            <a:r>
              <a:rPr lang="en-US" i="1" dirty="0" smtClean="0">
                <a:latin typeface="Times New Roman" panose="02020603050405020304" pitchFamily="18" charset="0"/>
                <a:cs typeface="Times New Roman" panose="02020603050405020304" pitchFamily="18" charset="0"/>
              </a:rPr>
              <a:t>r</a:t>
            </a:r>
            <a:r>
              <a:rPr lang="en-US" i="1" spc="-5" dirty="0" smtClean="0">
                <a:latin typeface="Times New Roman" panose="02020603050405020304" pitchFamily="18" charset="0"/>
                <a:cs typeface="Times New Roman" panose="02020603050405020304" pitchFamily="18" charset="0"/>
              </a:rPr>
              <a:t>i</a:t>
            </a:r>
            <a:r>
              <a:rPr lang="en-US" i="1" spc="-20" dirty="0" smtClean="0">
                <a:latin typeface="Times New Roman" panose="02020603050405020304" pitchFamily="18" charset="0"/>
                <a:cs typeface="Times New Roman" panose="02020603050405020304" pitchFamily="18" charset="0"/>
              </a:rPr>
              <a:t>b</a:t>
            </a:r>
            <a:r>
              <a:rPr lang="en-US" i="1" spc="-5" dirty="0" smtClean="0">
                <a:latin typeface="Times New Roman" panose="02020603050405020304" pitchFamily="18" charset="0"/>
                <a:cs typeface="Times New Roman" panose="02020603050405020304" pitchFamily="18" charset="0"/>
              </a:rPr>
              <a:t>ute</a:t>
            </a:r>
            <a:r>
              <a:rPr lang="en-US" i="1" dirty="0" smtClean="0">
                <a:latin typeface="Times New Roman" panose="02020603050405020304" pitchFamily="18" charset="0"/>
                <a:cs typeface="Times New Roman" panose="02020603050405020304" pitchFamily="18" charset="0"/>
              </a:rPr>
              <a:t> </a:t>
            </a:r>
            <a:r>
              <a:rPr lang="en-US" i="1" spc="-50" dirty="0" smtClean="0">
                <a:latin typeface="Times New Roman" panose="02020603050405020304" pitchFamily="18" charset="0"/>
                <a:cs typeface="Times New Roman" panose="02020603050405020304" pitchFamily="18" charset="0"/>
              </a:rPr>
              <a:t>  </a:t>
            </a:r>
            <a:r>
              <a:rPr lang="en-US" sz="4800" i="1" spc="-15" baseline="8000" dirty="0" smtClean="0">
                <a:latin typeface="Times New Roman" panose="02020603050405020304" pitchFamily="18" charset="0"/>
                <a:cs typeface="Times New Roman" panose="02020603050405020304" pitchFamily="18" charset="0"/>
              </a:rPr>
              <a:t>g</a:t>
            </a:r>
            <a:r>
              <a:rPr lang="en-US" i="1" spc="75" baseline="8000" dirty="0" smtClean="0">
                <a:latin typeface="Times New Roman" panose="02020603050405020304" pitchFamily="18" charset="0"/>
                <a:cs typeface="Times New Roman" panose="02020603050405020304" pitchFamily="18" charset="0"/>
              </a:rPr>
              <a:t> </a:t>
            </a:r>
            <a:r>
              <a:rPr lang="en-US" i="1" spc="-5" dirty="0" smtClean="0">
                <a:latin typeface="Times New Roman" panose="02020603050405020304" pitchFamily="18" charset="0"/>
                <a:cs typeface="Times New Roman" panose="02020603050405020304" pitchFamily="18" charset="0"/>
              </a:rPr>
              <a:t>ag</a:t>
            </a:r>
            <a:r>
              <a:rPr lang="en-US" i="1" spc="-15" dirty="0" smtClean="0">
                <a:latin typeface="Times New Roman" panose="02020603050405020304" pitchFamily="18" charset="0"/>
                <a:cs typeface="Times New Roman" panose="02020603050405020304" pitchFamily="18" charset="0"/>
              </a:rPr>
              <a:t>g</a:t>
            </a:r>
            <a:r>
              <a:rPr lang="en-US" i="1" spc="-5" dirty="0" smtClean="0">
                <a:latin typeface="Times New Roman" panose="02020603050405020304" pitchFamily="18" charset="0"/>
                <a:cs typeface="Times New Roman" panose="02020603050405020304" pitchFamily="18" charset="0"/>
              </a:rPr>
              <a:t>regat</a:t>
            </a:r>
            <a:r>
              <a:rPr lang="en-US" i="1" spc="5" dirty="0" smtClean="0">
                <a:latin typeface="Times New Roman" panose="02020603050405020304" pitchFamily="18" charset="0"/>
                <a:cs typeface="Times New Roman" panose="02020603050405020304" pitchFamily="18" charset="0"/>
              </a:rPr>
              <a:t>e</a:t>
            </a:r>
            <a:r>
              <a:rPr lang="en-US" spc="-5" dirty="0" smtClean="0">
                <a:latin typeface="Times New Roman" panose="02020603050405020304" pitchFamily="18" charset="0"/>
                <a:cs typeface="Times New Roman" panose="02020603050405020304" pitchFamily="18" charset="0"/>
              </a:rPr>
              <a:t>_</a:t>
            </a:r>
            <a:r>
              <a:rPr lang="en-US" i="1" spc="-5" dirty="0" smtClean="0">
                <a:latin typeface="Times New Roman" panose="02020603050405020304" pitchFamily="18" charset="0"/>
                <a:cs typeface="Times New Roman" panose="02020603050405020304" pitchFamily="18" charset="0"/>
              </a:rPr>
              <a:t>functions</a:t>
            </a:r>
            <a:r>
              <a:rPr lang="en-US" i="1" dirty="0" smtClean="0">
                <a:latin typeface="Times New Roman" panose="02020603050405020304" pitchFamily="18" charset="0"/>
                <a:cs typeface="Times New Roman" panose="02020603050405020304" pitchFamily="18" charset="0"/>
              </a:rPr>
              <a:t> </a:t>
            </a:r>
            <a:r>
              <a:rPr lang="en-US" i="1" spc="-45" dirty="0" smtClean="0">
                <a:latin typeface="Times New Roman" panose="02020603050405020304" pitchFamily="18" charset="0"/>
                <a:cs typeface="Times New Roman" panose="02020603050405020304" pitchFamily="18" charset="0"/>
              </a:rPr>
              <a:t> </a:t>
            </a:r>
            <a:r>
              <a:rPr lang="en-US" sz="3200" spc="-7" baseline="8000" dirty="0" smtClean="0">
                <a:latin typeface="Times New Roman" panose="02020603050405020304" pitchFamily="18" charset="0"/>
                <a:cs typeface="Times New Roman" panose="02020603050405020304" pitchFamily="18" charset="0"/>
              </a:rPr>
              <a:t>(R)</a:t>
            </a:r>
            <a:endParaRPr lang="en-US" baseline="800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defRPr/>
            </a:pPr>
            <a:r>
              <a:rPr lang="en-US" sz="4400" spc="-330" baseline="8000" dirty="0" smtClean="0">
                <a:latin typeface="Lucida Sans Unicode" panose="020B0602030504020204"/>
                <a:cs typeface="Lucida Sans Unicode" panose="020B0602030504020204"/>
              </a:rPr>
              <a:t>				</a:t>
            </a:r>
            <a:endParaRPr lang="en-US" kern="0" dirty="0" smtClean="0">
              <a:latin typeface="Times New Roman" panose="02020603050405020304" pitchFamily="18" charset="0"/>
              <a:cs typeface="Times New Roman" panose="02020603050405020304" pitchFamily="18" charset="0"/>
            </a:endParaRPr>
          </a:p>
        </p:txBody>
      </p:sp>
      <p:pic>
        <p:nvPicPr>
          <p:cNvPr id="1026" name="Picture 2" descr="C:\Users\nEW u\Desktop\1111111111111.png"/>
          <p:cNvPicPr>
            <a:picLocks noChangeAspect="1" noChangeArrowheads="1"/>
          </p:cNvPicPr>
          <p:nvPr/>
        </p:nvPicPr>
        <p:blipFill>
          <a:blip r:embed="rId1"/>
          <a:srcRect/>
          <a:stretch>
            <a:fillRect/>
          </a:stretch>
        </p:blipFill>
        <p:spPr bwMode="auto">
          <a:xfrm>
            <a:off x="1943337" y="2929250"/>
            <a:ext cx="6236118" cy="3571900"/>
          </a:xfrm>
          <a:prstGeom prst="rect">
            <a:avLst/>
          </a:prstGeom>
          <a:noFill/>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23900" y="795655"/>
            <a:ext cx="10515600" cy="4351338"/>
          </a:xfrm>
        </p:spPr>
        <p:txBody>
          <a:bodyPr/>
          <a:p>
            <a:pPr marL="0" indent="0">
              <a:buNone/>
            </a:pPr>
            <a:r>
              <a:rPr lang="en-US" altLang="en-US"/>
              <a:t>First Schema</a:t>
            </a:r>
            <a:endParaRPr lang="en-US" altLang="en-US"/>
          </a:p>
          <a:p>
            <a:pPr marL="0" indent="0">
              <a:buNone/>
            </a:pPr>
            <a:r>
              <a:rPr lang="en-US" altLang="en-US"/>
              <a:t>Suppliers(sID, sName, address)</a:t>
            </a:r>
            <a:endParaRPr lang="en-US" altLang="en-US"/>
          </a:p>
          <a:p>
            <a:pPr marL="0" indent="0">
              <a:buNone/>
            </a:pPr>
            <a:r>
              <a:rPr lang="en-US" altLang="en-US"/>
              <a:t>Parts(pID, pName, colour)</a:t>
            </a:r>
            <a:endParaRPr lang="en-US" altLang="en-US"/>
          </a:p>
          <a:p>
            <a:pPr marL="0" indent="0">
              <a:buNone/>
            </a:pPr>
            <a:r>
              <a:rPr lang="en-US" altLang="en-US"/>
              <a:t>Catalog(sID, pID, price)</a:t>
            </a:r>
            <a:endParaRPr lang="en-US" altLang="en-US"/>
          </a:p>
          <a:p>
            <a:pPr marL="0" indent="0">
              <a:buNone/>
            </a:pPr>
            <a:endParaRPr lang="en-US" altLang="en-US"/>
          </a:p>
          <a:p>
            <a:pPr marL="0" indent="0">
              <a:buNone/>
            </a:pPr>
            <a:r>
              <a:rPr lang="en-US" altLang="en-US"/>
              <a:t>Catalog[sID] ⊆ Suppliers[sID]</a:t>
            </a:r>
            <a:endParaRPr lang="en-US" altLang="en-US"/>
          </a:p>
          <a:p>
            <a:pPr marL="0" indent="0">
              <a:buNone/>
            </a:pPr>
            <a:r>
              <a:rPr lang="en-US" altLang="en-US"/>
              <a:t>Catalog[pID] ⊆ Parts[pID]</a:t>
            </a:r>
            <a:endParaRPr lang="en-US" altLang="en-US"/>
          </a:p>
        </p:txBody>
      </p:sp>
      <p:sp>
        <p:nvSpPr>
          <p:cNvPr id="4" name="Text Box 3"/>
          <p:cNvSpPr txBox="1"/>
          <p:nvPr/>
        </p:nvSpPr>
        <p:spPr>
          <a:xfrm>
            <a:off x="723900" y="4384040"/>
            <a:ext cx="5701030" cy="1459865"/>
          </a:xfrm>
          <a:prstGeom prst="rect">
            <a:avLst/>
          </a:prstGeom>
          <a:noFill/>
        </p:spPr>
        <p:txBody>
          <a:bodyPr wrap="square" rtlCol="0">
            <a:noAutofit/>
          </a:bodyPr>
          <a:p>
            <a:r>
              <a:rPr lang="en-US" altLang="en-US" sz="2400"/>
              <a:t> Q1. Find the sIDs of all suppliers who supply a part that is red or green.</a:t>
            </a:r>
            <a:endParaRPr lang="en-US" altLang="en-US" sz="24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US" altLang="en-US"/>
              <a:t>Find the names of all red parts.</a:t>
            </a:r>
            <a:endParaRPr lang="en-US" altLang="en-US"/>
          </a:p>
          <a:p>
            <a:r>
              <a:rPr lang="en-US" altLang="en-US"/>
              <a:t>Find the sIDs of all suppliers who supply a part that is red or green.</a:t>
            </a:r>
            <a:endParaRPr lang="en-US" altLang="en-US"/>
          </a:p>
          <a:p>
            <a:endParaRPr lang="en-US" altLang="en-US"/>
          </a:p>
          <a:p>
            <a:r>
              <a:rPr lang="en-US" altLang="en-US"/>
              <a:t> Find the names of all suppliers who supply a part that is red or green</a:t>
            </a:r>
            <a:endParaRPr lang="en-US"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205230" y="2854960"/>
            <a:ext cx="6676390" cy="574040"/>
          </a:xfrm>
          <a:prstGeom prst="rect">
            <a:avLst/>
          </a:prstGeom>
        </p:spPr>
      </p:pic>
      <p:pic>
        <p:nvPicPr>
          <p:cNvPr id="5" name="Picture 4"/>
          <p:cNvPicPr>
            <a:picLocks noChangeAspect="1"/>
          </p:cNvPicPr>
          <p:nvPr/>
        </p:nvPicPr>
        <p:blipFill>
          <a:blip r:embed="rId2"/>
          <a:stretch>
            <a:fillRect/>
          </a:stretch>
        </p:blipFill>
        <p:spPr>
          <a:xfrm>
            <a:off x="1070610" y="3844290"/>
            <a:ext cx="9711690" cy="55626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r>
              <a:rPr lang="en-US" altLang="en-US"/>
              <a:t>Employees(number, name, age, salary)</a:t>
            </a:r>
            <a:endParaRPr lang="en-US" altLang="en-US"/>
          </a:p>
          <a:p>
            <a:pPr marL="0" indent="0">
              <a:buNone/>
            </a:pPr>
            <a:r>
              <a:rPr lang="en-US" altLang="en-US"/>
              <a:t>Supervises(boss, employee)</a:t>
            </a:r>
            <a:endParaRPr lang="en-US" altLang="en-US"/>
          </a:p>
          <a:p>
            <a:r>
              <a:rPr lang="en-US" altLang="en-US"/>
              <a:t>Supervises[boss] ⊆ Employees[number]</a:t>
            </a:r>
            <a:endParaRPr lang="en-US" altLang="en-US"/>
          </a:p>
          <a:p>
            <a:r>
              <a:rPr lang="en-US" altLang="en-US"/>
              <a:t>Supervises[employee] ⊆ Employees[number]</a:t>
            </a:r>
            <a:endParaRPr lang="en-US" altLang="en-US"/>
          </a:p>
          <a:p>
            <a:pPr marL="0" indent="0">
              <a:buNone/>
            </a:pPr>
            <a:endParaRPr lang="en-US" altLang="en-US"/>
          </a:p>
          <a:p>
            <a:pPr marL="0" indent="0">
              <a:buNone/>
            </a:pPr>
            <a:r>
              <a:rPr lang="en-US" altLang="en-US"/>
              <a:t>Q1. Find the names and salaries of all bosses who have an employee earning more than 100.</a:t>
            </a:r>
            <a:endParaRPr lang="en-US" altLang="en-US"/>
          </a:p>
          <a:p>
            <a:pPr marL="0" indent="0">
              <a:buNone/>
            </a:pPr>
            <a:r>
              <a:rPr lang="en-US" altLang="en-US"/>
              <a:t>Hint: Below each subexpression, write the names of the attributes in the resulting relation.</a:t>
            </a:r>
            <a:endParaRPr lang="en-US"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266825" y="1927860"/>
            <a:ext cx="9962515" cy="77724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p:txBody>
          <a:bodyPr>
            <a:normAutofit fontScale="90000"/>
          </a:bodyPr>
          <a:p>
            <a:pPr marL="0" indent="0">
              <a:buNone/>
            </a:pPr>
            <a:r>
              <a:rPr lang="en-US" altLang="en-US"/>
              <a:t>Clients(CID, name, phone)</a:t>
            </a:r>
            <a:endParaRPr lang="en-US" altLang="en-US"/>
          </a:p>
          <a:p>
            <a:pPr marL="0" indent="0">
              <a:buNone/>
            </a:pPr>
            <a:r>
              <a:rPr lang="en-US" altLang="en-US"/>
              <a:t>Staff(SID, name)</a:t>
            </a:r>
            <a:endParaRPr lang="en-US" altLang="en-US"/>
          </a:p>
          <a:p>
            <a:pPr marL="0" indent="0">
              <a:buNone/>
            </a:pPr>
            <a:r>
              <a:rPr lang="en-US" altLang="en-US"/>
              <a:t>Appointments(CID, date, time, service, SID)</a:t>
            </a:r>
            <a:endParaRPr lang="en-US" altLang="en-US"/>
          </a:p>
          <a:p>
            <a:pPr marL="0" indent="0">
              <a:buNone/>
            </a:pPr>
            <a:r>
              <a:rPr lang="en-US" altLang="en-US"/>
              <a:t>Appointments[CID] ⊆ Clients[CID]</a:t>
            </a:r>
            <a:endParaRPr lang="en-US" altLang="en-US"/>
          </a:p>
          <a:p>
            <a:pPr marL="0" indent="0">
              <a:buNone/>
            </a:pPr>
            <a:r>
              <a:rPr lang="en-US" altLang="en-US"/>
              <a:t>Appointments[SID] ⊆ Staff[SID]</a:t>
            </a:r>
            <a:endParaRPr lang="en-US" altLang="en-US"/>
          </a:p>
          <a:p>
            <a:pPr marL="0" indent="0">
              <a:buNone/>
            </a:pPr>
            <a:endParaRPr lang="en-US" altLang="en-US"/>
          </a:p>
          <a:p>
            <a:pPr marL="0" indent="0">
              <a:buNone/>
            </a:pPr>
            <a:r>
              <a:rPr lang="en-US" altLang="en-US"/>
              <a:t>Find the appointment time and client name of all appointments for staff member Giuliano on Feb14. (Assume that you can compare a date value to “Feb 14” using “=”). At each step, use projection to pare down to only the attributes you need.</a:t>
            </a:r>
            <a:endParaRPr lang="en-US"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318260" y="2152650"/>
            <a:ext cx="9555480" cy="70358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r>
              <a:rPr lang="en-US" altLang="en-US"/>
              <a:t>Question:</a:t>
            </a:r>
            <a:endParaRPr lang="en-US" altLang="en-US"/>
          </a:p>
          <a:p>
            <a:r>
              <a:rPr lang="en-US" altLang="en-US"/>
              <a:t>Consider the following relational database schema consisting of the four relation schemas:</a:t>
            </a:r>
            <a:endParaRPr lang="en-US" altLang="en-US"/>
          </a:p>
          <a:p>
            <a:r>
              <a:rPr lang="en-US" altLang="en-US"/>
              <a:t>passenger ( pid, pname, pgender, pcity)</a:t>
            </a:r>
            <a:endParaRPr lang="en-US" altLang="en-US"/>
          </a:p>
          <a:p>
            <a:r>
              <a:rPr lang="en-US" altLang="en-US"/>
              <a:t>agency ( aid, aname, acity)</a:t>
            </a:r>
            <a:endParaRPr lang="en-US" altLang="en-US"/>
          </a:p>
          <a:p>
            <a:r>
              <a:rPr lang="en-US" altLang="en-US"/>
              <a:t>flight (fid, fdate, time, src, dest)</a:t>
            </a:r>
            <a:endParaRPr lang="en-US" altLang="en-US"/>
          </a:p>
          <a:p>
            <a:r>
              <a:rPr lang="en-US" altLang="en-US"/>
              <a:t>booking (pid, aid, fid, fdate)</a:t>
            </a:r>
            <a:endParaRPr lang="en-US" altLang="en-US"/>
          </a:p>
          <a:p>
            <a:r>
              <a:rPr lang="en-US" altLang="en-US"/>
              <a:t>Answer the following questions using relational algebra queries;</a:t>
            </a:r>
            <a:endParaRPr lang="en-US"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Null Values</a:t>
            </a:r>
            <a:endParaRPr lang="en-US" b="1"/>
          </a:p>
        </p:txBody>
      </p:sp>
      <p:sp>
        <p:nvSpPr>
          <p:cNvPr id="3" name="Content Placeholder 2"/>
          <p:cNvSpPr>
            <a:spLocks noGrp="1"/>
          </p:cNvSpPr>
          <p:nvPr>
            <p:ph idx="1"/>
          </p:nvPr>
        </p:nvSpPr>
        <p:spPr/>
        <p:txBody>
          <a:bodyPr>
            <a:normAutofit lnSpcReduction="20000"/>
          </a:bodyPr>
          <a:p>
            <a:pPr marL="0" indent="0">
              <a:buNone/>
            </a:pPr>
            <a:r>
              <a:rPr lang="en-US"/>
              <a:t>Null values in databases pose challenges in operations like arithmetic, comparisons, and set operations. In arithmetic expressions, if any input is null, the result is null. Comparisons involving nulls are tricky; SQL considers them unknown, creating a third logical value. For instance, "1 &lt; null" is neither true nor false, but unknown. Boolean operations in where clauses also deal with the unknown value, complicating queries.</a:t>
            </a:r>
            <a:endParaRPr lang="en-US"/>
          </a:p>
          <a:p>
            <a:r>
              <a:rPr lang="en-US"/>
              <a:t>and: The result of true and unknown is unknown, false and unknown is false, while unknown and unknown is unknown.</a:t>
            </a:r>
            <a:endParaRPr lang="en-US"/>
          </a:p>
          <a:p>
            <a:r>
              <a:rPr lang="en-US"/>
              <a:t>or: The result of true or unknown is true, false or unknown is unknown, while unknown or unknown is unknown.</a:t>
            </a:r>
            <a:endParaRPr lang="en-US"/>
          </a:p>
          <a:p>
            <a:r>
              <a:rPr lang="en-US"/>
              <a:t>not: The result of not unknown is unknown.</a:t>
            </a:r>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94665"/>
            <a:ext cx="10515600" cy="5682615"/>
          </a:xfrm>
        </p:spPr>
        <p:txBody>
          <a:bodyPr/>
          <a:p>
            <a:pPr marL="0" indent="0">
              <a:buNone/>
            </a:pPr>
            <a:r>
              <a:rPr lang="en-US"/>
              <a:t>the evaluation of expressions involving null values can lead to results of "unknown." For instance, when checking if r.A is null, both conditions "1 &lt; r.A" and "not (1 &lt; r.A)" will evaluate to unknown if r.A is null. In the context of a WHERE clause, tuples that result in either false or unknown for the predicate are not included in the query result.</a:t>
            </a:r>
            <a:endParaRPr lang="en-US"/>
          </a:p>
          <a:p>
            <a:endParaRPr lang="en-US"/>
          </a:p>
          <a:p>
            <a:pPr marL="0" indent="0">
              <a:buNone/>
            </a:pPr>
            <a:r>
              <a:rPr lang="en-US"/>
              <a:t>To identify instructors with null values for salary, you can use the SQL query: </a:t>
            </a:r>
            <a:endParaRPr lang="en-US"/>
          </a:p>
          <a:p>
            <a:pPr marL="0" indent="0">
              <a:buNone/>
            </a:pPr>
            <a:r>
              <a:rPr lang="en-US"/>
              <a:t>SELECT name</a:t>
            </a:r>
            <a:endParaRPr lang="en-US"/>
          </a:p>
          <a:p>
            <a:pPr marL="0" indent="0">
              <a:buNone/>
            </a:pPr>
            <a:r>
              <a:rPr lang="en-US"/>
              <a:t>FROM instructor</a:t>
            </a:r>
            <a:endParaRPr lang="en-US"/>
          </a:p>
          <a:p>
            <a:pPr marL="0" indent="0">
              <a:buNone/>
            </a:pPr>
            <a:r>
              <a:rPr lang="en-US"/>
              <a:t>WHERE salary IS NULL;</a:t>
            </a:r>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82245" y="307340"/>
            <a:ext cx="11884660" cy="6550660"/>
          </a:xfrm>
        </p:spPr>
        <p:txBody>
          <a:bodyPr>
            <a:normAutofit fontScale="90000" lnSpcReduction="10000"/>
          </a:bodyPr>
          <a:p>
            <a:pPr marL="0" indent="0">
              <a:buNone/>
            </a:pPr>
            <a:r>
              <a:rPr lang="en-US"/>
              <a:t>The special keyword null is employed in predicates to test for null values. The predicate "is not null" succeeds if the value being examined is not null. Additionally, SQL provides the options to test whether the result of a comparison is unknown or not unknown using the clauses is unknown and is not unknown, respectively:</a:t>
            </a:r>
            <a:endParaRPr lang="en-US"/>
          </a:p>
          <a:p>
            <a:pPr marL="0" indent="0">
              <a:buNone/>
            </a:pPr>
            <a:r>
              <a:rPr lang="en-US"/>
              <a:t>SELECT name</a:t>
            </a:r>
            <a:endParaRPr lang="en-US"/>
          </a:p>
          <a:p>
            <a:pPr marL="0" indent="0">
              <a:buNone/>
            </a:pPr>
            <a:r>
              <a:rPr lang="en-US"/>
              <a:t>FROM instructor</a:t>
            </a:r>
            <a:endParaRPr lang="en-US"/>
          </a:p>
          <a:p>
            <a:pPr marL="0" indent="0">
              <a:buNone/>
            </a:pPr>
            <a:r>
              <a:rPr lang="en-US"/>
              <a:t>WHERE salary &gt; 10000 IS UNKNOWN;</a:t>
            </a:r>
            <a:endParaRPr lang="en-US"/>
          </a:p>
          <a:p>
            <a:pPr marL="0" indent="0">
              <a:buNone/>
            </a:pPr>
            <a:r>
              <a:rPr lang="en-US"/>
              <a:t>When utilizing the SELECT DISTINCT clause, duplicate tuples are eliminated. In this process, when comparing attribute values between tuples, the values are considered identical if both are non-null and equal or both are null. This means that two tuples with null values, such as {('A', null), ('A', null)}, are treated as identical, and only one copy is retained. It's important to note that this treatment of null differs from its treatment in predicates, where a comparison like "null=null" results in unknown rather than true.</a:t>
            </a:r>
            <a:endParaRPr lang="en-US"/>
          </a:p>
          <a:p>
            <a:pPr marL="0" indent="0">
              <a:buNone/>
            </a:pPr>
            <a:endParaRPr lang="en-US"/>
          </a:p>
          <a:p>
            <a:pPr marL="0" indent="0">
              <a:buNone/>
            </a:pPr>
            <a:r>
              <a:rPr lang="en-US"/>
              <a:t>The approach of treating tuples as identical when they have the same values for all attributes, even if some are null, is also applied in set operations like union, intersection, and except.</a:t>
            </a:r>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Nested Subqueries</a:t>
            </a:r>
            <a:endParaRPr lang="en-US" b="1"/>
          </a:p>
        </p:txBody>
      </p:sp>
      <p:sp>
        <p:nvSpPr>
          <p:cNvPr id="3" name="Content Placeholder 2"/>
          <p:cNvSpPr>
            <a:spLocks noGrp="1"/>
          </p:cNvSpPr>
          <p:nvPr>
            <p:ph idx="1"/>
          </p:nvPr>
        </p:nvSpPr>
        <p:spPr>
          <a:xfrm>
            <a:off x="838200" y="1488440"/>
            <a:ext cx="10515600" cy="5032375"/>
          </a:xfrm>
        </p:spPr>
        <p:txBody>
          <a:bodyPr>
            <a:normAutofit fontScale="90000" lnSpcReduction="10000"/>
          </a:bodyPr>
          <a:p>
            <a:pPr marL="0" indent="0">
              <a:buNone/>
            </a:pPr>
            <a:r>
              <a:rPr lang="en-US"/>
              <a:t>SQL provides a mechanism for nesting subqueries. A subquery is a select-from-whereexpression that is nested within another query. A common use of subqueries is to perform tests for set membership, make set comparisons, and determine set cardinality by nesting subqueries in the where clause</a:t>
            </a:r>
            <a:endParaRPr lang="en-US"/>
          </a:p>
          <a:p>
            <a:r>
              <a:rPr lang="en-US"/>
              <a:t>Set Membership</a:t>
            </a:r>
            <a:endParaRPr lang="en-US"/>
          </a:p>
          <a:p>
            <a:r>
              <a:rPr lang="en-US"/>
              <a:t>Set Comparison</a:t>
            </a:r>
            <a:endParaRPr lang="en-US"/>
          </a:p>
          <a:p>
            <a:r>
              <a:rPr lang="en-US"/>
              <a:t>Test for Empty Relations</a:t>
            </a:r>
            <a:endParaRPr lang="en-US"/>
          </a:p>
          <a:p>
            <a:r>
              <a:rPr lang="en-US"/>
              <a:t>Test for the Absence of Duplicate Tuples</a:t>
            </a:r>
            <a:endParaRPr lang="en-US"/>
          </a:p>
          <a:p>
            <a:r>
              <a:rPr lang="en-US"/>
              <a:t>Subqueries in the From Clause</a:t>
            </a:r>
            <a:endParaRPr lang="en-US"/>
          </a:p>
          <a:p>
            <a:r>
              <a:rPr lang="en-US"/>
              <a:t>The With Clause</a:t>
            </a:r>
            <a:endParaRPr lang="en-US"/>
          </a:p>
          <a:p>
            <a:r>
              <a:rPr lang="en-US"/>
              <a:t>Scalar Subqueries</a:t>
            </a:r>
            <a:endParaRPr lang="en-US"/>
          </a:p>
          <a:p>
            <a:r>
              <a:rPr lang="en-US"/>
              <a:t>Scalar Without a From Clause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36773</Words>
  <Application>WPS Presentation</Application>
  <PresentationFormat>Widescreen</PresentationFormat>
  <Paragraphs>1539</Paragraphs>
  <Slides>95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95</vt:i4>
      </vt:variant>
    </vt:vector>
  </HeadingPairs>
  <TitlesOfParts>
    <vt:vector size="109" baseType="lpstr">
      <vt:lpstr>Arial</vt:lpstr>
      <vt:lpstr>SimSun</vt:lpstr>
      <vt:lpstr>Wingdings</vt:lpstr>
      <vt:lpstr>Times New Roman</vt:lpstr>
      <vt:lpstr>Calibri Light</vt:lpstr>
      <vt:lpstr>Calibri</vt:lpstr>
      <vt:lpstr>Microsoft YaHei</vt:lpstr>
      <vt:lpstr>Arial Unicode MS</vt:lpstr>
      <vt:lpstr>Wingdings</vt:lpstr>
      <vt:lpstr>Arial</vt:lpstr>
      <vt:lpstr>Verdana</vt:lpstr>
      <vt:lpstr>Lucida Sans Unicode</vt:lpstr>
      <vt:lpstr>Verdana</vt:lpstr>
      <vt:lpstr>Office Theme</vt:lpstr>
      <vt:lpstr>Relational Data Model</vt:lpstr>
      <vt:lpstr>Relational Data Model</vt:lpstr>
      <vt:lpstr>PowerPoint 演示文稿</vt:lpstr>
      <vt:lpstr>PowerPoint 演示文稿</vt:lpstr>
      <vt:lpstr>Relational Database</vt:lpstr>
      <vt:lpstr>Summary</vt:lpstr>
      <vt:lpstr>PowerPoint 演示文稿</vt:lpstr>
      <vt:lpstr>PowerPoint 演示文稿</vt:lpstr>
      <vt:lpstr>Schema-instance distinction</vt:lpstr>
      <vt:lpstr>Relational Data Integrity</vt:lpstr>
      <vt:lpstr>Constraints</vt:lpstr>
      <vt:lpstr>Key Constraints</vt:lpstr>
      <vt:lpstr>Entity Integrity Constraint</vt:lpstr>
      <vt:lpstr>Example : Let R be the Table</vt:lpstr>
      <vt:lpstr>Domain constraints</vt:lpstr>
      <vt:lpstr>Referential Integrity</vt:lpstr>
      <vt:lpstr>Referential Integrity</vt:lpstr>
      <vt:lpstr>Operational Constraints</vt:lpstr>
      <vt:lpstr>The INSERT Operation</vt:lpstr>
      <vt:lpstr>PowerPoint 演示文稿</vt:lpstr>
      <vt:lpstr>PowerPoint 演示文稿</vt:lpstr>
      <vt:lpstr>The Deletion Operation</vt:lpstr>
      <vt:lpstr>PowerPoint 演示文稿</vt:lpstr>
      <vt:lpstr>PowerPoint 演示文稿</vt:lpstr>
      <vt:lpstr>Update Operations and Dealing with Constraint Violations</vt:lpstr>
      <vt:lpstr>Database Languages</vt:lpstr>
      <vt:lpstr>PowerPoint 演示文稿</vt:lpstr>
      <vt:lpstr>CODD’s Rule</vt:lpstr>
      <vt:lpstr>PowerPoint 演示文稿</vt:lpstr>
      <vt:lpstr>PowerPoint 演示文稿</vt:lpstr>
      <vt:lpstr>Query Language</vt:lpstr>
      <vt:lpstr>Relational Algebra</vt:lpstr>
      <vt:lpstr>Relational Algebra…</vt:lpstr>
      <vt:lpstr>SELECT Operator (σ)</vt:lpstr>
      <vt:lpstr>SELECT Operator (σ)</vt:lpstr>
      <vt:lpstr>PROJECT Operator(π)</vt:lpstr>
      <vt:lpstr>PROJECT Operator(π)</vt:lpstr>
      <vt:lpstr>Composition of Relational Operators</vt:lpstr>
      <vt:lpstr>RENAME Operator(ρ)</vt:lpstr>
      <vt:lpstr>RENAME Operator(ρ)…</vt:lpstr>
      <vt:lpstr>Basic Set Operation</vt:lpstr>
      <vt:lpstr>Union Compatibility</vt:lpstr>
      <vt:lpstr>UNION Operator (∪)</vt:lpstr>
      <vt:lpstr>UNION Operator (∪): Rules</vt:lpstr>
      <vt:lpstr>DIFFERENCE Operator(-)</vt:lpstr>
      <vt:lpstr>PowerPoint 演示文稿</vt:lpstr>
      <vt:lpstr>Cartesian Product Operator(×)</vt:lpstr>
      <vt:lpstr>Cartesian Product Operator(×)…</vt:lpstr>
      <vt:lpstr>Cartesian Product Operator(×)…</vt:lpstr>
      <vt:lpstr>Intersection Operator(∩)</vt:lpstr>
      <vt:lpstr>PowerPoint 演示文稿</vt:lpstr>
      <vt:lpstr>Division Operator (÷)</vt:lpstr>
      <vt:lpstr>Division Operator (÷)…</vt:lpstr>
      <vt:lpstr>Assignment Operator(←)</vt:lpstr>
      <vt:lpstr>PowerPoint 演示文稿</vt:lpstr>
      <vt:lpstr>Join</vt:lpstr>
      <vt:lpstr>JOIN (⋈)</vt:lpstr>
      <vt:lpstr>JOIN Operator(⋈)</vt:lpstr>
      <vt:lpstr>JOIN Operator(⋈)…</vt:lpstr>
      <vt:lpstr>Types of Join operations:</vt:lpstr>
      <vt:lpstr>Theta join</vt:lpstr>
      <vt:lpstr>Theta Join(   θ )</vt:lpstr>
      <vt:lpstr>Theta Join(   θ )…</vt:lpstr>
      <vt:lpstr>1. Natural Join(⋈,*):</vt:lpstr>
      <vt:lpstr>Natural Join (   ,* )</vt:lpstr>
      <vt:lpstr>Natural Join (    ,*)</vt:lpstr>
      <vt:lpstr>Example</vt:lpstr>
      <vt:lpstr>2. Outer Join:</vt:lpstr>
      <vt:lpstr>Outer Join</vt:lpstr>
      <vt:lpstr>Left Outer Join(⟕)</vt:lpstr>
      <vt:lpstr>Left Outer Join(⟕)</vt:lpstr>
      <vt:lpstr>Left Outer Join</vt:lpstr>
      <vt:lpstr>Left Outer Join</vt:lpstr>
      <vt:lpstr>Right outer join:( ⟖)</vt:lpstr>
      <vt:lpstr>Right Outer Join</vt:lpstr>
      <vt:lpstr>Full outer join:(⟗)</vt:lpstr>
      <vt:lpstr>Full Outer Join</vt:lpstr>
      <vt:lpstr>3. Equi join:</vt:lpstr>
      <vt:lpstr>Equi Join(     = )</vt:lpstr>
      <vt:lpstr>Self Join</vt:lpstr>
      <vt:lpstr>Self Join</vt:lpstr>
      <vt:lpstr>Generalized Projection</vt:lpstr>
      <vt:lpstr>Aggregate Functions (g)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Null Values</vt:lpstr>
      <vt:lpstr>PowerPoint 演示文稿</vt:lpstr>
      <vt:lpstr>PowerPoint 演示文稿</vt:lpstr>
      <vt:lpstr>Nested Subqueries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Data Model</dc:title>
  <dc:creator/>
  <cp:lastModifiedBy>Vishal Meena</cp:lastModifiedBy>
  <cp:revision>14</cp:revision>
  <dcterms:created xsi:type="dcterms:W3CDTF">2024-02-06T01:07:00Z</dcterms:created>
  <dcterms:modified xsi:type="dcterms:W3CDTF">2026-01-18T13:43:49Z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494D7FC6F76F4F18A5C707B75EA73A91_11</vt:lpwstr>
  </property>
  <property fmtid="{D5CDD505-2E9C-101B-9397-08002B2CF9AE}" pid="3" name="KSOProductBuildVer">
    <vt:lpwstr>1033-12.2.0.23196</vt:lpwstr>
  </property>
</Properties>
</file>